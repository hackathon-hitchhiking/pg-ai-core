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media/image8.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573" r:id="rId5"/>
    <p:sldId id="574" r:id="rId3"/>
    <p:sldId id="586" r:id="rId4"/>
    <p:sldId id="256" r:id="rId2"/>
    <p:sldId id="588" r:id="rId7"/>
    <p:sldId id="579" r:id="rId8"/>
    <p:sldId id="590" r:id="rId9"/>
    <p:sldId id="587" r:id="rId10"/>
    <p:sldId id="591" r:id="rId11"/>
    <p:sldId id="583" r:id="rId12"/>
    <p:sldId id="592" r:id="rId13"/>
  </p:sldIdLst>
  <p:sldSz cx="15116175" cy="10687050"/>
  <p:notesSz cx="6797675" cy="9926638"/>
  <p:embeddedFontLst>
    <p:embeddedFont>
      <p:font typeface="Calibri" panose="020F0502020204030204" pitchFamily="34" charset="0"/>
      <p:regular r:id="rId16"/>
      <p:bold r:id="rId17"/>
      <p:italic r:id="rId18"/>
      <p:boldItalic r:id="rId19"/>
    </p:embeddedFont>
    <p:embeddedFont>
      <p:font typeface="HelveticaNeueCyr" panose="02000503040000020004" pitchFamily="2" charset="-52"/>
      <p:regular r:id="rId20"/>
      <p:bold r:id="rId21"/>
      <p:italic r:id="rId22"/>
      <p:boldItalic r:id="rId23"/>
    </p:embeddedFont>
    <p:embeddedFont>
      <p:font typeface="Unbounded" pitchFamily="2" charset="-52"/>
      <p:regular r:id="rId24"/>
      <p:bold r:id="rId25"/>
    </p:embeddedFont>
    <p:embeddedFont>
      <p:font typeface="Unbounded Light" pitchFamily="2" charset="-52"/>
      <p:regular r:id="rId26"/>
    </p:embeddedFont>
    <p:embeddedFont>
      <p:font typeface="Unbounded Medium" pitchFamily="2" charset="-52"/>
      <p:regular r:id="rId27"/>
      <p:bold r:id="rId28"/>
    </p:embeddedFont>
    <p:embeddedFont>
      <p:font typeface="Unbounded SemiBold" pitchFamily="2" charset="-52"/>
      <p:bold r:id="rId29"/>
    </p:embeddedFont>
    <p:embeddedFont>
      <p:font typeface="Wix Madefor Display" panose="020B0503020203020203" pitchFamily="34" charset="-52"/>
      <p:regular r:id="rId30"/>
      <p:bold r:id="rId31"/>
    </p:embeddedFont>
    <p:embeddedFont>
      <p:font typeface="Wix Madefor Display ExtraBold" panose="020B0503020203020203" pitchFamily="34" charset="-52"/>
      <p:bold r:id="rId32"/>
    </p:embeddedFont>
    <p:embeddedFont>
      <p:font typeface="Wix Madefor Display SemiBold" panose="020B0503020203020203" pitchFamily="34" charset="-5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1" userDrawn="1">
          <p15:clr>
            <a:srgbClr val="A4A3A4"/>
          </p15:clr>
        </p15:guide>
        <p15:guide id="2" pos="134" userDrawn="1">
          <p15:clr>
            <a:srgbClr val="A4A3A4"/>
          </p15:clr>
        </p15:guide>
        <p15:guide id="3" pos="815" userDrawn="1">
          <p15:clr>
            <a:srgbClr val="A4A3A4"/>
          </p15:clr>
        </p15:guide>
        <p15:guide id="4" orient="horz" pos="1348" userDrawn="1">
          <p15:clr>
            <a:srgbClr val="A4A3A4"/>
          </p15:clr>
        </p15:guide>
        <p15:guide id="5" orient="horz" pos="5203"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gK7fn+KLoFlbeLqjeX6repJ7KMT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Жбанкова Елена Александровна" initials="ЖЕА" lastIdx="3" clrIdx="0">
    <p:extLst>
      <p:ext uri="{19B8F6BF-5375-455C-9EA6-DF929625EA0E}">
        <p15:presenceInfo xmlns:p15="http://schemas.microsoft.com/office/powerpoint/2012/main" userId="e88e9ec258894a2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CF7"/>
    <a:srgbClr val="0F24E7"/>
    <a:srgbClr val="EFF2FF"/>
    <a:srgbClr val="E7E9FD"/>
    <a:srgbClr val="A8B0FA"/>
    <a:srgbClr val="5C8EFE"/>
    <a:srgbClr val="E91B11"/>
    <a:srgbClr val="8FAADC"/>
    <a:srgbClr val="D8DFFF"/>
    <a:srgbClr val="5CFF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32" autoAdjust="0"/>
    <p:restoredTop sz="95033" autoAdjust="0"/>
  </p:normalViewPr>
  <p:slideViewPr>
    <p:cSldViewPr snapToGrid="0">
      <p:cViewPr varScale="1">
        <p:scale>
          <a:sx n="42" d="100"/>
          <a:sy n="42" d="100"/>
        </p:scale>
        <p:origin x="1204" y="32"/>
      </p:cViewPr>
      <p:guideLst>
        <p:guide orient="horz" pos="191"/>
        <p:guide pos="134"/>
        <p:guide pos="815"/>
        <p:guide orient="horz" pos="1348"/>
        <p:guide orient="horz" pos="520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 Id="rId24" Type="http://schemas.openxmlformats.org/officeDocument/2006/relationships/font" Target="fonts/font9.fntdata"/><Relationship Id="rId25" Type="http://schemas.openxmlformats.org/officeDocument/2006/relationships/font" Target="fonts/font10.fntdata"/><Relationship Id="rId26" Type="http://schemas.openxmlformats.org/officeDocument/2006/relationships/font" Target="fonts/font11.fntdata"/><Relationship Id="rId27" Type="http://schemas.openxmlformats.org/officeDocument/2006/relationships/font" Target="fonts/font12.fntdata"/><Relationship Id="rId28" Type="http://schemas.openxmlformats.org/officeDocument/2006/relationships/font" Target="fonts/font13.fntdata"/><Relationship Id="rId29" Type="http://schemas.openxmlformats.org/officeDocument/2006/relationships/font" Target="fonts/font14.fntdata"/><Relationship Id="rId30" Type="http://schemas.openxmlformats.org/officeDocument/2006/relationships/font" Target="fonts/font15.fntdata"/><Relationship Id="rId31" Type="http://schemas.openxmlformats.org/officeDocument/2006/relationships/font" Target="fonts/font16.fntdata"/><Relationship Id="rId32" Type="http://schemas.openxmlformats.org/officeDocument/2006/relationships/font" Target="fonts/font17.fntdata"/><Relationship Id="rId33" Type="http://schemas.openxmlformats.org/officeDocument/2006/relationships/font" Target="fonts/font18.fntdata"/><Relationship Id="rId96" Type="http://customschemas.google.com/relationships/presentationmetadata" Target="metadata"/><Relationship Id="rId97" Type="http://schemas.openxmlformats.org/officeDocument/2006/relationships/commentAuthors" Target="commentAuthors.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C:\Users\zhbankovaea\Desktop\&#1050;&#1085;&#1080;&#1075;&#1072;1.xlsx" TargetMode="External"/></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oleObject" Target="&#1050;&#1085;&#1080;&#1075;&#1072;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430867465429537E-2"/>
          <c:y val="3.845682691262152E-2"/>
          <c:w val="0.9511382650691409"/>
          <c:h val="0.69456792037779125"/>
        </c:manualLayout>
      </c:layout>
      <c:barChart>
        <c:barDir val="col"/>
        <c:grouping val="stacked"/>
        <c:varyColors val="0"/>
        <c:ser>
          <c:idx val="0"/>
          <c:order val="0"/>
          <c:tx>
            <c:strRef>
              <c:f>Лист1!$B$1</c:f>
              <c:strCache>
                <c:ptCount val="1"/>
                <c:pt idx="0">
                  <c:v>Мобильные телефоны</c:v>
                </c:pt>
              </c:strCache>
            </c:strRef>
          </c:tx>
          <c:spPr>
            <a:solidFill>
              <a:srgbClr val="002060"/>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Лист1!$B$2:$B$12</c:f>
              <c:numCache>
                <c:formatCode>#,##0.00</c:formatCode>
                <c:ptCount val="11"/>
                <c:pt idx="0">
                  <c:v>7.75</c:v>
                </c:pt>
                <c:pt idx="1">
                  <c:v>7.79</c:v>
                </c:pt>
                <c:pt idx="2">
                  <c:v>8.02</c:v>
                </c:pt>
                <c:pt idx="3">
                  <c:v>8.15</c:v>
                </c:pt>
                <c:pt idx="4">
                  <c:v>8.32</c:v>
                </c:pt>
                <c:pt idx="5">
                  <c:v>8.44</c:v>
                </c:pt>
                <c:pt idx="6">
                  <c:v>8.5399999999999991</c:v>
                </c:pt>
                <c:pt idx="7">
                  <c:v>8.64</c:v>
                </c:pt>
                <c:pt idx="8">
                  <c:v>8.73</c:v>
                </c:pt>
                <c:pt idx="9">
                  <c:v>8.83</c:v>
                </c:pt>
                <c:pt idx="10">
                  <c:v>8.91</c:v>
                </c:pt>
              </c:numCache>
            </c:numRef>
          </c:val>
          <c:extLst>
            <c:ext xmlns:c16="http://schemas.microsoft.com/office/drawing/2014/chart" uri="{C3380CC4-5D6E-409C-BE32-E72D297353CC}">
              <c16:uniqueId val="{00000000-30FD-456B-8512-9CBF275F857D}"/>
            </c:ext>
          </c:extLst>
        </c:ser>
        <c:ser>
          <c:idx val="1"/>
          <c:order val="1"/>
          <c:tx>
            <c:strRef>
              <c:f>Лист1!$C$1</c:f>
              <c:strCache>
                <c:ptCount val="1"/>
                <c:pt idx="0">
                  <c:v>IoT-ближнего действия</c:v>
                </c:pt>
              </c:strCache>
            </c:strRef>
          </c:tx>
          <c:spPr>
            <a:solidFill>
              <a:srgbClr val="0F24E7"/>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Лист1!$C$2:$C$12</c:f>
              <c:numCache>
                <c:formatCode>#,##0.00</c:formatCode>
                <c:ptCount val="11"/>
                <c:pt idx="0">
                  <c:v>5.56</c:v>
                </c:pt>
                <c:pt idx="1">
                  <c:v>7.01</c:v>
                </c:pt>
                <c:pt idx="2">
                  <c:v>8.5500000000000007</c:v>
                </c:pt>
                <c:pt idx="3">
                  <c:v>10.07</c:v>
                </c:pt>
                <c:pt idx="4">
                  <c:v>12.09</c:v>
                </c:pt>
                <c:pt idx="5">
                  <c:v>14.49</c:v>
                </c:pt>
                <c:pt idx="6">
                  <c:v>17.45</c:v>
                </c:pt>
                <c:pt idx="7">
                  <c:v>20.97</c:v>
                </c:pt>
                <c:pt idx="8">
                  <c:v>24.53</c:v>
                </c:pt>
                <c:pt idx="9">
                  <c:v>28.09</c:v>
                </c:pt>
                <c:pt idx="10">
                  <c:v>31.63</c:v>
                </c:pt>
              </c:numCache>
            </c:numRef>
          </c:val>
          <c:extLst>
            <c:ext xmlns:c16="http://schemas.microsoft.com/office/drawing/2014/chart" uri="{C3380CC4-5D6E-409C-BE32-E72D297353CC}">
              <c16:uniqueId val="{00000001-30FD-456B-8512-9CBF275F857D}"/>
            </c:ext>
          </c:extLst>
        </c:ser>
        <c:ser>
          <c:idx val="2"/>
          <c:order val="2"/>
          <c:tx>
            <c:strRef>
              <c:f>Лист1!$D$1</c:f>
              <c:strCache>
                <c:ptCount val="1"/>
                <c:pt idx="0">
                  <c:v>ПК/ноутбуки/планшеты</c:v>
                </c:pt>
              </c:strCache>
            </c:strRef>
          </c:tx>
          <c:spPr>
            <a:solidFill>
              <a:schemeClr val="accent3"/>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Лист1!$D$2:$D$12</c:f>
              <c:numCache>
                <c:formatCode>#,##0.00</c:formatCode>
                <c:ptCount val="11"/>
                <c:pt idx="0">
                  <c:v>1.57</c:v>
                </c:pt>
                <c:pt idx="1">
                  <c:v>1.57</c:v>
                </c:pt>
                <c:pt idx="2">
                  <c:v>1.6</c:v>
                </c:pt>
                <c:pt idx="3">
                  <c:v>1.64</c:v>
                </c:pt>
                <c:pt idx="4">
                  <c:v>1.67</c:v>
                </c:pt>
                <c:pt idx="5">
                  <c:v>1.7</c:v>
                </c:pt>
                <c:pt idx="6">
                  <c:v>1.73</c:v>
                </c:pt>
                <c:pt idx="7">
                  <c:v>1.77</c:v>
                </c:pt>
                <c:pt idx="8">
                  <c:v>1.8</c:v>
                </c:pt>
                <c:pt idx="9">
                  <c:v>1.83</c:v>
                </c:pt>
                <c:pt idx="10">
                  <c:v>1.87</c:v>
                </c:pt>
              </c:numCache>
            </c:numRef>
          </c:val>
          <c:extLst>
            <c:ext xmlns:c16="http://schemas.microsoft.com/office/drawing/2014/chart" uri="{C3380CC4-5D6E-409C-BE32-E72D297353CC}">
              <c16:uniqueId val="{00000002-30FD-456B-8512-9CBF275F857D}"/>
            </c:ext>
          </c:extLst>
        </c:ser>
        <c:ser>
          <c:idx val="3"/>
          <c:order val="3"/>
          <c:tx>
            <c:strRef>
              <c:f>Лист1!$E$1</c:f>
              <c:strCache>
                <c:ptCount val="1"/>
                <c:pt idx="0">
                  <c:v>Стационарные телефоны</c:v>
                </c:pt>
              </c:strCache>
            </c:strRef>
          </c:tx>
          <c:spPr>
            <a:solidFill>
              <a:srgbClr val="C5CAFB"/>
            </a:solidFill>
            <a:ln>
              <a:noFill/>
            </a:ln>
            <a:effectLst/>
          </c:spPr>
          <c:invertIfNegative val="0"/>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Лист1!$E$2:$E$12</c:f>
              <c:numCache>
                <c:formatCode>#,##0.00</c:formatCode>
                <c:ptCount val="11"/>
                <c:pt idx="0">
                  <c:v>0.89</c:v>
                </c:pt>
                <c:pt idx="1">
                  <c:v>0.87</c:v>
                </c:pt>
                <c:pt idx="2">
                  <c:v>0.85</c:v>
                </c:pt>
                <c:pt idx="3">
                  <c:v>0.82</c:v>
                </c:pt>
                <c:pt idx="4">
                  <c:v>0.8</c:v>
                </c:pt>
                <c:pt idx="5">
                  <c:v>0.79</c:v>
                </c:pt>
                <c:pt idx="6">
                  <c:v>0.77</c:v>
                </c:pt>
                <c:pt idx="7">
                  <c:v>0.75</c:v>
                </c:pt>
                <c:pt idx="8">
                  <c:v>0.74</c:v>
                </c:pt>
                <c:pt idx="9">
                  <c:v>0.72</c:v>
                </c:pt>
                <c:pt idx="10">
                  <c:v>0.71</c:v>
                </c:pt>
              </c:numCache>
            </c:numRef>
          </c:val>
          <c:extLst>
            <c:ext xmlns:c16="http://schemas.microsoft.com/office/drawing/2014/chart" uri="{C3380CC4-5D6E-409C-BE32-E72D297353CC}">
              <c16:uniqueId val="{00000003-30FD-456B-8512-9CBF275F857D}"/>
            </c:ext>
          </c:extLst>
        </c:ser>
        <c:ser>
          <c:idx val="4"/>
          <c:order val="4"/>
          <c:tx>
            <c:strRef>
              <c:f>Лист1!$F$1</c:f>
              <c:strCache>
                <c:ptCount val="1"/>
                <c:pt idx="0">
                  <c:v>IoT-дальнего действия</c:v>
                </c:pt>
              </c:strCache>
            </c:strRef>
          </c:tx>
          <c:spPr>
            <a:solidFill>
              <a:schemeClr val="accent5"/>
            </a:solidFill>
            <a:ln>
              <a:noFill/>
            </a:ln>
            <a:effectLst/>
          </c:spPr>
          <c:invertIfNegative val="0"/>
          <c:dLbls>
            <c:dLbl>
              <c:idx val="0"/>
              <c:layout>
                <c:manualLayout>
                  <c:x val="0"/>
                  <c:y val="-3.9658532782412097E-2"/>
                </c:manualLayout>
              </c:layout>
              <c:tx>
                <c:rich>
                  <a:bodyPr/>
                  <a:lstStyle/>
                  <a:p>
                    <a:r>
                      <a:rPr lang="en-US" dirty="0"/>
                      <a:t>17.4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0FD-456B-8512-9CBF275F857D}"/>
                </c:ext>
              </c:extLst>
            </c:dLbl>
            <c:dLbl>
              <c:idx val="1"/>
              <c:layout>
                <c:manualLayout>
                  <c:x val="0"/>
                  <c:y val="-4.8362568540318659E-2"/>
                </c:manualLayout>
              </c:layout>
              <c:tx>
                <c:rich>
                  <a:bodyPr/>
                  <a:lstStyle/>
                  <a:p>
                    <a:r>
                      <a:rPr lang="en-US" dirty="0"/>
                      <a:t>19.1</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0FD-456B-8512-9CBF275F857D}"/>
                </c:ext>
              </c:extLst>
            </c:dLbl>
            <c:dLbl>
              <c:idx val="2"/>
              <c:layout>
                <c:manualLayout>
                  <c:x val="-3.8738760691500626E-17"/>
                  <c:y val="-4.4456744887087195E-2"/>
                </c:manualLayout>
              </c:layout>
              <c:tx>
                <c:rich>
                  <a:bodyPr/>
                  <a:lstStyle/>
                  <a:p>
                    <a:r>
                      <a:rPr lang="en-US" dirty="0"/>
                      <a:t>21.3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0FD-456B-8512-9CBF275F857D}"/>
                </c:ext>
              </c:extLst>
            </c:dLbl>
            <c:dLbl>
              <c:idx val="3"/>
              <c:layout>
                <c:manualLayout>
                  <c:x val="0"/>
                  <c:y val="-4.9409838621657438E-2"/>
                </c:manualLayout>
              </c:layout>
              <c:tx>
                <c:rich>
                  <a:bodyPr/>
                  <a:lstStyle/>
                  <a:p>
                    <a:r>
                      <a:rPr lang="en-US" dirty="0"/>
                      <a:t>23.7</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0FD-456B-8512-9CBF275F857D}"/>
                </c:ext>
              </c:extLst>
            </c:dLbl>
            <c:dLbl>
              <c:idx val="4"/>
              <c:layout>
                <c:manualLayout>
                  <c:x val="4.620824586653759E-17"/>
                  <c:y val="-4.7580340264650356E-2"/>
                </c:manualLayout>
              </c:layout>
              <c:tx>
                <c:rich>
                  <a:bodyPr/>
                  <a:lstStyle/>
                  <a:p>
                    <a:r>
                      <a:rPr lang="en-US" dirty="0"/>
                      <a:t>26.5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0FD-456B-8512-9CBF275F857D}"/>
                </c:ext>
              </c:extLst>
            </c:dLbl>
            <c:dLbl>
              <c:idx val="5"/>
              <c:layout>
                <c:manualLayout>
                  <c:x val="0"/>
                  <c:y val="-5.6524518593591644E-2"/>
                </c:manualLayout>
              </c:layout>
              <c:tx>
                <c:rich>
                  <a:bodyPr/>
                  <a:lstStyle/>
                  <a:p>
                    <a:r>
                      <a:rPr lang="en-US" dirty="0"/>
                      <a:t>29.65</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0FD-456B-8512-9CBF275F857D}"/>
                </c:ext>
              </c:extLst>
            </c:dLbl>
            <c:dLbl>
              <c:idx val="6"/>
              <c:layout>
                <c:manualLayout>
                  <c:x val="-1.2601750734908014E-3"/>
                  <c:y val="-6.2789688417660666E-2"/>
                </c:manualLayout>
              </c:layout>
              <c:tx>
                <c:rich>
                  <a:bodyPr/>
                  <a:lstStyle/>
                  <a:p>
                    <a:r>
                      <a:rPr lang="en-US" dirty="0"/>
                      <a:t>33.3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0FD-456B-8512-9CBF275F857D}"/>
                </c:ext>
              </c:extLst>
            </c:dLbl>
            <c:dLbl>
              <c:idx val="7"/>
              <c:layout>
                <c:manualLayout>
                  <c:x val="-1.2601750734908014E-3"/>
                  <c:y val="-7.4694784439073861E-2"/>
                </c:manualLayout>
              </c:layout>
              <c:tx>
                <c:rich>
                  <a:bodyPr/>
                  <a:lstStyle/>
                  <a:p>
                    <a:r>
                      <a:rPr lang="en-US" dirty="0"/>
                      <a:t>37.6</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0FD-456B-8512-9CBF275F857D}"/>
                </c:ext>
              </c:extLst>
            </c:dLbl>
            <c:dLbl>
              <c:idx val="8"/>
              <c:layout>
                <c:manualLayout>
                  <c:x val="0"/>
                  <c:y val="-7.1565188014864473E-2"/>
                </c:manualLayout>
              </c:layout>
              <c:tx>
                <c:rich>
                  <a:bodyPr/>
                  <a:lstStyle/>
                  <a:p>
                    <a:r>
                      <a:rPr lang="en-US" dirty="0"/>
                      <a:t>41.8</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0FD-456B-8512-9CBF275F857D}"/>
                </c:ext>
              </c:extLst>
            </c:dLbl>
            <c:dLbl>
              <c:idx val="9"/>
              <c:layout>
                <c:manualLayout>
                  <c:x val="-1.2601750734909565E-3"/>
                  <c:y val="-7.5138120111223727E-2"/>
                </c:manualLayout>
              </c:layout>
              <c:tx>
                <c:rich>
                  <a:bodyPr/>
                  <a:lstStyle/>
                  <a:p>
                    <a:r>
                      <a:rPr lang="en-US" dirty="0"/>
                      <a:t>46.0</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0FD-456B-8512-9CBF275F857D}"/>
                </c:ext>
              </c:extLst>
            </c:dLbl>
            <c:dLbl>
              <c:idx val="10"/>
              <c:layout>
                <c:manualLayout>
                  <c:x val="0"/>
                  <c:y val="-9.2092721083131934E-2"/>
                </c:manualLayout>
              </c:layout>
              <c:tx>
                <c:rich>
                  <a:bodyPr/>
                  <a:lstStyle/>
                  <a:p>
                    <a:r>
                      <a:rPr lang="en-US" dirty="0"/>
                      <a:t>50.3</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30FD-456B-8512-9CBF275F857D}"/>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Лист1!$A$2:$A$12</c:f>
              <c:strCache>
                <c:ptCount val="11"/>
                <c:pt idx="0">
                  <c:v>2019</c:v>
                </c:pt>
                <c:pt idx="1">
                  <c:v>2020</c:v>
                </c:pt>
                <c:pt idx="2">
                  <c:v>2021</c:v>
                </c:pt>
                <c:pt idx="3">
                  <c:v>2022</c:v>
                </c:pt>
                <c:pt idx="4">
                  <c:v>2023</c:v>
                </c:pt>
                <c:pt idx="5">
                  <c:v>2024*</c:v>
                </c:pt>
                <c:pt idx="6">
                  <c:v>2025*</c:v>
                </c:pt>
                <c:pt idx="7">
                  <c:v>2026*</c:v>
                </c:pt>
                <c:pt idx="8">
                  <c:v>2027*</c:v>
                </c:pt>
                <c:pt idx="9">
                  <c:v>2028*</c:v>
                </c:pt>
                <c:pt idx="10">
                  <c:v>2029*</c:v>
                </c:pt>
              </c:strCache>
            </c:strRef>
          </c:cat>
          <c:val>
            <c:numRef>
              <c:f>Лист1!$F$2:$F$12</c:f>
              <c:numCache>
                <c:formatCode>#,##0.00</c:formatCode>
                <c:ptCount val="11"/>
                <c:pt idx="0">
                  <c:v>1.64</c:v>
                </c:pt>
                <c:pt idx="1">
                  <c:v>1.87</c:v>
                </c:pt>
                <c:pt idx="2">
                  <c:v>2.3199999999999998</c:v>
                </c:pt>
                <c:pt idx="3">
                  <c:v>3.09</c:v>
                </c:pt>
                <c:pt idx="4">
                  <c:v>3.63</c:v>
                </c:pt>
                <c:pt idx="5">
                  <c:v>4.2300000000000004</c:v>
                </c:pt>
                <c:pt idx="6">
                  <c:v>4.8499999999999996</c:v>
                </c:pt>
                <c:pt idx="7">
                  <c:v>5.47</c:v>
                </c:pt>
                <c:pt idx="8">
                  <c:v>6.03</c:v>
                </c:pt>
                <c:pt idx="9">
                  <c:v>6.6</c:v>
                </c:pt>
                <c:pt idx="10">
                  <c:v>7.2</c:v>
                </c:pt>
              </c:numCache>
            </c:numRef>
          </c:val>
          <c:extLst>
            <c:ext xmlns:c16="http://schemas.microsoft.com/office/drawing/2014/chart" uri="{C3380CC4-5D6E-409C-BE32-E72D297353CC}">
              <c16:uniqueId val="{00000004-30FD-456B-8512-9CBF275F857D}"/>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55"/>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valAx>
      <c:spPr>
        <a:noFill/>
        <a:ln>
          <a:noFill/>
        </a:ln>
        <a:effectLst/>
      </c:spPr>
    </c:plotArea>
    <c:legend>
      <c:legendPos val="b"/>
      <c:layout>
        <c:manualLayout>
          <c:xMode val="edge"/>
          <c:yMode val="edge"/>
          <c:x val="4.8800632849701271E-2"/>
          <c:y val="0.83011244172227794"/>
          <c:w val="0.91507545931758527"/>
          <c:h val="0.1375561369666771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9.6846901728751565E-18"/>
                  <c:y val="-0.107239156986564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D1BC-4559-9534-C402012FCCEB}"/>
                </c:ext>
              </c:extLst>
            </c:dLbl>
            <c:dLbl>
              <c:idx val="1"/>
              <c:layout>
                <c:manualLayout>
                  <c:x val="0"/>
                  <c:y val="-0.14335490241937579"/>
                </c:manualLayout>
              </c:layout>
              <c:tx>
                <c:rich>
                  <a:bodyPr/>
                  <a:lstStyle/>
                  <a:p>
                    <a:r>
                      <a:rPr lang="en-US" dirty="0"/>
                      <a:t>64</a:t>
                    </a:r>
                  </a:p>
                </c:rich>
              </c:tx>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1BC-4559-9534-C402012FCCEB}"/>
                </c:ext>
              </c:extLst>
            </c:dLbl>
            <c:dLbl>
              <c:idx val="2"/>
              <c:layout>
                <c:manualLayout>
                  <c:x val="-2.1130477202710822E-3"/>
                  <c:y val="-0.187106624048231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1BC-4559-9534-C402012FCCEB}"/>
                </c:ext>
              </c:extLst>
            </c:dLbl>
            <c:dLbl>
              <c:idx val="3"/>
              <c:layout>
                <c:manualLayout>
                  <c:x val="0"/>
                  <c:y val="-0.207047374028741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D1BC-4559-9534-C402012FCCEB}"/>
                </c:ext>
              </c:extLst>
            </c:dLbl>
            <c:dLbl>
              <c:idx val="4"/>
              <c:layout>
                <c:manualLayout>
                  <c:x val="-7.7477521383001252E-17"/>
                  <c:y val="-0.2493955458537980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D1BC-4559-9534-C402012FCCEB}"/>
                </c:ext>
              </c:extLst>
            </c:dLbl>
            <c:dLbl>
              <c:idx val="5"/>
              <c:layout>
                <c:manualLayout>
                  <c:x val="2.1130477202709274E-3"/>
                  <c:y val="-0.309009641121592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D1BC-4559-9534-C402012FCCEB}"/>
                </c:ext>
              </c:extLst>
            </c:dLbl>
            <c:dLbl>
              <c:idx val="6"/>
              <c:layout>
                <c:manualLayout>
                  <c:x val="0"/>
                  <c:y val="-0.374911514773524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D1BC-4559-9534-C402012FCCEB}"/>
                </c:ext>
              </c:extLst>
            </c:dLbl>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Лист1!$A$2:$A$8</c:f>
              <c:strCache>
                <c:ptCount val="7"/>
                <c:pt idx="0">
                  <c:v>2019</c:v>
                </c:pt>
                <c:pt idx="1">
                  <c:v>2020</c:v>
                </c:pt>
                <c:pt idx="2">
                  <c:v>2021</c:v>
                </c:pt>
                <c:pt idx="3">
                  <c:v>2022</c:v>
                </c:pt>
                <c:pt idx="4">
                  <c:v>2023</c:v>
                </c:pt>
                <c:pt idx="5">
                  <c:v>2024*</c:v>
                </c:pt>
                <c:pt idx="6">
                  <c:v>2025*</c:v>
                </c:pt>
              </c:strCache>
            </c:strRef>
          </c:cat>
          <c:val>
            <c:numRef>
              <c:f>Лист1!$B$2:$B$8</c:f>
              <c:numCache>
                <c:formatCode>#,##0.00</c:formatCode>
                <c:ptCount val="7"/>
                <c:pt idx="0" formatCode="#,##0">
                  <c:v>41</c:v>
                </c:pt>
                <c:pt idx="1">
                  <c:v>64.2</c:v>
                </c:pt>
                <c:pt idx="2" formatCode="#,##0">
                  <c:v>79</c:v>
                </c:pt>
                <c:pt idx="3" formatCode="#,##0">
                  <c:v>97</c:v>
                </c:pt>
                <c:pt idx="4" formatCode="#,##0">
                  <c:v>120</c:v>
                </c:pt>
                <c:pt idx="5" formatCode="#,##0">
                  <c:v>147</c:v>
                </c:pt>
                <c:pt idx="6" formatCode="#,##0">
                  <c:v>181</c:v>
                </c:pt>
              </c:numCache>
            </c:numRef>
          </c:val>
          <c:extLst>
            <c:ext xmlns:c16="http://schemas.microsoft.com/office/drawing/2014/chart" uri="{C3380CC4-5D6E-409C-BE32-E72D297353CC}">
              <c16:uniqueId val="{00000000-D1BC-4559-9534-C402012FCCEB}"/>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200"/>
          <c:min val="0"/>
        </c:scaling>
        <c:delete val="0"/>
        <c:axPos val="l"/>
        <c:majorGridlines>
          <c:spPr>
            <a:ln w="22225" cap="flat" cmpd="sng" algn="ctr">
              <a:solidFill>
                <a:schemeClr val="tx2"/>
              </a:solidFill>
              <a:prstDash val="sysDot"/>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numFmt formatCode="#,##0_ ;\-#,##0\ "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79076</c:v>
                </c:pt>
                <c:pt idx="1">
                  <c:v>97697</c:v>
                </c:pt>
                <c:pt idx="2">
                  <c:v>114186</c:v>
                </c:pt>
                <c:pt idx="3">
                  <c:v>149216</c:v>
                </c:pt>
              </c:numCache>
            </c:numRef>
          </c:val>
          <c:extLst>
            <c:ext xmlns:c16="http://schemas.microsoft.com/office/drawing/2014/chart" uri="{C3380CC4-5D6E-409C-BE32-E72D297353CC}">
              <c16:uniqueId val="{00000000-F921-4419-B898-ABB00F36F345}"/>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1700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4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Лист1!$C$1</c:f>
              <c:strCache>
                <c:ptCount val="1"/>
                <c:pt idx="0">
                  <c:v>Потребление</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2021</c:v>
                </c:pt>
                <c:pt idx="1">
                  <c:v>2022</c:v>
                </c:pt>
                <c:pt idx="2">
                  <c:v>2023</c:v>
                </c:pt>
                <c:pt idx="3">
                  <c:v>2024</c:v>
                </c:pt>
              </c:numCache>
            </c:numRef>
          </c:cat>
          <c:val>
            <c:numRef>
              <c:f>Лист1!$C$2:$C$5</c:f>
              <c:numCache>
                <c:formatCode>General</c:formatCode>
                <c:ptCount val="4"/>
                <c:pt idx="0">
                  <c:v>235</c:v>
                </c:pt>
                <c:pt idx="1">
                  <c:v>291</c:v>
                </c:pt>
                <c:pt idx="2">
                  <c:v>339</c:v>
                </c:pt>
                <c:pt idx="3">
                  <c:v>559</c:v>
                </c:pt>
              </c:numCache>
            </c:numRef>
          </c:val>
          <c:extLst>
            <c:ext xmlns:c16="http://schemas.microsoft.com/office/drawing/2014/chart" uri="{C3380CC4-5D6E-409C-BE32-E72D297353CC}">
              <c16:uniqueId val="{00000000-FA6B-4C5C-962A-F16AA7E39EDA}"/>
            </c:ext>
          </c:extLst>
        </c:ser>
        <c:dLbls>
          <c:showLegendKey val="0"/>
          <c:showVal val="0"/>
          <c:showCatName val="0"/>
          <c:showSerName val="0"/>
          <c:showPercent val="0"/>
          <c:showBubbleSize val="0"/>
        </c:dLbls>
        <c:gapWidth val="150"/>
        <c:axId val="469105744"/>
        <c:axId val="456062096"/>
      </c:barChart>
      <c:catAx>
        <c:axId val="469105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456062096"/>
        <c:crosses val="autoZero"/>
        <c:auto val="1"/>
        <c:lblAlgn val="ctr"/>
        <c:lblOffset val="100"/>
        <c:noMultiLvlLbl val="0"/>
      </c:catAx>
      <c:valAx>
        <c:axId val="456062096"/>
        <c:scaling>
          <c:orientation val="minMax"/>
          <c:max val="65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469105744"/>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091681646566646E-2"/>
          <c:y val="0.17707076219432966"/>
          <c:w val="0.9511382650691409"/>
          <c:h val="0.73648917647670276"/>
        </c:manualLayout>
      </c:layout>
      <c:barChart>
        <c:barDir val="col"/>
        <c:grouping val="stacked"/>
        <c:varyColors val="0"/>
        <c:ser>
          <c:idx val="0"/>
          <c:order val="0"/>
          <c:tx>
            <c:strRef>
              <c:f>Лист1!$B$1</c:f>
              <c:strCache>
                <c:ptCount val="1"/>
                <c:pt idx="0">
                  <c:v>Данные</c:v>
                </c:pt>
              </c:strCache>
            </c:strRef>
          </c:tx>
          <c:spPr>
            <a:solidFill>
              <a:srgbClr val="002060"/>
            </a:solidFill>
            <a:ln>
              <a:noFill/>
            </a:ln>
            <a:effectLst/>
          </c:spPr>
          <c:invertIfNegative val="0"/>
          <c:dLbls>
            <c:dLbl>
              <c:idx val="0"/>
              <c:layout>
                <c:manualLayout>
                  <c:x val="6.5669739125668609E-3"/>
                  <c:y val="-8.634516064949182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4DA-44AB-99D7-DD6F814DB77F}"/>
                </c:ext>
              </c:extLst>
            </c:dLbl>
            <c:dLbl>
              <c:idx val="1"/>
              <c:layout>
                <c:manualLayout>
                  <c:x val="0"/>
                  <c:y val="-8.3683670774627128E-2"/>
                </c:manualLayout>
              </c:layout>
              <c:tx>
                <c:rich>
                  <a:bodyPr/>
                  <a:lstStyle/>
                  <a:p>
                    <a:r>
                      <a:rPr lang="en-US" dirty="0"/>
                      <a:t>136</a:t>
                    </a:r>
                  </a:p>
                </c:rich>
              </c:tx>
              <c:dLblPos val="ctr"/>
              <c:showLegendKey val="0"/>
              <c:showVal val="1"/>
              <c:showCatName val="0"/>
              <c:showSerName val="0"/>
              <c:showPercent val="0"/>
              <c:showBubbleSize val="0"/>
              <c:extLst>
                <c:ext xmlns:c15="http://schemas.microsoft.com/office/drawing/2012/chart" uri="{CE6537A1-D6FC-4f65-9D91-7224C49458BB}">
                  <c15:layout>
                    <c:manualLayout>
                      <c:w val="6.4728472864867367E-2"/>
                      <c:h val="6.9343196049292496E-2"/>
                    </c:manualLayout>
                  </c15:layout>
                </c:ext>
                <c:ext xmlns:c16="http://schemas.microsoft.com/office/drawing/2014/chart" uri="{C3380CC4-5D6E-409C-BE32-E72D297353CC}">
                  <c16:uniqueId val="{00000001-14DA-44AB-99D7-DD6F814DB77F}"/>
                </c:ext>
              </c:extLst>
            </c:dLbl>
            <c:dLbl>
              <c:idx val="2"/>
              <c:layout>
                <c:manualLayout>
                  <c:x val="4.4539940387044287E-3"/>
                  <c:y val="-0.1090259309094615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4DA-44AB-99D7-DD6F814DB77F}"/>
                </c:ext>
              </c:extLst>
            </c:dLbl>
            <c:dLbl>
              <c:idx val="3"/>
              <c:layout>
                <c:manualLayout>
                  <c:x val="2.1889913041889136E-3"/>
                  <c:y val="-0.1266634015390984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DA-44AB-99D7-DD6F814DB77F}"/>
                </c:ext>
              </c:extLst>
            </c:dLbl>
            <c:dLbl>
              <c:idx val="4"/>
              <c:layout>
                <c:manualLayout>
                  <c:x val="2.1889913041889539E-3"/>
                  <c:y val="-0.1585645354992539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4DA-44AB-99D7-DD6F814DB77F}"/>
                </c:ext>
              </c:extLst>
            </c:dLbl>
            <c:dLbl>
              <c:idx val="5"/>
              <c:layout>
                <c:manualLayout>
                  <c:x val="-7.6011430326561306E-5"/>
                  <c:y val="-0.1921518881714353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DA-44AB-99D7-DD6F814DB77F}"/>
                </c:ext>
              </c:extLst>
            </c:dLbl>
            <c:dLbl>
              <c:idx val="6"/>
              <c:layout>
                <c:manualLayout>
                  <c:x val="-1.6052417458489373E-16"/>
                  <c:y val="-0.2336223523666653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4DA-44AB-99D7-DD6F814DB77F}"/>
                </c:ext>
              </c:extLst>
            </c:dLbl>
            <c:dLbl>
              <c:idx val="7"/>
              <c:layout>
                <c:manualLayout>
                  <c:x val="-4.3779826083779078E-3"/>
                  <c:y val="-0.2802686096862396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4DA-44AB-99D7-DD6F814DB77F}"/>
                </c:ext>
              </c:extLst>
            </c:dLbl>
            <c:dLbl>
              <c:idx val="8"/>
              <c:layout>
                <c:manualLayout>
                  <c:x val="2.1889913041889539E-3"/>
                  <c:y val="-0.3441299742482635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14DA-44AB-99D7-DD6F814DB77F}"/>
                </c:ext>
              </c:extLst>
            </c:dLbl>
            <c:numFmt formatCode="#,##0" sourceLinked="0"/>
            <c:spPr>
              <a:noFill/>
              <a:ln>
                <a:noFill/>
              </a:ln>
              <a:effectLst/>
            </c:spPr>
            <c:txPr>
              <a:bodyPr rot="0" spcFirstLastPara="1" vertOverflow="ellipsis" vert="horz" wrap="square" lIns="38100" tIns="19050" rIns="38100" bIns="19050" anchor="ctr" anchorCtr="0">
                <a:spAutoFit/>
              </a:bodyPr>
              <a:lstStyle/>
              <a:p>
                <a:pPr algn="ctr">
                  <a:defRPr lang="ru-RU" sz="1400" b="1" i="0" u="none" strike="noStrike" kern="1200" baseline="0">
                    <a:solidFill>
                      <a:schemeClr val="tx1">
                        <a:lumMod val="75000"/>
                        <a:lumOff val="25000"/>
                      </a:schemeClr>
                    </a:solidFill>
                    <a:latin typeface="HelveticaNeueCyr" panose="02000503040000020004" pitchFamily="2" charset="-52"/>
                    <a:ea typeface="+mn-ea"/>
                    <a:cs typeface="+mn-cs"/>
                  </a:defRPr>
                </a:pPr>
                <a:endParaRPr lang="ru-R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Лист1!$A$2:$A$10</c:f>
              <c:strCache>
                <c:ptCount val="9"/>
                <c:pt idx="0">
                  <c:v>2022</c:v>
                </c:pt>
                <c:pt idx="1">
                  <c:v>2023</c:v>
                </c:pt>
                <c:pt idx="2">
                  <c:v>2024*</c:v>
                </c:pt>
                <c:pt idx="3">
                  <c:v>2025*</c:v>
                </c:pt>
                <c:pt idx="4">
                  <c:v>2026*</c:v>
                </c:pt>
                <c:pt idx="5">
                  <c:v>2027*</c:v>
                </c:pt>
                <c:pt idx="6">
                  <c:v>2028*</c:v>
                </c:pt>
                <c:pt idx="7">
                  <c:v>2029*</c:v>
                </c:pt>
                <c:pt idx="8">
                  <c:v>2030*</c:v>
                </c:pt>
              </c:strCache>
            </c:strRef>
          </c:cat>
          <c:val>
            <c:numRef>
              <c:f>Лист1!$B$2:$B$10</c:f>
              <c:numCache>
                <c:formatCode>#,##0.00</c:formatCode>
                <c:ptCount val="9"/>
                <c:pt idx="0">
                  <c:v>124.79</c:v>
                </c:pt>
                <c:pt idx="1">
                  <c:v>135.93</c:v>
                </c:pt>
                <c:pt idx="2">
                  <c:v>184.04</c:v>
                </c:pt>
                <c:pt idx="3">
                  <c:v>243.72</c:v>
                </c:pt>
                <c:pt idx="4">
                  <c:v>320.14</c:v>
                </c:pt>
                <c:pt idx="5">
                  <c:v>415.61</c:v>
                </c:pt>
                <c:pt idx="6">
                  <c:v>529.23</c:v>
                </c:pt>
                <c:pt idx="7">
                  <c:v>667.74</c:v>
                </c:pt>
                <c:pt idx="8">
                  <c:v>826.73</c:v>
                </c:pt>
              </c:numCache>
            </c:numRef>
          </c:val>
          <c:extLst>
            <c:ext xmlns:c16="http://schemas.microsoft.com/office/drawing/2014/chart" uri="{C3380CC4-5D6E-409C-BE32-E72D297353CC}">
              <c16:uniqueId val="{00000007-14DA-44AB-99D7-DD6F814DB77F}"/>
            </c:ext>
          </c:extLst>
        </c:ser>
        <c:dLbls>
          <c:showLegendKey val="0"/>
          <c:showVal val="0"/>
          <c:showCatName val="0"/>
          <c:showSerName val="0"/>
          <c:showPercent val="0"/>
          <c:showBubbleSize val="0"/>
        </c:dLbls>
        <c:gapWidth val="150"/>
        <c:overlap val="100"/>
        <c:axId val="360072528"/>
        <c:axId val="776488432"/>
      </c:barChart>
      <c:catAx>
        <c:axId val="36007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2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776488432"/>
        <c:crosses val="autoZero"/>
        <c:auto val="1"/>
        <c:lblAlgn val="ctr"/>
        <c:lblOffset val="100"/>
        <c:noMultiLvlLbl val="0"/>
      </c:catAx>
      <c:valAx>
        <c:axId val="776488432"/>
        <c:scaling>
          <c:orientation val="minMax"/>
          <c:max val="1000"/>
          <c:min val="0"/>
        </c:scaling>
        <c:delete val="0"/>
        <c:axPos val="l"/>
        <c:majorGridlines>
          <c:spPr>
            <a:ln w="22225" cap="flat" cmpd="sng" algn="ctr">
              <a:solidFill>
                <a:schemeClr val="tx2"/>
              </a:solidFill>
              <a:prstDash val="sysDot"/>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360072528"/>
        <c:crosses val="autoZero"/>
        <c:crossBetween val="between"/>
        <c:majorUnit val="2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31802192022783E-2"/>
          <c:y val="8.1465102778976825E-2"/>
          <c:w val="0.93142173863427757"/>
          <c:h val="0.66009274462748779"/>
        </c:manualLayout>
      </c:layout>
      <c:lineChart>
        <c:grouping val="standard"/>
        <c:varyColors val="0"/>
        <c:ser>
          <c:idx val="0"/>
          <c:order val="0"/>
          <c:tx>
            <c:strRef>
              <c:f>Лист1!$B$1</c:f>
              <c:strCache>
                <c:ptCount val="1"/>
                <c:pt idx="0">
                  <c:v>GPU RAM, ГБ</c:v>
                </c:pt>
              </c:strCache>
            </c:strRef>
          </c:tx>
          <c:spPr>
            <a:ln w="38100" cap="rnd">
              <a:solidFill>
                <a:srgbClr val="0F24E7"/>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Лист1!$B$2:$B$7</c:f>
              <c:numCache>
                <c:formatCode>#,##0</c:formatCode>
                <c:ptCount val="6"/>
                <c:pt idx="0" formatCode="General">
                  <c:v>640</c:v>
                </c:pt>
                <c:pt idx="1">
                  <c:v>2560</c:v>
                </c:pt>
                <c:pt idx="2">
                  <c:v>5920</c:v>
                </c:pt>
              </c:numCache>
            </c:numRef>
          </c:val>
          <c:smooth val="0"/>
          <c:extLst>
            <c:ext xmlns:c16="http://schemas.microsoft.com/office/drawing/2014/chart" uri="{C3380CC4-5D6E-409C-BE32-E72D297353CC}">
              <c16:uniqueId val="{00000000-E77C-4E4D-9576-42D6D1809748}"/>
            </c:ext>
          </c:extLst>
        </c:ser>
        <c:ser>
          <c:idx val="1"/>
          <c:order val="1"/>
          <c:tx>
            <c:strRef>
              <c:f>Лист1!$C$1</c:f>
              <c:strCache>
                <c:ptCount val="1"/>
                <c:pt idx="0">
                  <c:v>GPU RAM, ГБ прогноз</c:v>
                </c:pt>
              </c:strCache>
            </c:strRef>
          </c:tx>
          <c:spPr>
            <a:ln w="38100" cap="rnd">
              <a:solidFill>
                <a:srgbClr val="E91B11"/>
              </a:solidFill>
              <a:round/>
            </a:ln>
            <a:effectLst/>
          </c:spPr>
          <c:marker>
            <c:symbol val="none"/>
          </c:marker>
          <c:cat>
            <c:numRef>
              <c:f>Лист1!$A$2:$A$7</c:f>
              <c:numCache>
                <c:formatCode>m/d/yyyy</c:formatCode>
                <c:ptCount val="6"/>
                <c:pt idx="0">
                  <c:v>44562</c:v>
                </c:pt>
                <c:pt idx="1">
                  <c:v>44927</c:v>
                </c:pt>
                <c:pt idx="2">
                  <c:v>45474</c:v>
                </c:pt>
                <c:pt idx="3">
                  <c:v>45657</c:v>
                </c:pt>
                <c:pt idx="4">
                  <c:v>46022</c:v>
                </c:pt>
                <c:pt idx="5">
                  <c:v>46387</c:v>
                </c:pt>
              </c:numCache>
            </c:numRef>
          </c:cat>
          <c:val>
            <c:numRef>
              <c:f>Лист1!$C$2:$C$7</c:f>
              <c:numCache>
                <c:formatCode>General</c:formatCode>
                <c:ptCount val="6"/>
                <c:pt idx="2" formatCode="#,##0">
                  <c:v>5920</c:v>
                </c:pt>
                <c:pt idx="3" formatCode="#,##0">
                  <c:v>6000</c:v>
                </c:pt>
                <c:pt idx="4" formatCode="#,##0">
                  <c:v>7000</c:v>
                </c:pt>
                <c:pt idx="5" formatCode="#,##0">
                  <c:v>8512</c:v>
                </c:pt>
              </c:numCache>
            </c:numRef>
          </c:val>
          <c:smooth val="0"/>
          <c:extLst>
            <c:ext xmlns:c16="http://schemas.microsoft.com/office/drawing/2014/chart" uri="{C3380CC4-5D6E-409C-BE32-E72D297353CC}">
              <c16:uniqueId val="{00000001-E77C-4E4D-9576-42D6D1809748}"/>
            </c:ext>
          </c:extLst>
        </c:ser>
        <c:dLbls>
          <c:showLegendKey val="0"/>
          <c:showVal val="0"/>
          <c:showCatName val="0"/>
          <c:showSerName val="0"/>
          <c:showPercent val="0"/>
          <c:showBubbleSize val="0"/>
        </c:dLbls>
        <c:smooth val="0"/>
        <c:axId val="1808627280"/>
        <c:axId val="1488748144"/>
      </c:lineChart>
      <c:dateAx>
        <c:axId val="180862728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1488748144"/>
        <c:crosses val="autoZero"/>
        <c:auto val="1"/>
        <c:lblOffset val="100"/>
        <c:baseTimeUnit val="months"/>
        <c:majorUnit val="4"/>
        <c:majorTimeUnit val="years"/>
        <c:minorUnit val="1"/>
        <c:minorTimeUnit val="years"/>
      </c:dateAx>
      <c:valAx>
        <c:axId val="1488748144"/>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ru-RU" sz="800" b="0" i="0" u="none" strike="noStrike" kern="1200" baseline="0">
                <a:solidFill>
                  <a:schemeClr val="bg1">
                    <a:lumMod val="50000"/>
                  </a:schemeClr>
                </a:solidFill>
                <a:latin typeface="Wix Madefor Display" panose="020B0503020203020203" pitchFamily="34" charset="0"/>
                <a:ea typeface="+mn-ea"/>
                <a:cs typeface="Wix Madefor Display" panose="020B0503020203020203" pitchFamily="34" charset="0"/>
              </a:defRPr>
            </a:pPr>
            <a:endParaRPr lang="ru-RU"/>
          </a:p>
        </c:txPr>
        <c:crossAx val="1808627280"/>
        <c:crosses val="autoZero"/>
        <c:crossBetween val="between"/>
        <c:majorUnit val="2000"/>
      </c:valAx>
      <c:spPr>
        <a:noFill/>
        <a:ln>
          <a:noFill/>
        </a:ln>
        <a:effectLst/>
      </c:spPr>
    </c:plotArea>
    <c:legend>
      <c:legendPos val="b"/>
      <c:overlay val="0"/>
      <c:spPr>
        <a:noFill/>
        <a:ln>
          <a:noFill/>
        </a:ln>
        <a:effectLst/>
      </c:spPr>
      <c:txPr>
        <a:bodyPr rot="0" spcFirstLastPara="1" vertOverflow="ellipsis" vert="horz" wrap="square" anchor="ctr" anchorCtr="1"/>
        <a:lstStyle/>
        <a:p>
          <a:pPr>
            <a:defRPr lang="ru-RU" sz="11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Лист1!$B$1</c:f>
              <c:strCache>
                <c:ptCount val="1"/>
                <c:pt idx="0">
                  <c:v>Серверы без сопроцессоров</c:v>
                </c:pt>
              </c:strCache>
            </c:strRef>
          </c:tx>
          <c:spPr>
            <a:solidFill>
              <a:srgbClr val="0F24E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Лист1!$B$2:$B$3</c:f>
              <c:numCache>
                <c:formatCode>0%</c:formatCode>
                <c:ptCount val="2"/>
                <c:pt idx="0">
                  <c:v>0.89</c:v>
                </c:pt>
                <c:pt idx="1">
                  <c:v>0.4</c:v>
                </c:pt>
              </c:numCache>
            </c:numRef>
          </c:val>
          <c:extLst>
            <c:ext xmlns:c16="http://schemas.microsoft.com/office/drawing/2014/chart" uri="{C3380CC4-5D6E-409C-BE32-E72D297353CC}">
              <c16:uniqueId val="{00000000-92F7-496B-854F-98EA153C8D83}"/>
            </c:ext>
          </c:extLst>
        </c:ser>
        <c:ser>
          <c:idx val="1"/>
          <c:order val="1"/>
          <c:tx>
            <c:strRef>
              <c:f>Лист1!$C$1</c:f>
              <c:strCache>
                <c:ptCount val="1"/>
                <c:pt idx="0">
                  <c:v>Серверы с сопроцессорами*</c:v>
                </c:pt>
              </c:strCache>
            </c:strRef>
          </c:tx>
          <c:spPr>
            <a:solidFill>
              <a:schemeClr val="accent2"/>
            </a:solidFill>
            <a:ln>
              <a:noFill/>
            </a:ln>
            <a:effectLst/>
          </c:spPr>
          <c:invertIfNegative val="0"/>
          <c:dPt>
            <c:idx val="0"/>
            <c:invertIfNegative val="0"/>
            <c:bubble3D val="0"/>
            <c:spPr>
              <a:solidFill>
                <a:srgbClr val="E91B11"/>
              </a:solidFill>
              <a:ln>
                <a:noFill/>
              </a:ln>
              <a:effectLst/>
            </c:spPr>
            <c:extLst>
              <c:ext xmlns:c16="http://schemas.microsoft.com/office/drawing/2014/chart" uri="{C3380CC4-5D6E-409C-BE32-E72D297353CC}">
                <c16:uniqueId val="{00000004-92F7-496B-854F-98EA153C8D83}"/>
              </c:ext>
            </c:extLst>
          </c:dPt>
          <c:dPt>
            <c:idx val="1"/>
            <c:invertIfNegative val="0"/>
            <c:bubble3D val="0"/>
            <c:spPr>
              <a:solidFill>
                <a:srgbClr val="E91B11"/>
              </a:solidFill>
              <a:ln>
                <a:noFill/>
              </a:ln>
              <a:effectLst/>
            </c:spPr>
            <c:extLst>
              <c:ext xmlns:c16="http://schemas.microsoft.com/office/drawing/2014/chart" uri="{C3380CC4-5D6E-409C-BE32-E72D297353CC}">
                <c16:uniqueId val="{00000003-92F7-496B-854F-98EA153C8D83}"/>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HelveticaNeueCyr" panose="02000503040000020004" pitchFamily="2" charset="-52"/>
                    <a:ea typeface="+mn-ea"/>
                    <a:cs typeface="+mn-cs"/>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Лист1!$A$2:$A$3</c:f>
              <c:numCache>
                <c:formatCode>General</c:formatCode>
                <c:ptCount val="2"/>
                <c:pt idx="0">
                  <c:v>2020</c:v>
                </c:pt>
                <c:pt idx="1">
                  <c:v>2028</c:v>
                </c:pt>
              </c:numCache>
            </c:numRef>
          </c:cat>
          <c:val>
            <c:numRef>
              <c:f>Лист1!$C$2:$C$3</c:f>
              <c:numCache>
                <c:formatCode>0%</c:formatCode>
                <c:ptCount val="2"/>
                <c:pt idx="0">
                  <c:v>0.11</c:v>
                </c:pt>
                <c:pt idx="1">
                  <c:v>0.6</c:v>
                </c:pt>
              </c:numCache>
            </c:numRef>
          </c:val>
          <c:extLst>
            <c:ext xmlns:c16="http://schemas.microsoft.com/office/drawing/2014/chart" uri="{C3380CC4-5D6E-409C-BE32-E72D297353CC}">
              <c16:uniqueId val="{00000001-92F7-496B-854F-98EA153C8D83}"/>
            </c:ext>
          </c:extLst>
        </c:ser>
        <c:dLbls>
          <c:showLegendKey val="0"/>
          <c:showVal val="0"/>
          <c:showCatName val="0"/>
          <c:showSerName val="0"/>
          <c:showPercent val="0"/>
          <c:showBubbleSize val="0"/>
        </c:dLbls>
        <c:gapWidth val="85"/>
        <c:overlap val="100"/>
        <c:axId val="1688824896"/>
        <c:axId val="2052737568"/>
      </c:barChart>
      <c:catAx>
        <c:axId val="1688824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crossAx val="2052737568"/>
        <c:crosses val="autoZero"/>
        <c:auto val="1"/>
        <c:lblAlgn val="ctr"/>
        <c:lblOffset val="100"/>
        <c:noMultiLvlLbl val="0"/>
      </c:catAx>
      <c:valAx>
        <c:axId val="2052737568"/>
        <c:scaling>
          <c:orientation val="minMax"/>
        </c:scaling>
        <c:delete val="0"/>
        <c:axPos val="l"/>
        <c:majorGridlines>
          <c:spPr>
            <a:ln w="9525" cap="flat" cmpd="sng" algn="ctr">
              <a:solidFill>
                <a:schemeClr val="tx1">
                  <a:lumMod val="15000"/>
                  <a:lumOff val="85000"/>
                  <a:alpha val="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ru-RU"/>
          </a:p>
        </c:txPr>
        <c:crossAx val="1688824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65288713910761E-2"/>
          <c:y val="1.4235002878851705E-2"/>
          <c:w val="0.82307130358705161"/>
          <c:h val="0.8416746864975212"/>
        </c:manualLayout>
      </c:layout>
      <c:barChart>
        <c:barDir val="bar"/>
        <c:grouping val="stacked"/>
        <c:varyColors val="0"/>
        <c:ser>
          <c:idx val="0"/>
          <c:order val="0"/>
          <c:spPr>
            <a:solidFill>
              <a:srgbClr val="FF7C80"/>
            </a:solidFill>
            <a:ln>
              <a:noFill/>
            </a:ln>
            <a:effectLst/>
          </c:spPr>
          <c:invertIfNegative val="0"/>
          <c:dLbls>
            <c:delete val="1"/>
          </c:dLbls>
          <c:cat>
            <c:strRef>
              <c:f>Лист1!$A$4:$A$5</c:f>
              <c:strCache>
                <c:ptCount val="2"/>
                <c:pt idx="0">
                  <c:v>ЦП</c:v>
                </c:pt>
                <c:pt idx="1">
                  <c:v>ГП</c:v>
                </c:pt>
              </c:strCache>
            </c:strRef>
          </c:cat>
          <c:val>
            <c:numRef>
              <c:f>Лист1!$B$4:$B$5</c:f>
              <c:numCache>
                <c:formatCode>General</c:formatCode>
                <c:ptCount val="2"/>
                <c:pt idx="0">
                  <c:v>1</c:v>
                </c:pt>
                <c:pt idx="1">
                  <c:v>5</c:v>
                </c:pt>
              </c:numCache>
            </c:numRef>
          </c:val>
          <c:extLst>
            <c:ext xmlns:c16="http://schemas.microsoft.com/office/drawing/2014/chart" uri="{C3380CC4-5D6E-409C-BE32-E72D297353CC}">
              <c16:uniqueId val="{00000000-4AB2-4E80-B245-0614EAAB04FA}"/>
            </c:ext>
          </c:extLst>
        </c:ser>
        <c:ser>
          <c:idx val="1"/>
          <c:order val="1"/>
          <c:spPr>
            <a:solidFill>
              <a:srgbClr val="CC0000"/>
            </a:solidFill>
            <a:ln>
              <a:noFill/>
            </a:ln>
            <a:effectLst/>
          </c:spPr>
          <c:invertIfNegative val="0"/>
          <c:dLbls>
            <c:delete val="1"/>
          </c:dLbls>
          <c:cat>
            <c:strRef>
              <c:f>Лист1!$A$4:$A$5</c:f>
              <c:strCache>
                <c:ptCount val="2"/>
                <c:pt idx="0">
                  <c:v>ЦП</c:v>
                </c:pt>
                <c:pt idx="1">
                  <c:v>ГП</c:v>
                </c:pt>
              </c:strCache>
            </c:strRef>
          </c:cat>
          <c:val>
            <c:numRef>
              <c:f>Лист1!$C$4:$C$5</c:f>
              <c:numCache>
                <c:formatCode>General</c:formatCode>
                <c:ptCount val="2"/>
                <c:pt idx="0">
                  <c:v>4</c:v>
                </c:pt>
                <c:pt idx="1">
                  <c:v>5</c:v>
                </c:pt>
              </c:numCache>
            </c:numRef>
          </c:val>
          <c:extLst>
            <c:ext xmlns:c16="http://schemas.microsoft.com/office/drawing/2014/chart" uri="{C3380CC4-5D6E-409C-BE32-E72D297353CC}">
              <c16:uniqueId val="{00000001-4AB2-4E80-B245-0614EAAB04FA}"/>
            </c:ext>
          </c:extLst>
        </c:ser>
        <c:dLbls>
          <c:dLblPos val="ctr"/>
          <c:showLegendKey val="0"/>
          <c:showVal val="1"/>
          <c:showCatName val="0"/>
          <c:showSerName val="0"/>
          <c:showPercent val="0"/>
          <c:showBubbleSize val="0"/>
        </c:dLbls>
        <c:gapWidth val="150"/>
        <c:overlap val="100"/>
        <c:axId val="1227792319"/>
        <c:axId val="987251279"/>
      </c:barChart>
      <c:catAx>
        <c:axId val="122779231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just">
              <a:defRPr sz="1200" b="0" i="0" u="none" strike="noStrike" kern="1200" baseline="0">
                <a:solidFill>
                  <a:schemeClr val="tx1"/>
                </a:solidFill>
                <a:latin typeface="Unbounded Medium" pitchFamily="2" charset="-52"/>
                <a:ea typeface="+mn-ea"/>
                <a:cs typeface="+mn-cs"/>
              </a:defRPr>
            </a:pPr>
            <a:endParaRPr lang="ru-RU"/>
          </a:p>
        </c:txPr>
        <c:crossAx val="987251279"/>
        <c:crosses val="autoZero"/>
        <c:auto val="1"/>
        <c:lblAlgn val="ctr"/>
        <c:lblOffset val="100"/>
        <c:noMultiLvlLbl val="0"/>
      </c:catAx>
      <c:valAx>
        <c:axId val="987251279"/>
        <c:scaling>
          <c:orientation val="minMax"/>
        </c:scaling>
        <c:delete val="1"/>
        <c:axPos val="b"/>
        <c:numFmt formatCode="General" sourceLinked="1"/>
        <c:majorTickMark val="none"/>
        <c:minorTickMark val="none"/>
        <c:tickLblPos val="nextTo"/>
        <c:crossAx val="1227792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F24E7"/>
            </a:solidFill>
            <a:ln>
              <a:noFill/>
            </a:ln>
            <a:effectLst/>
          </c:spPr>
          <c:invertIfNegative val="0"/>
          <c:cat>
            <c:numRef>
              <c:f>Лист1!$A$2:$A$13</c:f>
              <c:numCache>
                <c:formatCode>General</c:formatCode>
                <c:ptCount val="12"/>
                <c:pt idx="0">
                  <c:v>2012</c:v>
                </c:pt>
                <c:pt idx="1">
                  <c:v>2013</c:v>
                </c:pt>
                <c:pt idx="2">
                  <c:v>2014</c:v>
                </c:pt>
                <c:pt idx="3">
                  <c:v>2015</c:v>
                </c:pt>
                <c:pt idx="4">
                  <c:v>2016</c:v>
                </c:pt>
                <c:pt idx="5">
                  <c:v>2017</c:v>
                </c:pt>
                <c:pt idx="6">
                  <c:v>2018</c:v>
                </c:pt>
                <c:pt idx="7">
                  <c:v>2019</c:v>
                </c:pt>
                <c:pt idx="8">
                  <c:v>2020</c:v>
                </c:pt>
                <c:pt idx="9">
                  <c:v>2021</c:v>
                </c:pt>
                <c:pt idx="10">
                  <c:v>2022</c:v>
                </c:pt>
                <c:pt idx="11">
                  <c:v>2023</c:v>
                </c:pt>
              </c:numCache>
            </c:numRef>
          </c:cat>
          <c:val>
            <c:numRef>
              <c:f>Лист1!$B$2:$B$13</c:f>
              <c:numCache>
                <c:formatCode>General</c:formatCode>
                <c:ptCount val="12"/>
                <c:pt idx="0">
                  <c:v>60</c:v>
                </c:pt>
                <c:pt idx="1">
                  <c:v>20</c:v>
                </c:pt>
                <c:pt idx="2">
                  <c:v>100</c:v>
                </c:pt>
                <c:pt idx="3">
                  <c:v>180</c:v>
                </c:pt>
                <c:pt idx="4">
                  <c:v>200</c:v>
                </c:pt>
                <c:pt idx="5">
                  <c:v>480</c:v>
                </c:pt>
                <c:pt idx="6">
                  <c:v>400</c:v>
                </c:pt>
                <c:pt idx="7">
                  <c:v>800</c:v>
                </c:pt>
                <c:pt idx="8">
                  <c:v>700</c:v>
                </c:pt>
                <c:pt idx="9">
                  <c:v>2400</c:v>
                </c:pt>
                <c:pt idx="10">
                  <c:v>2370</c:v>
                </c:pt>
                <c:pt idx="11">
                  <c:v>1200</c:v>
                </c:pt>
              </c:numCache>
            </c:numRef>
          </c:val>
          <c:extLst>
            <c:ext xmlns:c16="http://schemas.microsoft.com/office/drawing/2014/chart" uri="{C3380CC4-5D6E-409C-BE32-E72D297353CC}">
              <c16:uniqueId val="{00000000-0CD4-4B4D-B0F9-076F688074D8}"/>
            </c:ext>
          </c:extLst>
        </c:ser>
        <c:dLbls>
          <c:showLegendKey val="0"/>
          <c:showVal val="0"/>
          <c:showCatName val="0"/>
          <c:showSerName val="0"/>
          <c:showPercent val="0"/>
          <c:showBubbleSize val="0"/>
        </c:dLbls>
        <c:gapWidth val="98"/>
        <c:overlap val="-27"/>
        <c:axId val="129307696"/>
        <c:axId val="564723280"/>
      </c:barChart>
      <c:catAx>
        <c:axId val="129307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HelveticaNeueCyr" panose="020B0604020202020204" charset="-52"/>
                <a:ea typeface="+mn-ea"/>
                <a:cs typeface="+mn-cs"/>
              </a:defRPr>
            </a:pPr>
            <a:endParaRPr lang="ru-RU"/>
          </a:p>
        </c:txPr>
        <c:crossAx val="564723280"/>
        <c:crosses val="autoZero"/>
        <c:auto val="1"/>
        <c:lblAlgn val="ctr"/>
        <c:lblOffset val="100"/>
        <c:noMultiLvlLbl val="0"/>
      </c:catAx>
      <c:valAx>
        <c:axId val="564723280"/>
        <c:scaling>
          <c:orientation val="minMax"/>
          <c:max val="2500"/>
          <c:min val="0"/>
        </c:scaling>
        <c:delete val="0"/>
        <c:axPos val="l"/>
        <c:majorGridlines>
          <c:spPr>
            <a:ln w="9525" cap="flat" cmpd="sng" algn="ctr">
              <a:solidFill>
                <a:schemeClr val="tx1">
                  <a:lumMod val="15000"/>
                  <a:lumOff val="85000"/>
                </a:schemeClr>
              </a:solidFill>
              <a:prstDash val="sysDot"/>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HelveticaNeueCyr" panose="020B0604020202020204" charset="-52"/>
                <a:ea typeface="+mn-ea"/>
                <a:cs typeface="+mn-cs"/>
              </a:defRPr>
            </a:pPr>
            <a:endParaRPr lang="ru-RU"/>
          </a:p>
        </c:txPr>
        <c:crossAx val="1293076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400" dirty="0">
              <a:latin typeface="Unbounded Medium" pitchFamily="2" charset="-52"/>
              <a:cs typeface="Wix Madefor Display SemiBold" panose="020B0503020203020203" pitchFamily="34" charset="-52"/>
            </a:rPr>
            <a:t>20</a:t>
          </a:r>
          <a:r>
            <a:rPr lang="en-US" sz="1400" dirty="0">
              <a:latin typeface="Unbounded Medium" pitchFamily="2" charset="-52"/>
              <a:cs typeface="Wix Madefor Display SemiBold" panose="020B0503020203020203" pitchFamily="34" charset="-52"/>
            </a:rPr>
            <a:t>18</a:t>
          </a:r>
          <a:endParaRPr lang="ru-RU" sz="1400" dirty="0">
            <a:latin typeface="Unbounded Medium" pitchFamily="2" charset="-52"/>
            <a:cs typeface="Wix Madefor Display SemiBold" panose="020B0503020203020203" pitchFamily="34" charset="-52"/>
          </a:endParaRP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r>
            <a:rPr lang="en-US" sz="1400" dirty="0">
              <a:latin typeface="Unbounded Medium" pitchFamily="2" charset="-52"/>
              <a:cs typeface="Wix Madefor Display SemiBold" panose="020B0503020203020203" pitchFamily="34" charset="-52"/>
            </a:rPr>
            <a:t>2020</a:t>
          </a:r>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r>
            <a:rPr lang="en-US" sz="1400" dirty="0">
              <a:latin typeface="Unbounded Medium" pitchFamily="2" charset="-52"/>
              <a:cs typeface="Wix Madefor Display SemiBold" panose="020B0503020203020203" pitchFamily="34" charset="-52"/>
            </a:rPr>
            <a:t>2021</a:t>
          </a:r>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r>
            <a:rPr lang="en-US" sz="1400" dirty="0">
              <a:latin typeface="Unbounded Medium" pitchFamily="2" charset="-52"/>
              <a:cs typeface="Wix Madefor Display SemiBold" panose="020B0503020203020203" pitchFamily="34" charset="-52"/>
            </a:rPr>
            <a:t>2030</a:t>
          </a:r>
          <a:endParaRPr lang="ru-RU" sz="1400" dirty="0">
            <a:latin typeface="Unbounded Medium" pitchFamily="2" charset="-52"/>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F8597F2C-DFB0-4EEA-8E92-94A09C904D79}">
      <dgm:prSet phldrT="[Текст]" custT="1"/>
      <dgm:spPr/>
      <dgm:t>
        <a:bodyPr anchor="t"/>
        <a:lstStyle/>
        <a:p>
          <a:r>
            <a:rPr lang="en-US" sz="1400" dirty="0">
              <a:latin typeface="Unbounded Medium" pitchFamily="2" charset="-52"/>
              <a:cs typeface="Wix Madefor Display SemiBold" panose="020B0503020203020203" pitchFamily="34" charset="-52"/>
            </a:rPr>
            <a:t>202</a:t>
          </a:r>
          <a:r>
            <a:rPr lang="ru-RU" sz="1400" dirty="0">
              <a:latin typeface="Unbounded Medium" pitchFamily="2" charset="-52"/>
              <a:cs typeface="Wix Madefor Display SemiBold" panose="020B0503020203020203" pitchFamily="34" charset="-52"/>
            </a:rPr>
            <a:t>4</a:t>
          </a:r>
        </a:p>
      </dgm:t>
    </dgm:pt>
    <dgm:pt modelId="{16C5496B-8AB4-42CF-85BE-48CCEF63BD97}" type="parTrans" cxnId="{2CC57279-F030-42BC-94EA-D25F21AE13AB}">
      <dgm:prSet/>
      <dgm:spPr/>
      <dgm:t>
        <a:bodyPr/>
        <a:lstStyle/>
        <a:p>
          <a:endParaRPr lang="ru-RU" sz="1100">
            <a:latin typeface="Unbounded Medium" pitchFamily="2" charset="-52"/>
          </a:endParaRPr>
        </a:p>
      </dgm:t>
    </dgm:pt>
    <dgm:pt modelId="{BF64AEB3-7ABF-4EFA-89FF-8597CF26D773}" type="sibTrans" cxnId="{2CC57279-F030-42BC-94EA-D25F21AE13AB}">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8" custLinFactNeighborY="-1253">
        <dgm:presLayoutVars>
          <dgm:bulletEnabled val="1"/>
        </dgm:presLayoutVars>
      </dgm:prSet>
      <dgm:spPr/>
    </dgm:pt>
    <dgm:pt modelId="{75AE5A0C-DC8B-45AF-95A9-E7C2CCAB5B90}" type="pres">
      <dgm:prSet presAssocID="{1F0860FF-4FB4-4022-BDED-9962A2A76FF8}" presName="circleA" presStyleLbl="node1" presStyleIdx="0" presStyleCnt="8" custLinFactNeighborX="37815"/>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8">
        <dgm:presLayoutVars>
          <dgm:bulletEnabled val="1"/>
        </dgm:presLayoutVars>
      </dgm:prSet>
      <dgm:spPr/>
    </dgm:pt>
    <dgm:pt modelId="{262B059D-5AE4-4F28-AE00-70369AA00314}" type="pres">
      <dgm:prSet presAssocID="{C668E378-17DA-480A-88B4-77CF53BF79A8}" presName="circleB" presStyleLbl="node1" presStyleIdx="1" presStyleCnt="8"/>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8">
        <dgm:presLayoutVars>
          <dgm:bulletEnabled val="1"/>
        </dgm:presLayoutVars>
      </dgm:prSet>
      <dgm:spPr/>
    </dgm:pt>
    <dgm:pt modelId="{14861258-B25B-44DB-9BF3-35337BB97F1E}" type="pres">
      <dgm:prSet presAssocID="{BFD661AD-3996-4CCF-83D1-C4A85893EC6C}" presName="circleA" presStyleLbl="node1" presStyleIdx="2" presStyleCnt="8"/>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8">
        <dgm:presLayoutVars>
          <dgm:bulletEnabled val="1"/>
        </dgm:presLayoutVars>
      </dgm:prSet>
      <dgm:spPr/>
    </dgm:pt>
    <dgm:pt modelId="{68F82039-05DF-4105-9F89-7CD890C618F4}" type="pres">
      <dgm:prSet presAssocID="{E2A85686-2DD6-4C5E-A94E-2826806706FE}" presName="circleB" presStyleLbl="node1" presStyleIdx="3" presStyleCnt="8"/>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8AC95435-C51D-46A9-BB6D-DE237B448142}" type="pres">
      <dgm:prSet presAssocID="{F8597F2C-DFB0-4EEA-8E92-94A09C904D79}" presName="compositeA" presStyleCnt="0"/>
      <dgm:spPr/>
    </dgm:pt>
    <dgm:pt modelId="{F45E5754-3BDA-40B9-B76C-818CEA8DEA04}" type="pres">
      <dgm:prSet presAssocID="{F8597F2C-DFB0-4EEA-8E92-94A09C904D79}" presName="textA" presStyleLbl="revTx" presStyleIdx="4" presStyleCnt="8" custLinFactY="51796" custLinFactNeighborX="-2164" custLinFactNeighborY="100000">
        <dgm:presLayoutVars>
          <dgm:bulletEnabled val="1"/>
        </dgm:presLayoutVars>
      </dgm:prSet>
      <dgm:spPr/>
    </dgm:pt>
    <dgm:pt modelId="{12F6BDAE-7495-4BC3-84D3-22AA063CB94E}" type="pres">
      <dgm:prSet presAssocID="{F8597F2C-DFB0-4EEA-8E92-94A09C904D79}" presName="circleA" presStyleLbl="node1" presStyleIdx="4" presStyleCnt="8"/>
      <dgm:spPr/>
    </dgm:pt>
    <dgm:pt modelId="{F10BE51E-0CED-4672-B954-9950BD63E33F}" type="pres">
      <dgm:prSet presAssocID="{F8597F2C-DFB0-4EEA-8E92-94A09C904D79}" presName="spaceA" presStyleCnt="0"/>
      <dgm:spPr/>
    </dgm:pt>
    <dgm:pt modelId="{BDA8DAEF-D929-496A-891B-2A0F54615A6C}" type="pres">
      <dgm:prSet presAssocID="{BF64AEB3-7ABF-4EFA-89FF-8597CF26D773}" presName="space" presStyleCnt="0"/>
      <dgm:spPr/>
    </dgm:pt>
    <dgm:pt modelId="{4790DF73-67D1-4ED1-BE9F-A1FC66379E18}" type="pres">
      <dgm:prSet presAssocID="{0E74F700-3D6F-45EE-88D7-8BE1C41B4A12}" presName="compositeB" presStyleCnt="0"/>
      <dgm:spPr/>
    </dgm:pt>
    <dgm:pt modelId="{8BE185DB-E5A4-4F39-809D-DD0A9A1A6749}" type="pres">
      <dgm:prSet presAssocID="{0E74F700-3D6F-45EE-88D7-8BE1C41B4A12}" presName="textB" presStyleLbl="revTx" presStyleIdx="5" presStyleCnt="8">
        <dgm:presLayoutVars>
          <dgm:bulletEnabled val="1"/>
        </dgm:presLayoutVars>
      </dgm:prSet>
      <dgm:spPr/>
    </dgm:pt>
    <dgm:pt modelId="{232A4D32-E568-4D31-A413-A607EFA2754D}" type="pres">
      <dgm:prSet presAssocID="{0E74F700-3D6F-45EE-88D7-8BE1C41B4A12}" presName="circleB" presStyleLbl="node1" presStyleIdx="5" presStyleCnt="8"/>
      <dgm:spPr>
        <a:noFill/>
        <a:ln>
          <a:noFill/>
        </a:ln>
      </dgm:spPr>
    </dgm:pt>
    <dgm:pt modelId="{17A99B4B-C797-48F1-B84D-CC9E4BCBDE55}" type="pres">
      <dgm:prSet presAssocID="{0E74F700-3D6F-45EE-88D7-8BE1C41B4A12}" presName="spaceB" presStyleCnt="0"/>
      <dgm:spPr/>
    </dgm:pt>
    <dgm:pt modelId="{845E178C-DDE2-4A56-842E-504643243F09}" type="pres">
      <dgm:prSet presAssocID="{DFF9728C-451F-4C85-835F-7859F22FF8F3}" presName="space" presStyleCnt="0"/>
      <dgm:spPr/>
    </dgm:pt>
    <dgm:pt modelId="{F8EFF0C2-BBC3-42C6-BA93-39A5C7E89972}" type="pres">
      <dgm:prSet presAssocID="{D20ED6B4-C641-41F3-A99D-E30E12FBE2B6}" presName="compositeA" presStyleCnt="0"/>
      <dgm:spPr/>
    </dgm:pt>
    <dgm:pt modelId="{C8769335-1F8C-42AA-9205-ECFC5EDB86A2}" type="pres">
      <dgm:prSet presAssocID="{D20ED6B4-C641-41F3-A99D-E30E12FBE2B6}" presName="textA" presStyleLbl="revTx" presStyleIdx="6" presStyleCnt="8">
        <dgm:presLayoutVars>
          <dgm:bulletEnabled val="1"/>
        </dgm:presLayoutVars>
      </dgm:prSet>
      <dgm:spPr/>
    </dgm:pt>
    <dgm:pt modelId="{06CEDFC9-B1F3-4A20-B5CB-511DC701012D}" type="pres">
      <dgm:prSet presAssocID="{D20ED6B4-C641-41F3-A99D-E30E12FBE2B6}" presName="circleA" presStyleLbl="node1" presStyleIdx="6" presStyleCnt="8"/>
      <dgm:spPr>
        <a:noFill/>
        <a:ln>
          <a:noFill/>
        </a:ln>
      </dgm:spPr>
    </dgm:pt>
    <dgm:pt modelId="{CA6872C3-2AC5-4ECD-B288-8525B30D819C}" type="pres">
      <dgm:prSet presAssocID="{D20ED6B4-C641-41F3-A99D-E30E12FBE2B6}" presName="spaceA" presStyleCnt="0"/>
      <dgm:spPr/>
    </dgm:pt>
    <dgm:pt modelId="{EBCA0B6F-51C2-4299-AFF6-B9C60D2BCB39}" type="pres">
      <dgm:prSet presAssocID="{BF120CE9-276E-4238-BF7F-1B7C3C5D7A79}" presName="space" presStyleCnt="0"/>
      <dgm:spPr/>
    </dgm:pt>
    <dgm:pt modelId="{708FB9C8-194B-4E75-B6CB-BC9413CD85D3}" type="pres">
      <dgm:prSet presAssocID="{2DDB093B-2E9B-473F-9A2C-C9E173FB119B}" presName="compositeB" presStyleCnt="0"/>
      <dgm:spPr/>
    </dgm:pt>
    <dgm:pt modelId="{A4B7C786-82A5-4A8A-9E36-60E52675459D}" type="pres">
      <dgm:prSet presAssocID="{2DDB093B-2E9B-473F-9A2C-C9E173FB119B}" presName="textB" presStyleLbl="revTx" presStyleIdx="7" presStyleCnt="8" custLinFactY="-48662" custLinFactNeighborX="23806" custLinFactNeighborY="-100000">
        <dgm:presLayoutVars>
          <dgm:bulletEnabled val="1"/>
        </dgm:presLayoutVars>
      </dgm:prSet>
      <dgm:spPr/>
    </dgm:pt>
    <dgm:pt modelId="{1B1D0CA2-7024-475A-8311-0610CD8E21B6}" type="pres">
      <dgm:prSet presAssocID="{2DDB093B-2E9B-473F-9A2C-C9E173FB119B}" presName="circleB" presStyleLbl="node1" presStyleIdx="7" presStyleCnt="8" custLinFactX="66427" custLinFactNeighborX="100000"/>
      <dgm:spPr/>
    </dgm:pt>
    <dgm:pt modelId="{6FA8471C-F2D8-4738-B5A9-9E5DD0431317}" type="pres">
      <dgm:prSet presAssocID="{2DDB093B-2E9B-473F-9A2C-C9E173FB119B}" presName="spaceB" presStyleCnt="0"/>
      <dgm:spPr/>
    </dgm:pt>
  </dgm:ptLst>
  <dgm:cxnLst>
    <dgm:cxn modelId="{D8FE0608-1625-4D57-BE74-F6CFF7A11DCE}" type="presOf" srcId="{2DDB093B-2E9B-473F-9A2C-C9E173FB119B}" destId="{A4B7C786-82A5-4A8A-9E36-60E52675459D}" srcOrd="0" destOrd="0" presId="urn:microsoft.com/office/officeart/2005/8/layout/hProcess11"/>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6077E05C-8292-44E4-8591-0A73B4F4EBAB}" srcId="{5D9BC9AF-E696-43D8-9E60-3627CB4A9F90}" destId="{2DDB093B-2E9B-473F-9A2C-C9E173FB119B}" srcOrd="7"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6" destOrd="0" parTransId="{B092BABC-AC4B-420C-B47C-319EBA110278}" sibTransId="{BF120CE9-276E-4238-BF7F-1B7C3C5D7A79}"/>
    <dgm:cxn modelId="{2CC57279-F030-42BC-94EA-D25F21AE13AB}" srcId="{5D9BC9AF-E696-43D8-9E60-3627CB4A9F90}" destId="{F8597F2C-DFB0-4EEA-8E92-94A09C904D79}" srcOrd="4" destOrd="0" parTransId="{16C5496B-8AB4-42CF-85BE-48CCEF63BD97}" sibTransId="{BF64AEB3-7ABF-4EFA-89FF-8597CF26D773}"/>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467B6E88-1BEC-4B6E-94BE-953C91C55B77}" type="presOf" srcId="{0E74F700-3D6F-45EE-88D7-8BE1C41B4A12}" destId="{8BE185DB-E5A4-4F39-809D-DD0A9A1A6749}" srcOrd="0" destOrd="0" presId="urn:microsoft.com/office/officeart/2005/8/layout/hProcess11"/>
    <dgm:cxn modelId="{B12C5C94-4BC0-4801-87D2-F8B74CB76D4E}" type="presOf" srcId="{F8597F2C-DFB0-4EEA-8E92-94A09C904D79}" destId="{F45E5754-3BDA-40B9-B76C-818CEA8DEA04}"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38A582D2-11D8-4F59-AE84-B70A3C2FA6F3}" type="presOf" srcId="{D20ED6B4-C641-41F3-A99D-E30E12FBE2B6}" destId="{C8769335-1F8C-42AA-9205-ECFC5EDB86A2}" srcOrd="0" destOrd="0" presId="urn:microsoft.com/office/officeart/2005/8/layout/hProcess11"/>
    <dgm:cxn modelId="{D9FDE2DE-BE99-4679-85BD-22553BD4F516}" srcId="{5D9BC9AF-E696-43D8-9E60-3627CB4A9F90}" destId="{0E74F700-3D6F-45EE-88D7-8BE1C41B4A12}" srcOrd="5"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B73B5166-0179-4340-9CD5-F3E484369F0E}" type="presParOf" srcId="{274DDA60-0D25-4037-898D-3D412116E35E}" destId="{8AC95435-C51D-46A9-BB6D-DE237B448142}" srcOrd="8" destOrd="0" presId="urn:microsoft.com/office/officeart/2005/8/layout/hProcess11"/>
    <dgm:cxn modelId="{C6E01A62-69E7-4641-A802-2651F9B0D30A}" type="presParOf" srcId="{8AC95435-C51D-46A9-BB6D-DE237B448142}" destId="{F45E5754-3BDA-40B9-B76C-818CEA8DEA04}" srcOrd="0" destOrd="0" presId="urn:microsoft.com/office/officeart/2005/8/layout/hProcess11"/>
    <dgm:cxn modelId="{D2FFDE06-9BBF-4718-AFDE-C1967597AB7B}" type="presParOf" srcId="{8AC95435-C51D-46A9-BB6D-DE237B448142}" destId="{12F6BDAE-7495-4BC3-84D3-22AA063CB94E}" srcOrd="1" destOrd="0" presId="urn:microsoft.com/office/officeart/2005/8/layout/hProcess11"/>
    <dgm:cxn modelId="{F14447AA-2C38-48D5-8198-64F97BE9F455}" type="presParOf" srcId="{8AC95435-C51D-46A9-BB6D-DE237B448142}" destId="{F10BE51E-0CED-4672-B954-9950BD63E33F}" srcOrd="2" destOrd="0" presId="urn:microsoft.com/office/officeart/2005/8/layout/hProcess11"/>
    <dgm:cxn modelId="{7084AC0F-180D-406B-8B9B-FB2A6E2F38DA}" type="presParOf" srcId="{274DDA60-0D25-4037-898D-3D412116E35E}" destId="{BDA8DAEF-D929-496A-891B-2A0F54615A6C}" srcOrd="9" destOrd="0" presId="urn:microsoft.com/office/officeart/2005/8/layout/hProcess11"/>
    <dgm:cxn modelId="{FC66EC89-8331-483B-BC84-F5410F5A02A0}" type="presParOf" srcId="{274DDA60-0D25-4037-898D-3D412116E35E}" destId="{4790DF73-67D1-4ED1-BE9F-A1FC66379E18}" srcOrd="10" destOrd="0" presId="urn:microsoft.com/office/officeart/2005/8/layout/hProcess11"/>
    <dgm:cxn modelId="{85EE743D-4055-415B-99F1-96361BA09B14}" type="presParOf" srcId="{4790DF73-67D1-4ED1-BE9F-A1FC66379E18}" destId="{8BE185DB-E5A4-4F39-809D-DD0A9A1A6749}" srcOrd="0" destOrd="0" presId="urn:microsoft.com/office/officeart/2005/8/layout/hProcess11"/>
    <dgm:cxn modelId="{6C206465-89AF-46EC-B91E-A146ECEA5EAD}" type="presParOf" srcId="{4790DF73-67D1-4ED1-BE9F-A1FC66379E18}" destId="{232A4D32-E568-4D31-A413-A607EFA2754D}" srcOrd="1" destOrd="0" presId="urn:microsoft.com/office/officeart/2005/8/layout/hProcess11"/>
    <dgm:cxn modelId="{D16E4EAF-771D-4309-B8F7-518194A30BD0}" type="presParOf" srcId="{4790DF73-67D1-4ED1-BE9F-A1FC66379E18}" destId="{17A99B4B-C797-48F1-B84D-CC9E4BCBDE55}" srcOrd="2" destOrd="0" presId="urn:microsoft.com/office/officeart/2005/8/layout/hProcess11"/>
    <dgm:cxn modelId="{885B9ED4-4549-4F62-8FC8-97FF37CFC6A6}" type="presParOf" srcId="{274DDA60-0D25-4037-898D-3D412116E35E}" destId="{845E178C-DDE2-4A56-842E-504643243F09}" srcOrd="11" destOrd="0" presId="urn:microsoft.com/office/officeart/2005/8/layout/hProcess11"/>
    <dgm:cxn modelId="{53EA7E1F-2D09-49BD-B9EF-D61AFC8B804F}" type="presParOf" srcId="{274DDA60-0D25-4037-898D-3D412116E35E}" destId="{F8EFF0C2-BBC3-42C6-BA93-39A5C7E89972}" srcOrd="12" destOrd="0" presId="urn:microsoft.com/office/officeart/2005/8/layout/hProcess11"/>
    <dgm:cxn modelId="{FEC6C4CE-9B13-45D0-A64C-FC0797084C18}" type="presParOf" srcId="{F8EFF0C2-BBC3-42C6-BA93-39A5C7E89972}" destId="{C8769335-1F8C-42AA-9205-ECFC5EDB86A2}" srcOrd="0" destOrd="0" presId="urn:microsoft.com/office/officeart/2005/8/layout/hProcess11"/>
    <dgm:cxn modelId="{3BE057F6-684E-41BB-AC7A-A72045A7843D}" type="presParOf" srcId="{F8EFF0C2-BBC3-42C6-BA93-39A5C7E89972}" destId="{06CEDFC9-B1F3-4A20-B5CB-511DC701012D}" srcOrd="1" destOrd="0" presId="urn:microsoft.com/office/officeart/2005/8/layout/hProcess11"/>
    <dgm:cxn modelId="{2CF20C31-B61F-46E3-8149-D711D7048888}" type="presParOf" srcId="{F8EFF0C2-BBC3-42C6-BA93-39A5C7E89972}" destId="{CA6872C3-2AC5-4ECD-B288-8525B30D819C}" srcOrd="2" destOrd="0" presId="urn:microsoft.com/office/officeart/2005/8/layout/hProcess11"/>
    <dgm:cxn modelId="{462B5DD3-EC6D-4417-B0C1-8228279A7C38}" type="presParOf" srcId="{274DDA60-0D25-4037-898D-3D412116E35E}" destId="{EBCA0B6F-51C2-4299-AFF6-B9C60D2BCB39}" srcOrd="13" destOrd="0" presId="urn:microsoft.com/office/officeart/2005/8/layout/hProcess11"/>
    <dgm:cxn modelId="{EAE3A03F-3ACE-45DF-B3C1-0CF464F34439}" type="presParOf" srcId="{274DDA60-0D25-4037-898D-3D412116E35E}" destId="{708FB9C8-194B-4E75-B6CB-BC9413CD85D3}" srcOrd="14" destOrd="0" presId="urn:microsoft.com/office/officeart/2005/8/layout/hProcess11"/>
    <dgm:cxn modelId="{E9940A76-C8DE-4332-B1CD-CA7C8D4C5ED2}" type="presParOf" srcId="{708FB9C8-194B-4E75-B6CB-BC9413CD85D3}" destId="{A4B7C786-82A5-4A8A-9E36-60E52675459D}" srcOrd="0" destOrd="0" presId="urn:microsoft.com/office/officeart/2005/8/layout/hProcess11"/>
    <dgm:cxn modelId="{1E632432-F23D-47A5-AC0E-F4AF578E374E}" type="presParOf" srcId="{708FB9C8-194B-4E75-B6CB-BC9413CD85D3}" destId="{1B1D0CA2-7024-475A-8311-0610CD8E21B6}" srcOrd="1" destOrd="0" presId="urn:microsoft.com/office/officeart/2005/8/layout/hProcess11"/>
    <dgm:cxn modelId="{D6CB2C82-D9A9-470F-A8AA-42A81EF71EE0}" type="presParOf" srcId="{708FB9C8-194B-4E75-B6CB-BC9413CD85D3}" destId="{6FA8471C-F2D8-4738-B5A9-9E5DD0431317}"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9BC9AF-E696-43D8-9E60-3627CB4A9F90}"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ru-RU"/>
        </a:p>
      </dgm:t>
    </dgm:pt>
    <dgm:pt modelId="{1F0860FF-4FB4-4022-BDED-9962A2A76FF8}">
      <dgm:prSet phldrT="[Текст]" custT="1"/>
      <dgm:spPr/>
      <dgm:t>
        <a:bodyPr/>
        <a:lstStyle/>
        <a:p>
          <a:r>
            <a:rPr lang="ru-RU" sz="1600" b="1" dirty="0">
              <a:latin typeface="Unbounded Medium" pitchFamily="2" charset="-52"/>
              <a:cs typeface="Wix Madefor Display SemiBold" panose="020B0503020203020203" pitchFamily="34" charset="-52"/>
            </a:rPr>
            <a:t>2024</a:t>
          </a:r>
        </a:p>
      </dgm:t>
    </dgm:pt>
    <dgm:pt modelId="{01FB9C28-67CB-4327-BBF7-79D25BC66BD5}" type="sibTrans" cxnId="{350D7C5E-F771-4676-A038-E2121E8004EC}">
      <dgm:prSet/>
      <dgm:spPr/>
      <dgm:t>
        <a:bodyPr/>
        <a:lstStyle/>
        <a:p>
          <a:endParaRPr lang="ru-RU" sz="1100">
            <a:latin typeface="Unbounded Medium" pitchFamily="2" charset="-52"/>
          </a:endParaRPr>
        </a:p>
      </dgm:t>
    </dgm:pt>
    <dgm:pt modelId="{91163880-C1A4-4D32-8D5B-85A99B39D091}" type="parTrans" cxnId="{350D7C5E-F771-4676-A038-E2121E8004EC}">
      <dgm:prSet/>
      <dgm:spPr/>
      <dgm:t>
        <a:bodyPr/>
        <a:lstStyle/>
        <a:p>
          <a:endParaRPr lang="ru-RU" sz="1100">
            <a:latin typeface="Unbounded Medium" pitchFamily="2" charset="-52"/>
          </a:endParaRPr>
        </a:p>
      </dgm:t>
    </dgm:pt>
    <dgm:pt modelId="{C668E378-17DA-480A-88B4-77CF53BF79A8}">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51D37406-DB1F-4B97-94BD-876F75966382}" type="parTrans" cxnId="{F82101F4-A47C-40E5-AB57-E837FD532585}">
      <dgm:prSet/>
      <dgm:spPr/>
      <dgm:t>
        <a:bodyPr/>
        <a:lstStyle/>
        <a:p>
          <a:endParaRPr lang="ru-RU" sz="1100">
            <a:latin typeface="Unbounded Medium" pitchFamily="2" charset="-52"/>
          </a:endParaRPr>
        </a:p>
      </dgm:t>
    </dgm:pt>
    <dgm:pt modelId="{812D3EA7-45C8-49B4-9275-2E42090C19BF}" type="sibTrans" cxnId="{F82101F4-A47C-40E5-AB57-E837FD532585}">
      <dgm:prSet/>
      <dgm:spPr/>
      <dgm:t>
        <a:bodyPr/>
        <a:lstStyle/>
        <a:p>
          <a:endParaRPr lang="ru-RU" sz="1100">
            <a:latin typeface="Unbounded Medium" pitchFamily="2" charset="-52"/>
          </a:endParaRPr>
        </a:p>
      </dgm:t>
    </dgm:pt>
    <dgm:pt modelId="{BFD661AD-3996-4CCF-83D1-C4A85893EC6C}">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FF653D4E-B0B1-45D2-9947-0F1971349724}" type="parTrans" cxnId="{2B8C3719-7056-4591-B6E0-08F67CC3A04A}">
      <dgm:prSet/>
      <dgm:spPr/>
      <dgm:t>
        <a:bodyPr/>
        <a:lstStyle/>
        <a:p>
          <a:endParaRPr lang="ru-RU" sz="1100">
            <a:latin typeface="Unbounded Medium" pitchFamily="2" charset="-52"/>
          </a:endParaRPr>
        </a:p>
      </dgm:t>
    </dgm:pt>
    <dgm:pt modelId="{300D15C8-F99B-49F2-AC6F-A7ADE48D7D03}" type="sibTrans" cxnId="{2B8C3719-7056-4591-B6E0-08F67CC3A04A}">
      <dgm:prSet/>
      <dgm:spPr/>
      <dgm:t>
        <a:bodyPr/>
        <a:lstStyle/>
        <a:p>
          <a:endParaRPr lang="ru-RU" sz="1100">
            <a:latin typeface="Unbounded Medium" pitchFamily="2" charset="-52"/>
          </a:endParaRPr>
        </a:p>
      </dgm:t>
    </dgm:pt>
    <dgm:pt modelId="{2DDB093B-2E9B-473F-9A2C-C9E173FB119B}">
      <dgm:prSet phldrT="[Текст]" custT="1"/>
      <dgm:spPr/>
      <dgm:t>
        <a:bodyPr anchor="b"/>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gm:t>
    </dgm:pt>
    <dgm:pt modelId="{B58C9FD5-D55C-4E8C-B06A-FDE9E7345377}" type="parTrans" cxnId="{6077E05C-8292-44E4-8591-0A73B4F4EBAB}">
      <dgm:prSet/>
      <dgm:spPr/>
      <dgm:t>
        <a:bodyPr/>
        <a:lstStyle/>
        <a:p>
          <a:endParaRPr lang="ru-RU" sz="1100">
            <a:latin typeface="Unbounded Medium" pitchFamily="2" charset="-52"/>
          </a:endParaRPr>
        </a:p>
      </dgm:t>
    </dgm:pt>
    <dgm:pt modelId="{0C83EB55-3DCF-4C3A-8281-42F1058EC5C4}" type="sibTrans" cxnId="{6077E05C-8292-44E4-8591-0A73B4F4EBAB}">
      <dgm:prSet/>
      <dgm:spPr/>
      <dgm:t>
        <a:bodyPr/>
        <a:lstStyle/>
        <a:p>
          <a:endParaRPr lang="ru-RU" sz="1100">
            <a:latin typeface="Unbounded Medium" pitchFamily="2" charset="-52"/>
          </a:endParaRPr>
        </a:p>
      </dgm:t>
    </dgm:pt>
    <dgm:pt modelId="{D20ED6B4-C641-41F3-A99D-E30E12FBE2B6}">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B092BABC-AC4B-420C-B47C-319EBA110278}" type="parTrans" cxnId="{70403673-8A55-4BE6-9F71-558F0E47458A}">
      <dgm:prSet/>
      <dgm:spPr/>
      <dgm:t>
        <a:bodyPr/>
        <a:lstStyle/>
        <a:p>
          <a:endParaRPr lang="ru-RU" sz="1100">
            <a:latin typeface="Unbounded Medium" pitchFamily="2" charset="-52"/>
          </a:endParaRPr>
        </a:p>
      </dgm:t>
    </dgm:pt>
    <dgm:pt modelId="{BF120CE9-276E-4238-BF7F-1B7C3C5D7A79}" type="sibTrans" cxnId="{70403673-8A55-4BE6-9F71-558F0E47458A}">
      <dgm:prSet/>
      <dgm:spPr/>
      <dgm:t>
        <a:bodyPr/>
        <a:lstStyle/>
        <a:p>
          <a:endParaRPr lang="ru-RU" sz="1100">
            <a:latin typeface="Unbounded Medium" pitchFamily="2" charset="-52"/>
          </a:endParaRPr>
        </a:p>
      </dgm:t>
    </dgm:pt>
    <dgm:pt modelId="{0E74F700-3D6F-45EE-88D7-8BE1C41B4A12}">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936D5318-7CEA-496B-88F3-62A3EB49856E}" type="parTrans" cxnId="{D9FDE2DE-BE99-4679-85BD-22553BD4F516}">
      <dgm:prSet/>
      <dgm:spPr/>
      <dgm:t>
        <a:bodyPr/>
        <a:lstStyle/>
        <a:p>
          <a:endParaRPr lang="ru-RU" sz="1100">
            <a:latin typeface="Unbounded Medium" pitchFamily="2" charset="-52"/>
          </a:endParaRPr>
        </a:p>
      </dgm:t>
    </dgm:pt>
    <dgm:pt modelId="{DFF9728C-451F-4C85-835F-7859F22FF8F3}" type="sibTrans" cxnId="{D9FDE2DE-BE99-4679-85BD-22553BD4F516}">
      <dgm:prSet/>
      <dgm:spPr/>
      <dgm:t>
        <a:bodyPr/>
        <a:lstStyle/>
        <a:p>
          <a:endParaRPr lang="ru-RU" sz="1100">
            <a:latin typeface="Unbounded Medium" pitchFamily="2" charset="-52"/>
          </a:endParaRPr>
        </a:p>
      </dgm:t>
    </dgm:pt>
    <dgm:pt modelId="{E2A85686-2DD6-4C5E-A94E-2826806706FE}">
      <dgm:prSet phldrT="[Текст]" custT="1"/>
      <dgm:spPr/>
      <dgm:t>
        <a:bodyPr/>
        <a:lstStyle/>
        <a:p>
          <a:endParaRPr lang="ru-RU" sz="1400" dirty="0">
            <a:latin typeface="Unbounded Medium" pitchFamily="2" charset="-52"/>
            <a:cs typeface="Wix Madefor Display SemiBold" panose="020B0503020203020203" pitchFamily="34" charset="-52"/>
          </a:endParaRPr>
        </a:p>
      </dgm:t>
    </dgm:pt>
    <dgm:pt modelId="{074A7167-E495-49D0-B8E8-4905A0CE2C5B}" type="parTrans" cxnId="{8889E6E8-D9CB-4CDA-AF4C-099370C6AB5E}">
      <dgm:prSet/>
      <dgm:spPr/>
      <dgm:t>
        <a:bodyPr/>
        <a:lstStyle/>
        <a:p>
          <a:endParaRPr lang="ru-RU"/>
        </a:p>
      </dgm:t>
    </dgm:pt>
    <dgm:pt modelId="{77471447-A646-4DD7-8633-0C3AD7CF7200}" type="sibTrans" cxnId="{8889E6E8-D9CB-4CDA-AF4C-099370C6AB5E}">
      <dgm:prSet/>
      <dgm:spPr/>
      <dgm:t>
        <a:bodyPr/>
        <a:lstStyle/>
        <a:p>
          <a:endParaRPr lang="ru-RU"/>
        </a:p>
      </dgm:t>
    </dgm:pt>
    <dgm:pt modelId="{D2A4328F-7466-4460-BC6C-D99B0B11EAE0}" type="pres">
      <dgm:prSet presAssocID="{5D9BC9AF-E696-43D8-9E60-3627CB4A9F90}" presName="Name0" presStyleCnt="0">
        <dgm:presLayoutVars>
          <dgm:dir/>
          <dgm:resizeHandles val="exact"/>
        </dgm:presLayoutVars>
      </dgm:prSet>
      <dgm:spPr/>
    </dgm:pt>
    <dgm:pt modelId="{D33221A1-79F6-4B9A-A116-6505E25D210B}" type="pres">
      <dgm:prSet presAssocID="{5D9BC9AF-E696-43D8-9E60-3627CB4A9F90}" presName="arrow" presStyleLbl="bgShp" presStyleIdx="0" presStyleCnt="1" custScaleY="66972"/>
      <dgm:spPr>
        <a:gradFill rotWithShape="0">
          <a:gsLst>
            <a:gs pos="3000">
              <a:srgbClr val="FCE8E8"/>
            </a:gs>
            <a:gs pos="74000">
              <a:srgbClr val="818CF7"/>
            </a:gs>
            <a:gs pos="83000">
              <a:srgbClr val="0F24E7"/>
            </a:gs>
            <a:gs pos="100000">
              <a:srgbClr val="0F24E7"/>
            </a:gs>
          </a:gsLst>
          <a:lin ang="21594000" scaled="0"/>
        </a:gradFill>
      </dgm:spPr>
    </dgm:pt>
    <dgm:pt modelId="{274DDA60-0D25-4037-898D-3D412116E35E}" type="pres">
      <dgm:prSet presAssocID="{5D9BC9AF-E696-43D8-9E60-3627CB4A9F90}" presName="points" presStyleCnt="0"/>
      <dgm:spPr/>
    </dgm:pt>
    <dgm:pt modelId="{B3448F0B-296F-478E-803C-4405495B3A4D}" type="pres">
      <dgm:prSet presAssocID="{1F0860FF-4FB4-4022-BDED-9962A2A76FF8}" presName="compositeA" presStyleCnt="0"/>
      <dgm:spPr/>
    </dgm:pt>
    <dgm:pt modelId="{FE56CBDF-F2C5-4808-A416-1BC6315153D5}" type="pres">
      <dgm:prSet presAssocID="{1F0860FF-4FB4-4022-BDED-9962A2A76FF8}" presName="textA" presStyleLbl="revTx" presStyleIdx="0" presStyleCnt="7" custLinFactNeighborX="2449">
        <dgm:presLayoutVars>
          <dgm:bulletEnabled val="1"/>
        </dgm:presLayoutVars>
      </dgm:prSet>
      <dgm:spPr/>
    </dgm:pt>
    <dgm:pt modelId="{75AE5A0C-DC8B-45AF-95A9-E7C2CCAB5B90}" type="pres">
      <dgm:prSet presAssocID="{1F0860FF-4FB4-4022-BDED-9962A2A76FF8}" presName="circleA" presStyleLbl="node1" presStyleIdx="0" presStyleCnt="7" custLinFactNeighborX="12296"/>
      <dgm:spPr>
        <a:solidFill>
          <a:srgbClr val="7030A0">
            <a:alpha val="90000"/>
          </a:srgbClr>
        </a:solidFill>
      </dgm:spPr>
    </dgm:pt>
    <dgm:pt modelId="{61C323FF-DEA6-41A7-BFEC-D137AE1BE343}" type="pres">
      <dgm:prSet presAssocID="{1F0860FF-4FB4-4022-BDED-9962A2A76FF8}" presName="spaceA" presStyleCnt="0"/>
      <dgm:spPr/>
    </dgm:pt>
    <dgm:pt modelId="{A4524CA2-32D1-4613-B7C9-17ECB61189FA}" type="pres">
      <dgm:prSet presAssocID="{01FB9C28-67CB-4327-BBF7-79D25BC66BD5}" presName="space" presStyleCnt="0"/>
      <dgm:spPr/>
    </dgm:pt>
    <dgm:pt modelId="{5EC0F21C-6EE8-4D71-AE93-D95B48EEE23F}" type="pres">
      <dgm:prSet presAssocID="{C668E378-17DA-480A-88B4-77CF53BF79A8}" presName="compositeB" presStyleCnt="0"/>
      <dgm:spPr/>
    </dgm:pt>
    <dgm:pt modelId="{DD90B13C-8EAE-462D-8484-162E133A7583}" type="pres">
      <dgm:prSet presAssocID="{C668E378-17DA-480A-88B4-77CF53BF79A8}" presName="textB" presStyleLbl="revTx" presStyleIdx="1" presStyleCnt="7">
        <dgm:presLayoutVars>
          <dgm:bulletEnabled val="1"/>
        </dgm:presLayoutVars>
      </dgm:prSet>
      <dgm:spPr/>
    </dgm:pt>
    <dgm:pt modelId="{262B059D-5AE4-4F28-AE00-70369AA00314}" type="pres">
      <dgm:prSet presAssocID="{C668E378-17DA-480A-88B4-77CF53BF79A8}" presName="circleB" presStyleLbl="node1" presStyleIdx="1" presStyleCnt="7"/>
      <dgm:spPr>
        <a:noFill/>
        <a:ln>
          <a:noFill/>
        </a:ln>
      </dgm:spPr>
    </dgm:pt>
    <dgm:pt modelId="{F9BF097B-38D7-4909-AD1F-2A4DFBEE35B5}" type="pres">
      <dgm:prSet presAssocID="{C668E378-17DA-480A-88B4-77CF53BF79A8}" presName="spaceB" presStyleCnt="0"/>
      <dgm:spPr/>
    </dgm:pt>
    <dgm:pt modelId="{C704625A-C43D-4D1A-88C8-D78A5219D054}" type="pres">
      <dgm:prSet presAssocID="{812D3EA7-45C8-49B4-9275-2E42090C19BF}" presName="space" presStyleCnt="0"/>
      <dgm:spPr/>
    </dgm:pt>
    <dgm:pt modelId="{5AA94A6E-27B0-48C7-B4CA-BF8DD1F39EDE}" type="pres">
      <dgm:prSet presAssocID="{BFD661AD-3996-4CCF-83D1-C4A85893EC6C}" presName="compositeA" presStyleCnt="0"/>
      <dgm:spPr/>
    </dgm:pt>
    <dgm:pt modelId="{E8924F09-77E3-4F93-9CFC-C83189BE752E}" type="pres">
      <dgm:prSet presAssocID="{BFD661AD-3996-4CCF-83D1-C4A85893EC6C}" presName="textA" presStyleLbl="revTx" presStyleIdx="2" presStyleCnt="7">
        <dgm:presLayoutVars>
          <dgm:bulletEnabled val="1"/>
        </dgm:presLayoutVars>
      </dgm:prSet>
      <dgm:spPr/>
    </dgm:pt>
    <dgm:pt modelId="{14861258-B25B-44DB-9BF3-35337BB97F1E}" type="pres">
      <dgm:prSet presAssocID="{BFD661AD-3996-4CCF-83D1-C4A85893EC6C}" presName="circleA" presStyleLbl="node1" presStyleIdx="2" presStyleCnt="7"/>
      <dgm:spPr>
        <a:noFill/>
        <a:ln>
          <a:noFill/>
        </a:ln>
      </dgm:spPr>
    </dgm:pt>
    <dgm:pt modelId="{152450DA-199C-4A56-B52F-58C46C8895FE}" type="pres">
      <dgm:prSet presAssocID="{BFD661AD-3996-4CCF-83D1-C4A85893EC6C}" presName="spaceA" presStyleCnt="0"/>
      <dgm:spPr/>
    </dgm:pt>
    <dgm:pt modelId="{E57875CA-AC09-4EB9-9019-4FA21E8CD022}" type="pres">
      <dgm:prSet presAssocID="{300D15C8-F99B-49F2-AC6F-A7ADE48D7D03}" presName="space" presStyleCnt="0"/>
      <dgm:spPr/>
    </dgm:pt>
    <dgm:pt modelId="{A58794BC-B306-48AE-89CC-622A215F077E}" type="pres">
      <dgm:prSet presAssocID="{E2A85686-2DD6-4C5E-A94E-2826806706FE}" presName="compositeB" presStyleCnt="0"/>
      <dgm:spPr/>
    </dgm:pt>
    <dgm:pt modelId="{87EDBE43-1A8E-46A4-AC79-5C57FCFB0390}" type="pres">
      <dgm:prSet presAssocID="{E2A85686-2DD6-4C5E-A94E-2826806706FE}" presName="textB" presStyleLbl="revTx" presStyleIdx="3" presStyleCnt="7">
        <dgm:presLayoutVars>
          <dgm:bulletEnabled val="1"/>
        </dgm:presLayoutVars>
      </dgm:prSet>
      <dgm:spPr/>
    </dgm:pt>
    <dgm:pt modelId="{68F82039-05DF-4105-9F89-7CD890C618F4}" type="pres">
      <dgm:prSet presAssocID="{E2A85686-2DD6-4C5E-A94E-2826806706FE}" presName="circleB" presStyleLbl="node1" presStyleIdx="3" presStyleCnt="7"/>
      <dgm:spPr>
        <a:noFill/>
        <a:ln>
          <a:noFill/>
        </a:ln>
      </dgm:spPr>
    </dgm:pt>
    <dgm:pt modelId="{A075D48A-AB1F-4AF3-BDC1-FFEA20FAAD78}" type="pres">
      <dgm:prSet presAssocID="{E2A85686-2DD6-4C5E-A94E-2826806706FE}" presName="spaceB" presStyleCnt="0"/>
      <dgm:spPr/>
    </dgm:pt>
    <dgm:pt modelId="{5D7BC807-4222-4415-AEDC-F4357749F70B}" type="pres">
      <dgm:prSet presAssocID="{77471447-A646-4DD7-8633-0C3AD7CF7200}" presName="space" presStyleCnt="0"/>
      <dgm:spPr/>
    </dgm:pt>
    <dgm:pt modelId="{F3014C0A-D571-4BA1-9016-E984C51D7E77}" type="pres">
      <dgm:prSet presAssocID="{0E74F700-3D6F-45EE-88D7-8BE1C41B4A12}" presName="compositeA" presStyleCnt="0"/>
      <dgm:spPr/>
    </dgm:pt>
    <dgm:pt modelId="{93183C24-E580-42E5-AAEB-9858E9DBAAB7}" type="pres">
      <dgm:prSet presAssocID="{0E74F700-3D6F-45EE-88D7-8BE1C41B4A12}" presName="textA" presStyleLbl="revTx" presStyleIdx="4" presStyleCnt="7">
        <dgm:presLayoutVars>
          <dgm:bulletEnabled val="1"/>
        </dgm:presLayoutVars>
      </dgm:prSet>
      <dgm:spPr/>
    </dgm:pt>
    <dgm:pt modelId="{F7182513-2A9C-4734-B895-09536018C630}" type="pres">
      <dgm:prSet presAssocID="{0E74F700-3D6F-45EE-88D7-8BE1C41B4A12}" presName="circleA" presStyleLbl="node1" presStyleIdx="4" presStyleCnt="7"/>
      <dgm:spPr>
        <a:noFill/>
        <a:ln>
          <a:noFill/>
        </a:ln>
      </dgm:spPr>
    </dgm:pt>
    <dgm:pt modelId="{ABD578DB-86EC-4B48-B9A9-8DAEA32C9711}" type="pres">
      <dgm:prSet presAssocID="{0E74F700-3D6F-45EE-88D7-8BE1C41B4A12}" presName="spaceA" presStyleCnt="0"/>
      <dgm:spPr/>
    </dgm:pt>
    <dgm:pt modelId="{845E178C-DDE2-4A56-842E-504643243F09}" type="pres">
      <dgm:prSet presAssocID="{DFF9728C-451F-4C85-835F-7859F22FF8F3}" presName="space" presStyleCnt="0"/>
      <dgm:spPr/>
    </dgm:pt>
    <dgm:pt modelId="{3A461237-3E3B-43B4-BDB8-0A14C043211C}" type="pres">
      <dgm:prSet presAssocID="{D20ED6B4-C641-41F3-A99D-E30E12FBE2B6}" presName="compositeB" presStyleCnt="0"/>
      <dgm:spPr/>
    </dgm:pt>
    <dgm:pt modelId="{070F8EAE-07ED-43F9-AA0F-1E49BB9F3327}" type="pres">
      <dgm:prSet presAssocID="{D20ED6B4-C641-41F3-A99D-E30E12FBE2B6}" presName="textB" presStyleLbl="revTx" presStyleIdx="5" presStyleCnt="7">
        <dgm:presLayoutVars>
          <dgm:bulletEnabled val="1"/>
        </dgm:presLayoutVars>
      </dgm:prSet>
      <dgm:spPr/>
    </dgm:pt>
    <dgm:pt modelId="{EE592F79-D54C-4AD3-BFBE-A9D493D3797A}" type="pres">
      <dgm:prSet presAssocID="{D20ED6B4-C641-41F3-A99D-E30E12FBE2B6}" presName="circleB" presStyleLbl="node1" presStyleIdx="5" presStyleCnt="7"/>
      <dgm:spPr>
        <a:noFill/>
        <a:ln>
          <a:noFill/>
        </a:ln>
      </dgm:spPr>
    </dgm:pt>
    <dgm:pt modelId="{66C8F2AA-8BE2-41A1-8878-0976A69E6F67}" type="pres">
      <dgm:prSet presAssocID="{D20ED6B4-C641-41F3-A99D-E30E12FBE2B6}" presName="spaceB" presStyleCnt="0"/>
      <dgm:spPr/>
    </dgm:pt>
    <dgm:pt modelId="{EBCA0B6F-51C2-4299-AFF6-B9C60D2BCB39}" type="pres">
      <dgm:prSet presAssocID="{BF120CE9-276E-4238-BF7F-1B7C3C5D7A79}" presName="space" presStyleCnt="0"/>
      <dgm:spPr/>
    </dgm:pt>
    <dgm:pt modelId="{F1845B5F-80A8-4511-B6DB-20F79D9837C9}" type="pres">
      <dgm:prSet presAssocID="{2DDB093B-2E9B-473F-9A2C-C9E173FB119B}" presName="compositeA" presStyleCnt="0"/>
      <dgm:spPr/>
    </dgm:pt>
    <dgm:pt modelId="{B917A7A3-B923-4C0A-B478-5A2EE5CD6081}" type="pres">
      <dgm:prSet presAssocID="{2DDB093B-2E9B-473F-9A2C-C9E173FB119B}" presName="textA" presStyleLbl="revTx" presStyleIdx="6" presStyleCnt="7">
        <dgm:presLayoutVars>
          <dgm:bulletEnabled val="1"/>
        </dgm:presLayoutVars>
      </dgm:prSet>
      <dgm:spPr/>
    </dgm:pt>
    <dgm:pt modelId="{1BBD324A-DB21-48BA-BFFD-9F0130395B3C}" type="pres">
      <dgm:prSet presAssocID="{2DDB093B-2E9B-473F-9A2C-C9E173FB119B}" presName="circleA" presStyleLbl="node1" presStyleIdx="6" presStyleCnt="7"/>
      <dgm:spPr/>
    </dgm:pt>
    <dgm:pt modelId="{885E982D-237A-4FEC-8A55-24EE16FE8C11}" type="pres">
      <dgm:prSet presAssocID="{2DDB093B-2E9B-473F-9A2C-C9E173FB119B}" presName="spaceA" presStyleCnt="0"/>
      <dgm:spPr/>
    </dgm:pt>
  </dgm:ptLst>
  <dgm:cxnLst>
    <dgm:cxn modelId="{933E5C0E-02F8-4364-950E-DBBB04D3D1BB}" type="presOf" srcId="{E2A85686-2DD6-4C5E-A94E-2826806706FE}" destId="{87EDBE43-1A8E-46A4-AC79-5C57FCFB0390}" srcOrd="0" destOrd="0" presId="urn:microsoft.com/office/officeart/2005/8/layout/hProcess11"/>
    <dgm:cxn modelId="{2B8C3719-7056-4591-B6E0-08F67CC3A04A}" srcId="{5D9BC9AF-E696-43D8-9E60-3627CB4A9F90}" destId="{BFD661AD-3996-4CCF-83D1-C4A85893EC6C}" srcOrd="2" destOrd="0" parTransId="{FF653D4E-B0B1-45D2-9947-0F1971349724}" sibTransId="{300D15C8-F99B-49F2-AC6F-A7ADE48D7D03}"/>
    <dgm:cxn modelId="{91BF7E2E-8792-4612-B8F6-23ED05F4580C}" type="presOf" srcId="{D20ED6B4-C641-41F3-A99D-E30E12FBE2B6}" destId="{070F8EAE-07ED-43F9-AA0F-1E49BB9F3327}" srcOrd="0" destOrd="0" presId="urn:microsoft.com/office/officeart/2005/8/layout/hProcess11"/>
    <dgm:cxn modelId="{6077E05C-8292-44E4-8591-0A73B4F4EBAB}" srcId="{5D9BC9AF-E696-43D8-9E60-3627CB4A9F90}" destId="{2DDB093B-2E9B-473F-9A2C-C9E173FB119B}" srcOrd="6" destOrd="0" parTransId="{B58C9FD5-D55C-4E8C-B06A-FDE9E7345377}" sibTransId="{0C83EB55-3DCF-4C3A-8281-42F1058EC5C4}"/>
    <dgm:cxn modelId="{350D7C5E-F771-4676-A038-E2121E8004EC}" srcId="{5D9BC9AF-E696-43D8-9E60-3627CB4A9F90}" destId="{1F0860FF-4FB4-4022-BDED-9962A2A76FF8}" srcOrd="0" destOrd="0" parTransId="{91163880-C1A4-4D32-8D5B-85A99B39D091}" sibTransId="{01FB9C28-67CB-4327-BBF7-79D25BC66BD5}"/>
    <dgm:cxn modelId="{EB3B184F-005A-4D3E-A3B3-B5FCC50E16AB}" type="presOf" srcId="{1F0860FF-4FB4-4022-BDED-9962A2A76FF8}" destId="{FE56CBDF-F2C5-4808-A416-1BC6315153D5}" srcOrd="0" destOrd="0" presId="urn:microsoft.com/office/officeart/2005/8/layout/hProcess11"/>
    <dgm:cxn modelId="{70403673-8A55-4BE6-9F71-558F0E47458A}" srcId="{5D9BC9AF-E696-43D8-9E60-3627CB4A9F90}" destId="{D20ED6B4-C641-41F3-A99D-E30E12FBE2B6}" srcOrd="5" destOrd="0" parTransId="{B092BABC-AC4B-420C-B47C-319EBA110278}" sibTransId="{BF120CE9-276E-4238-BF7F-1B7C3C5D7A79}"/>
    <dgm:cxn modelId="{C2FB417E-7845-4A34-B6BD-A5B8CE3ABAA8}" type="presOf" srcId="{BFD661AD-3996-4CCF-83D1-C4A85893EC6C}" destId="{E8924F09-77E3-4F93-9CFC-C83189BE752E}" srcOrd="0" destOrd="0" presId="urn:microsoft.com/office/officeart/2005/8/layout/hProcess11"/>
    <dgm:cxn modelId="{C2AC437E-D925-43ED-99DA-6964F8229F6E}" type="presOf" srcId="{C668E378-17DA-480A-88B4-77CF53BF79A8}" destId="{DD90B13C-8EAE-462D-8484-162E133A7583}" srcOrd="0" destOrd="0" presId="urn:microsoft.com/office/officeart/2005/8/layout/hProcess11"/>
    <dgm:cxn modelId="{2DB0AD90-AFD8-4FF3-9339-83DA9B1ED699}" type="presOf" srcId="{2DDB093B-2E9B-473F-9A2C-C9E173FB119B}" destId="{B917A7A3-B923-4C0A-B478-5A2EE5CD6081}" srcOrd="0" destOrd="0" presId="urn:microsoft.com/office/officeart/2005/8/layout/hProcess11"/>
    <dgm:cxn modelId="{F24825BF-2AE5-47BC-9A2E-22296634C552}" type="presOf" srcId="{5D9BC9AF-E696-43D8-9E60-3627CB4A9F90}" destId="{D2A4328F-7466-4460-BC6C-D99B0B11EAE0}" srcOrd="0" destOrd="0" presId="urn:microsoft.com/office/officeart/2005/8/layout/hProcess11"/>
    <dgm:cxn modelId="{D9FDE2DE-BE99-4679-85BD-22553BD4F516}" srcId="{5D9BC9AF-E696-43D8-9E60-3627CB4A9F90}" destId="{0E74F700-3D6F-45EE-88D7-8BE1C41B4A12}" srcOrd="4" destOrd="0" parTransId="{936D5318-7CEA-496B-88F3-62A3EB49856E}" sibTransId="{DFF9728C-451F-4C85-835F-7859F22FF8F3}"/>
    <dgm:cxn modelId="{8889E6E8-D9CB-4CDA-AF4C-099370C6AB5E}" srcId="{5D9BC9AF-E696-43D8-9E60-3627CB4A9F90}" destId="{E2A85686-2DD6-4C5E-A94E-2826806706FE}" srcOrd="3" destOrd="0" parTransId="{074A7167-E495-49D0-B8E8-4905A0CE2C5B}" sibTransId="{77471447-A646-4DD7-8633-0C3AD7CF7200}"/>
    <dgm:cxn modelId="{F82101F4-A47C-40E5-AB57-E837FD532585}" srcId="{5D9BC9AF-E696-43D8-9E60-3627CB4A9F90}" destId="{C668E378-17DA-480A-88B4-77CF53BF79A8}" srcOrd="1" destOrd="0" parTransId="{51D37406-DB1F-4B97-94BD-876F75966382}" sibTransId="{812D3EA7-45C8-49B4-9275-2E42090C19BF}"/>
    <dgm:cxn modelId="{ED550DFF-87BC-429C-9562-A93DEC4E9A8A}" type="presOf" srcId="{0E74F700-3D6F-45EE-88D7-8BE1C41B4A12}" destId="{93183C24-E580-42E5-AAEB-9858E9DBAAB7}" srcOrd="0" destOrd="0" presId="urn:microsoft.com/office/officeart/2005/8/layout/hProcess11"/>
    <dgm:cxn modelId="{CA0D3870-85B1-4E6A-92B5-DA017D6227FC}" type="presParOf" srcId="{D2A4328F-7466-4460-BC6C-D99B0B11EAE0}" destId="{D33221A1-79F6-4B9A-A116-6505E25D210B}" srcOrd="0" destOrd="0" presId="urn:microsoft.com/office/officeart/2005/8/layout/hProcess11"/>
    <dgm:cxn modelId="{E3BBC772-E296-48AD-8956-D876F71D8DA6}" type="presParOf" srcId="{D2A4328F-7466-4460-BC6C-D99B0B11EAE0}" destId="{274DDA60-0D25-4037-898D-3D412116E35E}" srcOrd="1" destOrd="0" presId="urn:microsoft.com/office/officeart/2005/8/layout/hProcess11"/>
    <dgm:cxn modelId="{30F639EC-6E8E-4DC8-8240-1F7FEBCEBE22}" type="presParOf" srcId="{274DDA60-0D25-4037-898D-3D412116E35E}" destId="{B3448F0B-296F-478E-803C-4405495B3A4D}" srcOrd="0" destOrd="0" presId="urn:microsoft.com/office/officeart/2005/8/layout/hProcess11"/>
    <dgm:cxn modelId="{E4541187-45D3-4B2D-BE4E-46E52D4D23C3}" type="presParOf" srcId="{B3448F0B-296F-478E-803C-4405495B3A4D}" destId="{FE56CBDF-F2C5-4808-A416-1BC6315153D5}" srcOrd="0" destOrd="0" presId="urn:microsoft.com/office/officeart/2005/8/layout/hProcess11"/>
    <dgm:cxn modelId="{FF95B1A0-F902-4177-B775-8D30894C1308}" type="presParOf" srcId="{B3448F0B-296F-478E-803C-4405495B3A4D}" destId="{75AE5A0C-DC8B-45AF-95A9-E7C2CCAB5B90}" srcOrd="1" destOrd="0" presId="urn:microsoft.com/office/officeart/2005/8/layout/hProcess11"/>
    <dgm:cxn modelId="{E3A5CCE2-819A-48A9-971C-030722618142}" type="presParOf" srcId="{B3448F0B-296F-478E-803C-4405495B3A4D}" destId="{61C323FF-DEA6-41A7-BFEC-D137AE1BE343}" srcOrd="2" destOrd="0" presId="urn:microsoft.com/office/officeart/2005/8/layout/hProcess11"/>
    <dgm:cxn modelId="{E46D10F3-FF13-4333-B728-4E7FE60D01C5}" type="presParOf" srcId="{274DDA60-0D25-4037-898D-3D412116E35E}" destId="{A4524CA2-32D1-4613-B7C9-17ECB61189FA}" srcOrd="1" destOrd="0" presId="urn:microsoft.com/office/officeart/2005/8/layout/hProcess11"/>
    <dgm:cxn modelId="{D20F0FF7-F153-4BD5-8E8E-5DE2DE209CED}" type="presParOf" srcId="{274DDA60-0D25-4037-898D-3D412116E35E}" destId="{5EC0F21C-6EE8-4D71-AE93-D95B48EEE23F}" srcOrd="2" destOrd="0" presId="urn:microsoft.com/office/officeart/2005/8/layout/hProcess11"/>
    <dgm:cxn modelId="{CA3CD318-152E-42CE-BE65-37840AEF3AB5}" type="presParOf" srcId="{5EC0F21C-6EE8-4D71-AE93-D95B48EEE23F}" destId="{DD90B13C-8EAE-462D-8484-162E133A7583}" srcOrd="0" destOrd="0" presId="urn:microsoft.com/office/officeart/2005/8/layout/hProcess11"/>
    <dgm:cxn modelId="{F75DFA75-B512-4BB4-80B5-B876F8D32350}" type="presParOf" srcId="{5EC0F21C-6EE8-4D71-AE93-D95B48EEE23F}" destId="{262B059D-5AE4-4F28-AE00-70369AA00314}" srcOrd="1" destOrd="0" presId="urn:microsoft.com/office/officeart/2005/8/layout/hProcess11"/>
    <dgm:cxn modelId="{0F06E630-3E2F-4245-8FC5-94F8D4E87B62}" type="presParOf" srcId="{5EC0F21C-6EE8-4D71-AE93-D95B48EEE23F}" destId="{F9BF097B-38D7-4909-AD1F-2A4DFBEE35B5}" srcOrd="2" destOrd="0" presId="urn:microsoft.com/office/officeart/2005/8/layout/hProcess11"/>
    <dgm:cxn modelId="{C3A20930-8F50-43E2-9A8F-6ECABE2AE179}" type="presParOf" srcId="{274DDA60-0D25-4037-898D-3D412116E35E}" destId="{C704625A-C43D-4D1A-88C8-D78A5219D054}" srcOrd="3" destOrd="0" presId="urn:microsoft.com/office/officeart/2005/8/layout/hProcess11"/>
    <dgm:cxn modelId="{2B1ED4FF-A901-483C-A882-DC487ACFB919}" type="presParOf" srcId="{274DDA60-0D25-4037-898D-3D412116E35E}" destId="{5AA94A6E-27B0-48C7-B4CA-BF8DD1F39EDE}" srcOrd="4" destOrd="0" presId="urn:microsoft.com/office/officeart/2005/8/layout/hProcess11"/>
    <dgm:cxn modelId="{5358BEBF-40B0-4828-B99A-76B3D0E2DFA2}" type="presParOf" srcId="{5AA94A6E-27B0-48C7-B4CA-BF8DD1F39EDE}" destId="{E8924F09-77E3-4F93-9CFC-C83189BE752E}" srcOrd="0" destOrd="0" presId="urn:microsoft.com/office/officeart/2005/8/layout/hProcess11"/>
    <dgm:cxn modelId="{03B70E25-93BE-46BA-AD38-98039F54E132}" type="presParOf" srcId="{5AA94A6E-27B0-48C7-B4CA-BF8DD1F39EDE}" destId="{14861258-B25B-44DB-9BF3-35337BB97F1E}" srcOrd="1" destOrd="0" presId="urn:microsoft.com/office/officeart/2005/8/layout/hProcess11"/>
    <dgm:cxn modelId="{7F8663AB-6039-4195-A9E9-84D2D6AD9850}" type="presParOf" srcId="{5AA94A6E-27B0-48C7-B4CA-BF8DD1F39EDE}" destId="{152450DA-199C-4A56-B52F-58C46C8895FE}" srcOrd="2" destOrd="0" presId="urn:microsoft.com/office/officeart/2005/8/layout/hProcess11"/>
    <dgm:cxn modelId="{233AF4C6-979B-4BB3-9C05-1D2CDE201F9E}" type="presParOf" srcId="{274DDA60-0D25-4037-898D-3D412116E35E}" destId="{E57875CA-AC09-4EB9-9019-4FA21E8CD022}" srcOrd="5" destOrd="0" presId="urn:microsoft.com/office/officeart/2005/8/layout/hProcess11"/>
    <dgm:cxn modelId="{6211E767-04A7-4751-903B-3A2803E19EC0}" type="presParOf" srcId="{274DDA60-0D25-4037-898D-3D412116E35E}" destId="{A58794BC-B306-48AE-89CC-622A215F077E}" srcOrd="6" destOrd="0" presId="urn:microsoft.com/office/officeart/2005/8/layout/hProcess11"/>
    <dgm:cxn modelId="{D1903AF3-46CF-4675-B671-52C5BA5C47A7}" type="presParOf" srcId="{A58794BC-B306-48AE-89CC-622A215F077E}" destId="{87EDBE43-1A8E-46A4-AC79-5C57FCFB0390}" srcOrd="0" destOrd="0" presId="urn:microsoft.com/office/officeart/2005/8/layout/hProcess11"/>
    <dgm:cxn modelId="{56D638C7-026A-45F7-9EC5-DC0E3BE5D0A6}" type="presParOf" srcId="{A58794BC-B306-48AE-89CC-622A215F077E}" destId="{68F82039-05DF-4105-9F89-7CD890C618F4}" srcOrd="1" destOrd="0" presId="urn:microsoft.com/office/officeart/2005/8/layout/hProcess11"/>
    <dgm:cxn modelId="{D617AF99-54D3-4253-B62A-722CB5718B17}" type="presParOf" srcId="{A58794BC-B306-48AE-89CC-622A215F077E}" destId="{A075D48A-AB1F-4AF3-BDC1-FFEA20FAAD78}" srcOrd="2" destOrd="0" presId="urn:microsoft.com/office/officeart/2005/8/layout/hProcess11"/>
    <dgm:cxn modelId="{8BBD4B28-BB34-4B24-BF7C-9A0F7E2E9736}" type="presParOf" srcId="{274DDA60-0D25-4037-898D-3D412116E35E}" destId="{5D7BC807-4222-4415-AEDC-F4357749F70B}" srcOrd="7" destOrd="0" presId="urn:microsoft.com/office/officeart/2005/8/layout/hProcess11"/>
    <dgm:cxn modelId="{C70B763A-92DA-403B-ACBE-16D0440103DC}" type="presParOf" srcId="{274DDA60-0D25-4037-898D-3D412116E35E}" destId="{F3014C0A-D571-4BA1-9016-E984C51D7E77}" srcOrd="8" destOrd="0" presId="urn:microsoft.com/office/officeart/2005/8/layout/hProcess11"/>
    <dgm:cxn modelId="{FBB72C77-E1FE-44ED-8DCE-39BEED2E63F2}" type="presParOf" srcId="{F3014C0A-D571-4BA1-9016-E984C51D7E77}" destId="{93183C24-E580-42E5-AAEB-9858E9DBAAB7}" srcOrd="0" destOrd="0" presId="urn:microsoft.com/office/officeart/2005/8/layout/hProcess11"/>
    <dgm:cxn modelId="{263792AB-78BC-4EF2-A73B-AA23536D6BC6}" type="presParOf" srcId="{F3014C0A-D571-4BA1-9016-E984C51D7E77}" destId="{F7182513-2A9C-4734-B895-09536018C630}" srcOrd="1" destOrd="0" presId="urn:microsoft.com/office/officeart/2005/8/layout/hProcess11"/>
    <dgm:cxn modelId="{10865AAF-6643-4CD6-B3A7-47291F26D368}" type="presParOf" srcId="{F3014C0A-D571-4BA1-9016-E984C51D7E77}" destId="{ABD578DB-86EC-4B48-B9A9-8DAEA32C9711}" srcOrd="2" destOrd="0" presId="urn:microsoft.com/office/officeart/2005/8/layout/hProcess11"/>
    <dgm:cxn modelId="{885B9ED4-4549-4F62-8FC8-97FF37CFC6A6}" type="presParOf" srcId="{274DDA60-0D25-4037-898D-3D412116E35E}" destId="{845E178C-DDE2-4A56-842E-504643243F09}" srcOrd="9" destOrd="0" presId="urn:microsoft.com/office/officeart/2005/8/layout/hProcess11"/>
    <dgm:cxn modelId="{C99A3645-9EE5-46A8-898E-9E7C83F42481}" type="presParOf" srcId="{274DDA60-0D25-4037-898D-3D412116E35E}" destId="{3A461237-3E3B-43B4-BDB8-0A14C043211C}" srcOrd="10" destOrd="0" presId="urn:microsoft.com/office/officeart/2005/8/layout/hProcess11"/>
    <dgm:cxn modelId="{5B44B717-1226-495D-97B5-49AF8FCBFA71}" type="presParOf" srcId="{3A461237-3E3B-43B4-BDB8-0A14C043211C}" destId="{070F8EAE-07ED-43F9-AA0F-1E49BB9F3327}" srcOrd="0" destOrd="0" presId="urn:microsoft.com/office/officeart/2005/8/layout/hProcess11"/>
    <dgm:cxn modelId="{B539B33A-B6BA-442C-BB29-1F33CA04FC84}" type="presParOf" srcId="{3A461237-3E3B-43B4-BDB8-0A14C043211C}" destId="{EE592F79-D54C-4AD3-BFBE-A9D493D3797A}" srcOrd="1" destOrd="0" presId="urn:microsoft.com/office/officeart/2005/8/layout/hProcess11"/>
    <dgm:cxn modelId="{A4216133-698A-4B07-B035-8D857FE6255E}" type="presParOf" srcId="{3A461237-3E3B-43B4-BDB8-0A14C043211C}" destId="{66C8F2AA-8BE2-41A1-8878-0976A69E6F67}" srcOrd="2" destOrd="0" presId="urn:microsoft.com/office/officeart/2005/8/layout/hProcess11"/>
    <dgm:cxn modelId="{462B5DD3-EC6D-4417-B0C1-8228279A7C38}" type="presParOf" srcId="{274DDA60-0D25-4037-898D-3D412116E35E}" destId="{EBCA0B6F-51C2-4299-AFF6-B9C60D2BCB39}" srcOrd="11" destOrd="0" presId="urn:microsoft.com/office/officeart/2005/8/layout/hProcess11"/>
    <dgm:cxn modelId="{D8CC9FCF-F25B-450D-A726-62D1DB3D30F7}" type="presParOf" srcId="{274DDA60-0D25-4037-898D-3D412116E35E}" destId="{F1845B5F-80A8-4511-B6DB-20F79D9837C9}" srcOrd="12" destOrd="0" presId="urn:microsoft.com/office/officeart/2005/8/layout/hProcess11"/>
    <dgm:cxn modelId="{9DA7B686-7EBA-435D-B489-E361B639D51F}" type="presParOf" srcId="{F1845B5F-80A8-4511-B6DB-20F79D9837C9}" destId="{B917A7A3-B923-4C0A-B478-5A2EE5CD6081}" srcOrd="0" destOrd="0" presId="urn:microsoft.com/office/officeart/2005/8/layout/hProcess11"/>
    <dgm:cxn modelId="{7DF77258-4AA9-467C-A83D-F48966148E3B}" type="presParOf" srcId="{F1845B5F-80A8-4511-B6DB-20F79D9837C9}" destId="{1BBD324A-DB21-48BA-BFFD-9F0130395B3C}" srcOrd="1" destOrd="0" presId="urn:microsoft.com/office/officeart/2005/8/layout/hProcess11"/>
    <dgm:cxn modelId="{AD901331-B901-4014-AF8A-9F5157DA2575}" type="presParOf" srcId="{F1845B5F-80A8-4511-B6DB-20F79D9837C9}" destId="{885E982D-237A-4FEC-8A55-24EE16FE8C11}"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89"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ru-RU" sz="1400" kern="1200" dirty="0">
              <a:latin typeface="Unbounded Medium" pitchFamily="2" charset="-52"/>
              <a:cs typeface="Wix Madefor Display SemiBold" panose="020B0503020203020203" pitchFamily="34" charset="-52"/>
            </a:rPr>
            <a:t>20</a:t>
          </a:r>
          <a:r>
            <a:rPr lang="en-US" sz="1400" kern="1200" dirty="0">
              <a:latin typeface="Unbounded Medium" pitchFamily="2" charset="-52"/>
              <a:cs typeface="Wix Madefor Display SemiBold" panose="020B0503020203020203" pitchFamily="34" charset="-52"/>
            </a:rPr>
            <a:t>18</a:t>
          </a:r>
          <a:endParaRPr lang="ru-RU" sz="1400" kern="1200" dirty="0">
            <a:latin typeface="Unbounded Medium" pitchFamily="2" charset="-52"/>
            <a:cs typeface="Wix Madefor Display SemiBold" panose="020B0503020203020203" pitchFamily="34" charset="-52"/>
          </a:endParaRPr>
        </a:p>
      </dsp:txBody>
      <dsp:txXfrm>
        <a:off x="489" y="0"/>
        <a:ext cx="1476964" cy="848399"/>
      </dsp:txXfrm>
    </dsp:sp>
    <dsp:sp modelId="{75AE5A0C-DC8B-45AF-95A9-E7C2CCAB5B90}">
      <dsp:nvSpPr>
        <dsp:cNvPr id="0" name=""/>
        <dsp:cNvSpPr/>
      </dsp:nvSpPr>
      <dsp:spPr>
        <a:xfrm>
          <a:off x="713127"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551302"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2020</a:t>
          </a:r>
          <a:endParaRPr lang="ru-RU" sz="1400" kern="1200" dirty="0">
            <a:latin typeface="Unbounded Medium" pitchFamily="2" charset="-52"/>
            <a:cs typeface="Wix Madefor Display SemiBold" panose="020B0503020203020203" pitchFamily="34" charset="-52"/>
          </a:endParaRPr>
        </a:p>
      </dsp:txBody>
      <dsp:txXfrm>
        <a:off x="1551302" y="1272599"/>
        <a:ext cx="1476964" cy="848399"/>
      </dsp:txXfrm>
    </dsp:sp>
    <dsp:sp modelId="{262B059D-5AE4-4F28-AE00-70369AA00314}">
      <dsp:nvSpPr>
        <dsp:cNvPr id="0" name=""/>
        <dsp:cNvSpPr/>
      </dsp:nvSpPr>
      <dsp:spPr>
        <a:xfrm>
          <a:off x="2183734" y="954449"/>
          <a:ext cx="212099" cy="212099"/>
        </a:xfrm>
        <a:prstGeom prst="ellipse">
          <a:avLst/>
        </a:prstGeom>
        <a:solidFill>
          <a:schemeClr val="accent1">
            <a:alpha val="90000"/>
            <a:hueOff val="0"/>
            <a:satOff val="0"/>
            <a:lumOff val="0"/>
            <a:alphaOff val="-5714"/>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102115"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2021</a:t>
          </a:r>
          <a:endParaRPr lang="ru-RU" sz="1400" kern="1200" dirty="0">
            <a:latin typeface="Unbounded Medium" pitchFamily="2" charset="-52"/>
            <a:cs typeface="Wix Madefor Display SemiBold" panose="020B0503020203020203" pitchFamily="34" charset="-52"/>
          </a:endParaRPr>
        </a:p>
      </dsp:txBody>
      <dsp:txXfrm>
        <a:off x="3102115" y="0"/>
        <a:ext cx="1476964" cy="848399"/>
      </dsp:txXfrm>
    </dsp:sp>
    <dsp:sp modelId="{14861258-B25B-44DB-9BF3-35337BB97F1E}">
      <dsp:nvSpPr>
        <dsp:cNvPr id="0" name=""/>
        <dsp:cNvSpPr/>
      </dsp:nvSpPr>
      <dsp:spPr>
        <a:xfrm>
          <a:off x="3734547" y="954449"/>
          <a:ext cx="212099" cy="212099"/>
        </a:xfrm>
        <a:prstGeom prst="ellipse">
          <a:avLst/>
        </a:prstGeom>
        <a:solidFill>
          <a:schemeClr val="accent1">
            <a:alpha val="90000"/>
            <a:hueOff val="0"/>
            <a:satOff val="0"/>
            <a:lumOff val="0"/>
            <a:alphaOff val="-11429"/>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4652927"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4652927" y="1272599"/>
        <a:ext cx="1476964" cy="848399"/>
      </dsp:txXfrm>
    </dsp:sp>
    <dsp:sp modelId="{68F82039-05DF-4105-9F89-7CD890C618F4}">
      <dsp:nvSpPr>
        <dsp:cNvPr id="0" name=""/>
        <dsp:cNvSpPr/>
      </dsp:nvSpPr>
      <dsp:spPr>
        <a:xfrm>
          <a:off x="5285360"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5E5754-3BDA-40B9-B76C-818CEA8DEA04}">
      <dsp:nvSpPr>
        <dsp:cNvPr id="0" name=""/>
        <dsp:cNvSpPr/>
      </dsp:nvSpPr>
      <dsp:spPr>
        <a:xfrm>
          <a:off x="6171779"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202</a:t>
          </a:r>
          <a:r>
            <a:rPr lang="ru-RU" sz="1400" kern="1200" dirty="0">
              <a:latin typeface="Unbounded Medium" pitchFamily="2" charset="-52"/>
              <a:cs typeface="Wix Madefor Display SemiBold" panose="020B0503020203020203" pitchFamily="34" charset="-52"/>
            </a:rPr>
            <a:t>4</a:t>
          </a:r>
        </a:p>
      </dsp:txBody>
      <dsp:txXfrm>
        <a:off x="6171779" y="1272599"/>
        <a:ext cx="1476964" cy="848399"/>
      </dsp:txXfrm>
    </dsp:sp>
    <dsp:sp modelId="{12F6BDAE-7495-4BC3-84D3-22AA063CB94E}">
      <dsp:nvSpPr>
        <dsp:cNvPr id="0" name=""/>
        <dsp:cNvSpPr/>
      </dsp:nvSpPr>
      <dsp:spPr>
        <a:xfrm>
          <a:off x="6836173" y="954449"/>
          <a:ext cx="212099" cy="212099"/>
        </a:xfrm>
        <a:prstGeom prst="ellipse">
          <a:avLst/>
        </a:prstGeom>
        <a:solidFill>
          <a:schemeClr val="accent1">
            <a:alpha val="90000"/>
            <a:hueOff val="0"/>
            <a:satOff val="0"/>
            <a:lumOff val="0"/>
            <a:alphaOff val="-2285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E185DB-E5A4-4F39-809D-DD0A9A1A6749}">
      <dsp:nvSpPr>
        <dsp:cNvPr id="0" name=""/>
        <dsp:cNvSpPr/>
      </dsp:nvSpPr>
      <dsp:spPr>
        <a:xfrm>
          <a:off x="7754553" y="1272599"/>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754553" y="1272599"/>
        <a:ext cx="1476964" cy="848399"/>
      </dsp:txXfrm>
    </dsp:sp>
    <dsp:sp modelId="{232A4D32-E568-4D31-A413-A607EFA2754D}">
      <dsp:nvSpPr>
        <dsp:cNvPr id="0" name=""/>
        <dsp:cNvSpPr/>
      </dsp:nvSpPr>
      <dsp:spPr>
        <a:xfrm>
          <a:off x="8386985"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769335-1F8C-42AA-9205-ECFC5EDB86A2}">
      <dsp:nvSpPr>
        <dsp:cNvPr id="0" name=""/>
        <dsp:cNvSpPr/>
      </dsp:nvSpPr>
      <dsp:spPr>
        <a:xfrm>
          <a:off x="9305366" y="0"/>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9305366" y="0"/>
        <a:ext cx="1476964" cy="848399"/>
      </dsp:txXfrm>
    </dsp:sp>
    <dsp:sp modelId="{06CEDFC9-B1F3-4A20-B5CB-511DC701012D}">
      <dsp:nvSpPr>
        <dsp:cNvPr id="0" name=""/>
        <dsp:cNvSpPr/>
      </dsp:nvSpPr>
      <dsp:spPr>
        <a:xfrm>
          <a:off x="9937798"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B7C786-82A5-4A8A-9E36-60E52675459D}">
      <dsp:nvSpPr>
        <dsp:cNvPr id="0" name=""/>
        <dsp:cNvSpPr/>
      </dsp:nvSpPr>
      <dsp:spPr>
        <a:xfrm>
          <a:off x="11207785" y="11351"/>
          <a:ext cx="1476964"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US" sz="1400" kern="1200" dirty="0">
              <a:latin typeface="Unbounded Medium" pitchFamily="2" charset="-52"/>
              <a:cs typeface="Wix Madefor Display SemiBold" panose="020B0503020203020203" pitchFamily="34" charset="-52"/>
            </a:rPr>
            <a:t>2030</a:t>
          </a:r>
          <a:endParaRPr lang="ru-RU" sz="1400" kern="1200" dirty="0">
            <a:latin typeface="Unbounded Medium" pitchFamily="2" charset="-52"/>
            <a:cs typeface="Wix Madefor Display SemiBold" panose="020B0503020203020203" pitchFamily="34" charset="-52"/>
          </a:endParaRPr>
        </a:p>
      </dsp:txBody>
      <dsp:txXfrm>
        <a:off x="11207785" y="11351"/>
        <a:ext cx="1476964" cy="848399"/>
      </dsp:txXfrm>
    </dsp:sp>
    <dsp:sp modelId="{1B1D0CA2-7024-475A-8311-0610CD8E21B6}">
      <dsp:nvSpPr>
        <dsp:cNvPr id="0" name=""/>
        <dsp:cNvSpPr/>
      </dsp:nvSpPr>
      <dsp:spPr>
        <a:xfrm>
          <a:off x="11841603"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221A1-79F6-4B9A-A116-6505E25D210B}">
      <dsp:nvSpPr>
        <dsp:cNvPr id="0" name=""/>
        <dsp:cNvSpPr/>
      </dsp:nvSpPr>
      <dsp:spPr>
        <a:xfrm>
          <a:off x="0" y="776404"/>
          <a:ext cx="13704037" cy="568190"/>
        </a:xfrm>
        <a:prstGeom prst="notchedRightArrow">
          <a:avLst/>
        </a:prstGeom>
        <a:gradFill rotWithShape="0">
          <a:gsLst>
            <a:gs pos="3000">
              <a:srgbClr val="FCE8E8"/>
            </a:gs>
            <a:gs pos="74000">
              <a:srgbClr val="818CF7"/>
            </a:gs>
            <a:gs pos="83000">
              <a:srgbClr val="0F24E7"/>
            </a:gs>
            <a:gs pos="100000">
              <a:srgbClr val="0F24E7"/>
            </a:gs>
          </a:gsLst>
          <a:lin ang="21594000" scaled="0"/>
        </a:gradFill>
        <a:ln>
          <a:noFill/>
        </a:ln>
        <a:effectLst/>
      </dsp:spPr>
      <dsp:style>
        <a:lnRef idx="0">
          <a:scrgbClr r="0" g="0" b="0"/>
        </a:lnRef>
        <a:fillRef idx="1">
          <a:scrgbClr r="0" g="0" b="0"/>
        </a:fillRef>
        <a:effectRef idx="0">
          <a:scrgbClr r="0" g="0" b="0"/>
        </a:effectRef>
        <a:fontRef idx="minor"/>
      </dsp:style>
    </dsp:sp>
    <dsp:sp modelId="{FE56CBDF-F2C5-4808-A416-1BC6315153D5}">
      <dsp:nvSpPr>
        <dsp:cNvPr id="0" name=""/>
        <dsp:cNvSpPr/>
      </dsp:nvSpPr>
      <dsp:spPr>
        <a:xfrm>
          <a:off x="42423"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ru-RU" sz="1600" b="1" kern="1200" dirty="0">
              <a:latin typeface="Unbounded Medium" pitchFamily="2" charset="-52"/>
              <a:cs typeface="Wix Madefor Display SemiBold" panose="020B0503020203020203" pitchFamily="34" charset="-52"/>
            </a:rPr>
            <a:t>2024</a:t>
          </a:r>
        </a:p>
      </dsp:txBody>
      <dsp:txXfrm>
        <a:off x="42423" y="0"/>
        <a:ext cx="1689250" cy="848399"/>
      </dsp:txXfrm>
    </dsp:sp>
    <dsp:sp modelId="{75AE5A0C-DC8B-45AF-95A9-E7C2CCAB5B90}">
      <dsp:nvSpPr>
        <dsp:cNvPr id="0" name=""/>
        <dsp:cNvSpPr/>
      </dsp:nvSpPr>
      <dsp:spPr>
        <a:xfrm>
          <a:off x="765708" y="954449"/>
          <a:ext cx="212099" cy="212099"/>
        </a:xfrm>
        <a:prstGeom prst="ellipse">
          <a:avLst/>
        </a:prstGeom>
        <a:solidFill>
          <a:srgbClr val="7030A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90B13C-8EAE-462D-8484-162E133A7583}">
      <dsp:nvSpPr>
        <dsp:cNvPr id="0" name=""/>
        <dsp:cNvSpPr/>
      </dsp:nvSpPr>
      <dsp:spPr>
        <a:xfrm>
          <a:off x="177476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1774766" y="1272599"/>
        <a:ext cx="1689250" cy="848399"/>
      </dsp:txXfrm>
    </dsp:sp>
    <dsp:sp modelId="{262B059D-5AE4-4F28-AE00-70369AA00314}">
      <dsp:nvSpPr>
        <dsp:cNvPr id="0" name=""/>
        <dsp:cNvSpPr/>
      </dsp:nvSpPr>
      <dsp:spPr>
        <a:xfrm>
          <a:off x="251334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924F09-77E3-4F93-9CFC-C83189BE752E}">
      <dsp:nvSpPr>
        <dsp:cNvPr id="0" name=""/>
        <dsp:cNvSpPr/>
      </dsp:nvSpPr>
      <dsp:spPr>
        <a:xfrm>
          <a:off x="354847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3548479" y="0"/>
        <a:ext cx="1689250" cy="848399"/>
      </dsp:txXfrm>
    </dsp:sp>
    <dsp:sp modelId="{14861258-B25B-44DB-9BF3-35337BB97F1E}">
      <dsp:nvSpPr>
        <dsp:cNvPr id="0" name=""/>
        <dsp:cNvSpPr/>
      </dsp:nvSpPr>
      <dsp:spPr>
        <a:xfrm>
          <a:off x="4287054"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EDBE43-1A8E-46A4-AC79-5C57FCFB0390}">
      <dsp:nvSpPr>
        <dsp:cNvPr id="0" name=""/>
        <dsp:cNvSpPr/>
      </dsp:nvSpPr>
      <dsp:spPr>
        <a:xfrm>
          <a:off x="5322191"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5322191" y="1272599"/>
        <a:ext cx="1689250" cy="848399"/>
      </dsp:txXfrm>
    </dsp:sp>
    <dsp:sp modelId="{68F82039-05DF-4105-9F89-7CD890C618F4}">
      <dsp:nvSpPr>
        <dsp:cNvPr id="0" name=""/>
        <dsp:cNvSpPr/>
      </dsp:nvSpPr>
      <dsp:spPr>
        <a:xfrm>
          <a:off x="6060766"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183C24-E580-42E5-AAEB-9858E9DBAAB7}">
      <dsp:nvSpPr>
        <dsp:cNvPr id="0" name=""/>
        <dsp:cNvSpPr/>
      </dsp:nvSpPr>
      <dsp:spPr>
        <a:xfrm>
          <a:off x="7095904"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7095904" y="0"/>
        <a:ext cx="1689250" cy="848399"/>
      </dsp:txXfrm>
    </dsp:sp>
    <dsp:sp modelId="{F7182513-2A9C-4734-B895-09536018C630}">
      <dsp:nvSpPr>
        <dsp:cNvPr id="0" name=""/>
        <dsp:cNvSpPr/>
      </dsp:nvSpPr>
      <dsp:spPr>
        <a:xfrm>
          <a:off x="7834479"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0F8EAE-07ED-43F9-AA0F-1E49BB9F3327}">
      <dsp:nvSpPr>
        <dsp:cNvPr id="0" name=""/>
        <dsp:cNvSpPr/>
      </dsp:nvSpPr>
      <dsp:spPr>
        <a:xfrm>
          <a:off x="8869616" y="1272599"/>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endParaRPr lang="ru-RU" sz="1400" kern="1200" dirty="0">
            <a:latin typeface="Unbounded Medium" pitchFamily="2" charset="-52"/>
            <a:cs typeface="Wix Madefor Display SemiBold" panose="020B0503020203020203" pitchFamily="34" charset="-52"/>
          </a:endParaRPr>
        </a:p>
      </dsp:txBody>
      <dsp:txXfrm>
        <a:off x="8869616" y="1272599"/>
        <a:ext cx="1689250" cy="848399"/>
      </dsp:txXfrm>
    </dsp:sp>
    <dsp:sp modelId="{EE592F79-D54C-4AD3-BFBE-A9D493D3797A}">
      <dsp:nvSpPr>
        <dsp:cNvPr id="0" name=""/>
        <dsp:cNvSpPr/>
      </dsp:nvSpPr>
      <dsp:spPr>
        <a:xfrm>
          <a:off x="9608191" y="954449"/>
          <a:ext cx="212099" cy="212099"/>
        </a:xfrm>
        <a:prstGeom prst="ellipse">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17A7A3-B923-4C0A-B478-5A2EE5CD6081}">
      <dsp:nvSpPr>
        <dsp:cNvPr id="0" name=""/>
        <dsp:cNvSpPr/>
      </dsp:nvSpPr>
      <dsp:spPr>
        <a:xfrm>
          <a:off x="10643329" y="0"/>
          <a:ext cx="1689250" cy="848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US"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rPr>
            <a:t>2030</a:t>
          </a:r>
          <a:endParaRPr lang="ru-RU" sz="1600" b="1" kern="1200" dirty="0">
            <a:solidFill>
              <a:srgbClr val="000000">
                <a:hueOff val="0"/>
                <a:satOff val="0"/>
                <a:lumOff val="0"/>
                <a:alphaOff val="0"/>
              </a:srgbClr>
            </a:solidFill>
            <a:latin typeface="Unbounded Medium" pitchFamily="2" charset="-52"/>
            <a:ea typeface="+mn-ea"/>
            <a:cs typeface="Wix Madefor Display SemiBold" panose="020B0503020203020203" pitchFamily="34" charset="-52"/>
          </a:endParaRPr>
        </a:p>
      </dsp:txBody>
      <dsp:txXfrm>
        <a:off x="10643329" y="0"/>
        <a:ext cx="1689250" cy="848399"/>
      </dsp:txXfrm>
    </dsp:sp>
    <dsp:sp modelId="{1BBD324A-DB21-48BA-BFFD-9F0130395B3C}">
      <dsp:nvSpPr>
        <dsp:cNvPr id="0" name=""/>
        <dsp:cNvSpPr/>
      </dsp:nvSpPr>
      <dsp:spPr>
        <a:xfrm>
          <a:off x="11381904" y="954449"/>
          <a:ext cx="212099" cy="212099"/>
        </a:xfrm>
        <a:prstGeom prst="ellipse">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AA38FD0-1C7E-4B14-B500-0FA967FD3E4E}"/>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C32047A3-7BFC-4694-9DD2-5DBB4F031DAB}"/>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779A1FF-5275-47A2-8965-91FBA58C80C1}" type="datetimeFigureOut">
              <a:rPr lang="ru-RU" smtClean="0"/>
              <a:t>26.11.2024</a:t>
            </a:fld>
            <a:endParaRPr lang="ru-RU"/>
          </a:p>
        </p:txBody>
      </p:sp>
      <p:sp>
        <p:nvSpPr>
          <p:cNvPr id="4" name="Нижний колонтитул 3">
            <a:extLst>
              <a:ext uri="{FF2B5EF4-FFF2-40B4-BE49-F238E27FC236}">
                <a16:creationId xmlns:a16="http://schemas.microsoft.com/office/drawing/2014/main" id="{54416034-E22B-4114-B215-41658F5880E7}"/>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r>
              <a:rPr lang="ru-RU"/>
              <a:t>111111111</a:t>
            </a:r>
          </a:p>
        </p:txBody>
      </p:sp>
      <p:sp>
        <p:nvSpPr>
          <p:cNvPr id="5" name="Номер слайда 4">
            <a:extLst>
              <a:ext uri="{FF2B5EF4-FFF2-40B4-BE49-F238E27FC236}">
                <a16:creationId xmlns:a16="http://schemas.microsoft.com/office/drawing/2014/main" id="{03534A03-F7B1-4AB0-852E-400D3B459EEC}"/>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82500478-2519-4E5A-BFBB-3F0217F11886}" type="slidenum">
              <a:rPr lang="ru-RU" smtClean="0"/>
              <a:t>‹#›</a:t>
            </a:fld>
            <a:endParaRPr lang="ru-RU"/>
          </a:p>
        </p:txBody>
      </p:sp>
    </p:spTree>
    <p:extLst>
      <p:ext uri="{BB962C8B-B14F-4D97-AF65-F5344CB8AC3E}">
        <p14:creationId xmlns:p14="http://schemas.microsoft.com/office/powerpoint/2010/main" val="3992565047"/>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33150" y="744475"/>
            <a:ext cx="4532000" cy="37224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9750" y="4715125"/>
            <a:ext cx="5438125" cy="44669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620713" y="0"/>
            <a:ext cx="42418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59225" tIns="29600" rIns="59225" bIns="296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550092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87588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15468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4129183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2446255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14927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941340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03325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380567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373241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8350" y="744538"/>
            <a:ext cx="5262563" cy="3722687"/>
          </a:xfrm>
        </p:spPr>
      </p:sp>
      <p:sp>
        <p:nvSpPr>
          <p:cNvPr id="3" name="Notes Placeholder 2"/>
          <p:cNvSpPr>
            <a:spLocks noGrp="1"/>
          </p:cNvSpPr>
          <p:nvPr>
            <p:ph type="body" idx="1"/>
          </p:nvPr>
        </p:nvSpPr>
        <p:spPr/>
        <p:txBody>
          <a:bodyPr lIns="59248" tIns="29624" rIns="59248" bIns="29624"/>
          <a:lstStyle/>
          <a:p>
            <a:endParaRPr lang="en-US" dirty="0"/>
          </a:p>
        </p:txBody>
      </p:sp>
    </p:spTree>
    <p:extLst>
      <p:ext uri="{BB962C8B-B14F-4D97-AF65-F5344CB8AC3E}">
        <p14:creationId xmlns:p14="http://schemas.microsoft.com/office/powerpoint/2010/main" val="150470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
        <p:nvSpPr>
          <p:cNvPr id="3" name="Номер слайда 3">
            <a:extLst>
              <a:ext uri="{FF2B5EF4-FFF2-40B4-BE49-F238E27FC236}">
                <a16:creationId xmlns:a16="http://schemas.microsoft.com/office/drawing/2014/main" id="{94A8B559-1BA2-4571-96D5-5743683B7B2C}"/>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Ovr>
    <a:masterClrMapping/>
  </p:clrMapOvr>
  <p:extLst>
    <p:ext uri="{DCECCB84-F9BA-43D5-87BE-67443E8EF086}">
      <p15:sldGuideLst xmlns:p15="http://schemas.microsoft.com/office/powerpoint/2012/main">
        <p15:guide id="1" orient="horz" pos="3366" userDrawn="1">
          <p15:clr>
            <a:srgbClr val="FBAE40"/>
          </p15:clr>
        </p15:guide>
        <p15:guide id="2" pos="4761"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TextBox 5">
            <a:extLst>
              <a:ext uri="{FF2B5EF4-FFF2-40B4-BE49-F238E27FC236}">
                <a16:creationId xmlns:a16="http://schemas.microsoft.com/office/drawing/2014/main" id="{71D18CF5-FB04-464E-A6B6-FC26E41968BA}"/>
              </a:ext>
            </a:extLst>
          </p:cNvPr>
          <p:cNvSpPr txBox="1"/>
          <p:nvPr userDrawn="1"/>
        </p:nvSpPr>
        <p:spPr>
          <a:xfrm>
            <a:off x="14442918" y="10226562"/>
            <a:ext cx="424021" cy="246221"/>
          </a:xfrm>
          <a:prstGeom prst="rect">
            <a:avLst/>
          </a:prstGeom>
          <a:noFill/>
          <a:ln/>
        </p:spPr>
        <p:txBody>
          <a:bodyPr wrap="square" lIns="0" tIns="0" rIns="0" bIns="0" rtlCol="0" anchor="t">
            <a:spAutoFit/>
          </a:bodyPr>
          <a:lstStyle>
            <a:defPPr marR="0" lvl="0" algn="l" rtl="0">
              <a:lnSpc>
                <a:spcPct val="100000"/>
              </a:lnSpc>
              <a:spcBef>
                <a:spcPts val="0"/>
              </a:spcBef>
              <a:spcAft>
                <a:spcPts val="0"/>
              </a:spcAft>
            </a:defPPr>
            <a:lvl1pPr algn="r">
              <a:buClrTx/>
              <a:buFontTx/>
              <a:buNone/>
              <a:defRPr kumimoji="0" sz="1600" kern="1200" spc="0" normalizeH="0" baseline="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lvl="0"/>
            <a:r>
              <a:rPr lang="ru-RU" dirty="0"/>
              <a:t>/39</a:t>
            </a:r>
          </a:p>
        </p:txBody>
      </p:sp>
      <p:sp>
        <p:nvSpPr>
          <p:cNvPr id="4" name="Номер слайда 3">
            <a:extLst>
              <a:ext uri="{FF2B5EF4-FFF2-40B4-BE49-F238E27FC236}">
                <a16:creationId xmlns:a16="http://schemas.microsoft.com/office/drawing/2014/main" id="{7F1E1EF8-FB99-41BD-9BE3-F2C0F7D13059}"/>
              </a:ext>
            </a:extLst>
          </p:cNvPr>
          <p:cNvSpPr>
            <a:spLocks noGrp="1"/>
          </p:cNvSpPr>
          <p:nvPr>
            <p:ph type="sldNum" sz="quarter" idx="4"/>
          </p:nvPr>
        </p:nvSpPr>
        <p:spPr>
          <a:xfrm>
            <a:off x="13677906" y="10226562"/>
            <a:ext cx="755650" cy="246221"/>
          </a:xfrm>
          <a:prstGeom prst="rect">
            <a:avLst/>
          </a:prstGeom>
          <a:noFill/>
          <a:ln/>
        </p:spPr>
        <p:txBody>
          <a:bodyPr wrap="square" lIns="0" tIns="0" rIns="0" bIns="0" rtlCol="0" anchor="t">
            <a:spAutoFit/>
          </a:bodyPr>
          <a:lstStyle>
            <a:lvl1pPr>
              <a:defRPr kumimoji="0" lang="ru-RU" sz="1600" kern="1200" spc="0" normalizeH="0" baseline="0" smtClean="0">
                <a:ln>
                  <a:noFill/>
                </a:ln>
                <a:solidFill>
                  <a:schemeClr val="bg1">
                    <a:lumMod val="75000"/>
                  </a:schemeClr>
                </a:solidFill>
                <a:effectLst/>
                <a:uLnTx/>
                <a:uFillTx/>
                <a:latin typeface="Unbounded Light" pitchFamily="2" charset="-52"/>
                <a:ea typeface="Unbounded Light" pitchFamily="2" charset="-52"/>
                <a:cs typeface="Unbounded Light" pitchFamily="2" charset="-52"/>
              </a:defRPr>
            </a:lvl1pPr>
          </a:lstStyle>
          <a:p>
            <a:pPr algn="r">
              <a:buClrTx/>
              <a:buFontTx/>
              <a:buNone/>
            </a:pPr>
            <a:fld id="{39FD2042-F21C-415A-9EA3-4A549B5658B7}" type="slidenum">
              <a:rPr lang="ru-RU" smtClean="0"/>
              <a:pPr algn="r">
                <a:buClrTx/>
                <a:buFontTx/>
                <a:buNone/>
              </a:pPr>
              <a:t>‹#›</a:t>
            </a:fld>
            <a:endParaRPr lang="ru-RU" dirty="0"/>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 Id="rId4" Type="http://schemas.openxmlformats.org/officeDocument/2006/relationships/hyperlink" Target="https://www.statista.com/statistics/871513/worldwide-data-created/" TargetMode="External"/><Relationship Id="rId5"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hyperlink" Target="https://cloudscene.com/region/datacenters-in-europe#russia" TargetMode="External"/><Relationship Id="rId6" Type="http://schemas.openxmlformats.org/officeDocument/2006/relationships/hyperlink" Target="https://datareportal.com/reports/digital-2024-russian-feder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5.xml"/><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hyperlink" Target="https://www-file.huawei.com/-/media/corp2020/pdf/giv/intelligent_world_2030_en.pdf" TargetMode="External"/><Relationship Id="rId10" Type="http://schemas.openxmlformats.org/officeDocument/2006/relationships/hyperlink" Target="https://www.statista.com/forecasts/1474143/global-ai-market-siz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chart" Target="../charts/char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microsoft.com/office/2007/relationships/hdphoto" Target="../media/hdphoto1.wdp"/><Relationship Id="rId11" Type="http://schemas.openxmlformats.org/officeDocument/2006/relationships/image" Target="../media/image24.jpg"/><Relationship Id="rId12"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jpg"/><Relationship Id="rId7" Type="http://schemas.openxmlformats.org/officeDocument/2006/relationships/image" Target="../media/image24.jp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29.png"/><Relationship Id="rId11" Type="http://schemas.openxmlformats.org/officeDocument/2006/relationships/chart" Target="../charts/char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453C"/>
        </a:solidFill>
        <a:effectLst/>
      </p:bgPr>
    </p:bg>
    <p:spTree>
      <p:nvGrpSpPr>
        <p:cNvPr id="1" name="Shape 13"/>
        <p:cNvGrpSpPr/>
        <p:nvPr/>
      </p:nvGrpSpPr>
      <p:grpSpPr>
        <a:xfrm>
          <a:off x="0" y="0"/>
          <a:ext cx="0" cy="0"/>
          <a:chOff x="0" y="0"/>
          <a:chExt cx="0" cy="0"/>
        </a:xfrm>
      </p:grpSpPr>
      <p:sp>
        <p:nvSpPr>
          <p:cNvPr id="10" name="Прямоугольник: скругленные углы 9">
            <a:extLst>
              <a:ext uri="{FF2B5EF4-FFF2-40B4-BE49-F238E27FC236}">
                <a16:creationId xmlns:a16="http://schemas.microsoft.com/office/drawing/2014/main" id="{80DC9D5C-23E7-4D7E-9307-ADA4CFA986F3}"/>
              </a:ext>
            </a:extLst>
          </p:cNvPr>
          <p:cNvSpPr/>
          <p:nvPr/>
        </p:nvSpPr>
        <p:spPr>
          <a:xfrm>
            <a:off x="0" y="0"/>
            <a:ext cx="15116175" cy="10687050"/>
          </a:xfrm>
          <a:prstGeom prst="roundRect">
            <a:avLst>
              <a:gd name="adj" fmla="val 0"/>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Прямоугольник: скругленные углы 1">
            <a:extLst>
              <a:ext uri="{FF2B5EF4-FFF2-40B4-BE49-F238E27FC236}">
                <a16:creationId xmlns:a16="http://schemas.microsoft.com/office/drawing/2014/main" id="{3A3B924F-212D-4543-9050-48D44D3995F9}"/>
              </a:ext>
            </a:extLst>
          </p:cNvPr>
          <p:cNvSpPr/>
          <p:nvPr/>
        </p:nvSpPr>
        <p:spPr>
          <a:xfrm>
            <a:off x="249238" y="424516"/>
            <a:ext cx="4281714" cy="9791700"/>
          </a:xfrm>
          <a:prstGeom prst="roundRect">
            <a:avLst/>
          </a:prstGeom>
          <a:solidFill>
            <a:srgbClr val="818C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Прямоугольник: скругленные углы 5">
            <a:extLst>
              <a:ext uri="{FF2B5EF4-FFF2-40B4-BE49-F238E27FC236}">
                <a16:creationId xmlns:a16="http://schemas.microsoft.com/office/drawing/2014/main" id="{509D7981-2CCE-4685-9CDA-508813E05E7F}"/>
              </a:ext>
            </a:extLst>
          </p:cNvPr>
          <p:cNvSpPr/>
          <p:nvPr/>
        </p:nvSpPr>
        <p:spPr>
          <a:xfrm>
            <a:off x="1870299" y="424516"/>
            <a:ext cx="4281714" cy="9791700"/>
          </a:xfrm>
          <a:prstGeom prst="roundRect">
            <a:avLst/>
          </a:prstGeom>
          <a:solidFill>
            <a:srgbClr val="D8D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Прямоугольник: скругленные углы 6">
            <a:extLst>
              <a:ext uri="{FF2B5EF4-FFF2-40B4-BE49-F238E27FC236}">
                <a16:creationId xmlns:a16="http://schemas.microsoft.com/office/drawing/2014/main" id="{DDEDFE77-4463-4E62-AF8C-D852B3CB19D3}"/>
              </a:ext>
            </a:extLst>
          </p:cNvPr>
          <p:cNvSpPr/>
          <p:nvPr/>
        </p:nvSpPr>
        <p:spPr>
          <a:xfrm>
            <a:off x="3586622" y="424516"/>
            <a:ext cx="4281714" cy="9791700"/>
          </a:xfrm>
          <a:prstGeom prst="roundRect">
            <a:avLst/>
          </a:prstGeom>
          <a:solidFill>
            <a:srgbClr val="FFFFFF"/>
          </a:solidFill>
          <a:ln w="7620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Прямоугольник: скругленные углы 7">
            <a:extLst>
              <a:ext uri="{FF2B5EF4-FFF2-40B4-BE49-F238E27FC236}">
                <a16:creationId xmlns:a16="http://schemas.microsoft.com/office/drawing/2014/main" id="{56DC617F-2C5A-4E0F-BACE-526F53318DCC}"/>
              </a:ext>
            </a:extLst>
          </p:cNvPr>
          <p:cNvSpPr/>
          <p:nvPr/>
        </p:nvSpPr>
        <p:spPr>
          <a:xfrm>
            <a:off x="5221002" y="470834"/>
            <a:ext cx="9659255" cy="9705853"/>
          </a:xfrm>
          <a:prstGeom prst="roundRect">
            <a:avLst>
              <a:gd name="adj" fmla="val 5991"/>
            </a:avLst>
          </a:prstGeom>
          <a:solidFill>
            <a:srgbClr val="0F24E7"/>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5" name="Google Shape;15;p1"/>
          <p:cNvSpPr/>
          <p:nvPr/>
        </p:nvSpPr>
        <p:spPr>
          <a:xfrm>
            <a:off x="6210300" y="1353963"/>
            <a:ext cx="8643317" cy="477053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6200" b="0" i="0" u="none" lang="ru-RU">
                <a:solidFill>
                  <a:srgbClr val="FFFFFF"/>
                </a:solidFill>
                <a:latin typeface="Unbounded Light"/>
              </a:rPr>
              <a:t>Вычислительные мощности
Мировой опыт и опыт ДИТ</a:t>
            </a:r>
          </a:p>
        </p:txBody>
      </p:sp>
      <p:sp>
        <p:nvSpPr>
          <p:cNvPr id="16" name="Google Shape;16;p1"/>
          <p:cNvSpPr/>
          <p:nvPr/>
        </p:nvSpPr>
        <p:spPr>
          <a:xfrm>
            <a:off x="7686177" y="7583121"/>
            <a:ext cx="6065148" cy="166199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3600" lang="en-US">
                <a:solidFill>
                  <a:srgbClr val="FFFFFF"/>
                </a:solidFill>
                <a:latin typeface="Wix Madefor Display"/>
              </a:rPr>
              <a:t>Департамент информационных технологий</a:t>
            </a:r>
            <a:endParaRPr sz="3600" dirty="0">
              <a:solidFill>
                <a:schemeClr val="dk1"/>
              </a:solidFill>
              <a:latin typeface="Calibri"/>
              <a:ea typeface="Calibri"/>
              <a:cs typeface="Calibri"/>
              <a:sym typeface="Calibri"/>
            </a:endParaRPr>
          </a:p>
        </p:txBody>
      </p:sp>
      <p:sp>
        <p:nvSpPr>
          <p:cNvPr id="9" name="Прямоугольник: скругленные углы 8">
            <a:extLst>
              <a:ext uri="{FF2B5EF4-FFF2-40B4-BE49-F238E27FC236}">
                <a16:creationId xmlns:a16="http://schemas.microsoft.com/office/drawing/2014/main" id="{2A790AED-B9D9-4E8A-9772-17D0F603C25C}"/>
              </a:ext>
            </a:extLst>
          </p:cNvPr>
          <p:cNvSpPr/>
          <p:nvPr/>
        </p:nvSpPr>
        <p:spPr>
          <a:xfrm>
            <a:off x="5221002" y="470834"/>
            <a:ext cx="9632615" cy="9705853"/>
          </a:xfrm>
          <a:prstGeom prst="roundRect">
            <a:avLst>
              <a:gd name="adj" fmla="val 6115"/>
            </a:avLst>
          </a:prstGeom>
          <a:no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5" name="Рисунок 4">
            <a:extLst>
              <a:ext uri="{FF2B5EF4-FFF2-40B4-BE49-F238E27FC236}">
                <a16:creationId xmlns:a16="http://schemas.microsoft.com/office/drawing/2014/main" id="{3DADACA1-4A73-75FB-C527-9D9A9340FA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7275" y="7719060"/>
            <a:ext cx="813411" cy="1420373"/>
          </a:xfrm>
          <a:prstGeom prst="rect">
            <a:avLst/>
          </a:prstGeom>
        </p:spPr>
      </p:pic>
      <p:sp>
        <p:nvSpPr>
          <p:cNvPr id="3" name="Прямоугольник 2">
            <a:extLst>
              <a:ext uri="{FF2B5EF4-FFF2-40B4-BE49-F238E27FC236}">
                <a16:creationId xmlns:a16="http://schemas.microsoft.com/office/drawing/2014/main" id="{E220AA6B-91E7-4837-ACA0-C882BD39B49A}"/>
              </a:ext>
            </a:extLst>
          </p:cNvPr>
          <p:cNvSpPr/>
          <p:nvPr/>
        </p:nvSpPr>
        <p:spPr>
          <a:xfrm>
            <a:off x="7558087" y="3611880"/>
            <a:ext cx="7102793" cy="173164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Оформление в красном стилеВсе графики и диаграммы нам нужны в редактируемых форматах, не изображениями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Овал 8">
            <a:extLst>
              <a:ext uri="{FF2B5EF4-FFF2-40B4-BE49-F238E27FC236}">
                <a16:creationId xmlns:a16="http://schemas.microsoft.com/office/drawing/2014/main" id="{6D31DF59-B187-4C50-B30A-BE4E3BFDEC4F}"/>
              </a:ext>
            </a:extLst>
          </p:cNvPr>
          <p:cNvSpPr/>
          <p:nvPr/>
        </p:nvSpPr>
        <p:spPr>
          <a:xfrm>
            <a:off x="1945101" y="4364962"/>
            <a:ext cx="3753856" cy="3463589"/>
          </a:xfrm>
          <a:prstGeom prst="ellipse">
            <a:avLst/>
          </a:prstGeom>
          <a:noFill/>
          <a:ln w="19050">
            <a:solidFill>
              <a:srgbClr val="0F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4" name="Прямоугольник: скругленные углы 23">
            <a:extLst>
              <a:ext uri="{FF2B5EF4-FFF2-40B4-BE49-F238E27FC236}">
                <a16:creationId xmlns:a16="http://schemas.microsoft.com/office/drawing/2014/main" id="{41ACE53E-6A03-433B-AD2D-AC41793739DA}"/>
              </a:ext>
            </a:extLst>
          </p:cNvPr>
          <p:cNvSpPr/>
          <p:nvPr/>
        </p:nvSpPr>
        <p:spPr>
          <a:xfrm>
            <a:off x="7340669" y="4364962"/>
            <a:ext cx="2845766" cy="3463589"/>
          </a:xfrm>
          <a:prstGeom prst="roundRect">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Что такое «вычислительные мощности» и зачем они нужны</a:t>
            </a:r>
          </a:p>
        </p:txBody>
      </p:sp>
      <p:sp>
        <p:nvSpPr>
          <p:cNvPr id="5" name="Прямоугольник: скругленные углы 4">
            <a:extLst>
              <a:ext uri="{FF2B5EF4-FFF2-40B4-BE49-F238E27FC236}">
                <a16:creationId xmlns:a16="http://schemas.microsoft.com/office/drawing/2014/main" id="{999C5B8F-37A4-42DF-BF7D-897637058C03}"/>
              </a:ext>
            </a:extLst>
          </p:cNvPr>
          <p:cNvSpPr/>
          <p:nvPr/>
        </p:nvSpPr>
        <p:spPr>
          <a:xfrm>
            <a:off x="212724" y="816544"/>
            <a:ext cx="14388806" cy="1573729"/>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TextBox 5">
            <a:extLst>
              <a:ext uri="{FF2B5EF4-FFF2-40B4-BE49-F238E27FC236}">
                <a16:creationId xmlns:a16="http://schemas.microsoft.com/office/drawing/2014/main" id="{719604C3-9074-41DB-A70A-81E23E782872}"/>
              </a:ext>
            </a:extLst>
          </p:cNvPr>
          <p:cNvSpPr txBox="1"/>
          <p:nvPr/>
        </p:nvSpPr>
        <p:spPr>
          <a:xfrm>
            <a:off x="467831" y="934545"/>
            <a:ext cx="13684102" cy="584775"/>
          </a:xfrm>
          <a:prstGeom prst="rect">
            <a:avLst/>
          </a:prstGeom>
          <a:noFill/>
        </p:spPr>
        <p:txBody>
          <a:bodyPr wrap="square" rtlCol="0">
            <a:spAutoFit/>
          </a:bodyPr>
          <a:lstStyle/>
          <a:p>
            <a:r>
              <a:rPr sz="1600" b="1" i="1" lang="ru-RU">
                <a:solidFill>
                  <a:srgbClr val="000000"/>
                </a:solidFill>
                <a:latin typeface="HelveticaNeueCyr"/>
              </a:rPr>
              <a:t>«Вычислительные мощности» – оборудование (серверы, процессоры и др.), которое используется для обработки, хранения информации, проведения вычислений</a:t>
            </a:r>
          </a:p>
        </p:txBody>
      </p:sp>
      <p:sp>
        <p:nvSpPr>
          <p:cNvPr id="8" name="Прямоугольник 7">
            <a:extLst>
              <a:ext uri="{FF2B5EF4-FFF2-40B4-BE49-F238E27FC236}">
                <a16:creationId xmlns:a16="http://schemas.microsoft.com/office/drawing/2014/main" id="{EC4B865E-B2C4-4968-A4B1-81570D3D3E19}"/>
              </a:ext>
            </a:extLst>
          </p:cNvPr>
          <p:cNvSpPr/>
          <p:nvPr/>
        </p:nvSpPr>
        <p:spPr>
          <a:xfrm>
            <a:off x="467831" y="1656349"/>
            <a:ext cx="13376506" cy="584775"/>
          </a:xfrm>
          <a:prstGeom prst="rect">
            <a:avLst/>
          </a:prstGeom>
        </p:spPr>
        <p:txBody>
          <a:bodyPr wrap="square">
            <a:spAutoFit/>
          </a:bodyPr>
          <a:lstStyle/>
          <a:p>
            <a:r>
              <a:rPr sz="1600" b="1" i="1" lang="ru-RU">
                <a:solidFill>
                  <a:srgbClr val="000000"/>
                </a:solidFill>
                <a:latin typeface="HelveticaNeueCyr"/>
              </a:rPr>
              <a:t>Производительность – характеристика скорости выполнения операций на вычислительном оборудовании, измеряемая во флопсах (FLOPS - FLoating-point OPerations per Second)</a:t>
            </a:r>
          </a:p>
        </p:txBody>
      </p:sp>
      <p:sp>
        <p:nvSpPr>
          <p:cNvPr id="11" name="Прямоугольник 10">
            <a:extLst>
              <a:ext uri="{FF2B5EF4-FFF2-40B4-BE49-F238E27FC236}">
                <a16:creationId xmlns:a16="http://schemas.microsoft.com/office/drawing/2014/main" id="{4DFD4213-17EB-4CAA-89FD-17F259E870C8}"/>
              </a:ext>
            </a:extLst>
          </p:cNvPr>
          <p:cNvSpPr/>
          <p:nvPr/>
        </p:nvSpPr>
        <p:spPr>
          <a:xfrm>
            <a:off x="2086432" y="5845026"/>
            <a:ext cx="3455152" cy="584775"/>
          </a:xfrm>
          <a:prstGeom prst="rect">
            <a:avLst/>
          </a:prstGeom>
        </p:spPr>
        <p:txBody>
          <a:bodyPr wrap="square">
            <a:spAutoFit/>
          </a:bodyPr>
          <a:lstStyle/>
          <a:p>
            <a:pPr algn="ctr"/>
            <a:r>
              <a:rPr sz="1600" b="1" lang="ru-RU">
                <a:solidFill>
                  <a:srgbClr val="222222"/>
                </a:solidFill>
                <a:latin typeface="Unbounded SemiBold"/>
              </a:rPr>
              <a:t>Центр обработки данных</a:t>
            </a:r>
            <a:endParaRPr lang="ru-RU" sz="1600" dirty="0"/>
          </a:p>
        </p:txBody>
      </p:sp>
      <p:sp>
        <p:nvSpPr>
          <p:cNvPr id="12" name="Прямоугольник 11">
            <a:extLst>
              <a:ext uri="{FF2B5EF4-FFF2-40B4-BE49-F238E27FC236}">
                <a16:creationId xmlns:a16="http://schemas.microsoft.com/office/drawing/2014/main" id="{15806F0B-D39B-43A4-B6EE-5FC14C4418B6}"/>
              </a:ext>
            </a:extLst>
          </p:cNvPr>
          <p:cNvSpPr/>
          <p:nvPr/>
        </p:nvSpPr>
        <p:spPr>
          <a:xfrm>
            <a:off x="2550369" y="3668720"/>
            <a:ext cx="2527278" cy="1261884"/>
          </a:xfrm>
          <a:prstGeom prst="rect">
            <a:avLst/>
          </a:prstGeom>
        </p:spPr>
        <p:txBody>
          <a:bodyPr wrap="square">
            <a:spAutoFit/>
          </a:bodyPr>
          <a:lstStyle/>
          <a:p>
            <a:r>
              <a:rPr sz="1200" b="1" lang="ru-RU">
                <a:solidFill>
                  <a:srgbClr val="222222"/>
                </a:solidFill>
                <a:latin typeface="Unbounded SemiBold"/>
              </a:rPr>
              <a:t>Сетевое оборудованиемаршрутизаторы, коммутаторы, и др. обеспечивает передачу данных между устройствамив ЦОДе</a:t>
            </a:r>
            <a:endParaRPr lang="ru-RU" sz="1600" dirty="0">
              <a:highlight>
                <a:srgbClr val="FFFFFF"/>
              </a:highlight>
            </a:endParaRPr>
          </a:p>
        </p:txBody>
      </p:sp>
      <p:sp>
        <p:nvSpPr>
          <p:cNvPr id="13" name="Прямоугольник 12">
            <a:extLst>
              <a:ext uri="{FF2B5EF4-FFF2-40B4-BE49-F238E27FC236}">
                <a16:creationId xmlns:a16="http://schemas.microsoft.com/office/drawing/2014/main" id="{F5FB559B-EF31-4E31-94F9-9531B4889084}"/>
              </a:ext>
            </a:extLst>
          </p:cNvPr>
          <p:cNvSpPr/>
          <p:nvPr/>
        </p:nvSpPr>
        <p:spPr>
          <a:xfrm>
            <a:off x="2583735" y="7544547"/>
            <a:ext cx="2493912" cy="1446550"/>
          </a:xfrm>
          <a:prstGeom prst="rect">
            <a:avLst/>
          </a:prstGeom>
        </p:spPr>
        <p:txBody>
          <a:bodyPr wrap="square">
            <a:spAutoFit/>
          </a:bodyPr>
          <a:lstStyle/>
          <a:p>
            <a:r>
              <a:rPr sz="1200" b="1" lang="ru-RU">
                <a:solidFill>
                  <a:srgbClr val="000000"/>
                </a:solidFill>
                <a:latin typeface="Unbounded SemiBold"/>
              </a:rPr>
              <a:t>Инженерное оборудованиесистемы электропитания, охлаждения обеспечивают бесперебойную работуи поддерживают рабочую температуру</a:t>
            </a:r>
            <a:endParaRPr lang="ru-RU" sz="1600" dirty="0">
              <a:highlight>
                <a:srgbClr val="FFFFFF"/>
              </a:highlight>
            </a:endParaRPr>
          </a:p>
        </p:txBody>
      </p:sp>
      <p:sp>
        <p:nvSpPr>
          <p:cNvPr id="14" name="Прямоугольник 13">
            <a:extLst>
              <a:ext uri="{FF2B5EF4-FFF2-40B4-BE49-F238E27FC236}">
                <a16:creationId xmlns:a16="http://schemas.microsoft.com/office/drawing/2014/main" id="{637F4D9F-1591-4AFA-B479-88762D3E6A9D}"/>
              </a:ext>
            </a:extLst>
          </p:cNvPr>
          <p:cNvSpPr/>
          <p:nvPr/>
        </p:nvSpPr>
        <p:spPr>
          <a:xfrm>
            <a:off x="370772" y="5698545"/>
            <a:ext cx="2149476" cy="1261884"/>
          </a:xfrm>
          <a:prstGeom prst="rect">
            <a:avLst/>
          </a:prstGeom>
        </p:spPr>
        <p:txBody>
          <a:bodyPr wrap="square">
            <a:spAutoFit/>
          </a:bodyPr>
          <a:lstStyle/>
          <a:p>
            <a:r>
              <a:rPr sz="1200" b="1" lang="ru-RU">
                <a:solidFill>
                  <a:srgbClr val="222222"/>
                </a:solidFill>
                <a:latin typeface="Unbounded SemiBold"/>
              </a:rPr>
              <a:t>Системы безопасностиСКУД, видеонаблюдение, пожарная сигнализация для защиты данных и оборудования</a:t>
            </a:r>
            <a:endParaRPr lang="ru-RU" sz="1600" dirty="0">
              <a:highlight>
                <a:srgbClr val="FFFFFF"/>
              </a:highlight>
            </a:endParaRPr>
          </a:p>
        </p:txBody>
      </p:sp>
      <p:sp>
        <p:nvSpPr>
          <p:cNvPr id="15" name="Прямоугольник 14">
            <a:extLst>
              <a:ext uri="{FF2B5EF4-FFF2-40B4-BE49-F238E27FC236}">
                <a16:creationId xmlns:a16="http://schemas.microsoft.com/office/drawing/2014/main" id="{2DE7F312-D4AA-4A24-B3DD-EEE543C974A7}"/>
              </a:ext>
            </a:extLst>
          </p:cNvPr>
          <p:cNvSpPr/>
          <p:nvPr/>
        </p:nvSpPr>
        <p:spPr>
          <a:xfrm>
            <a:off x="5175023" y="5765220"/>
            <a:ext cx="2483473" cy="523220"/>
          </a:xfrm>
          <a:prstGeom prst="rect">
            <a:avLst/>
          </a:prstGeom>
        </p:spPr>
        <p:txBody>
          <a:bodyPr wrap="square">
            <a:spAutoFit/>
          </a:bodyPr>
          <a:lstStyle/>
          <a:p>
            <a:r>
              <a:rPr sz="1200" b="1" lang="ru-RU">
                <a:solidFill>
                  <a:srgbClr val="222222"/>
                </a:solidFill>
                <a:latin typeface="Unbounded SemiBold"/>
              </a:rPr>
              <a:t>Вычислительное оборудование</a:t>
            </a:r>
          </a:p>
        </p:txBody>
      </p:sp>
      <p:pic>
        <p:nvPicPr>
          <p:cNvPr id="4" name="Рисунок 3" descr="Сервер">
            <a:extLst>
              <a:ext uri="{FF2B5EF4-FFF2-40B4-BE49-F238E27FC236}">
                <a16:creationId xmlns:a16="http://schemas.microsoft.com/office/drawing/2014/main" id="{18778A66-C3F3-4E6D-920D-FD627A5CE4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1835" y="4715432"/>
            <a:ext cx="743255" cy="743255"/>
          </a:xfrm>
          <a:prstGeom prst="rect">
            <a:avLst/>
          </a:prstGeom>
        </p:spPr>
      </p:pic>
      <p:sp>
        <p:nvSpPr>
          <p:cNvPr id="16" name="Прямоугольник 15">
            <a:extLst>
              <a:ext uri="{FF2B5EF4-FFF2-40B4-BE49-F238E27FC236}">
                <a16:creationId xmlns:a16="http://schemas.microsoft.com/office/drawing/2014/main" id="{A25C5201-171D-43AC-B695-756AA1ADADF0}"/>
              </a:ext>
            </a:extLst>
          </p:cNvPr>
          <p:cNvSpPr/>
          <p:nvPr/>
        </p:nvSpPr>
        <p:spPr>
          <a:xfrm>
            <a:off x="8202057" y="4918989"/>
            <a:ext cx="2483473" cy="307777"/>
          </a:xfrm>
          <a:prstGeom prst="rect">
            <a:avLst/>
          </a:prstGeom>
        </p:spPr>
        <p:txBody>
          <a:bodyPr wrap="square">
            <a:spAutoFit/>
          </a:bodyPr>
          <a:lstStyle/>
          <a:p>
            <a:r>
              <a:rPr sz="1200" b="1" lang="ru-RU">
                <a:solidFill>
                  <a:srgbClr val="222222"/>
                </a:solidFill>
                <a:latin typeface="Unbounded SemiBold"/>
              </a:rPr>
              <a:t>Серверы</a:t>
            </a:r>
          </a:p>
        </p:txBody>
      </p:sp>
      <p:pic>
        <p:nvPicPr>
          <p:cNvPr id="18" name="Рисунок 17" descr="Процессор">
            <a:extLst>
              <a:ext uri="{FF2B5EF4-FFF2-40B4-BE49-F238E27FC236}">
                <a16:creationId xmlns:a16="http://schemas.microsoft.com/office/drawing/2014/main" id="{B101C4DA-B163-4948-A0F1-CE12EDDE53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4090" y="5641378"/>
            <a:ext cx="743255" cy="743255"/>
          </a:xfrm>
          <a:prstGeom prst="rect">
            <a:avLst/>
          </a:prstGeom>
        </p:spPr>
      </p:pic>
      <p:sp>
        <p:nvSpPr>
          <p:cNvPr id="19" name="Прямоугольник 18">
            <a:extLst>
              <a:ext uri="{FF2B5EF4-FFF2-40B4-BE49-F238E27FC236}">
                <a16:creationId xmlns:a16="http://schemas.microsoft.com/office/drawing/2014/main" id="{94E4F5DA-EABE-4BC0-9113-DBA2F86F5A69}"/>
              </a:ext>
            </a:extLst>
          </p:cNvPr>
          <p:cNvSpPr/>
          <p:nvPr/>
        </p:nvSpPr>
        <p:spPr>
          <a:xfrm>
            <a:off x="8202056" y="5825173"/>
            <a:ext cx="2483473" cy="523220"/>
          </a:xfrm>
          <a:prstGeom prst="rect">
            <a:avLst/>
          </a:prstGeom>
        </p:spPr>
        <p:txBody>
          <a:bodyPr wrap="square">
            <a:spAutoFit/>
          </a:bodyPr>
          <a:lstStyle/>
          <a:p>
            <a:r>
              <a:rPr sz="1200" b="1" lang="ru-RU">
                <a:solidFill>
                  <a:srgbClr val="222222"/>
                </a:solidFill>
                <a:latin typeface="Unbounded SemiBold"/>
              </a:rPr>
              <a:t>Процессоры,видеокарты </a:t>
            </a:r>
          </a:p>
        </p:txBody>
      </p:sp>
      <p:sp>
        <p:nvSpPr>
          <p:cNvPr id="21" name="Прямоугольник 20">
            <a:extLst>
              <a:ext uri="{FF2B5EF4-FFF2-40B4-BE49-F238E27FC236}">
                <a16:creationId xmlns:a16="http://schemas.microsoft.com/office/drawing/2014/main" id="{BE3C96D4-85FC-46B8-8DE2-F11D78B6A0E3}"/>
              </a:ext>
            </a:extLst>
          </p:cNvPr>
          <p:cNvSpPr/>
          <p:nvPr/>
        </p:nvSpPr>
        <p:spPr>
          <a:xfrm>
            <a:off x="8132191" y="6919906"/>
            <a:ext cx="2483473" cy="523220"/>
          </a:xfrm>
          <a:prstGeom prst="rect">
            <a:avLst/>
          </a:prstGeom>
        </p:spPr>
        <p:txBody>
          <a:bodyPr wrap="square">
            <a:spAutoFit/>
          </a:bodyPr>
          <a:lstStyle/>
          <a:p>
            <a:r>
              <a:rPr sz="1200" b="1" lang="ru-RU">
                <a:solidFill>
                  <a:srgbClr val="222222"/>
                </a:solidFill>
                <a:latin typeface="Unbounded SemiBold"/>
              </a:rPr>
              <a:t>Жесткие диски (SSD)</a:t>
            </a:r>
          </a:p>
        </p:txBody>
      </p:sp>
      <p:pic>
        <p:nvPicPr>
          <p:cNvPr id="23" name="Рисунок 22" descr="База данных">
            <a:extLst>
              <a:ext uri="{FF2B5EF4-FFF2-40B4-BE49-F238E27FC236}">
                <a16:creationId xmlns:a16="http://schemas.microsoft.com/office/drawing/2014/main" id="{4CD213BB-A8ED-4BE4-BBCC-142E13CD4E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3874" y="6730921"/>
            <a:ext cx="743256" cy="743256"/>
          </a:xfrm>
          <a:prstGeom prst="rect">
            <a:avLst/>
          </a:prstGeom>
        </p:spPr>
      </p:pic>
      <p:sp>
        <p:nvSpPr>
          <p:cNvPr id="25" name="Прямоугольник: скругленные углы 24">
            <a:extLst>
              <a:ext uri="{FF2B5EF4-FFF2-40B4-BE49-F238E27FC236}">
                <a16:creationId xmlns:a16="http://schemas.microsoft.com/office/drawing/2014/main" id="{C8021B0C-8050-4215-AE2B-387273627D2F}"/>
              </a:ext>
            </a:extLst>
          </p:cNvPr>
          <p:cNvSpPr/>
          <p:nvPr/>
        </p:nvSpPr>
        <p:spPr>
          <a:xfrm>
            <a:off x="10735284" y="2650048"/>
            <a:ext cx="3786036" cy="7220458"/>
          </a:xfrm>
          <a:prstGeom prst="roundRect">
            <a:avLst>
              <a:gd name="adj" fmla="val 8616"/>
            </a:avLst>
          </a:prstGeom>
          <a:solidFill>
            <a:srgbClr val="F7CDD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B0E04B16-3B0C-4097-854C-838721501553}"/>
              </a:ext>
            </a:extLst>
          </p:cNvPr>
          <p:cNvSpPr/>
          <p:nvPr/>
        </p:nvSpPr>
        <p:spPr>
          <a:xfrm>
            <a:off x="10787917" y="2786228"/>
            <a:ext cx="3645639" cy="523220"/>
          </a:xfrm>
          <a:prstGeom prst="rect">
            <a:avLst/>
          </a:prstGeom>
        </p:spPr>
        <p:txBody>
          <a:bodyPr wrap="square">
            <a:spAutoFit/>
          </a:bodyPr>
          <a:lstStyle/>
          <a:p>
            <a:r>
              <a:rPr sz="1200" b="1" lang="ru-RU">
                <a:solidFill>
                  <a:srgbClr val="000000"/>
                </a:solidFill>
                <a:latin typeface="Unbounded SemiBold"/>
              </a:rPr>
              <a:t>Источники данных и вычислений</a:t>
            </a:r>
          </a:p>
        </p:txBody>
      </p:sp>
      <p:sp>
        <p:nvSpPr>
          <p:cNvPr id="27" name="Прямоугольник 26">
            <a:extLst>
              <a:ext uri="{FF2B5EF4-FFF2-40B4-BE49-F238E27FC236}">
                <a16:creationId xmlns:a16="http://schemas.microsoft.com/office/drawing/2014/main" id="{BBFF7935-C375-450F-8224-89F779B9AFD3}"/>
              </a:ext>
            </a:extLst>
          </p:cNvPr>
          <p:cNvSpPr/>
          <p:nvPr/>
        </p:nvSpPr>
        <p:spPr>
          <a:xfrm>
            <a:off x="10787917" y="3454895"/>
            <a:ext cx="3364016" cy="738664"/>
          </a:xfrm>
          <a:prstGeom prst="rect">
            <a:avLst/>
          </a:prstGeom>
        </p:spPr>
        <p:txBody>
          <a:bodyPr wrap="square">
            <a:spAutoFit/>
          </a:bodyPr>
          <a:lstStyle/>
          <a:p>
            <a:r>
              <a:rPr sz="1200" b="1" lang="ru-RU">
                <a:solidFill>
                  <a:srgbClr val="222222"/>
                </a:solidFill>
                <a:latin typeface="Unbounded SemiBold"/>
              </a:rPr>
              <a:t>Видеонаблюдение
&gt;247 тыс. камер
&gt;2.1 млрд ч видео/год</a:t>
            </a:r>
          </a:p>
        </p:txBody>
      </p:sp>
      <p:sp>
        <p:nvSpPr>
          <p:cNvPr id="30" name="Прямоугольник 29">
            <a:extLst>
              <a:ext uri="{FF2B5EF4-FFF2-40B4-BE49-F238E27FC236}">
                <a16:creationId xmlns:a16="http://schemas.microsoft.com/office/drawing/2014/main" id="{2990187D-6FE7-466D-947E-4D63B23B598A}"/>
              </a:ext>
            </a:extLst>
          </p:cNvPr>
          <p:cNvSpPr/>
          <p:nvPr/>
        </p:nvSpPr>
        <p:spPr>
          <a:xfrm>
            <a:off x="10787917" y="5390417"/>
            <a:ext cx="3364016" cy="523220"/>
          </a:xfrm>
          <a:prstGeom prst="rect">
            <a:avLst/>
          </a:prstGeom>
        </p:spPr>
        <p:txBody>
          <a:bodyPr wrap="square">
            <a:spAutoFit/>
          </a:bodyPr>
          <a:lstStyle/>
          <a:p>
            <a:r>
              <a:rPr sz="1200" b="1" lang="ru-RU">
                <a:solidFill>
                  <a:srgbClr val="222222"/>
                </a:solidFill>
                <a:latin typeface="Unbounded SemiBold"/>
              </a:rPr>
              <a:t>Обращения mos.ru
&gt;763 млн </a:t>
            </a:r>
            <a:endParaRPr lang="ru-RU" b="1" dirty="0">
              <a:solidFill>
                <a:srgbClr val="222222"/>
              </a:solidFill>
              <a:latin typeface="Unbounded SemiBold"/>
            </a:endParaRPr>
          </a:p>
        </p:txBody>
      </p:sp>
      <p:sp>
        <p:nvSpPr>
          <p:cNvPr id="31" name="Прямоугольник 30">
            <a:extLst>
              <a:ext uri="{FF2B5EF4-FFF2-40B4-BE49-F238E27FC236}">
                <a16:creationId xmlns:a16="http://schemas.microsoft.com/office/drawing/2014/main" id="{246D9EC9-D741-4A4B-BB2F-A5A0259BF00F}"/>
              </a:ext>
            </a:extLst>
          </p:cNvPr>
          <p:cNvSpPr/>
          <p:nvPr/>
        </p:nvSpPr>
        <p:spPr>
          <a:xfrm>
            <a:off x="10805150" y="4530861"/>
            <a:ext cx="3364016" cy="523220"/>
          </a:xfrm>
          <a:prstGeom prst="rect">
            <a:avLst/>
          </a:prstGeom>
        </p:spPr>
        <p:txBody>
          <a:bodyPr wrap="square">
            <a:spAutoFit/>
          </a:bodyPr>
          <a:lstStyle/>
          <a:p>
            <a:r>
              <a:rPr sz="1200" b="1" lang="ru-RU">
                <a:solidFill>
                  <a:srgbClr val="222222"/>
                </a:solidFill>
                <a:latin typeface="Unbounded SemiBold"/>
              </a:rPr>
              <a:t>Пользователи mos.ru
&gt;15.9 млн</a:t>
            </a:r>
            <a:endParaRPr lang="ru-RU" b="1" dirty="0">
              <a:solidFill>
                <a:srgbClr val="222222"/>
              </a:solidFill>
              <a:latin typeface="Unbounded SemiBold"/>
            </a:endParaRPr>
          </a:p>
        </p:txBody>
      </p:sp>
      <p:sp>
        <p:nvSpPr>
          <p:cNvPr id="32" name="Прямоугольник 31">
            <a:extLst>
              <a:ext uri="{FF2B5EF4-FFF2-40B4-BE49-F238E27FC236}">
                <a16:creationId xmlns:a16="http://schemas.microsoft.com/office/drawing/2014/main" id="{4FEF9571-B20D-4266-ACB2-1736AAAFE310}"/>
              </a:ext>
            </a:extLst>
          </p:cNvPr>
          <p:cNvSpPr/>
          <p:nvPr/>
        </p:nvSpPr>
        <p:spPr>
          <a:xfrm>
            <a:off x="10874416" y="6365140"/>
            <a:ext cx="3364016" cy="738664"/>
          </a:xfrm>
          <a:prstGeom prst="rect">
            <a:avLst/>
          </a:prstGeom>
        </p:spPr>
        <p:txBody>
          <a:bodyPr wrap="square">
            <a:spAutoFit/>
          </a:bodyPr>
          <a:lstStyle/>
          <a:p>
            <a:r>
              <a:rPr sz="1200" b="1" lang="ru-RU">
                <a:solidFill>
                  <a:srgbClr val="222222"/>
                </a:solidFill>
                <a:latin typeface="Unbounded SemiBold"/>
              </a:rPr>
              <a:t>Пользователи ИС в контуре Правительства
~500 тыс. чел</a:t>
            </a:r>
          </a:p>
        </p:txBody>
      </p:sp>
      <p:sp>
        <p:nvSpPr>
          <p:cNvPr id="33" name="Прямоугольник 32">
            <a:extLst>
              <a:ext uri="{FF2B5EF4-FFF2-40B4-BE49-F238E27FC236}">
                <a16:creationId xmlns:a16="http://schemas.microsoft.com/office/drawing/2014/main" id="{4C7C1519-C3B2-4C0D-8979-EE56A78D3A74}"/>
              </a:ext>
            </a:extLst>
          </p:cNvPr>
          <p:cNvSpPr/>
          <p:nvPr/>
        </p:nvSpPr>
        <p:spPr>
          <a:xfrm>
            <a:off x="10898478" y="7603502"/>
            <a:ext cx="3364016" cy="738664"/>
          </a:xfrm>
          <a:prstGeom prst="rect">
            <a:avLst/>
          </a:prstGeom>
        </p:spPr>
        <p:txBody>
          <a:bodyPr wrap="square">
            <a:spAutoFit/>
          </a:bodyPr>
          <a:lstStyle/>
          <a:p>
            <a:r>
              <a:rPr sz="1200" b="1" lang="ru-RU">
                <a:solidFill>
                  <a:srgbClr val="222222"/>
                </a:solidFill>
                <a:latin typeface="Unbounded SemiBold"/>
              </a:rPr>
              <a:t>Количество устройств (ПК и др.)
~500 тыс.</a:t>
            </a:r>
          </a:p>
        </p:txBody>
      </p:sp>
      <p:sp>
        <p:nvSpPr>
          <p:cNvPr id="3" name="Левая фигурная скобка 2">
            <a:extLst>
              <a:ext uri="{FF2B5EF4-FFF2-40B4-BE49-F238E27FC236}">
                <a16:creationId xmlns:a16="http://schemas.microsoft.com/office/drawing/2014/main" id="{8B00A9D6-2C28-458A-A7B9-1A5D1F8C5060}"/>
              </a:ext>
            </a:extLst>
          </p:cNvPr>
          <p:cNvSpPr/>
          <p:nvPr/>
        </p:nvSpPr>
        <p:spPr>
          <a:xfrm>
            <a:off x="10277909" y="2786228"/>
            <a:ext cx="419977" cy="7084278"/>
          </a:xfrm>
          <a:prstGeom prst="leftBrace">
            <a:avLst>
              <a:gd name="adj1" fmla="val 89721"/>
              <a:gd name="adj2" fmla="val 47283"/>
            </a:avLst>
          </a:prstGeom>
          <a:ln w="28575">
            <a:solidFill>
              <a:srgbClr val="0F24E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b="1" dirty="0"/>
          </a:p>
        </p:txBody>
      </p:sp>
      <p:sp>
        <p:nvSpPr>
          <p:cNvPr id="35" name="Прямоугольник 34">
            <a:extLst>
              <a:ext uri="{FF2B5EF4-FFF2-40B4-BE49-F238E27FC236}">
                <a16:creationId xmlns:a16="http://schemas.microsoft.com/office/drawing/2014/main" id="{20A7082E-0278-42B3-9B1E-A55A4F41931A}"/>
              </a:ext>
            </a:extLst>
          </p:cNvPr>
          <p:cNvSpPr/>
          <p:nvPr/>
        </p:nvSpPr>
        <p:spPr>
          <a:xfrm>
            <a:off x="10872115" y="8629285"/>
            <a:ext cx="3364016" cy="1169551"/>
          </a:xfrm>
          <a:prstGeom prst="rect">
            <a:avLst/>
          </a:prstGeom>
        </p:spPr>
        <p:txBody>
          <a:bodyPr wrap="square">
            <a:spAutoFit/>
          </a:bodyPr>
          <a:lstStyle/>
          <a:p>
            <a:r>
              <a:rPr sz="1200" b="1" lang="ru-RU">
                <a:solidFill>
                  <a:srgbClr val="222222"/>
                </a:solidFill>
                <a:latin typeface="Unbounded SemiBold"/>
              </a:rPr>
              <a:t>Количество электронных запросов в рамках межведомственного взаимодействия
&gt;200 млн</a:t>
            </a:r>
          </a:p>
        </p:txBody>
      </p:sp>
    </p:spTree>
    <p:extLst>
      <p:ext uri="{BB962C8B-B14F-4D97-AF65-F5344CB8AC3E}">
        <p14:creationId xmlns:p14="http://schemas.microsoft.com/office/powerpoint/2010/main" val="28315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Как растут данные в мире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6" name="Диаграмма 15">
            <a:extLst>
              <a:ext uri="{FF2B5EF4-FFF2-40B4-BE49-F238E27FC236}">
                <a16:creationId xmlns:a16="http://schemas.microsoft.com/office/drawing/2014/main" id="{4F81533A-864E-4C74-8122-B18DD44FE8D7}"/>
              </a:ext>
            </a:extLst>
          </p:cNvPr>
          <p:cNvGraphicFramePr/>
          <p:nvPr>
            <p:extLst>
              <p:ext uri="{D42A27DB-BD31-4B8C-83A1-F6EECF244321}">
                <p14:modId xmlns:p14="http://schemas.microsoft.com/office/powerpoint/2010/main" val="4238598952"/>
              </p:ext>
            </p:extLst>
          </p:nvPr>
        </p:nvGraphicFramePr>
        <p:xfrm>
          <a:off x="212724" y="1208024"/>
          <a:ext cx="5847834" cy="4320905"/>
        </p:xfrm>
        <a:graphic>
          <a:graphicData uri="http://schemas.openxmlformats.org/drawingml/2006/chart">
            <c:chart xmlns:c="http://schemas.openxmlformats.org/drawingml/2006/chart" xmlns:r="http://schemas.openxmlformats.org/officeDocument/2006/relationships" r:id="rId3"/>
          </a:graphicData>
        </a:graphic>
      </p:graphicFrame>
      <p:sp>
        <p:nvSpPr>
          <p:cNvPr id="18" name="Google Shape;470;p10">
            <a:extLst>
              <a:ext uri="{FF2B5EF4-FFF2-40B4-BE49-F238E27FC236}">
                <a16:creationId xmlns:a16="http://schemas.microsoft.com/office/drawing/2014/main" id="{82067238-D579-459B-96A8-DE529DC168AF}"/>
              </a:ext>
            </a:extLst>
          </p:cNvPr>
          <p:cNvSpPr/>
          <p:nvPr/>
        </p:nvSpPr>
        <p:spPr>
          <a:xfrm rot="2434">
            <a:off x="339867" y="992300"/>
            <a:ext cx="4460918" cy="486928"/>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lang="ru-RU">
                <a:solidFill>
                  <a:srgbClr val="222222"/>
                </a:solidFill>
                <a:latin typeface="Unbounded SemiBold"/>
              </a:rPr>
              <a:t>Количество подключённых устройств во всем мире, млрд шт.</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0" name="TextBox 19">
            <a:extLst>
              <a:ext uri="{FF2B5EF4-FFF2-40B4-BE49-F238E27FC236}">
                <a16:creationId xmlns:a16="http://schemas.microsoft.com/office/drawing/2014/main" id="{6084AAE6-EF2D-4B6F-B98F-FE08F0C21ABE}"/>
              </a:ext>
            </a:extLst>
          </p:cNvPr>
          <p:cNvSpPr txBox="1"/>
          <p:nvPr/>
        </p:nvSpPr>
        <p:spPr>
          <a:xfrm>
            <a:off x="311526" y="9939943"/>
            <a:ext cx="10122195" cy="738664"/>
          </a:xfrm>
          <a:prstGeom prst="rect">
            <a:avLst/>
          </a:prstGeom>
          <a:noFill/>
        </p:spPr>
        <p:txBody>
          <a:bodyPr wrap="square" rtlCol="0">
            <a:spAutoFit/>
          </a:bodyPr>
          <a:lstStyle/>
          <a:p>
            <a:r>
              <a:rPr sz="1000" lang="ru-RU">
                <a:solidFill>
                  <a:srgbClr val="000000"/>
                </a:solidFill>
                <a:latin typeface="HelveticaNeueCyr"/>
              </a:rPr>
              <a:t>*Прогноз
Подключенные устройства, Ericsson Mobility Visualizer, 2024https://www.statista.com/statistics/871513/worldwide-data-created/  
</a:t>
            </a:r>
          </a:p>
        </p:txBody>
      </p:sp>
      <p:graphicFrame>
        <p:nvGraphicFramePr>
          <p:cNvPr id="22" name="Диаграмма 21">
            <a:extLst>
              <a:ext uri="{FF2B5EF4-FFF2-40B4-BE49-F238E27FC236}">
                <a16:creationId xmlns:a16="http://schemas.microsoft.com/office/drawing/2014/main" id="{C335A513-D63C-4734-9466-E55122FE1167}"/>
              </a:ext>
            </a:extLst>
          </p:cNvPr>
          <p:cNvGraphicFramePr/>
          <p:nvPr>
            <p:extLst>
              <p:ext uri="{D42A27DB-BD31-4B8C-83A1-F6EECF244321}">
                <p14:modId xmlns:p14="http://schemas.microsoft.com/office/powerpoint/2010/main" val="4007720993"/>
              </p:ext>
            </p:extLst>
          </p:nvPr>
        </p:nvGraphicFramePr>
        <p:xfrm>
          <a:off x="343859" y="5815916"/>
          <a:ext cx="5960688" cy="3731557"/>
        </p:xfrm>
        <a:graphic>
          <a:graphicData uri="http://schemas.openxmlformats.org/drawingml/2006/chart">
            <c:chart xmlns:c="http://schemas.openxmlformats.org/drawingml/2006/chart" xmlns:r="http://schemas.openxmlformats.org/officeDocument/2006/relationships" r:id="rId5"/>
          </a:graphicData>
        </a:graphic>
      </p:graphicFrame>
      <p:sp>
        <p:nvSpPr>
          <p:cNvPr id="24" name="Google Shape;470;p10">
            <a:extLst>
              <a:ext uri="{FF2B5EF4-FFF2-40B4-BE49-F238E27FC236}">
                <a16:creationId xmlns:a16="http://schemas.microsoft.com/office/drawing/2014/main" id="{F3B9EEED-DFBA-4EE0-B1EC-018FC5EACA15}"/>
              </a:ext>
            </a:extLst>
          </p:cNvPr>
          <p:cNvSpPr/>
          <p:nvPr/>
        </p:nvSpPr>
        <p:spPr>
          <a:xfrm rot="2434">
            <a:off x="510621" y="6133510"/>
            <a:ext cx="4886983" cy="7303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данных, созданных, скопированных и потребленных в мире, зеттабайты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25" name="Прямоугольник: скругленные углы 24">
            <a:extLst>
              <a:ext uri="{FF2B5EF4-FFF2-40B4-BE49-F238E27FC236}">
                <a16:creationId xmlns:a16="http://schemas.microsoft.com/office/drawing/2014/main" id="{44DE2741-FA04-46EC-9A21-8B1397857363}"/>
              </a:ext>
            </a:extLst>
          </p:cNvPr>
          <p:cNvSpPr/>
          <p:nvPr/>
        </p:nvSpPr>
        <p:spPr>
          <a:xfrm>
            <a:off x="6553901" y="6131780"/>
            <a:ext cx="7879655" cy="3415691"/>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25">
            <a:extLst>
              <a:ext uri="{FF2B5EF4-FFF2-40B4-BE49-F238E27FC236}">
                <a16:creationId xmlns:a16="http://schemas.microsoft.com/office/drawing/2014/main" id="{82ABDB37-7121-44E8-A1E7-F71247334229}"/>
              </a:ext>
            </a:extLst>
          </p:cNvPr>
          <p:cNvSpPr/>
          <p:nvPr/>
        </p:nvSpPr>
        <p:spPr>
          <a:xfrm>
            <a:off x="6616994" y="6328121"/>
            <a:ext cx="6457322" cy="2185214"/>
          </a:xfrm>
          <a:prstGeom prst="rect">
            <a:avLst/>
          </a:prstGeom>
        </p:spPr>
        <p:txBody>
          <a:bodyPr wrap="square">
            <a:spAutoFit/>
          </a:bodyPr>
          <a:lstStyle/>
          <a:p>
            <a:r>
              <a:rPr sz="2400" lang="ru-RU">
                <a:solidFill>
                  <a:srgbClr val="002060"/>
                </a:solidFill>
                <a:latin typeface="Unbounded SemiBold"/>
              </a:rPr>
              <a:t>1 зеттабайт (ЗБ)=
1 000 000 000 000 гигабайт (Гб)
с одного жесткого диска объемом 1 ЗБможно 63 миллиона лет смотреть видеос разрешением 4К </a:t>
            </a:r>
          </a:p>
        </p:txBody>
      </p:sp>
      <p:sp>
        <p:nvSpPr>
          <p:cNvPr id="28" name="TextBox 27">
            <a:extLst>
              <a:ext uri="{FF2B5EF4-FFF2-40B4-BE49-F238E27FC236}">
                <a16:creationId xmlns:a16="http://schemas.microsoft.com/office/drawing/2014/main" id="{AE813B14-BBCE-424E-86E4-528278B43609}"/>
              </a:ext>
            </a:extLst>
          </p:cNvPr>
          <p:cNvSpPr txBox="1"/>
          <p:nvPr/>
        </p:nvSpPr>
        <p:spPr>
          <a:xfrm>
            <a:off x="6553901" y="937902"/>
            <a:ext cx="7556500" cy="1061188"/>
          </a:xfrm>
          <a:prstGeom prst="rect">
            <a:avLst/>
          </a:prstGeom>
          <a:noFill/>
        </p:spPr>
        <p:txBody>
          <a:bodyPr wrap="square" rtlCol="0">
            <a:spAutoFit/>
          </a:bodyPr>
          <a:lstStyle/>
          <a:p>
            <a:pPr>
              <a:lnSpc>
                <a:spcPct val="120000"/>
              </a:lnSpc>
            </a:pPr>
            <a:r>
              <a:rPr sz="1800" b="1" lang="ru-RU">
                <a:solidFill>
                  <a:srgbClr val="222222"/>
                </a:solidFill>
                <a:latin typeface="Unbounded SemiBold"/>
              </a:rPr>
              <a:t>До 2030 года прогнозируется экспоненциальный рост количества подключенных устройств, а следовательно:</a:t>
            </a:r>
          </a:p>
        </p:txBody>
      </p:sp>
      <p:sp>
        <p:nvSpPr>
          <p:cNvPr id="31" name="Прямоугольник 30">
            <a:extLst>
              <a:ext uri="{FF2B5EF4-FFF2-40B4-BE49-F238E27FC236}">
                <a16:creationId xmlns:a16="http://schemas.microsoft.com/office/drawing/2014/main" id="{4815288D-2CE3-46EB-9747-06E4E27A859E}"/>
              </a:ext>
            </a:extLst>
          </p:cNvPr>
          <p:cNvSpPr/>
          <p:nvPr/>
        </p:nvSpPr>
        <p:spPr>
          <a:xfrm>
            <a:off x="6553901" y="2070621"/>
            <a:ext cx="7556500" cy="3718647"/>
          </a:xfrm>
          <a:prstGeom prst="rect">
            <a:avLst/>
          </a:prstGeom>
        </p:spPr>
        <p:txBody>
          <a:bodyPr>
            <a:spAutoFit/>
          </a:bodyPr>
          <a:lstStyle/>
          <a:p>
            <a:pPr marL="285750" indent="-285750">
              <a:lnSpc>
                <a:spcPct val="120000"/>
              </a:lnSpc>
              <a:buFont typeface="Arial" panose="020B0604020202020204" pitchFamily="34" charset="0"/>
              <a:buChar char="•"/>
            </a:pPr>
            <a:r>
              <a:rPr sz="1800" b="1" lang="ru-RU">
                <a:solidFill>
                  <a:srgbClr val="222222"/>
                </a:solidFill>
                <a:latin typeface="HelveticaNeueCyr"/>
              </a:rPr>
              <a:t>Рост количества данных, которые необходимо правильно собирать, обрабатывать и хранить
Рост потребности в центрах обработки данных.ЦОДы становятся вычислительной основой новой цифровой инфраструктуры
Рост популярности и востребованности искусственного интеллекта. Обработка больших данных, их переиспользованиеи получение качественно новой информации, становится проблемой, если не использовать искусственный интеллект</a:t>
            </a:r>
          </a:p>
        </p:txBody>
      </p:sp>
    </p:spTree>
    <p:extLst>
      <p:ext uri="{BB962C8B-B14F-4D97-AF65-F5344CB8AC3E}">
        <p14:creationId xmlns:p14="http://schemas.microsoft.com/office/powerpoint/2010/main" val="345013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Прямоугольник: скругленные углы 14">
            <a:extLst>
              <a:ext uri="{FF2B5EF4-FFF2-40B4-BE49-F238E27FC236}">
                <a16:creationId xmlns:a16="http://schemas.microsoft.com/office/drawing/2014/main" id="{21A6EB33-6025-4E6B-B126-85F09F106F69}"/>
              </a:ext>
            </a:extLst>
          </p:cNvPr>
          <p:cNvSpPr/>
          <p:nvPr/>
        </p:nvSpPr>
        <p:spPr>
          <a:xfrm>
            <a:off x="21272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Как растут данные в России и Москве</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17" name="Диаграмма 16">
            <a:extLst>
              <a:ext uri="{FF2B5EF4-FFF2-40B4-BE49-F238E27FC236}">
                <a16:creationId xmlns:a16="http://schemas.microsoft.com/office/drawing/2014/main" id="{14BE5172-922B-4B44-A20B-7E4938861761}"/>
              </a:ext>
            </a:extLst>
          </p:cNvPr>
          <p:cNvGraphicFramePr/>
          <p:nvPr>
            <p:extLst>
              <p:ext uri="{D42A27DB-BD31-4B8C-83A1-F6EECF244321}">
                <p14:modId xmlns:p14="http://schemas.microsoft.com/office/powerpoint/2010/main" val="3195410550"/>
              </p:ext>
            </p:extLst>
          </p:nvPr>
        </p:nvGraphicFramePr>
        <p:xfrm>
          <a:off x="456563" y="5861859"/>
          <a:ext cx="4722665" cy="385093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Диаграмма 20">
            <a:extLst>
              <a:ext uri="{FF2B5EF4-FFF2-40B4-BE49-F238E27FC236}">
                <a16:creationId xmlns:a16="http://schemas.microsoft.com/office/drawing/2014/main" id="{8C2E5E79-D758-496A-83CF-D35A910C88F3}"/>
              </a:ext>
            </a:extLst>
          </p:cNvPr>
          <p:cNvGraphicFramePr/>
          <p:nvPr>
            <p:extLst>
              <p:ext uri="{D42A27DB-BD31-4B8C-83A1-F6EECF244321}">
                <p14:modId xmlns:p14="http://schemas.microsoft.com/office/powerpoint/2010/main" val="3569197580"/>
              </p:ext>
            </p:extLst>
          </p:nvPr>
        </p:nvGraphicFramePr>
        <p:xfrm>
          <a:off x="5631907" y="5861859"/>
          <a:ext cx="4722664" cy="3850933"/>
        </p:xfrm>
        <a:graphic>
          <a:graphicData uri="http://schemas.openxmlformats.org/drawingml/2006/chart">
            <c:chart xmlns:c="http://schemas.openxmlformats.org/drawingml/2006/chart" xmlns:r="http://schemas.openxmlformats.org/officeDocument/2006/relationships" r:id="rId4"/>
          </a:graphicData>
        </a:graphic>
      </p:graphicFrame>
      <p:sp>
        <p:nvSpPr>
          <p:cNvPr id="4" name="Прямоугольник 3">
            <a:extLst>
              <a:ext uri="{FF2B5EF4-FFF2-40B4-BE49-F238E27FC236}">
                <a16:creationId xmlns:a16="http://schemas.microsoft.com/office/drawing/2014/main" id="{DDD63A3E-2A84-4685-BCD2-F7A28DC8BA93}"/>
              </a:ext>
            </a:extLst>
          </p:cNvPr>
          <p:cNvSpPr/>
          <p:nvPr/>
        </p:nvSpPr>
        <p:spPr>
          <a:xfrm>
            <a:off x="5692616" y="5878398"/>
            <a:ext cx="3385123" cy="523220"/>
          </a:xfrm>
          <a:prstGeom prst="rect">
            <a:avLst/>
          </a:prstGeom>
        </p:spPr>
        <p:txBody>
          <a:bodyPr wrap="square">
            <a:spAutoFit/>
          </a:bodyPr>
          <a:lstStyle/>
          <a:p>
            <a:r>
              <a:rPr sz="1200" b="1" lang="ru-RU">
                <a:solidFill>
                  <a:srgbClr val="000000"/>
                </a:solidFill>
                <a:latin typeface="Unbounded SemiBold"/>
              </a:rPr>
              <a:t>Объем оперативной памяти*, Тбайт</a:t>
            </a:r>
            <a:endParaRPr lang="en-US" b="1" kern="1200" dirty="0">
              <a:solidFill>
                <a:schemeClr val="tx1"/>
              </a:solidFill>
              <a:highlight>
                <a:srgbClr val="FFFFFF"/>
              </a:highlight>
              <a:latin typeface="Unbounded SemiBold" pitchFamily="2" charset="-52"/>
              <a:ea typeface="+mn-ea"/>
              <a:cs typeface="+mn-cs"/>
            </a:endParaRPr>
          </a:p>
        </p:txBody>
      </p:sp>
      <p:sp>
        <p:nvSpPr>
          <p:cNvPr id="9" name="Прямоугольник 8">
            <a:extLst>
              <a:ext uri="{FF2B5EF4-FFF2-40B4-BE49-F238E27FC236}">
                <a16:creationId xmlns:a16="http://schemas.microsoft.com/office/drawing/2014/main" id="{BEE41831-025D-4E8B-8AE4-29E11571C18A}"/>
              </a:ext>
            </a:extLst>
          </p:cNvPr>
          <p:cNvSpPr/>
          <p:nvPr/>
        </p:nvSpPr>
        <p:spPr>
          <a:xfrm>
            <a:off x="456564" y="5861858"/>
            <a:ext cx="3598789" cy="523220"/>
          </a:xfrm>
          <a:prstGeom prst="rect">
            <a:avLst/>
          </a:prstGeom>
        </p:spPr>
        <p:txBody>
          <a:bodyPr wrap="square">
            <a:spAutoFit/>
          </a:bodyPr>
          <a:lstStyle/>
          <a:p>
            <a:r>
              <a:rPr sz="1200" b="1" lang="ru-RU">
                <a:solidFill>
                  <a:srgbClr val="000000"/>
                </a:solidFill>
                <a:latin typeface="Unbounded SemiBold"/>
              </a:rPr>
              <a:t>Количество виртуальных процессоров ЦОД*, шт</a:t>
            </a:r>
            <a:endParaRPr lang="ru-RU" b="1" kern="1200" dirty="0">
              <a:solidFill>
                <a:schemeClr val="tx1"/>
              </a:solidFill>
              <a:highlight>
                <a:srgbClr val="FFFFFF"/>
              </a:highlight>
              <a:latin typeface="Unbounded SemiBold" pitchFamily="2" charset="-52"/>
              <a:ea typeface="+mn-ea"/>
              <a:cs typeface="+mn-cs"/>
            </a:endParaRPr>
          </a:p>
        </p:txBody>
      </p:sp>
      <p:sp>
        <p:nvSpPr>
          <p:cNvPr id="5" name="Прямоугольник 4">
            <a:extLst>
              <a:ext uri="{FF2B5EF4-FFF2-40B4-BE49-F238E27FC236}">
                <a16:creationId xmlns:a16="http://schemas.microsoft.com/office/drawing/2014/main" id="{B6D81E02-F5A5-435F-A2AB-E7752F9BFDF5}"/>
              </a:ext>
            </a:extLst>
          </p:cNvPr>
          <p:cNvSpPr/>
          <p:nvPr/>
        </p:nvSpPr>
        <p:spPr>
          <a:xfrm>
            <a:off x="212725" y="10045905"/>
            <a:ext cx="3594254" cy="246221"/>
          </a:xfrm>
          <a:prstGeom prst="rect">
            <a:avLst/>
          </a:prstGeom>
        </p:spPr>
        <p:txBody>
          <a:bodyPr wrap="none">
            <a:spAutoFit/>
          </a:bodyPr>
          <a:lstStyle/>
          <a:p>
            <a:r>
              <a:rPr sz="1000" lang="ru-RU">
                <a:solidFill>
                  <a:srgbClr val="000000"/>
                </a:solidFill>
                <a:latin typeface="HelveticaNeueCyr"/>
              </a:rPr>
              <a:t>https://cloudscene.com/region/datacenters-in-europe#russia </a:t>
            </a:r>
          </a:p>
        </p:txBody>
      </p:sp>
      <p:sp>
        <p:nvSpPr>
          <p:cNvPr id="14" name="TextBox 13">
            <a:extLst>
              <a:ext uri="{FF2B5EF4-FFF2-40B4-BE49-F238E27FC236}">
                <a16:creationId xmlns:a16="http://schemas.microsoft.com/office/drawing/2014/main" id="{CFC6CA6C-A18B-4639-B1F7-65BE36BF29F3}"/>
              </a:ext>
            </a:extLst>
          </p:cNvPr>
          <p:cNvSpPr txBox="1"/>
          <p:nvPr/>
        </p:nvSpPr>
        <p:spPr>
          <a:xfrm>
            <a:off x="21272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В 2024 году в РФ насчитывается 251 центр обработки данных
Среди 160 ЦОДов, расположение которых известно, 30% находятсяв Москве</a:t>
            </a:r>
          </a:p>
        </p:txBody>
      </p:sp>
      <p:sp>
        <p:nvSpPr>
          <p:cNvPr id="18" name="Прямоугольник: скругленные углы 17">
            <a:extLst>
              <a:ext uri="{FF2B5EF4-FFF2-40B4-BE49-F238E27FC236}">
                <a16:creationId xmlns:a16="http://schemas.microsoft.com/office/drawing/2014/main" id="{87287EE3-78EE-4B21-9400-3BE63C78D3F1}"/>
              </a:ext>
            </a:extLst>
          </p:cNvPr>
          <p:cNvSpPr/>
          <p:nvPr/>
        </p:nvSpPr>
        <p:spPr>
          <a:xfrm>
            <a:off x="522131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9" name="TextBox 18">
            <a:extLst>
              <a:ext uri="{FF2B5EF4-FFF2-40B4-BE49-F238E27FC236}">
                <a16:creationId xmlns:a16="http://schemas.microsoft.com/office/drawing/2014/main" id="{133CA81C-6DE1-411C-A3D1-8343A3E5DF85}"/>
              </a:ext>
            </a:extLst>
          </p:cNvPr>
          <p:cNvSpPr txBox="1"/>
          <p:nvPr/>
        </p:nvSpPr>
        <p:spPr>
          <a:xfrm>
            <a:off x="5221315" y="898940"/>
            <a:ext cx="4673545" cy="2086725"/>
          </a:xfrm>
          <a:prstGeom prst="rect">
            <a:avLst/>
          </a:prstGeom>
          <a:noFill/>
        </p:spPr>
        <p:txBody>
          <a:bodyPr wrap="square" rtlCol="0">
            <a:spAutoFit/>
          </a:bodyPr>
          <a:lstStyle/>
          <a:p>
            <a:pPr>
              <a:lnSpc>
                <a:spcPct val="120000"/>
              </a:lnSpc>
            </a:pPr>
            <a:r>
              <a:rPr sz="1800" b="1" lang="ru-RU">
                <a:solidFill>
                  <a:srgbClr val="222222"/>
                </a:solidFill>
                <a:latin typeface="Unbounded SemiBold"/>
              </a:rPr>
              <a:t>130,4 млн пользователей интернета было в РФ на начало 2024 года
В Москве показатель использования интернета составляет 97%(выше среднего по стране на 7 п.п.)</a:t>
            </a:r>
          </a:p>
        </p:txBody>
      </p:sp>
      <p:sp>
        <p:nvSpPr>
          <p:cNvPr id="6" name="Прямоугольник 5">
            <a:extLst>
              <a:ext uri="{FF2B5EF4-FFF2-40B4-BE49-F238E27FC236}">
                <a16:creationId xmlns:a16="http://schemas.microsoft.com/office/drawing/2014/main" id="{95F8ADB3-64C6-41AE-BB5E-232DE59E255D}"/>
              </a:ext>
            </a:extLst>
          </p:cNvPr>
          <p:cNvSpPr/>
          <p:nvPr/>
        </p:nvSpPr>
        <p:spPr>
          <a:xfrm>
            <a:off x="212725" y="10242694"/>
            <a:ext cx="3740126" cy="246221"/>
          </a:xfrm>
          <a:prstGeom prst="rect">
            <a:avLst/>
          </a:prstGeom>
        </p:spPr>
        <p:txBody>
          <a:bodyPr wrap="none">
            <a:spAutoFit/>
          </a:bodyPr>
          <a:lstStyle/>
          <a:p>
            <a:r>
              <a:rPr sz="1000" lang="ru-RU">
                <a:solidFill>
                  <a:srgbClr val="000000"/>
                </a:solidFill>
                <a:latin typeface="HelveticaNeueCyr"/>
              </a:rPr>
              <a:t>https://datareportal.com/reports/digital-2024-russian-federation </a:t>
            </a:r>
          </a:p>
        </p:txBody>
      </p:sp>
      <p:sp>
        <p:nvSpPr>
          <p:cNvPr id="20" name="Прямоугольник: скругленные углы 19">
            <a:extLst>
              <a:ext uri="{FF2B5EF4-FFF2-40B4-BE49-F238E27FC236}">
                <a16:creationId xmlns:a16="http://schemas.microsoft.com/office/drawing/2014/main" id="{BA827867-61BF-4473-AB81-3AF7685FB395}"/>
              </a:ext>
            </a:extLst>
          </p:cNvPr>
          <p:cNvSpPr/>
          <p:nvPr/>
        </p:nvSpPr>
        <p:spPr>
          <a:xfrm>
            <a:off x="10229905" y="795805"/>
            <a:ext cx="4673545" cy="2492188"/>
          </a:xfrm>
          <a:prstGeom prst="roundRect">
            <a:avLst>
              <a:gd name="adj" fmla="val 8453"/>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TextBox 21">
            <a:extLst>
              <a:ext uri="{FF2B5EF4-FFF2-40B4-BE49-F238E27FC236}">
                <a16:creationId xmlns:a16="http://schemas.microsoft.com/office/drawing/2014/main" id="{08FD8DE8-D2F0-4DC1-B70D-C1F8C60B2049}"/>
              </a:ext>
            </a:extLst>
          </p:cNvPr>
          <p:cNvSpPr txBox="1"/>
          <p:nvPr/>
        </p:nvSpPr>
        <p:spPr>
          <a:xfrm>
            <a:off x="10229905" y="979150"/>
            <a:ext cx="4673545" cy="2086725"/>
          </a:xfrm>
          <a:prstGeom prst="rect">
            <a:avLst/>
          </a:prstGeom>
          <a:noFill/>
        </p:spPr>
        <p:txBody>
          <a:bodyPr wrap="square" rtlCol="0">
            <a:spAutoFit/>
          </a:bodyPr>
          <a:lstStyle/>
          <a:p>
            <a:pPr marL="285750" indent="-285750">
              <a:lnSpc>
                <a:spcPct val="80000"/>
              </a:lnSpc>
              <a:buFont typeface="Arial"/>
              <a:buChar char="•"/>
            </a:pPr>
            <a:r>
              <a:rPr sz="1800" b="1" lang="ru-RU">
                <a:solidFill>
                  <a:srgbClr val="222222"/>
                </a:solidFill>
                <a:latin typeface="HelveticaNeueCyr"/>
              </a:rPr>
              <a:t>Более 15,9 млн пользователей зарегистрировано на портале mos.ru (9 мес. 2024 года)
420 сервисов и услуг доступны москвичам в электронном виде
Более 763 млн обращений граждан через mos.ru в год</a:t>
            </a:r>
          </a:p>
        </p:txBody>
      </p:sp>
      <p:sp>
        <p:nvSpPr>
          <p:cNvPr id="23" name="TextBox 22">
            <a:extLst>
              <a:ext uri="{FF2B5EF4-FFF2-40B4-BE49-F238E27FC236}">
                <a16:creationId xmlns:a16="http://schemas.microsoft.com/office/drawing/2014/main" id="{E5AEEA20-EC25-4335-B052-2DA0031E52BB}"/>
              </a:ext>
            </a:extLst>
          </p:cNvPr>
          <p:cNvSpPr txBox="1"/>
          <p:nvPr/>
        </p:nvSpPr>
        <p:spPr>
          <a:xfrm>
            <a:off x="212724" y="3520830"/>
            <a:ext cx="14220831" cy="728789"/>
          </a:xfrm>
          <a:prstGeom prst="rect">
            <a:avLst/>
          </a:prstGeom>
          <a:noFill/>
        </p:spPr>
        <p:txBody>
          <a:bodyPr wrap="square" rtlCol="0">
            <a:spAutoFit/>
          </a:bodyPr>
          <a:lstStyle/>
          <a:p>
            <a:pPr>
              <a:lnSpc>
                <a:spcPct val="120000"/>
              </a:lnSpc>
            </a:pPr>
            <a:r>
              <a:rPr sz="1800" b="1" lang="ru-RU">
                <a:solidFill>
                  <a:srgbClr val="222222"/>
                </a:solidFill>
                <a:latin typeface="Unbounded SemiBold"/>
              </a:rPr>
              <a:t>Москва является лидером в сфере цифровизации государственных услуг как в России,так и в мире </a:t>
            </a:r>
          </a:p>
        </p:txBody>
      </p:sp>
      <p:sp>
        <p:nvSpPr>
          <p:cNvPr id="24" name="Прямоугольник 23">
            <a:extLst>
              <a:ext uri="{FF2B5EF4-FFF2-40B4-BE49-F238E27FC236}">
                <a16:creationId xmlns:a16="http://schemas.microsoft.com/office/drawing/2014/main" id="{E7974CD3-A069-4FCC-8292-07E377305996}"/>
              </a:ext>
            </a:extLst>
          </p:cNvPr>
          <p:cNvSpPr/>
          <p:nvPr/>
        </p:nvSpPr>
        <p:spPr>
          <a:xfrm>
            <a:off x="212725" y="4215325"/>
            <a:ext cx="13904118" cy="1477328"/>
          </a:xfrm>
          <a:prstGeom prst="rect">
            <a:avLst/>
          </a:prstGeom>
        </p:spPr>
        <p:txBody>
          <a:bodyPr wrap="square">
            <a:spAutoFit/>
          </a:bodyPr>
          <a:lstStyle/>
          <a:p>
            <a:r>
              <a:rPr sz="1800" lang="ru-RU">
                <a:solidFill>
                  <a:srgbClr val="222222"/>
                </a:solidFill>
                <a:latin typeface="HelveticaNeueCyr"/>
              </a:rPr>
              <a:t>Вызовы в Москве: 
Необходимо собирать, обрабатывать и хранить данные
Внедрять решения ИИ для повышения качества и скорости работы с данными и для повышения качества городских электронных услуг
Наращивать вычислительные мощности для развития цифровых сервисов и услуг</a:t>
            </a:r>
            <a:endParaRPr lang="en-US" sz="1800" dirty="0">
              <a:solidFill>
                <a:srgbClr val="222222"/>
              </a:solidFill>
              <a:latin typeface="HelveticaNeueCyr" panose="02000503040000020004" pitchFamily="2" charset="-52"/>
            </a:endParaRPr>
          </a:p>
        </p:txBody>
      </p:sp>
      <p:sp>
        <p:nvSpPr>
          <p:cNvPr id="26" name="Прямоугольник 25">
            <a:extLst>
              <a:ext uri="{FF2B5EF4-FFF2-40B4-BE49-F238E27FC236}">
                <a16:creationId xmlns:a16="http://schemas.microsoft.com/office/drawing/2014/main" id="{DDD3C1FD-E4B3-4493-8EE5-6384FD54DCC2}"/>
              </a:ext>
            </a:extLst>
          </p:cNvPr>
          <p:cNvSpPr/>
          <p:nvPr/>
        </p:nvSpPr>
        <p:spPr>
          <a:xfrm>
            <a:off x="3952852" y="10028237"/>
            <a:ext cx="10163992" cy="707886"/>
          </a:xfrm>
          <a:prstGeom prst="rect">
            <a:avLst/>
          </a:prstGeom>
        </p:spPr>
        <p:txBody>
          <a:bodyPr wrap="square">
            <a:spAutoFit/>
          </a:bodyPr>
          <a:lstStyle/>
          <a:p>
            <a:r>
              <a:rPr sz="1000" lang="en-US">
                <a:solidFill>
                  <a:srgbClr val="000000"/>
                </a:solidFill>
                <a:latin typeface="HelveticaNeueCyr"/>
              </a:rPr>
              <a:t>* Приведены данные о состоянии ЦОД СОЦСФЕРА. ЦОД СОЦСФЕРА  представляет из себя три физические площадки,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 Основными потребителями высокопроизводительных мощностей (GPU) являются: МосGPT, Голосовой помощник, Цифровой Двойник и др.
</a:t>
            </a:r>
          </a:p>
        </p:txBody>
      </p:sp>
    </p:spTree>
    <p:extLst>
      <p:ext uri="{BB962C8B-B14F-4D97-AF65-F5344CB8AC3E}">
        <p14:creationId xmlns:p14="http://schemas.microsoft.com/office/powerpoint/2010/main" val="3171586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3022013"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Искусственный интеллект и потребности в вычислительных мощностях</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graphicFrame>
        <p:nvGraphicFramePr>
          <p:cNvPr id="5" name="Диаграмма 4">
            <a:extLst>
              <a:ext uri="{FF2B5EF4-FFF2-40B4-BE49-F238E27FC236}">
                <a16:creationId xmlns:a16="http://schemas.microsoft.com/office/drawing/2014/main" id="{AB8DDDBF-C2EF-403F-BD95-573679D7AF70}"/>
              </a:ext>
            </a:extLst>
          </p:cNvPr>
          <p:cNvGraphicFramePr/>
          <p:nvPr>
            <p:extLst>
              <p:ext uri="{D42A27DB-BD31-4B8C-83A1-F6EECF244321}">
                <p14:modId xmlns:p14="http://schemas.microsoft.com/office/powerpoint/2010/main" val="4085041773"/>
              </p:ext>
            </p:extLst>
          </p:nvPr>
        </p:nvGraphicFramePr>
        <p:xfrm>
          <a:off x="212724" y="1152552"/>
          <a:ext cx="5801759" cy="4218314"/>
        </p:xfrm>
        <a:graphic>
          <a:graphicData uri="http://schemas.openxmlformats.org/drawingml/2006/chart">
            <c:chart xmlns:c="http://schemas.openxmlformats.org/drawingml/2006/chart" xmlns:r="http://schemas.openxmlformats.org/officeDocument/2006/relationships" r:id="rId3"/>
          </a:graphicData>
        </a:graphic>
      </p:graphicFrame>
      <p:sp>
        <p:nvSpPr>
          <p:cNvPr id="6" name="Google Shape;470;p10">
            <a:extLst>
              <a:ext uri="{FF2B5EF4-FFF2-40B4-BE49-F238E27FC236}">
                <a16:creationId xmlns:a16="http://schemas.microsoft.com/office/drawing/2014/main" id="{842E648F-927C-4A6A-BD3A-7E30754C318D}"/>
              </a:ext>
            </a:extLst>
          </p:cNvPr>
          <p:cNvSpPr/>
          <p:nvPr/>
        </p:nvSpPr>
        <p:spPr>
          <a:xfrm rot="2434">
            <a:off x="325831" y="1212553"/>
            <a:ext cx="4886983" cy="24346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2500"/>
              </a:lnSpc>
              <a:spcBef>
                <a:spcPts val="0"/>
              </a:spcBef>
              <a:spcAft>
                <a:spcPts val="0"/>
              </a:spcAft>
              <a:buClr>
                <a:srgbClr val="222222"/>
              </a:buClr>
              <a:buSzPts val="1600"/>
              <a:buFont typeface="Unbounded SemiBold"/>
              <a:buNone/>
              <a:tabLst/>
              <a:defRPr/>
            </a:pPr>
            <a:r>
              <a:rPr sz="1200" b="1" i="0" u="none" lang="ru-RU">
                <a:solidFill>
                  <a:srgbClr val="222222"/>
                </a:solidFill>
                <a:latin typeface="Unbounded SemiBold"/>
              </a:rPr>
              <a:t>Объем рынка ИИ в мире, млрд $</a:t>
            </a:r>
            <a:endParaRPr kumimoji="0" lang="ru-RU" b="1" i="0" u="none" strike="noStrike" kern="0" cap="none" spc="0" normalizeH="0" baseline="0" noProof="0" dirty="0">
              <a:ln>
                <a:noFill/>
              </a:ln>
              <a:solidFill>
                <a:srgbClr val="000000"/>
              </a:solidFill>
              <a:effectLst/>
              <a:uLnTx/>
              <a:uFillTx/>
              <a:latin typeface="Unbounded SemiBold"/>
              <a:ea typeface="Unbounded SemiBold"/>
              <a:cs typeface="Unbounded SemiBold"/>
              <a:sym typeface="Unbounded SemiBold"/>
            </a:endParaRPr>
          </a:p>
        </p:txBody>
      </p:sp>
      <p:sp>
        <p:nvSpPr>
          <p:cNvPr id="12" name="TextBox 11">
            <a:extLst>
              <a:ext uri="{FF2B5EF4-FFF2-40B4-BE49-F238E27FC236}">
                <a16:creationId xmlns:a16="http://schemas.microsoft.com/office/drawing/2014/main" id="{3F6A40BB-BECB-41BD-B36C-388016AC55B7}"/>
              </a:ext>
            </a:extLst>
          </p:cNvPr>
          <p:cNvSpPr txBox="1"/>
          <p:nvPr/>
        </p:nvSpPr>
        <p:spPr>
          <a:xfrm>
            <a:off x="6499231" y="2571843"/>
            <a:ext cx="8033602" cy="584775"/>
          </a:xfrm>
          <a:prstGeom prst="rect">
            <a:avLst/>
          </a:prstGeom>
          <a:noFill/>
        </p:spPr>
        <p:txBody>
          <a:bodyPr wrap="square" rtlCol="0">
            <a:spAutoFit/>
          </a:bodyPr>
          <a:lstStyle/>
          <a:p>
            <a:r>
              <a:rPr sz="1600" b="1" lang="ru-RU">
                <a:solidFill>
                  <a:srgbClr val="222222"/>
                </a:solidFill>
                <a:latin typeface="HelveticaNeueCyr"/>
              </a:rPr>
              <a:t>По прогнозам мировой спрос на мощности ЦОДов может возрастив 3 и более раз к 2030 году:</a:t>
            </a:r>
          </a:p>
        </p:txBody>
      </p:sp>
      <p:sp>
        <p:nvSpPr>
          <p:cNvPr id="13" name="Прямоугольник 12">
            <a:extLst>
              <a:ext uri="{FF2B5EF4-FFF2-40B4-BE49-F238E27FC236}">
                <a16:creationId xmlns:a16="http://schemas.microsoft.com/office/drawing/2014/main" id="{EFF583EC-8143-4CDB-9BC0-138B819641B3}"/>
              </a:ext>
            </a:extLst>
          </p:cNvPr>
          <p:cNvSpPr/>
          <p:nvPr/>
        </p:nvSpPr>
        <p:spPr>
          <a:xfrm>
            <a:off x="6499231" y="1517203"/>
            <a:ext cx="7556500" cy="952120"/>
          </a:xfrm>
          <a:prstGeom prst="rect">
            <a:avLst/>
          </a:prstGeom>
        </p:spPr>
        <p:txBody>
          <a:bodyPr>
            <a:spAutoFit/>
          </a:bodyPr>
          <a:lstStyle/>
          <a:p>
            <a:pPr marL="285750" indent="-285750">
              <a:lnSpc>
                <a:spcPct val="120000"/>
              </a:lnSpc>
              <a:buFont typeface="Arial" panose="020B0604020202020204" pitchFamily="34" charset="0"/>
              <a:buChar char="•"/>
            </a:pPr>
            <a:r>
              <a:rPr sz="1600" lang="ru-RU">
                <a:solidFill>
                  <a:srgbClr val="222222"/>
                </a:solidFill>
                <a:latin typeface="HelveticaNeueCyr"/>
              </a:rPr>
              <a:t>Качественные данные
Алгоритмы и модели
Вычислительные мощности</a:t>
            </a:r>
          </a:p>
        </p:txBody>
      </p:sp>
      <p:grpSp>
        <p:nvGrpSpPr>
          <p:cNvPr id="36" name="Группа 35">
            <a:extLst>
              <a:ext uri="{FF2B5EF4-FFF2-40B4-BE49-F238E27FC236}">
                <a16:creationId xmlns:a16="http://schemas.microsoft.com/office/drawing/2014/main" id="{FA83779D-355A-4D40-B90F-2A9E5330EFCF}"/>
              </a:ext>
            </a:extLst>
          </p:cNvPr>
          <p:cNvGrpSpPr/>
          <p:nvPr/>
        </p:nvGrpSpPr>
        <p:grpSpPr>
          <a:xfrm>
            <a:off x="512430" y="6944405"/>
            <a:ext cx="13921126" cy="2771853"/>
            <a:chOff x="356347" y="1739155"/>
            <a:chExt cx="13921126" cy="2771853"/>
          </a:xfrm>
        </p:grpSpPr>
        <p:graphicFrame>
          <p:nvGraphicFramePr>
            <p:cNvPr id="41" name="Схема 40">
              <a:extLst>
                <a:ext uri="{FF2B5EF4-FFF2-40B4-BE49-F238E27FC236}">
                  <a16:creationId xmlns:a16="http://schemas.microsoft.com/office/drawing/2014/main" id="{D9D27C93-63AE-492C-90D4-3E047E3FA86D}"/>
                </a:ext>
              </a:extLst>
            </p:cNvPr>
            <p:cNvGraphicFramePr/>
            <p:nvPr>
              <p:extLst>
                <p:ext uri="{D42A27DB-BD31-4B8C-83A1-F6EECF244321}">
                  <p14:modId xmlns:p14="http://schemas.microsoft.com/office/powerpoint/2010/main" val="1380799526"/>
                </p:ext>
              </p:extLst>
            </p:nvPr>
          </p:nvGraphicFramePr>
          <p:xfrm>
            <a:off x="573436" y="2158471"/>
            <a:ext cx="13704037" cy="21209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2" name="Прямоугольник 51">
              <a:extLst>
                <a:ext uri="{FF2B5EF4-FFF2-40B4-BE49-F238E27FC236}">
                  <a16:creationId xmlns:a16="http://schemas.microsoft.com/office/drawing/2014/main" id="{324D7399-7CC5-40D3-8D2F-B667686AF295}"/>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50" name="Прямоугольник 49">
              <a:extLst>
                <a:ext uri="{FF2B5EF4-FFF2-40B4-BE49-F238E27FC236}">
                  <a16:creationId xmlns:a16="http://schemas.microsoft.com/office/drawing/2014/main" id="{3B313095-D843-423B-9EB3-FF9CA0AB1D81}"/>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48" name="Прямоугольник 47">
              <a:extLst>
                <a:ext uri="{FF2B5EF4-FFF2-40B4-BE49-F238E27FC236}">
                  <a16:creationId xmlns:a16="http://schemas.microsoft.com/office/drawing/2014/main" id="{CFC70CC2-5C03-4A80-AD4C-8611B632A51F}"/>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45" name="Прямоугольник 44">
              <a:extLst>
                <a:ext uri="{FF2B5EF4-FFF2-40B4-BE49-F238E27FC236}">
                  <a16:creationId xmlns:a16="http://schemas.microsoft.com/office/drawing/2014/main" id="{DEC82565-F9EC-4EDF-B575-4836C396584D}"/>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grpSp>
      <p:sp>
        <p:nvSpPr>
          <p:cNvPr id="54" name="TextBox 53">
            <a:extLst>
              <a:ext uri="{FF2B5EF4-FFF2-40B4-BE49-F238E27FC236}">
                <a16:creationId xmlns:a16="http://schemas.microsoft.com/office/drawing/2014/main" id="{17BFDF19-979F-4CA1-A3B8-9AE715000FE1}"/>
              </a:ext>
            </a:extLst>
          </p:cNvPr>
          <p:cNvSpPr txBox="1"/>
          <p:nvPr/>
        </p:nvSpPr>
        <p:spPr>
          <a:xfrm>
            <a:off x="300667" y="6731188"/>
            <a:ext cx="3110996" cy="954107"/>
          </a:xfrm>
          <a:prstGeom prst="rect">
            <a:avLst/>
          </a:prstGeom>
          <a:noFill/>
        </p:spPr>
        <p:txBody>
          <a:bodyPr wrap="square" rtlCol="0">
            <a:spAutoFit/>
          </a:bodyPr>
          <a:lstStyle/>
          <a:p>
            <a:r>
              <a:rPr sz="1200" b="1" lang="en-US">
                <a:solidFill>
                  <a:srgbClr val="000000"/>
                </a:solidFill>
                <a:latin typeface="HelveticaNeueCyr"/>
              </a:rPr>
              <a:t>Google BERT-base
109 млн параметров
Затраченные компьютерные мощности: 1,89 ПетаFLOPS-дней</a:t>
            </a:r>
            <a:endParaRPr lang="ru-RU" b="1" dirty="0">
              <a:latin typeface="HelveticaNeueCyr" panose="02000503040000020004" pitchFamily="2" charset="-52"/>
            </a:endParaRPr>
          </a:p>
        </p:txBody>
      </p:sp>
      <p:sp>
        <p:nvSpPr>
          <p:cNvPr id="55" name="TextBox 54">
            <a:extLst>
              <a:ext uri="{FF2B5EF4-FFF2-40B4-BE49-F238E27FC236}">
                <a16:creationId xmlns:a16="http://schemas.microsoft.com/office/drawing/2014/main" id="{177A6DC9-28FB-41C9-B670-F5CC0FB681B0}"/>
              </a:ext>
            </a:extLst>
          </p:cNvPr>
          <p:cNvSpPr txBox="1"/>
          <p:nvPr/>
        </p:nvSpPr>
        <p:spPr>
          <a:xfrm>
            <a:off x="1956364" y="9011961"/>
            <a:ext cx="3116836" cy="954107"/>
          </a:xfrm>
          <a:prstGeom prst="rect">
            <a:avLst/>
          </a:prstGeom>
          <a:noFill/>
        </p:spPr>
        <p:txBody>
          <a:bodyPr wrap="square" rtlCol="0">
            <a:spAutoFit/>
          </a:bodyPr>
          <a:lstStyle/>
          <a:p>
            <a:r>
              <a:rPr sz="1200" b="1" lang="en-US">
                <a:solidFill>
                  <a:srgbClr val="000000"/>
                </a:solidFill>
                <a:latin typeface="HelveticaNeueCyr"/>
              </a:rPr>
              <a:t>Open AI GPT-3
175 млрд параметров
Затраченные компьютерные мощности: 3 640 ПетаFLOPS-дней</a:t>
            </a:r>
            <a:endParaRPr lang="ru-RU" b="1" dirty="0">
              <a:latin typeface="HelveticaNeueCyr" panose="02000503040000020004" pitchFamily="2" charset="-52"/>
            </a:endParaRPr>
          </a:p>
        </p:txBody>
      </p:sp>
      <p:sp>
        <p:nvSpPr>
          <p:cNvPr id="19" name="Прямоугольник 18">
            <a:extLst>
              <a:ext uri="{FF2B5EF4-FFF2-40B4-BE49-F238E27FC236}">
                <a16:creationId xmlns:a16="http://schemas.microsoft.com/office/drawing/2014/main" id="{7B54955A-E9BE-4FBB-851A-20D0F3E03BA0}"/>
              </a:ext>
            </a:extLst>
          </p:cNvPr>
          <p:cNvSpPr/>
          <p:nvPr/>
        </p:nvSpPr>
        <p:spPr>
          <a:xfrm>
            <a:off x="212724" y="6087025"/>
            <a:ext cx="14011276" cy="338554"/>
          </a:xfrm>
          <a:prstGeom prst="rect">
            <a:avLst/>
          </a:prstGeom>
        </p:spPr>
        <p:txBody>
          <a:bodyPr wrap="square">
            <a:spAutoFit/>
          </a:bodyPr>
          <a:lstStyle/>
          <a:p>
            <a:r>
              <a:rPr sz="1600" lang="ru-RU">
                <a:solidFill>
                  <a:srgbClr val="002060"/>
                </a:solidFill>
                <a:latin typeface="Unbounded SemiBold"/>
              </a:rPr>
              <a:t>Визуализация роста затрат мощностей на обучение ИИ на примере конкретных популярных моделей</a:t>
            </a:r>
          </a:p>
        </p:txBody>
      </p:sp>
      <p:sp>
        <p:nvSpPr>
          <p:cNvPr id="20" name="TextBox 19">
            <a:extLst>
              <a:ext uri="{FF2B5EF4-FFF2-40B4-BE49-F238E27FC236}">
                <a16:creationId xmlns:a16="http://schemas.microsoft.com/office/drawing/2014/main" id="{73432E1A-BC18-462C-81E5-B8B0777B982F}"/>
              </a:ext>
            </a:extLst>
          </p:cNvPr>
          <p:cNvSpPr txBox="1"/>
          <p:nvPr/>
        </p:nvSpPr>
        <p:spPr>
          <a:xfrm>
            <a:off x="3654482" y="6756681"/>
            <a:ext cx="3271104" cy="954107"/>
          </a:xfrm>
          <a:prstGeom prst="rect">
            <a:avLst/>
          </a:prstGeom>
          <a:noFill/>
        </p:spPr>
        <p:txBody>
          <a:bodyPr wrap="square" rtlCol="0">
            <a:spAutoFit/>
          </a:bodyPr>
          <a:lstStyle/>
          <a:p>
            <a:r>
              <a:rPr sz="1200" b="1" lang="en-US">
                <a:solidFill>
                  <a:srgbClr val="000000"/>
                </a:solidFill>
                <a:latin typeface="HelveticaNeueCyr"/>
              </a:rPr>
              <a:t>Huawei PANGU-α200 млрд параметров
Затраченные компьютерные мощности: 25 000 ПетаFLOPS-дней</a:t>
            </a:r>
          </a:p>
        </p:txBody>
      </p:sp>
      <p:sp>
        <p:nvSpPr>
          <p:cNvPr id="4" name="Прямоугольник 3">
            <a:extLst>
              <a:ext uri="{FF2B5EF4-FFF2-40B4-BE49-F238E27FC236}">
                <a16:creationId xmlns:a16="http://schemas.microsoft.com/office/drawing/2014/main" id="{1DAF9264-C9CE-4F4E-99CF-70FB60D6D00A}"/>
              </a:ext>
            </a:extLst>
          </p:cNvPr>
          <p:cNvSpPr/>
          <p:nvPr/>
        </p:nvSpPr>
        <p:spPr>
          <a:xfrm>
            <a:off x="7341896" y="10149617"/>
            <a:ext cx="14020403" cy="400110"/>
          </a:xfrm>
          <a:prstGeom prst="rect">
            <a:avLst/>
          </a:prstGeom>
        </p:spPr>
        <p:txBody>
          <a:bodyPr wrap="square">
            <a:spAutoFit/>
          </a:bodyPr>
          <a:lstStyle/>
          <a:p>
            <a:r>
              <a:rPr sz="1000" lang="en-US">
                <a:solidFill>
                  <a:srgbClr val="222222"/>
                </a:solidFill>
                <a:latin typeface="HelveticaNeueCyr"/>
              </a:rPr>
              <a:t>Brown T. B. Language models are few-shot learners //arXiv preprint arXiv:2005.14165. – 2020.
Интеллектуальный мир, Huawei, https://www-file.huawei.com/-/media/corp2020/pdf/giv/intelligent_world_2030_en.pdf</a:t>
            </a:r>
            <a:endParaRPr lang="ru-RU" sz="1000" dirty="0">
              <a:solidFill>
                <a:srgbClr val="222222"/>
              </a:solidFill>
              <a:latin typeface="HelveticaNeueCyr" panose="02000503040000020004" pitchFamily="2" charset="-52"/>
            </a:endParaRPr>
          </a:p>
        </p:txBody>
      </p:sp>
      <p:sp>
        <p:nvSpPr>
          <p:cNvPr id="24" name="TextBox 23">
            <a:extLst>
              <a:ext uri="{FF2B5EF4-FFF2-40B4-BE49-F238E27FC236}">
                <a16:creationId xmlns:a16="http://schemas.microsoft.com/office/drawing/2014/main" id="{226C3ABD-ED6E-4159-923C-8BBAE5959764}"/>
              </a:ext>
            </a:extLst>
          </p:cNvPr>
          <p:cNvSpPr txBox="1"/>
          <p:nvPr/>
        </p:nvSpPr>
        <p:spPr>
          <a:xfrm>
            <a:off x="6116183" y="9011961"/>
            <a:ext cx="3271104" cy="954107"/>
          </a:xfrm>
          <a:prstGeom prst="rect">
            <a:avLst/>
          </a:prstGeom>
          <a:noFill/>
        </p:spPr>
        <p:txBody>
          <a:bodyPr wrap="square" rtlCol="0">
            <a:spAutoFit/>
          </a:bodyPr>
          <a:lstStyle/>
          <a:p>
            <a:r>
              <a:rPr sz="1200" b="1" lang="en-US">
                <a:solidFill>
                  <a:srgbClr val="000000"/>
                </a:solidFill>
                <a:latin typeface="HelveticaNeueCyr"/>
              </a:rPr>
              <a:t>Meta** Llama 3.1 – 405B405 млрд параметров
Затраченные компьютерные мощности: 38 550 ПетаFLOPS-дней</a:t>
            </a:r>
          </a:p>
        </p:txBody>
      </p:sp>
      <p:sp>
        <p:nvSpPr>
          <p:cNvPr id="25" name="TextBox 24">
            <a:extLst>
              <a:ext uri="{FF2B5EF4-FFF2-40B4-BE49-F238E27FC236}">
                <a16:creationId xmlns:a16="http://schemas.microsoft.com/office/drawing/2014/main" id="{BD6001CF-8283-46BD-8BC0-535C434846E3}"/>
              </a:ext>
            </a:extLst>
          </p:cNvPr>
          <p:cNvSpPr txBox="1"/>
          <p:nvPr/>
        </p:nvSpPr>
        <p:spPr>
          <a:xfrm>
            <a:off x="11162453" y="6793422"/>
            <a:ext cx="3271104" cy="954107"/>
          </a:xfrm>
          <a:prstGeom prst="rect">
            <a:avLst/>
          </a:prstGeom>
          <a:noFill/>
        </p:spPr>
        <p:txBody>
          <a:bodyPr wrap="square" rtlCol="0">
            <a:spAutoFit/>
          </a:bodyPr>
          <a:lstStyle/>
          <a:p>
            <a:r>
              <a:rPr sz="1200" b="1" lang="ru-RU">
                <a:solidFill>
                  <a:srgbClr val="000000"/>
                </a:solidFill>
                <a:latin typeface="HelveticaNeueCyr"/>
              </a:rPr>
              <a:t>Прогнозируемые компьютерные мощности для ИИ:105 *10^6 ПетаFLOPSв 500 раз больше, чем в 2020 году</a:t>
            </a:r>
          </a:p>
        </p:txBody>
      </p:sp>
      <p:sp>
        <p:nvSpPr>
          <p:cNvPr id="16" name="TextBox 15">
            <a:extLst>
              <a:ext uri="{FF2B5EF4-FFF2-40B4-BE49-F238E27FC236}">
                <a16:creationId xmlns:a16="http://schemas.microsoft.com/office/drawing/2014/main" id="{B99DFBB9-E247-4F6C-9A3C-4FB4A9860EAA}"/>
              </a:ext>
            </a:extLst>
          </p:cNvPr>
          <p:cNvSpPr txBox="1"/>
          <p:nvPr/>
        </p:nvSpPr>
        <p:spPr>
          <a:xfrm>
            <a:off x="212724" y="6370563"/>
            <a:ext cx="13898255" cy="276999"/>
          </a:xfrm>
          <a:prstGeom prst="rect">
            <a:avLst/>
          </a:prstGeom>
          <a:noFill/>
        </p:spPr>
        <p:txBody>
          <a:bodyPr wrap="square" rtlCol="0">
            <a:spAutoFit/>
          </a:bodyPr>
          <a:lstStyle/>
          <a:p>
            <a:r>
              <a:rPr sz="1200" i="1" lang="ru-RU">
                <a:solidFill>
                  <a:srgbClr val="000000"/>
                </a:solidFill>
                <a:latin typeface="HelveticaNeueCyr"/>
              </a:rPr>
              <a:t>Порядок расположения моделей не связан с техническими характеристиками, отражена хронология по году релиза моделей</a:t>
            </a:r>
          </a:p>
        </p:txBody>
      </p:sp>
      <p:sp>
        <p:nvSpPr>
          <p:cNvPr id="31" name="TextBox 30">
            <a:extLst>
              <a:ext uri="{FF2B5EF4-FFF2-40B4-BE49-F238E27FC236}">
                <a16:creationId xmlns:a16="http://schemas.microsoft.com/office/drawing/2014/main" id="{CB781E26-423D-4BCA-8161-9458D8AF0D33}"/>
              </a:ext>
            </a:extLst>
          </p:cNvPr>
          <p:cNvSpPr txBox="1"/>
          <p:nvPr/>
        </p:nvSpPr>
        <p:spPr>
          <a:xfrm>
            <a:off x="6496207" y="957126"/>
            <a:ext cx="8033602" cy="584775"/>
          </a:xfrm>
          <a:prstGeom prst="rect">
            <a:avLst/>
          </a:prstGeom>
          <a:noFill/>
        </p:spPr>
        <p:txBody>
          <a:bodyPr wrap="square" rtlCol="0">
            <a:spAutoFit/>
          </a:bodyPr>
          <a:lstStyle/>
          <a:p>
            <a:r>
              <a:rPr sz="1600" b="1" lang="ru-RU">
                <a:solidFill>
                  <a:srgbClr val="222222"/>
                </a:solidFill>
                <a:latin typeface="HelveticaNeueCyr"/>
              </a:rPr>
              <a:t>Развитие решений с искусственным интеллектом (ИИ) определяется тремя факторами:</a:t>
            </a:r>
          </a:p>
        </p:txBody>
      </p:sp>
      <p:sp>
        <p:nvSpPr>
          <p:cNvPr id="32" name="Прямоугольник 31">
            <a:extLst>
              <a:ext uri="{FF2B5EF4-FFF2-40B4-BE49-F238E27FC236}">
                <a16:creationId xmlns:a16="http://schemas.microsoft.com/office/drawing/2014/main" id="{E69C9289-51CB-4216-99A9-B265E9E17266}"/>
              </a:ext>
            </a:extLst>
          </p:cNvPr>
          <p:cNvSpPr/>
          <p:nvPr/>
        </p:nvSpPr>
        <p:spPr>
          <a:xfrm>
            <a:off x="6815477" y="3849809"/>
            <a:ext cx="1435395" cy="1344026"/>
          </a:xfrm>
          <a:prstGeom prst="rect">
            <a:avLst/>
          </a:prstGeom>
          <a:solidFill>
            <a:srgbClr val="8FAADC"/>
          </a:soli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рямоугольник 41">
            <a:extLst>
              <a:ext uri="{FF2B5EF4-FFF2-40B4-BE49-F238E27FC236}">
                <a16:creationId xmlns:a16="http://schemas.microsoft.com/office/drawing/2014/main" id="{A686B9D2-028B-4749-9FC9-8CE7151B6459}"/>
              </a:ext>
            </a:extLst>
          </p:cNvPr>
          <p:cNvSpPr/>
          <p:nvPr/>
        </p:nvSpPr>
        <p:spPr>
          <a:xfrm>
            <a:off x="8839717" y="3546484"/>
            <a:ext cx="1729053" cy="1641246"/>
          </a:xfrm>
          <a:prstGeom prst="rect">
            <a:avLst/>
          </a:prstGeom>
          <a:solidFill>
            <a:srgbClr val="A8B0FA"/>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Прямоугольник 42">
            <a:extLst>
              <a:ext uri="{FF2B5EF4-FFF2-40B4-BE49-F238E27FC236}">
                <a16:creationId xmlns:a16="http://schemas.microsoft.com/office/drawing/2014/main" id="{01CD12A5-5DDA-401B-A3E4-BAE7B8C42971}"/>
              </a:ext>
            </a:extLst>
          </p:cNvPr>
          <p:cNvSpPr/>
          <p:nvPr/>
        </p:nvSpPr>
        <p:spPr>
          <a:xfrm>
            <a:off x="11157615" y="3286854"/>
            <a:ext cx="2012285" cy="1906981"/>
          </a:xfrm>
          <a:prstGeom prst="rect">
            <a:avLst/>
          </a:prstGeom>
          <a:solidFill>
            <a:srgbClr val="5C8EFE"/>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BF4B95BB-63FC-44BA-ABA3-6DCC565AD678}"/>
              </a:ext>
            </a:extLst>
          </p:cNvPr>
          <p:cNvSpPr/>
          <p:nvPr/>
        </p:nvSpPr>
        <p:spPr>
          <a:xfrm>
            <a:off x="6833493" y="4378666"/>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a:extLst>
              <a:ext uri="{FF2B5EF4-FFF2-40B4-BE49-F238E27FC236}">
                <a16:creationId xmlns:a16="http://schemas.microsoft.com/office/drawing/2014/main" id="{751BAA76-BF56-4A11-A47A-727207F73209}"/>
              </a:ext>
            </a:extLst>
          </p:cNvPr>
          <p:cNvSpPr/>
          <p:nvPr/>
        </p:nvSpPr>
        <p:spPr>
          <a:xfrm>
            <a:off x="8850170" y="4369411"/>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7" name="Прямоугольник 46">
            <a:extLst>
              <a:ext uri="{FF2B5EF4-FFF2-40B4-BE49-F238E27FC236}">
                <a16:creationId xmlns:a16="http://schemas.microsoft.com/office/drawing/2014/main" id="{06EE1D6C-F0CC-4414-8A6E-741FD616BD1B}"/>
              </a:ext>
            </a:extLst>
          </p:cNvPr>
          <p:cNvSpPr/>
          <p:nvPr/>
        </p:nvSpPr>
        <p:spPr>
          <a:xfrm>
            <a:off x="11177551" y="4378688"/>
            <a:ext cx="814013" cy="803748"/>
          </a:xfrm>
          <a:prstGeom prst="rect">
            <a:avLst/>
          </a:prstGeom>
          <a:noFill/>
          <a:ln w="22225">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Box 33">
            <a:extLst>
              <a:ext uri="{FF2B5EF4-FFF2-40B4-BE49-F238E27FC236}">
                <a16:creationId xmlns:a16="http://schemas.microsoft.com/office/drawing/2014/main" id="{ADC71B2A-BCAB-436D-9C24-AB7BC4812199}"/>
              </a:ext>
            </a:extLst>
          </p:cNvPr>
          <p:cNvSpPr txBox="1"/>
          <p:nvPr/>
        </p:nvSpPr>
        <p:spPr>
          <a:xfrm>
            <a:off x="6725026" y="3577504"/>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49" name="TextBox 48">
            <a:extLst>
              <a:ext uri="{FF2B5EF4-FFF2-40B4-BE49-F238E27FC236}">
                <a16:creationId xmlns:a16="http://schemas.microsoft.com/office/drawing/2014/main" id="{7238C9CC-A7B6-433D-8031-C6C25ED18CEC}"/>
              </a:ext>
            </a:extLst>
          </p:cNvPr>
          <p:cNvSpPr txBox="1"/>
          <p:nvPr/>
        </p:nvSpPr>
        <p:spPr>
          <a:xfrm>
            <a:off x="8759013" y="3271417"/>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1" name="TextBox 50">
            <a:extLst>
              <a:ext uri="{FF2B5EF4-FFF2-40B4-BE49-F238E27FC236}">
                <a16:creationId xmlns:a16="http://schemas.microsoft.com/office/drawing/2014/main" id="{4033D2EB-7C23-4A71-A402-AB880FB8A205}"/>
              </a:ext>
            </a:extLst>
          </p:cNvPr>
          <p:cNvSpPr txBox="1"/>
          <p:nvPr/>
        </p:nvSpPr>
        <p:spPr>
          <a:xfrm>
            <a:off x="11064063" y="3023846"/>
            <a:ext cx="616870" cy="307777"/>
          </a:xfrm>
          <a:prstGeom prst="rect">
            <a:avLst/>
          </a:prstGeom>
          <a:noFill/>
        </p:spPr>
        <p:txBody>
          <a:bodyPr wrap="square" rtlCol="0">
            <a:spAutoFit/>
          </a:bodyPr>
          <a:lstStyle/>
          <a:p>
            <a:r>
              <a:rPr sz="1200" b="1" lang="ru-RU">
                <a:solidFill>
                  <a:srgbClr val="000000"/>
                </a:solidFill>
                <a:latin typeface="HelveticaNeueCyr"/>
              </a:rPr>
              <a:t>2030</a:t>
            </a:r>
          </a:p>
        </p:txBody>
      </p:sp>
      <p:sp>
        <p:nvSpPr>
          <p:cNvPr id="53" name="TextBox 52">
            <a:extLst>
              <a:ext uri="{FF2B5EF4-FFF2-40B4-BE49-F238E27FC236}">
                <a16:creationId xmlns:a16="http://schemas.microsoft.com/office/drawing/2014/main" id="{DCAF145A-D2BD-448B-9F4F-F06F594AE758}"/>
              </a:ext>
            </a:extLst>
          </p:cNvPr>
          <p:cNvSpPr txBox="1"/>
          <p:nvPr/>
        </p:nvSpPr>
        <p:spPr>
          <a:xfrm>
            <a:off x="6763888" y="4350472"/>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6" name="TextBox 55">
            <a:extLst>
              <a:ext uri="{FF2B5EF4-FFF2-40B4-BE49-F238E27FC236}">
                <a16:creationId xmlns:a16="http://schemas.microsoft.com/office/drawing/2014/main" id="{F32E0785-B1AC-4E85-8E52-A51D5EE3CB93}"/>
              </a:ext>
            </a:extLst>
          </p:cNvPr>
          <p:cNvSpPr txBox="1"/>
          <p:nvPr/>
        </p:nvSpPr>
        <p:spPr>
          <a:xfrm>
            <a:off x="7348445" y="4348968"/>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7" name="TextBox 56">
            <a:extLst>
              <a:ext uri="{FF2B5EF4-FFF2-40B4-BE49-F238E27FC236}">
                <a16:creationId xmlns:a16="http://schemas.microsoft.com/office/drawing/2014/main" id="{B1816B3B-D1B7-4D59-B985-DD9560478740}"/>
              </a:ext>
            </a:extLst>
          </p:cNvPr>
          <p:cNvSpPr txBox="1"/>
          <p:nvPr/>
        </p:nvSpPr>
        <p:spPr>
          <a:xfrm>
            <a:off x="8782182" y="4341328"/>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58" name="TextBox 57">
            <a:extLst>
              <a:ext uri="{FF2B5EF4-FFF2-40B4-BE49-F238E27FC236}">
                <a16:creationId xmlns:a16="http://schemas.microsoft.com/office/drawing/2014/main" id="{F0F50B88-62DF-4814-B86A-942DA3D2778F}"/>
              </a:ext>
            </a:extLst>
          </p:cNvPr>
          <p:cNvSpPr txBox="1"/>
          <p:nvPr/>
        </p:nvSpPr>
        <p:spPr>
          <a:xfrm>
            <a:off x="9366739" y="4339824"/>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59" name="TextBox 58">
            <a:extLst>
              <a:ext uri="{FF2B5EF4-FFF2-40B4-BE49-F238E27FC236}">
                <a16:creationId xmlns:a16="http://schemas.microsoft.com/office/drawing/2014/main" id="{1920EE62-8E01-44B6-B975-B49EEBB49B46}"/>
              </a:ext>
            </a:extLst>
          </p:cNvPr>
          <p:cNvSpPr txBox="1"/>
          <p:nvPr/>
        </p:nvSpPr>
        <p:spPr>
          <a:xfrm>
            <a:off x="11105462" y="4348505"/>
            <a:ext cx="616870" cy="276999"/>
          </a:xfrm>
          <a:prstGeom prst="rect">
            <a:avLst/>
          </a:prstGeom>
          <a:noFill/>
        </p:spPr>
        <p:txBody>
          <a:bodyPr wrap="square" rtlCol="0">
            <a:spAutoFit/>
          </a:bodyPr>
          <a:lstStyle/>
          <a:p>
            <a:r>
              <a:rPr sz="1200" lang="ru-RU">
                <a:solidFill>
                  <a:srgbClr val="000000"/>
                </a:solidFill>
                <a:latin typeface="HelveticaNeueCyr"/>
              </a:rPr>
              <a:t>2023</a:t>
            </a:r>
          </a:p>
        </p:txBody>
      </p:sp>
      <p:sp>
        <p:nvSpPr>
          <p:cNvPr id="60" name="TextBox 59">
            <a:extLst>
              <a:ext uri="{FF2B5EF4-FFF2-40B4-BE49-F238E27FC236}">
                <a16:creationId xmlns:a16="http://schemas.microsoft.com/office/drawing/2014/main" id="{9260328C-C632-4FF2-8492-11376674C75B}"/>
              </a:ext>
            </a:extLst>
          </p:cNvPr>
          <p:cNvSpPr txBox="1"/>
          <p:nvPr/>
        </p:nvSpPr>
        <p:spPr>
          <a:xfrm>
            <a:off x="11690019" y="4347001"/>
            <a:ext cx="616870" cy="276999"/>
          </a:xfrm>
          <a:prstGeom prst="rect">
            <a:avLst/>
          </a:prstGeom>
          <a:noFill/>
        </p:spPr>
        <p:txBody>
          <a:bodyPr wrap="square" rtlCol="0">
            <a:spAutoFit/>
          </a:bodyPr>
          <a:lstStyle/>
          <a:p>
            <a:r>
              <a:rPr sz="1200" lang="ru-RU">
                <a:solidFill>
                  <a:srgbClr val="000000"/>
                </a:solidFill>
                <a:latin typeface="HelveticaNeueCyr"/>
              </a:rPr>
              <a:t>55</a:t>
            </a:r>
          </a:p>
        </p:txBody>
      </p:sp>
      <p:sp>
        <p:nvSpPr>
          <p:cNvPr id="61" name="TextBox 60">
            <a:extLst>
              <a:ext uri="{FF2B5EF4-FFF2-40B4-BE49-F238E27FC236}">
                <a16:creationId xmlns:a16="http://schemas.microsoft.com/office/drawing/2014/main" id="{B4041997-728D-4298-AA7B-934E6714E57C}"/>
              </a:ext>
            </a:extLst>
          </p:cNvPr>
          <p:cNvSpPr txBox="1"/>
          <p:nvPr/>
        </p:nvSpPr>
        <p:spPr>
          <a:xfrm>
            <a:off x="7885085" y="3583321"/>
            <a:ext cx="616870" cy="307777"/>
          </a:xfrm>
          <a:prstGeom prst="rect">
            <a:avLst/>
          </a:prstGeom>
          <a:noFill/>
        </p:spPr>
        <p:txBody>
          <a:bodyPr wrap="square" rtlCol="0">
            <a:spAutoFit/>
          </a:bodyPr>
          <a:lstStyle/>
          <a:p>
            <a:r>
              <a:rPr sz="1200" b="1" lang="ru-RU">
                <a:solidFill>
                  <a:srgbClr val="000000"/>
                </a:solidFill>
                <a:latin typeface="HelveticaNeueCyr"/>
              </a:rPr>
              <a:t>171</a:t>
            </a:r>
          </a:p>
        </p:txBody>
      </p:sp>
      <p:sp>
        <p:nvSpPr>
          <p:cNvPr id="62" name="TextBox 61">
            <a:extLst>
              <a:ext uri="{FF2B5EF4-FFF2-40B4-BE49-F238E27FC236}">
                <a16:creationId xmlns:a16="http://schemas.microsoft.com/office/drawing/2014/main" id="{09F308D0-4106-485A-BCC2-D1848FBDE1A4}"/>
              </a:ext>
            </a:extLst>
          </p:cNvPr>
          <p:cNvSpPr txBox="1"/>
          <p:nvPr/>
        </p:nvSpPr>
        <p:spPr>
          <a:xfrm>
            <a:off x="10184963" y="3281971"/>
            <a:ext cx="616870" cy="307777"/>
          </a:xfrm>
          <a:prstGeom prst="rect">
            <a:avLst/>
          </a:prstGeom>
          <a:noFill/>
        </p:spPr>
        <p:txBody>
          <a:bodyPr wrap="square" rtlCol="0">
            <a:spAutoFit/>
          </a:bodyPr>
          <a:lstStyle/>
          <a:p>
            <a:r>
              <a:rPr sz="1200" b="1" lang="ru-RU">
                <a:solidFill>
                  <a:srgbClr val="000000"/>
                </a:solidFill>
                <a:latin typeface="HelveticaNeueCyr"/>
              </a:rPr>
              <a:t>219</a:t>
            </a:r>
          </a:p>
        </p:txBody>
      </p:sp>
      <p:sp>
        <p:nvSpPr>
          <p:cNvPr id="63" name="TextBox 62">
            <a:extLst>
              <a:ext uri="{FF2B5EF4-FFF2-40B4-BE49-F238E27FC236}">
                <a16:creationId xmlns:a16="http://schemas.microsoft.com/office/drawing/2014/main" id="{3D77C870-7B89-4F42-82DD-A98F921F6F72}"/>
              </a:ext>
            </a:extLst>
          </p:cNvPr>
          <p:cNvSpPr txBox="1"/>
          <p:nvPr/>
        </p:nvSpPr>
        <p:spPr>
          <a:xfrm>
            <a:off x="12791655" y="3020307"/>
            <a:ext cx="616870" cy="307777"/>
          </a:xfrm>
          <a:prstGeom prst="rect">
            <a:avLst/>
          </a:prstGeom>
          <a:noFill/>
        </p:spPr>
        <p:txBody>
          <a:bodyPr wrap="square" rtlCol="0">
            <a:spAutoFit/>
          </a:bodyPr>
          <a:lstStyle/>
          <a:p>
            <a:r>
              <a:rPr sz="1200" b="1" lang="ru-RU">
                <a:solidFill>
                  <a:srgbClr val="000000"/>
                </a:solidFill>
                <a:latin typeface="HelveticaNeueCyr"/>
              </a:rPr>
              <a:t>298</a:t>
            </a:r>
            <a:endParaRPr lang="ru-RU" b="1" dirty="0">
              <a:latin typeface="HelveticaNeueCyr" panose="02000503040000020004" pitchFamily="2" charset="-52"/>
            </a:endParaRPr>
          </a:p>
        </p:txBody>
      </p:sp>
      <p:sp>
        <p:nvSpPr>
          <p:cNvPr id="64" name="TextBox 63">
            <a:extLst>
              <a:ext uri="{FF2B5EF4-FFF2-40B4-BE49-F238E27FC236}">
                <a16:creationId xmlns:a16="http://schemas.microsoft.com/office/drawing/2014/main" id="{98482013-C80B-415D-BDD6-A01CB8D15F85}"/>
              </a:ext>
            </a:extLst>
          </p:cNvPr>
          <p:cNvSpPr txBox="1"/>
          <p:nvPr/>
        </p:nvSpPr>
        <p:spPr>
          <a:xfrm>
            <a:off x="6614733" y="5464419"/>
            <a:ext cx="8033602" cy="461665"/>
          </a:xfrm>
          <a:prstGeom prst="rect">
            <a:avLst/>
          </a:prstGeom>
          <a:noFill/>
        </p:spPr>
        <p:txBody>
          <a:bodyPr wrap="square" rtlCol="0">
            <a:spAutoFit/>
          </a:bodyPr>
          <a:lstStyle/>
          <a:p>
            <a:r>
              <a:rPr sz="1200" i="1" lang="ru-RU">
                <a:solidFill>
                  <a:srgbClr val="000000"/>
                </a:solidFill>
                <a:latin typeface="HelveticaNeueCyr"/>
              </a:rPr>
              <a:t>Спрос на мощности ЦОД, ГВт, прогноз McKinsey. Сценарии учитывают тенденции внедрения ИИ, поставки различных типов чипов и связанного потребления электроэнергии</a:t>
            </a:r>
          </a:p>
        </p:txBody>
      </p:sp>
      <p:sp>
        <p:nvSpPr>
          <p:cNvPr id="65" name="TextBox 64">
            <a:extLst>
              <a:ext uri="{FF2B5EF4-FFF2-40B4-BE49-F238E27FC236}">
                <a16:creationId xmlns:a16="http://schemas.microsoft.com/office/drawing/2014/main" id="{AD362FD9-C10F-4DEE-BE84-6BAE7DC82443}"/>
              </a:ext>
            </a:extLst>
          </p:cNvPr>
          <p:cNvSpPr txBox="1"/>
          <p:nvPr/>
        </p:nvSpPr>
        <p:spPr>
          <a:xfrm>
            <a:off x="11096530" y="5181636"/>
            <a:ext cx="2311995" cy="276999"/>
          </a:xfrm>
          <a:prstGeom prst="rect">
            <a:avLst/>
          </a:prstGeom>
          <a:noFill/>
        </p:spPr>
        <p:txBody>
          <a:bodyPr wrap="square" rtlCol="0">
            <a:spAutoFit/>
          </a:bodyPr>
          <a:lstStyle/>
          <a:p>
            <a:r>
              <a:rPr sz="1200" i="1" lang="ru-RU">
                <a:solidFill>
                  <a:srgbClr val="000000"/>
                </a:solidFill>
                <a:latin typeface="HelveticaNeueCyr"/>
              </a:rPr>
              <a:t>Верхний диапазон </a:t>
            </a:r>
          </a:p>
        </p:txBody>
      </p:sp>
      <p:sp>
        <p:nvSpPr>
          <p:cNvPr id="66" name="TextBox 65">
            <a:extLst>
              <a:ext uri="{FF2B5EF4-FFF2-40B4-BE49-F238E27FC236}">
                <a16:creationId xmlns:a16="http://schemas.microsoft.com/office/drawing/2014/main" id="{F7E28162-9EE7-404F-B8D0-155887667FD6}"/>
              </a:ext>
            </a:extLst>
          </p:cNvPr>
          <p:cNvSpPr txBox="1"/>
          <p:nvPr/>
        </p:nvSpPr>
        <p:spPr>
          <a:xfrm>
            <a:off x="8719334" y="5169800"/>
            <a:ext cx="2311995" cy="276999"/>
          </a:xfrm>
          <a:prstGeom prst="rect">
            <a:avLst/>
          </a:prstGeom>
          <a:noFill/>
        </p:spPr>
        <p:txBody>
          <a:bodyPr wrap="square" rtlCol="0">
            <a:spAutoFit/>
          </a:bodyPr>
          <a:lstStyle/>
          <a:p>
            <a:r>
              <a:rPr sz="1200" i="1" lang="ru-RU">
                <a:solidFill>
                  <a:srgbClr val="000000"/>
                </a:solidFill>
                <a:latin typeface="HelveticaNeueCyr"/>
              </a:rPr>
              <a:t>Средний диапазон</a:t>
            </a:r>
          </a:p>
        </p:txBody>
      </p:sp>
      <p:sp>
        <p:nvSpPr>
          <p:cNvPr id="67" name="TextBox 66">
            <a:extLst>
              <a:ext uri="{FF2B5EF4-FFF2-40B4-BE49-F238E27FC236}">
                <a16:creationId xmlns:a16="http://schemas.microsoft.com/office/drawing/2014/main" id="{C8A94D4B-2740-4962-A048-AD55D973540F}"/>
              </a:ext>
            </a:extLst>
          </p:cNvPr>
          <p:cNvSpPr txBox="1"/>
          <p:nvPr/>
        </p:nvSpPr>
        <p:spPr>
          <a:xfrm>
            <a:off x="6694313" y="5181916"/>
            <a:ext cx="2311995" cy="276999"/>
          </a:xfrm>
          <a:prstGeom prst="rect">
            <a:avLst/>
          </a:prstGeom>
          <a:noFill/>
        </p:spPr>
        <p:txBody>
          <a:bodyPr wrap="square" rtlCol="0">
            <a:spAutoFit/>
          </a:bodyPr>
          <a:lstStyle/>
          <a:p>
            <a:r>
              <a:rPr sz="1200" i="1" lang="ru-RU">
                <a:solidFill>
                  <a:srgbClr val="000000"/>
                </a:solidFill>
                <a:latin typeface="HelveticaNeueCyr"/>
              </a:rPr>
              <a:t>Нижний диапазон</a:t>
            </a:r>
          </a:p>
        </p:txBody>
      </p:sp>
      <p:sp>
        <p:nvSpPr>
          <p:cNvPr id="68" name="TextBox 67">
            <a:extLst>
              <a:ext uri="{FF2B5EF4-FFF2-40B4-BE49-F238E27FC236}">
                <a16:creationId xmlns:a16="http://schemas.microsoft.com/office/drawing/2014/main" id="{D7E3B9BD-6F36-4B41-906E-684564526732}"/>
              </a:ext>
            </a:extLst>
          </p:cNvPr>
          <p:cNvSpPr txBox="1"/>
          <p:nvPr/>
        </p:nvSpPr>
        <p:spPr>
          <a:xfrm>
            <a:off x="7160291" y="3872135"/>
            <a:ext cx="1119094" cy="523220"/>
          </a:xfrm>
          <a:prstGeom prst="rect">
            <a:avLst/>
          </a:prstGeom>
          <a:noFill/>
        </p:spPr>
        <p:txBody>
          <a:bodyPr wrap="square" rtlCol="0">
            <a:spAutoFit/>
          </a:bodyPr>
          <a:lstStyle/>
          <a:p>
            <a:pPr algn="r"/>
            <a:r>
              <a:rPr sz="1200" b="1" lang="en-US">
                <a:solidFill>
                  <a:srgbClr val="000000"/>
                </a:solidFill>
                <a:latin typeface="HelveticaNeueCyr"/>
              </a:rPr>
              <a:t>CAGR +19%</a:t>
            </a:r>
            <a:endParaRPr lang="ru-RU" b="1" dirty="0">
              <a:latin typeface="HelveticaNeueCyr" panose="02000503040000020004" pitchFamily="2" charset="-52"/>
            </a:endParaRPr>
          </a:p>
        </p:txBody>
      </p:sp>
      <p:sp>
        <p:nvSpPr>
          <p:cNvPr id="69" name="TextBox 68">
            <a:extLst>
              <a:ext uri="{FF2B5EF4-FFF2-40B4-BE49-F238E27FC236}">
                <a16:creationId xmlns:a16="http://schemas.microsoft.com/office/drawing/2014/main" id="{6A6C49C5-825E-4BF0-95FE-320B2E525B44}"/>
              </a:ext>
            </a:extLst>
          </p:cNvPr>
          <p:cNvSpPr txBox="1"/>
          <p:nvPr/>
        </p:nvSpPr>
        <p:spPr>
          <a:xfrm>
            <a:off x="9496266" y="3567362"/>
            <a:ext cx="1119094" cy="523220"/>
          </a:xfrm>
          <a:prstGeom prst="rect">
            <a:avLst/>
          </a:prstGeom>
          <a:noFill/>
        </p:spPr>
        <p:txBody>
          <a:bodyPr wrap="square" rtlCol="0">
            <a:spAutoFit/>
          </a:bodyPr>
          <a:lstStyle/>
          <a:p>
            <a:pPr algn="r"/>
            <a:r>
              <a:rPr sz="1200" b="1" lang="en-US">
                <a:solidFill>
                  <a:srgbClr val="000000"/>
                </a:solidFill>
                <a:latin typeface="HelveticaNeueCyr"/>
              </a:rPr>
              <a:t>CAGR +22%</a:t>
            </a:r>
            <a:endParaRPr lang="ru-RU" b="1" dirty="0">
              <a:latin typeface="HelveticaNeueCyr" panose="02000503040000020004" pitchFamily="2" charset="-52"/>
            </a:endParaRPr>
          </a:p>
        </p:txBody>
      </p:sp>
      <p:sp>
        <p:nvSpPr>
          <p:cNvPr id="70" name="TextBox 69">
            <a:extLst>
              <a:ext uri="{FF2B5EF4-FFF2-40B4-BE49-F238E27FC236}">
                <a16:creationId xmlns:a16="http://schemas.microsoft.com/office/drawing/2014/main" id="{0410A139-9277-4775-AC52-EACE69FEEF49}"/>
              </a:ext>
            </a:extLst>
          </p:cNvPr>
          <p:cNvSpPr txBox="1"/>
          <p:nvPr/>
        </p:nvSpPr>
        <p:spPr>
          <a:xfrm>
            <a:off x="12100367" y="3314653"/>
            <a:ext cx="1119094" cy="523220"/>
          </a:xfrm>
          <a:prstGeom prst="rect">
            <a:avLst/>
          </a:prstGeom>
          <a:noFill/>
        </p:spPr>
        <p:txBody>
          <a:bodyPr wrap="square" rtlCol="0">
            <a:spAutoFit/>
          </a:bodyPr>
          <a:lstStyle/>
          <a:p>
            <a:pPr algn="r"/>
            <a:r>
              <a:rPr sz="1200" b="1" lang="en-US">
                <a:solidFill>
                  <a:srgbClr val="000000"/>
                </a:solidFill>
                <a:latin typeface="HelveticaNeueCyr"/>
              </a:rPr>
              <a:t>CAGR +27%</a:t>
            </a:r>
            <a:endParaRPr lang="ru-RU" b="1" dirty="0">
              <a:latin typeface="HelveticaNeueCyr" panose="02000503040000020004" pitchFamily="2" charset="-52"/>
            </a:endParaRPr>
          </a:p>
        </p:txBody>
      </p:sp>
      <p:sp>
        <p:nvSpPr>
          <p:cNvPr id="37" name="Прямоугольник 36">
            <a:extLst>
              <a:ext uri="{FF2B5EF4-FFF2-40B4-BE49-F238E27FC236}">
                <a16:creationId xmlns:a16="http://schemas.microsoft.com/office/drawing/2014/main" id="{BFA70E3F-524B-40BB-9B8E-4C9BC473BEFA}"/>
              </a:ext>
            </a:extLst>
          </p:cNvPr>
          <p:cNvSpPr/>
          <p:nvPr/>
        </p:nvSpPr>
        <p:spPr>
          <a:xfrm>
            <a:off x="328585" y="10181100"/>
            <a:ext cx="7556500" cy="400110"/>
          </a:xfrm>
          <a:prstGeom prst="rect">
            <a:avLst/>
          </a:prstGeom>
        </p:spPr>
        <p:txBody>
          <a:bodyPr>
            <a:spAutoFit/>
          </a:bodyPr>
          <a:lstStyle/>
          <a:p>
            <a:r>
              <a:rPr sz="1000" lang="ru-RU">
                <a:solidFill>
                  <a:srgbClr val="222222"/>
                </a:solidFill>
                <a:latin typeface="HelveticaNeueCyr"/>
              </a:rPr>
              <a:t>* Прогнозные значения, https://www.statista.com/forecasts/1474143/global-ai-market-size 
**Деятельность организации запрещена на территории РФ </a:t>
            </a:r>
          </a:p>
        </p:txBody>
      </p:sp>
    </p:spTree>
    <p:extLst>
      <p:ext uri="{BB962C8B-B14F-4D97-AF65-F5344CB8AC3E}">
        <p14:creationId xmlns:p14="http://schemas.microsoft.com/office/powerpoint/2010/main" val="49875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Искусственный интеллект в контуре правительства </a:t>
            </a:r>
          </a:p>
        </p:txBody>
      </p:sp>
      <p:sp>
        <p:nvSpPr>
          <p:cNvPr id="3" name="Прямоугольник: скругленные углы 2">
            <a:extLst>
              <a:ext uri="{FF2B5EF4-FFF2-40B4-BE49-F238E27FC236}">
                <a16:creationId xmlns:a16="http://schemas.microsoft.com/office/drawing/2014/main" id="{27A15473-FBA7-4642-BA4A-5124810ECA16}"/>
              </a:ext>
            </a:extLst>
          </p:cNvPr>
          <p:cNvSpPr/>
          <p:nvPr/>
        </p:nvSpPr>
        <p:spPr>
          <a:xfrm>
            <a:off x="212724" y="914400"/>
            <a:ext cx="14630327" cy="3352800"/>
          </a:xfrm>
          <a:prstGeom prst="roundRect">
            <a:avLst>
              <a:gd name="adj" fmla="val 10624"/>
            </a:avLst>
          </a:prstGeom>
          <a:solidFill>
            <a:srgbClr val="E7E9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6" name="Группа 5">
            <a:extLst>
              <a:ext uri="{FF2B5EF4-FFF2-40B4-BE49-F238E27FC236}">
                <a16:creationId xmlns:a16="http://schemas.microsoft.com/office/drawing/2014/main" id="{1FEE7748-D7DD-4604-8236-1DC562AC9205}"/>
              </a:ext>
            </a:extLst>
          </p:cNvPr>
          <p:cNvGrpSpPr/>
          <p:nvPr/>
        </p:nvGrpSpPr>
        <p:grpSpPr>
          <a:xfrm>
            <a:off x="900035" y="2283075"/>
            <a:ext cx="3333750" cy="1665832"/>
            <a:chOff x="615951" y="2486275"/>
            <a:chExt cx="3333750" cy="1665832"/>
          </a:xfrm>
        </p:grpSpPr>
        <p:sp>
          <p:nvSpPr>
            <p:cNvPr id="4" name="TextBox 3">
              <a:extLst>
                <a:ext uri="{FF2B5EF4-FFF2-40B4-BE49-F238E27FC236}">
                  <a16:creationId xmlns:a16="http://schemas.microsoft.com/office/drawing/2014/main" id="{BC4BA32E-BA94-4282-8A20-8978DC6912F0}"/>
                </a:ext>
              </a:extLst>
            </p:cNvPr>
            <p:cNvSpPr txBox="1"/>
            <p:nvPr/>
          </p:nvSpPr>
          <p:spPr>
            <a:xfrm>
              <a:off x="615951" y="2486275"/>
              <a:ext cx="2880918" cy="620491"/>
            </a:xfrm>
            <a:prstGeom prst="rect">
              <a:avLst/>
            </a:prstGeom>
            <a:noFill/>
          </p:spPr>
          <p:txBody>
            <a:bodyPr wrap="square" rtlCol="0">
              <a:spAutoFit/>
            </a:bodyPr>
            <a:lstStyle/>
            <a:p>
              <a:pPr>
                <a:lnSpc>
                  <a:spcPct val="50000"/>
                </a:lnSpc>
              </a:pPr>
              <a:r>
                <a:rPr sz="3200" lang="en-US">
                  <a:solidFill>
                    <a:srgbClr val="002060"/>
                  </a:solidFill>
                  <a:latin typeface="Unbounded SemiBold"/>
                </a:rPr>
                <a:t>88проектов </a:t>
              </a:r>
            </a:p>
          </p:txBody>
        </p:sp>
        <p:sp>
          <p:nvSpPr>
            <p:cNvPr id="5" name="TextBox 4">
              <a:extLst>
                <a:ext uri="{FF2B5EF4-FFF2-40B4-BE49-F238E27FC236}">
                  <a16:creationId xmlns:a16="http://schemas.microsoft.com/office/drawing/2014/main" id="{17951809-C124-4D55-AB18-9B1A9157C311}"/>
                </a:ext>
              </a:extLst>
            </p:cNvPr>
            <p:cNvSpPr txBox="1"/>
            <p:nvPr/>
          </p:nvSpPr>
          <p:spPr>
            <a:xfrm>
              <a:off x="622301" y="3074889"/>
              <a:ext cx="3327400" cy="1077218"/>
            </a:xfrm>
            <a:prstGeom prst="rect">
              <a:avLst/>
            </a:prstGeom>
            <a:noFill/>
          </p:spPr>
          <p:txBody>
            <a:bodyPr wrap="square" rtlCol="0">
              <a:spAutoFit/>
            </a:bodyPr>
            <a:lstStyle/>
            <a:p>
              <a:r>
                <a:rPr sz="1600" lang="ru-RU">
                  <a:solidFill>
                    <a:srgbClr val="000000"/>
                  </a:solidFill>
                  <a:latin typeface="HelveticaNeueCyr"/>
                </a:rPr>
                <a:t>с применением искусственного интеллекта реализуетсяв Москве в различных отраслях городского хозяйства</a:t>
              </a:r>
            </a:p>
          </p:txBody>
        </p:sp>
      </p:grpSp>
      <p:grpSp>
        <p:nvGrpSpPr>
          <p:cNvPr id="8" name="Группа 7">
            <a:extLst>
              <a:ext uri="{FF2B5EF4-FFF2-40B4-BE49-F238E27FC236}">
                <a16:creationId xmlns:a16="http://schemas.microsoft.com/office/drawing/2014/main" id="{4365B79F-6AC3-4665-942C-EDB7D17E3B72}"/>
              </a:ext>
            </a:extLst>
          </p:cNvPr>
          <p:cNvGrpSpPr/>
          <p:nvPr/>
        </p:nvGrpSpPr>
        <p:grpSpPr>
          <a:xfrm>
            <a:off x="412824" y="685223"/>
            <a:ext cx="13921126" cy="3101837"/>
            <a:chOff x="356347" y="1409171"/>
            <a:chExt cx="13921126" cy="3101837"/>
          </a:xfrm>
        </p:grpSpPr>
        <p:graphicFrame>
          <p:nvGraphicFramePr>
            <p:cNvPr id="9" name="Схема 8">
              <a:extLst>
                <a:ext uri="{FF2B5EF4-FFF2-40B4-BE49-F238E27FC236}">
                  <a16:creationId xmlns:a16="http://schemas.microsoft.com/office/drawing/2014/main" id="{88D8D8C7-6BC3-47C6-9F30-A3F468E85215}"/>
                </a:ext>
              </a:extLst>
            </p:cNvPr>
            <p:cNvGraphicFramePr/>
            <p:nvPr>
              <p:extLst>
                <p:ext uri="{D42A27DB-BD31-4B8C-83A1-F6EECF244321}">
                  <p14:modId xmlns:p14="http://schemas.microsoft.com/office/powerpoint/2010/main" val="1778634834"/>
                </p:ext>
              </p:extLst>
            </p:nvPr>
          </p:nvGraphicFramePr>
          <p:xfrm>
            <a:off x="573436" y="1409171"/>
            <a:ext cx="13704037" cy="2120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Прямоугольник 9">
              <a:extLst>
                <a:ext uri="{FF2B5EF4-FFF2-40B4-BE49-F238E27FC236}">
                  <a16:creationId xmlns:a16="http://schemas.microsoft.com/office/drawing/2014/main" id="{8112A8C9-734B-479B-96FF-D91E0CD7A443}"/>
                </a:ext>
              </a:extLst>
            </p:cNvPr>
            <p:cNvSpPr/>
            <p:nvPr/>
          </p:nvSpPr>
          <p:spPr>
            <a:xfrm>
              <a:off x="8747812" y="3435807"/>
              <a:ext cx="2880918" cy="54865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1" name="Прямоугольник 10">
              <a:extLst>
                <a:ext uri="{FF2B5EF4-FFF2-40B4-BE49-F238E27FC236}">
                  <a16:creationId xmlns:a16="http://schemas.microsoft.com/office/drawing/2014/main" id="{36F0406D-9B1E-480A-839A-0553DC7AF874}"/>
                </a:ext>
              </a:extLst>
            </p:cNvPr>
            <p:cNvSpPr/>
            <p:nvPr/>
          </p:nvSpPr>
          <p:spPr>
            <a:xfrm>
              <a:off x="573437" y="2480045"/>
              <a:ext cx="2880918" cy="5495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2" name="Прямоугольник 11">
              <a:extLst>
                <a:ext uri="{FF2B5EF4-FFF2-40B4-BE49-F238E27FC236}">
                  <a16:creationId xmlns:a16="http://schemas.microsoft.com/office/drawing/2014/main" id="{48CBF977-A72D-4B7A-8AA7-D1ABF14C1AAB}"/>
                </a:ext>
              </a:extLst>
            </p:cNvPr>
            <p:cNvSpPr/>
            <p:nvPr/>
          </p:nvSpPr>
          <p:spPr>
            <a:xfrm>
              <a:off x="356347" y="1739155"/>
              <a:ext cx="3288510" cy="54952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sp>
          <p:nvSpPr>
            <p:cNvPr id="13" name="Прямоугольник 12">
              <a:extLst>
                <a:ext uri="{FF2B5EF4-FFF2-40B4-BE49-F238E27FC236}">
                  <a16:creationId xmlns:a16="http://schemas.microsoft.com/office/drawing/2014/main" id="{08FFCFC8-EBE8-4F32-9E58-84A3BFAE01CA}"/>
                </a:ext>
              </a:extLst>
            </p:cNvPr>
            <p:cNvSpPr/>
            <p:nvPr/>
          </p:nvSpPr>
          <p:spPr>
            <a:xfrm>
              <a:off x="2650330" y="3961486"/>
              <a:ext cx="2880918" cy="54952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p/>
          </p:txBody>
        </p:sp>
      </p:grpSp>
      <p:sp>
        <p:nvSpPr>
          <p:cNvPr id="16" name="TextBox 15">
            <a:extLst>
              <a:ext uri="{FF2B5EF4-FFF2-40B4-BE49-F238E27FC236}">
                <a16:creationId xmlns:a16="http://schemas.microsoft.com/office/drawing/2014/main" id="{FD4A6660-5CEF-40CF-AE8D-1EC38C5E7BB6}"/>
              </a:ext>
            </a:extLst>
          </p:cNvPr>
          <p:cNvSpPr txBox="1"/>
          <p:nvPr/>
        </p:nvSpPr>
        <p:spPr>
          <a:xfrm>
            <a:off x="11270513" y="2185745"/>
            <a:ext cx="3531444" cy="1754326"/>
          </a:xfrm>
          <a:prstGeom prst="rect">
            <a:avLst/>
          </a:prstGeom>
          <a:noFill/>
        </p:spPr>
        <p:txBody>
          <a:bodyPr wrap="square" rtlCol="0">
            <a:spAutoFit/>
          </a:bodyPr>
          <a:lstStyle/>
          <a:p>
            <a:pPr marL="285750" indent="-285750">
              <a:buFont typeface="Arial" panose="020B0604020202020204" pitchFamily="34" charset="0"/>
              <a:buChar char="•"/>
            </a:pPr>
            <a:r>
              <a:rPr sz="1600" lang="ru-RU">
                <a:solidFill>
                  <a:srgbClr val="000000"/>
                </a:solidFill>
                <a:latin typeface="HelveticaNeueCyr"/>
              </a:rPr>
              <a:t>Обеспечение созданияэко-системы ИИ
Внедрение ИИ-технологийв деятельность все ОИВ Москвы
Масштабирование опыта Москвы на субъекты РФ</a:t>
            </a:r>
            <a:endParaRPr lang="ru-RU" sz="600" dirty="0">
              <a:latin typeface="HelveticaNeueCyr" panose="02000503040000020004" pitchFamily="2" charset="-52"/>
            </a:endParaRPr>
          </a:p>
        </p:txBody>
      </p:sp>
      <p:sp>
        <p:nvSpPr>
          <p:cNvPr id="18" name="TextBox 17">
            <a:extLst>
              <a:ext uri="{FF2B5EF4-FFF2-40B4-BE49-F238E27FC236}">
                <a16:creationId xmlns:a16="http://schemas.microsoft.com/office/drawing/2014/main" id="{6A0795E8-75E8-4C47-AAF7-229FF4F62A22}"/>
              </a:ext>
            </a:extLst>
          </p:cNvPr>
          <p:cNvSpPr txBox="1"/>
          <p:nvPr/>
        </p:nvSpPr>
        <p:spPr>
          <a:xfrm>
            <a:off x="310945" y="4649363"/>
            <a:ext cx="2561920" cy="307777"/>
          </a:xfrm>
          <a:prstGeom prst="rect">
            <a:avLst/>
          </a:prstGeom>
          <a:noFill/>
        </p:spPr>
        <p:txBody>
          <a:bodyPr wrap="none" rtlCol="0">
            <a:spAutoFit/>
          </a:bodyPr>
          <a:lstStyle/>
          <a:p>
            <a:r>
              <a:rPr sz="1200" b="1" lang="ru-RU">
                <a:solidFill>
                  <a:srgbClr val="000000"/>
                </a:solidFill>
                <a:latin typeface="Unbounded SemiBold"/>
              </a:rPr>
              <a:t>Объем GPU (RAM), ГБ</a:t>
            </a:r>
          </a:p>
        </p:txBody>
      </p:sp>
      <p:graphicFrame>
        <p:nvGraphicFramePr>
          <p:cNvPr id="19" name="Диаграмма 18">
            <a:extLst>
              <a:ext uri="{FF2B5EF4-FFF2-40B4-BE49-F238E27FC236}">
                <a16:creationId xmlns:a16="http://schemas.microsoft.com/office/drawing/2014/main" id="{93D79870-2041-4962-9C94-D5ADFC71513A}"/>
              </a:ext>
            </a:extLst>
          </p:cNvPr>
          <p:cNvGraphicFramePr/>
          <p:nvPr>
            <p:extLst>
              <p:ext uri="{D42A27DB-BD31-4B8C-83A1-F6EECF244321}">
                <p14:modId xmlns:p14="http://schemas.microsoft.com/office/powerpoint/2010/main" val="241824327"/>
              </p:ext>
            </p:extLst>
          </p:nvPr>
        </p:nvGraphicFramePr>
        <p:xfrm>
          <a:off x="412824" y="4912452"/>
          <a:ext cx="6025572" cy="4440095"/>
        </p:xfrm>
        <a:graphic>
          <a:graphicData uri="http://schemas.openxmlformats.org/drawingml/2006/chart">
            <c:chart xmlns:c="http://schemas.openxmlformats.org/drawingml/2006/chart" xmlns:r="http://schemas.openxmlformats.org/officeDocument/2006/relationships" r:id="rId8"/>
          </a:graphicData>
        </a:graphic>
      </p:graphicFrame>
      <p:cxnSp>
        <p:nvCxnSpPr>
          <p:cNvPr id="20" name="Прямая соединительная линия 19">
            <a:extLst>
              <a:ext uri="{FF2B5EF4-FFF2-40B4-BE49-F238E27FC236}">
                <a16:creationId xmlns:a16="http://schemas.microsoft.com/office/drawing/2014/main" id="{47BDF933-48AE-49D8-A3F8-2ED66BA22D57}"/>
              </a:ext>
            </a:extLst>
          </p:cNvPr>
          <p:cNvCxnSpPr>
            <a:cxnSpLocks/>
          </p:cNvCxnSpPr>
          <p:nvPr/>
        </p:nvCxnSpPr>
        <p:spPr>
          <a:xfrm>
            <a:off x="3677481" y="6487485"/>
            <a:ext cx="0" cy="1734936"/>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EC5D350-7A04-468A-878B-53E6FEB7926E}"/>
              </a:ext>
            </a:extLst>
          </p:cNvPr>
          <p:cNvSpPr txBox="1"/>
          <p:nvPr/>
        </p:nvSpPr>
        <p:spPr>
          <a:xfrm>
            <a:off x="3141421" y="8222421"/>
            <a:ext cx="1426140" cy="261610"/>
          </a:xfrm>
          <a:prstGeom prst="rect">
            <a:avLst/>
          </a:prstGeom>
          <a:noFill/>
        </p:spPr>
        <p:txBody>
          <a:bodyPr wrap="square" rtlCol="0">
            <a:spAutoFit/>
          </a:bodyPr>
          <a:lstStyle/>
          <a:p>
            <a:r>
              <a:rPr sz="1100" lang="en-US">
                <a:solidFill>
                  <a:srgbClr val="000000"/>
                </a:solidFill>
                <a:latin typeface="HelveticaNeueCyr"/>
              </a:rPr>
              <a:t>01.07.2024</a:t>
            </a:r>
            <a:endParaRPr lang="ru-RU" sz="1100" kern="1200" dirty="0">
              <a:solidFill>
                <a:schemeClr val="tx1">
                  <a:lumMod val="65000"/>
                  <a:lumOff val="35000"/>
                </a:schemeClr>
              </a:solidFill>
              <a:latin typeface="HelveticaNeueCyr" panose="02000503040000020004" pitchFamily="2" charset="-52"/>
              <a:ea typeface="+mn-ea"/>
              <a:cs typeface="+mn-cs"/>
            </a:endParaRPr>
          </a:p>
        </p:txBody>
      </p:sp>
      <p:sp>
        <p:nvSpPr>
          <p:cNvPr id="23" name="TextBox 22">
            <a:extLst>
              <a:ext uri="{FF2B5EF4-FFF2-40B4-BE49-F238E27FC236}">
                <a16:creationId xmlns:a16="http://schemas.microsoft.com/office/drawing/2014/main" id="{BE2B0A66-2781-4D6D-A4C1-0ADF93643ABF}"/>
              </a:ext>
            </a:extLst>
          </p:cNvPr>
          <p:cNvSpPr txBox="1"/>
          <p:nvPr/>
        </p:nvSpPr>
        <p:spPr>
          <a:xfrm>
            <a:off x="7146851" y="4587639"/>
            <a:ext cx="7556500" cy="728789"/>
          </a:xfrm>
          <a:prstGeom prst="rect">
            <a:avLst/>
          </a:prstGeom>
          <a:noFill/>
        </p:spPr>
        <p:txBody>
          <a:bodyPr wrap="square" rtlCol="0">
            <a:spAutoFit/>
          </a:bodyPr>
          <a:lstStyle/>
          <a:p>
            <a:pPr>
              <a:lnSpc>
                <a:spcPct val="120000"/>
              </a:lnSpc>
            </a:pPr>
            <a:r>
              <a:rPr sz="1800" lang="ru-RU">
                <a:solidFill>
                  <a:srgbClr val="002060"/>
                </a:solidFill>
                <a:latin typeface="Unbounded SemiBold"/>
              </a:rPr>
              <a:t>На текущий момент кластер GPU серверов включает в себя:</a:t>
            </a:r>
          </a:p>
        </p:txBody>
      </p:sp>
      <p:sp>
        <p:nvSpPr>
          <p:cNvPr id="26" name="TextBox 25">
            <a:extLst>
              <a:ext uri="{FF2B5EF4-FFF2-40B4-BE49-F238E27FC236}">
                <a16:creationId xmlns:a16="http://schemas.microsoft.com/office/drawing/2014/main" id="{0E5BBC65-47E3-4124-8D52-080039C06156}"/>
              </a:ext>
            </a:extLst>
          </p:cNvPr>
          <p:cNvSpPr txBox="1"/>
          <p:nvPr/>
        </p:nvSpPr>
        <p:spPr>
          <a:xfrm>
            <a:off x="7330347" y="6820960"/>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3 200 ГБ 
генеративный ИИ</a:t>
            </a:r>
          </a:p>
        </p:txBody>
      </p:sp>
      <p:sp>
        <p:nvSpPr>
          <p:cNvPr id="28" name="TextBox 27">
            <a:extLst>
              <a:ext uri="{FF2B5EF4-FFF2-40B4-BE49-F238E27FC236}">
                <a16:creationId xmlns:a16="http://schemas.microsoft.com/office/drawing/2014/main" id="{95BCF28A-D0B2-4797-AC73-4E6A3A0ADAD5}"/>
              </a:ext>
            </a:extLst>
          </p:cNvPr>
          <p:cNvSpPr txBox="1"/>
          <p:nvPr/>
        </p:nvSpPr>
        <p:spPr>
          <a:xfrm>
            <a:off x="7330347" y="5779599"/>
            <a:ext cx="2880918" cy="707886"/>
          </a:xfrm>
          <a:prstGeom prst="rect">
            <a:avLst/>
          </a:prstGeom>
          <a:noFill/>
        </p:spPr>
        <p:txBody>
          <a:bodyPr wrap="square" rtlCol="0">
            <a:spAutoFit/>
          </a:bodyPr>
          <a:lstStyle/>
          <a:p>
            <a:pPr>
              <a:lnSpc>
                <a:spcPct val="80000"/>
              </a:lnSpc>
            </a:pPr>
            <a:r>
              <a:rPr sz="3200" lang="ru-RU">
                <a:solidFill>
                  <a:srgbClr val="002060"/>
                </a:solidFill>
                <a:latin typeface="Unbounded SemiBold"/>
              </a:rPr>
              <a:t>4 032 ГБ рендеринг</a:t>
            </a:r>
            <a:endParaRPr lang="ru-RU" sz="3200" dirty="0">
              <a:solidFill>
                <a:srgbClr val="002060"/>
              </a:solidFill>
              <a:latin typeface="Unbounded SemiBold" pitchFamily="2" charset="-52"/>
            </a:endParaRPr>
          </a:p>
        </p:txBody>
      </p:sp>
      <p:sp>
        <p:nvSpPr>
          <p:cNvPr id="30" name="TextBox 29">
            <a:extLst>
              <a:ext uri="{FF2B5EF4-FFF2-40B4-BE49-F238E27FC236}">
                <a16:creationId xmlns:a16="http://schemas.microsoft.com/office/drawing/2014/main" id="{2C2A1002-3F1D-4E3A-9706-A8F117BC83D3}"/>
              </a:ext>
            </a:extLst>
          </p:cNvPr>
          <p:cNvSpPr txBox="1"/>
          <p:nvPr/>
        </p:nvSpPr>
        <p:spPr>
          <a:xfrm>
            <a:off x="7146851" y="7936775"/>
            <a:ext cx="7156003" cy="1415772"/>
          </a:xfrm>
          <a:prstGeom prst="rect">
            <a:avLst/>
          </a:prstGeom>
          <a:noFill/>
        </p:spPr>
        <p:txBody>
          <a:bodyPr wrap="square" rtlCol="0">
            <a:spAutoFit/>
          </a:bodyPr>
          <a:lstStyle/>
          <a:p>
            <a:r>
              <a:rPr sz="1800" lang="ru-RU">
                <a:solidFill>
                  <a:srgbClr val="002060"/>
                </a:solidFill>
                <a:latin typeface="Unbounded SemiBold"/>
              </a:rPr>
              <a:t>Показатель утилизации кластера GPU серверов, на данный момент составляет до 100%.Утилизация – доля ресурсов системы, которые используются для выполнения работ</a:t>
            </a:r>
          </a:p>
        </p:txBody>
      </p:sp>
    </p:spTree>
    <p:extLst>
      <p:ext uri="{BB962C8B-B14F-4D97-AF65-F5344CB8AC3E}">
        <p14:creationId xmlns:p14="http://schemas.microsoft.com/office/powerpoint/2010/main" val="72018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Рынок графических процессоров</a:t>
            </a:r>
          </a:p>
        </p:txBody>
      </p:sp>
      <p:graphicFrame>
        <p:nvGraphicFramePr>
          <p:cNvPr id="14" name="Таблица 13">
            <a:extLst>
              <a:ext uri="{FF2B5EF4-FFF2-40B4-BE49-F238E27FC236}">
                <a16:creationId xmlns:a16="http://schemas.microsoft.com/office/drawing/2014/main" id="{384FEDC1-004B-4AFE-B12A-3905D3F76C06}"/>
              </a:ext>
            </a:extLst>
          </p:cNvPr>
          <p:cNvGraphicFramePr>
            <a:graphicFrameLocks noGrp="1"/>
          </p:cNvGraphicFramePr>
          <p:nvPr>
            <p:extLst>
              <p:ext uri="{D42A27DB-BD31-4B8C-83A1-F6EECF244321}">
                <p14:modId xmlns:p14="http://schemas.microsoft.com/office/powerpoint/2010/main" val="3620563025"/>
              </p:ext>
            </p:extLst>
          </p:nvPr>
        </p:nvGraphicFramePr>
        <p:xfrm>
          <a:off x="447674" y="763905"/>
          <a:ext cx="14220825" cy="9479280"/>
        </p:xfrm>
        <a:graphic>
          <a:graphicData uri="http://schemas.openxmlformats.org/drawingml/2006/table">
            <a:tbl>
              <a:tblPr firstRow="1" bandRow="1">
                <a:tableStyleId>{5C22544A-7EE6-4342-B048-85BDC9FD1C3A}</a:tableStyleId>
              </a:tblPr>
              <a:tblGrid>
                <a:gridCol w="1254200">
                  <a:extLst>
                    <a:ext uri="{9D8B030D-6E8A-4147-A177-3AD203B41FA5}">
                      <a16:colId xmlns:a16="http://schemas.microsoft.com/office/drawing/2014/main" val="2584254708"/>
                    </a:ext>
                  </a:extLst>
                </a:gridCol>
                <a:gridCol w="2291622">
                  <a:extLst>
                    <a:ext uri="{9D8B030D-6E8A-4147-A177-3AD203B41FA5}">
                      <a16:colId xmlns:a16="http://schemas.microsoft.com/office/drawing/2014/main" val="722765251"/>
                    </a:ext>
                  </a:extLst>
                </a:gridCol>
                <a:gridCol w="2523881">
                  <a:extLst>
                    <a:ext uri="{9D8B030D-6E8A-4147-A177-3AD203B41FA5}">
                      <a16:colId xmlns:a16="http://schemas.microsoft.com/office/drawing/2014/main" val="2020830982"/>
                    </a:ext>
                  </a:extLst>
                </a:gridCol>
                <a:gridCol w="2662068">
                  <a:extLst>
                    <a:ext uri="{9D8B030D-6E8A-4147-A177-3AD203B41FA5}">
                      <a16:colId xmlns:a16="http://schemas.microsoft.com/office/drawing/2014/main" val="2594056973"/>
                    </a:ext>
                  </a:extLst>
                </a:gridCol>
                <a:gridCol w="2662068">
                  <a:extLst>
                    <a:ext uri="{9D8B030D-6E8A-4147-A177-3AD203B41FA5}">
                      <a16:colId xmlns:a16="http://schemas.microsoft.com/office/drawing/2014/main" val="3223612353"/>
                    </a:ext>
                  </a:extLst>
                </a:gridCol>
                <a:gridCol w="2826986">
                  <a:extLst>
                    <a:ext uri="{9D8B030D-6E8A-4147-A177-3AD203B41FA5}">
                      <a16:colId xmlns:a16="http://schemas.microsoft.com/office/drawing/2014/main" val="2444594272"/>
                    </a:ext>
                  </a:extLst>
                </a:gridCol>
              </a:tblGrid>
              <a:tr h="370840">
                <a:tc>
                  <a:txBody>
                    <a:bodyPr/>
                    <a:lstStyle/>
                    <a:p>
                      <a:r>
                        <a:rPr lang="ru-RU" sz="1000">
                          <a:solidFill>
                            <a:schemeClr val="bg1"/>
                          </a:solidFill>
                          <a:latin typeface="HelveticaNeueCyr" panose="020B0604020202020204" charset="-52"/>
                        </a:rPr>
                        <a:t>Тип процессора</a:t>
                      </a:r>
                      <a:endParaRPr lang="ru-RU" sz="1000" dirty="0">
                        <a:solidFill>
                          <a:schemeClr val="bg1"/>
                        </a:solidFill>
                        <a:latin typeface="HelveticaNeueCyr" panose="020B0604020202020204" charset="-52"/>
                      </a:endParaRPr>
                    </a:p>
                  </a:txBody>
                  <a:tcPr anchor="ct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Центральный процессор (ЦП)</a:t>
                      </a:r>
                    </a:p>
                    <a:p>
                      <a:pPr algn="ctr"/>
                      <a:r>
                        <a:rPr lang="en-US" sz="1000" b="1" i="1" kern="1200">
                          <a:solidFill>
                            <a:schemeClr val="bg1"/>
                          </a:solidFill>
                          <a:latin typeface="HelveticaNeueCyr" panose="020B0604020202020204" charset="-52"/>
                          <a:cs typeface="Wix Madefor Display" panose="020B0503020203020203" pitchFamily="34" charset="-52"/>
                        </a:rPr>
                        <a:t>Central Processing Unit (CPU) </a:t>
                      </a:r>
                      <a:endParaRPr lang="ru-RU" sz="1000" b="0"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Графический процессор (ГП)</a:t>
                      </a:r>
                      <a:endParaRPr lang="ru-RU" sz="1000" b="1" i="0" kern="1200">
                        <a:solidFill>
                          <a:schemeClr val="bg1"/>
                        </a:solidFill>
                        <a:latin typeface="HelveticaNeueCyr" panose="020B0604020202020204" charset="-52"/>
                        <a:cs typeface="Wix Madefor Display ExtraBold" panose="020B0503020203020203" pitchFamily="34" charset="-52"/>
                      </a:endParaRPr>
                    </a:p>
                    <a:p>
                      <a:pPr algn="ctr"/>
                      <a:r>
                        <a:rPr lang="en-US" sz="1000" b="1" i="1" kern="1200">
                          <a:solidFill>
                            <a:schemeClr val="bg1"/>
                          </a:solidFill>
                          <a:latin typeface="HelveticaNeueCyr" panose="020B0604020202020204" charset="-52"/>
                          <a:cs typeface="Wix Madefor Display" panose="020B0503020203020203" pitchFamily="34" charset="-52"/>
                        </a:rPr>
                        <a:t>Graphics Processing Unit (GPU)</a:t>
                      </a:r>
                      <a:endParaRPr lang="en-US" sz="1000" b="1" i="1" kern="1200" dirty="0">
                        <a:solidFill>
                          <a:schemeClr val="bg1"/>
                        </a:solidFill>
                        <a:latin typeface="HelveticaNeueCyr" panose="020B0604020202020204" charset="-52"/>
                        <a:cs typeface="Wix Madefor Display"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b="1" i="0" dirty="0">
                          <a:solidFill>
                            <a:schemeClr val="bg1"/>
                          </a:solidFill>
                          <a:latin typeface="HelveticaNeueCyr" panose="020B0604020202020204" charset="-52"/>
                        </a:rPr>
                        <a:t>Нейронный процессор (НП)</a:t>
                      </a:r>
                    </a:p>
                    <a:p>
                      <a:pPr algn="ctr"/>
                      <a:r>
                        <a:rPr lang="en-US" sz="1000" b="1" i="1" dirty="0">
                          <a:solidFill>
                            <a:schemeClr val="bg1"/>
                          </a:solidFill>
                          <a:latin typeface="HelveticaNeueCyr" panose="020B0604020202020204" charset="-52"/>
                        </a:rPr>
                        <a:t>Neural Processing Unit </a:t>
                      </a:r>
                      <a:r>
                        <a:rPr lang="ru-RU" sz="1000" b="1" i="1" dirty="0">
                          <a:solidFill>
                            <a:schemeClr val="bg1"/>
                          </a:solidFill>
                          <a:latin typeface="HelveticaNeueCyr" panose="020B0604020202020204" charset="-52"/>
                        </a:rPr>
                        <a:t>(</a:t>
                      </a:r>
                      <a:r>
                        <a:rPr lang="en-US" sz="1000" b="1" i="1" dirty="0">
                          <a:solidFill>
                            <a:schemeClr val="bg1"/>
                          </a:solidFill>
                          <a:latin typeface="HelveticaNeueCyr" panose="020B0604020202020204" charset="-52"/>
                        </a:rPr>
                        <a:t>NPU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dirty="0">
                          <a:solidFill>
                            <a:schemeClr val="bg1"/>
                          </a:solidFill>
                          <a:latin typeface="HelveticaNeueCyr" panose="020B0604020202020204" charset="-52"/>
                          <a:cs typeface="Wix Madefor Display ExtraBold" panose="020B0503020203020203" pitchFamily="34" charset="-52"/>
                        </a:rPr>
                        <a:t>Тензорный процессор (ТП)</a:t>
                      </a:r>
                    </a:p>
                    <a:p>
                      <a:pPr algn="ctr"/>
                      <a:r>
                        <a:rPr lang="en-US" sz="1000" b="1" i="1" dirty="0">
                          <a:solidFill>
                            <a:schemeClr val="bg1"/>
                          </a:solidFill>
                          <a:latin typeface="HelveticaNeueCyr" panose="020B0604020202020204" charset="-52"/>
                        </a:rPr>
                        <a:t>Tensor Processing Unit</a:t>
                      </a:r>
                      <a:r>
                        <a:rPr lang="ru-RU" sz="1000" b="1" i="1" dirty="0">
                          <a:solidFill>
                            <a:schemeClr val="bg1"/>
                          </a:solidFill>
                          <a:latin typeface="HelveticaNeueCyr" panose="020B0604020202020204" charset="-52"/>
                        </a:rPr>
                        <a:t> (</a:t>
                      </a:r>
                      <a:r>
                        <a:rPr lang="en-US" sz="1000" b="1" i="1" dirty="0">
                          <a:solidFill>
                            <a:schemeClr val="bg1"/>
                          </a:solidFill>
                          <a:latin typeface="HelveticaNeueCyr" panose="020B0604020202020204" charset="-52"/>
                        </a:rPr>
                        <a:t>TPU</a:t>
                      </a:r>
                      <a:r>
                        <a:rPr lang="ru-RU" sz="1000" b="1" i="1" dirty="0">
                          <a:solidFill>
                            <a:schemeClr val="bg1"/>
                          </a:solidFill>
                          <a:latin typeface="HelveticaNeueCyr" panose="020B0604020202020204" charset="-52"/>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pPr algn="ctr"/>
                      <a:r>
                        <a:rPr lang="ru-RU" sz="1000" kern="1200">
                          <a:solidFill>
                            <a:schemeClr val="bg1"/>
                          </a:solidFill>
                          <a:latin typeface="HelveticaNeueCyr" panose="020B0604020202020204" charset="-52"/>
                          <a:cs typeface="Wix Madefor Display ExtraBold" panose="020B0503020203020203" pitchFamily="34" charset="-52"/>
                        </a:rPr>
                        <a:t>Квантовый компьютер</a:t>
                      </a:r>
                      <a:endParaRPr lang="ru-RU" sz="1000" kern="1200" dirty="0">
                        <a:solidFill>
                          <a:schemeClr val="bg1"/>
                        </a:solidFill>
                        <a:latin typeface="HelveticaNeueCyr" panose="020B0604020202020204" charset="-52"/>
                        <a:cs typeface="Wix Madefor Display ExtraBold" panose="020B0503020203020203" pitchFamily="34" charset="-52"/>
                      </a:endParaRPr>
                    </a:p>
                  </a:txBody>
                  <a:tcPr anchor="ct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1509959555"/>
                  </a:ext>
                </a:extLst>
              </a:tr>
              <a:tr h="370840">
                <a:tc>
                  <a:txBody>
                    <a:bodyPr/>
                    <a:lstStyle/>
                    <a:p>
                      <a:r>
                        <a:rPr lang="ru-RU" sz="1000" b="1">
                          <a:solidFill>
                            <a:schemeClr val="tx1"/>
                          </a:solidFill>
                          <a:latin typeface="HelveticaNeueCyr" panose="020B0604020202020204" charset="-52"/>
                        </a:rPr>
                        <a:t>Описание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kern="1200" dirty="0">
                          <a:solidFill>
                            <a:schemeClr val="tx1"/>
                          </a:solidFill>
                          <a:latin typeface="HelveticaNeueCyr" panose="020B0604020202020204" charset="-52"/>
                          <a:cs typeface="Wix Madefor Display" panose="020B0503020203020203" pitchFamily="34" charset="-52"/>
                        </a:rPr>
                        <a:t>Главная часть компьютера, представляющая собой микросхему, которая исполняет машинные инструкции (код программ)</a:t>
                      </a:r>
                      <a:endParaRPr lang="ru-RU" sz="100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i="0" kern="1200">
                          <a:solidFill>
                            <a:schemeClr val="tx1"/>
                          </a:solidFill>
                          <a:latin typeface="HelveticaNeueCyr" panose="020B0604020202020204" charset="-52"/>
                          <a:cs typeface="Wix Madefor Display" panose="020B0503020203020203" pitchFamily="34" charset="-52"/>
                        </a:rPr>
                        <a:t>Микросхема компьютера, ускоряющая производительность, которая обрабатывает графику и выполняет расчеты, связанные с ней, помогая ЦП</a:t>
                      </a:r>
                      <a:endParaRPr lang="ru-RU" sz="1000" b="0" i="0" kern="120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Микросхема, используемая для аппаратного ускорения работы алгоритмов искусственных нейронных сетей, компьютерного зрения, машинного обучения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dirty="0">
                          <a:solidFill>
                            <a:schemeClr val="tx1"/>
                          </a:solidFill>
                          <a:latin typeface="HelveticaNeueCyr" panose="020B0604020202020204" charset="-52"/>
                          <a:cs typeface="Wix Madefor Display" panose="020B0503020203020203" pitchFamily="34" charset="-52"/>
                        </a:rPr>
                        <a:t>Интегральная схема для выполнения высокопроизводительных вычислений</a:t>
                      </a:r>
                      <a:br>
                        <a:rPr lang="ru-RU" sz="1000" b="0" dirty="0">
                          <a:solidFill>
                            <a:schemeClr val="tx1"/>
                          </a:solidFill>
                          <a:latin typeface="HelveticaNeueCyr" panose="020B0604020202020204" charset="-52"/>
                          <a:cs typeface="Wix Madefor Display" panose="020B0503020203020203" pitchFamily="34" charset="-52"/>
                        </a:rPr>
                      </a:br>
                      <a:r>
                        <a:rPr lang="ru-RU" sz="1000" b="0" dirty="0">
                          <a:solidFill>
                            <a:schemeClr val="tx1"/>
                          </a:solidFill>
                          <a:latin typeface="HelveticaNeueCyr" panose="020B0604020202020204" charset="-52"/>
                          <a:cs typeface="Wix Madefor Display" panose="020B0503020203020203" pitchFamily="34" charset="-52"/>
                        </a:rPr>
                        <a:t>с пониженной точностью, разработан для ускорения задач глубокого обучения</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cs typeface="Wix Madefor Display" panose="020B0503020203020203" pitchFamily="34" charset="-52"/>
                        </a:rPr>
                        <a:t>Является подвидом нейронных процессоров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0">
                          <a:solidFill>
                            <a:schemeClr val="tx1"/>
                          </a:solidFill>
                          <a:latin typeface="HelveticaNeueCyr" panose="020B0604020202020204" charset="-52"/>
                          <a:cs typeface="Wix Madefor Display" panose="020B0503020203020203" pitchFamily="34" charset="-52"/>
                        </a:rPr>
                        <a:t>Вычислительное устройство, которое использует явления квантовой механики для передачи и обработки данных</a:t>
                      </a:r>
                      <a:endParaRPr lang="ru-RU" sz="1000" b="0" dirty="0">
                        <a:solidFill>
                          <a:schemeClr val="tx1"/>
                        </a:solidFill>
                        <a:latin typeface="HelveticaNeueCyr" panose="020B0604020202020204" charset="-52"/>
                        <a:cs typeface="Wix Madefor Display" panose="020B0503020203020203" pitchFamily="3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80803855"/>
                  </a:ext>
                </a:extLst>
              </a:tr>
              <a:tr h="450215">
                <a:tc>
                  <a:txBody>
                    <a:bodyPr/>
                    <a:lstStyle/>
                    <a:p>
                      <a:r>
                        <a:rPr lang="ru-RU" sz="1000" b="1">
                          <a:solidFill>
                            <a:schemeClr val="tx1"/>
                          </a:solidFill>
                          <a:latin typeface="HelveticaNeueCyr" panose="020B0604020202020204" charset="-52"/>
                        </a:rPr>
                        <a:t>Основные функции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Управление всеми операциями на компьютере, вводом/выводом, памятью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инструкций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Выполнение арифметических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логических операций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Рендеринг графики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пикселей и вершин для создания трехмерных изображений</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Большое количество вычислений</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области графики, машинного обучения, ИИ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Обработка и анализ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Распознавание образов</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изображений</a:t>
                      </a:r>
                    </a:p>
                    <a:p>
                      <a:pPr marL="171450" indent="-171450">
                        <a:buFont typeface="Arial" panose="020B0604020202020204" pitchFamily="34" charset="0"/>
                        <a:buChar char="•"/>
                      </a:pPr>
                      <a:r>
                        <a:rPr lang="ru-RU" sz="1000" dirty="0">
                          <a:solidFill>
                            <a:schemeClr val="tx1"/>
                          </a:solidFill>
                          <a:latin typeface="HelveticaNeueCyr" panose="020B0604020202020204" charset="-52"/>
                        </a:rPr>
                        <a:t>Обучение на основе данных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Решение сложных ИИ задач классификации, прогнозирования и др.</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Ускорение задач машинного обучения</a:t>
                      </a:r>
                    </a:p>
                    <a:p>
                      <a:pPr marL="171450" indent="-171450">
                        <a:buFont typeface="Arial" panose="020B0604020202020204" pitchFamily="34" charset="0"/>
                        <a:buChar char="•"/>
                      </a:pPr>
                      <a:r>
                        <a:rPr lang="ru-RU" sz="1000">
                          <a:solidFill>
                            <a:schemeClr val="tx1"/>
                          </a:solidFill>
                          <a:latin typeface="HelveticaNeueCyr" panose="020B0604020202020204" charset="-52"/>
                        </a:rPr>
                        <a:t>Оптимизация и вычисление математических выражений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Поддержка программирования глубоких нейронных сетей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Решение сложных алгоритмических задач, на которые обычные компьютеры тратят много времени</a:t>
                      </a:r>
                    </a:p>
                    <a:p>
                      <a:pPr marL="171450" indent="-171450">
                        <a:buFont typeface="Arial" panose="020B0604020202020204" pitchFamily="34" charset="0"/>
                        <a:buChar char="•"/>
                      </a:pPr>
                      <a:r>
                        <a:rPr lang="ru-RU" sz="1000">
                          <a:solidFill>
                            <a:schemeClr val="tx1"/>
                          </a:solidFill>
                          <a:latin typeface="HelveticaNeueCyr" panose="020B0604020202020204" charset="-52"/>
                        </a:rPr>
                        <a:t>Разработка специализированных квантовых вычислителей для конкретных задач</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6720568"/>
                  </a:ext>
                </a:extLst>
              </a:tr>
              <a:tr h="398047">
                <a:tc>
                  <a:txBody>
                    <a:bodyPr/>
                    <a:lstStyle/>
                    <a:p>
                      <a:r>
                        <a:rPr lang="ru-RU" sz="1000" b="1">
                          <a:solidFill>
                            <a:schemeClr val="tx1"/>
                          </a:solidFill>
                          <a:latin typeface="HelveticaNeueCyr" panose="020B0604020202020204" charset="-52"/>
                        </a:rPr>
                        <a:t>Обработка данных</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Последовательная</a:t>
                      </a:r>
                      <a:r>
                        <a:rPr lang="ru-RU" sz="1000">
                          <a:solidFill>
                            <a:schemeClr val="tx1"/>
                          </a:solidFill>
                          <a:latin typeface="HelveticaNeueCyr" panose="020B0604020202020204" charset="-52"/>
                        </a:rPr>
                        <a:t> (выполняет каждый шаг алгоритма один за другим)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i="0" dirty="0">
                          <a:solidFill>
                            <a:schemeClr val="tx1"/>
                          </a:solidFill>
                          <a:latin typeface="HelveticaNeueCyr" panose="020B0604020202020204" charset="-52"/>
                        </a:rPr>
                        <a:t>Параллельная</a:t>
                      </a:r>
                      <a:r>
                        <a:rPr lang="ru-RU" sz="1000" dirty="0">
                          <a:solidFill>
                            <a:schemeClr val="tx1"/>
                          </a:solidFill>
                          <a:latin typeface="HelveticaNeueCyr" panose="020B0604020202020204" charset="-52"/>
                        </a:rPr>
                        <a:t> (выполняет шаги алгоритма одновременно)</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Параллельная</a:t>
                      </a:r>
                      <a:r>
                        <a:rPr lang="ru-RU" sz="1000">
                          <a:solidFill>
                            <a:schemeClr val="tx1"/>
                          </a:solidFill>
                          <a:latin typeface="HelveticaNeueCyr" panose="020B0604020202020204" charset="-52"/>
                        </a:rPr>
                        <a:t> (выполняет шаги алгоритма одновременно)</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0540654"/>
                  </a:ext>
                </a:extLst>
              </a:tr>
              <a:tr h="370840">
                <a:tc>
                  <a:txBody>
                    <a:bodyPr/>
                    <a:lstStyle/>
                    <a:p>
                      <a:r>
                        <a:rPr lang="ru-RU" sz="1000" b="1">
                          <a:solidFill>
                            <a:schemeClr val="tx1"/>
                          </a:solidFill>
                          <a:latin typeface="HelveticaNeueCyr" panose="020B0604020202020204" charset="-52"/>
                        </a:rPr>
                        <a:t>Количество ядер</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 до 96, высокая мощность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1000, меньше производительность, чем у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От 10 000 ядер и более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От 100 до 640, менее мощные, чем в ЦП</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dirty="0">
                          <a:solidFill>
                            <a:schemeClr val="tx1"/>
                          </a:solidFill>
                          <a:latin typeface="HelveticaNeueCyr" panose="020B0604020202020204" charset="-52"/>
                        </a:rPr>
                        <a:t>Ядро отсутствует, функционирование основано на принципах квантовой механики</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54473245"/>
                  </a:ext>
                </a:extLst>
              </a:tr>
              <a:tr h="445672">
                <a:tc>
                  <a:txBody>
                    <a:bodyPr/>
                    <a:lstStyle/>
                    <a:p>
                      <a:r>
                        <a:rPr lang="ru-RU" sz="1000" b="1">
                          <a:solidFill>
                            <a:schemeClr val="tx1"/>
                          </a:solidFill>
                          <a:latin typeface="HelveticaNeueCyr" panose="020B0604020202020204" charset="-52"/>
                        </a:rPr>
                        <a:t>Производители</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Intel</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Intel Core i</a:t>
                      </a:r>
                      <a:r>
                        <a:rPr lang="ru-RU" sz="1000">
                          <a:solidFill>
                            <a:schemeClr val="tx1"/>
                          </a:solidFill>
                          <a:latin typeface="HelveticaNeueCyr" panose="020B0604020202020204" charset="-52"/>
                        </a:rPr>
                        <a:t>3, </a:t>
                      </a:r>
                      <a:r>
                        <a:rPr lang="en-US" sz="1000">
                          <a:solidFill>
                            <a:schemeClr val="tx1"/>
                          </a:solidFill>
                          <a:latin typeface="HelveticaNeueCyr" panose="020B0604020202020204" charset="-52"/>
                        </a:rPr>
                        <a:t>i</a:t>
                      </a:r>
                      <a:r>
                        <a:rPr lang="ru-RU" sz="1000">
                          <a:solidFill>
                            <a:schemeClr val="tx1"/>
                          </a:solidFill>
                          <a:latin typeface="HelveticaNeueCyr" panose="020B0604020202020204" charset="-52"/>
                        </a:rPr>
                        <a:t>5,</a:t>
                      </a:r>
                      <a:r>
                        <a:rPr lang="en-US" sz="1000">
                          <a:solidFill>
                            <a:schemeClr val="tx1"/>
                          </a:solidFill>
                          <a:latin typeface="HelveticaNeueCyr" panose="020B0604020202020204" charset="-52"/>
                        </a:rPr>
                        <a:t> i</a:t>
                      </a:r>
                      <a:r>
                        <a:rPr lang="ru-RU" sz="1000">
                          <a:solidFill>
                            <a:schemeClr val="tx1"/>
                          </a:solidFill>
                          <a:latin typeface="HelveticaNeueCyr" panose="020B0604020202020204" charset="-52"/>
                        </a:rPr>
                        <a:t>7, </a:t>
                      </a:r>
                      <a:r>
                        <a:rPr lang="en-US" sz="1000">
                          <a:solidFill>
                            <a:schemeClr val="tx1"/>
                          </a:solidFill>
                          <a:latin typeface="HelveticaNeueCyr" panose="020B0604020202020204" charset="-52"/>
                        </a:rPr>
                        <a:t>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Intel</a:t>
                      </a:r>
                      <a:r>
                        <a:rPr lang="ru-RU" sz="1000">
                          <a:solidFill>
                            <a:schemeClr val="tx1"/>
                          </a:solidFill>
                          <a:latin typeface="HelveticaNeueCyr" panose="020B0604020202020204" charset="-52"/>
                        </a:rPr>
                        <a:t> </a:t>
                      </a:r>
                      <a:r>
                        <a:rPr lang="en-US" sz="1000">
                          <a:solidFill>
                            <a:schemeClr val="tx1"/>
                          </a:solidFill>
                          <a:latin typeface="HelveticaNeueCyr" panose="020B0604020202020204" charset="-52"/>
                        </a:rPr>
                        <a:t>Xeon</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Pentium</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AMD</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Athlon, Phenom, Opteron</a:t>
                      </a:r>
                      <a:r>
                        <a:rPr lang="ru-RU" sz="1000">
                          <a:solidFill>
                            <a:schemeClr val="tx1"/>
                          </a:solidFill>
                          <a:latin typeface="HelveticaNeueCyr" panose="020B0604020202020204" charset="-52"/>
                        </a:rPr>
                        <a:t>)</a:t>
                      </a:r>
                      <a:endParaRPr lang="en-US"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IBM</a:t>
                      </a:r>
                      <a:r>
                        <a:rPr lang="ru-RU" sz="1000">
                          <a:solidFill>
                            <a:schemeClr val="tx1"/>
                          </a:solidFill>
                          <a:latin typeface="HelveticaNeueCyr" panose="020B0604020202020204" charset="-52"/>
                        </a:rPr>
                        <a:t>, США</a:t>
                      </a:r>
                      <a:r>
                        <a:rPr lang="en-US" sz="1000">
                          <a:solidFill>
                            <a:schemeClr val="tx1"/>
                          </a:solidFill>
                          <a:latin typeface="HelveticaNeueCyr" panose="020B0604020202020204" charset="-52"/>
                        </a:rPr>
                        <a:t> (POWER7)</a:t>
                      </a:r>
                      <a:endParaRPr lang="ru-RU" sz="1000">
                        <a:solidFill>
                          <a:schemeClr val="tx1"/>
                        </a:solidFill>
                        <a:latin typeface="HelveticaNeueCyr" panose="020B0604020202020204" charset="-52"/>
                      </a:endParaRPr>
                    </a:p>
                    <a:p>
                      <a:pPr marL="171450" indent="-171450">
                        <a:buFont typeface="Arial" panose="020B0604020202020204" pitchFamily="34" charset="0"/>
                        <a:buChar char="•"/>
                      </a:pPr>
                      <a:r>
                        <a:rPr lang="en-US" sz="1000">
                          <a:solidFill>
                            <a:schemeClr val="tx1"/>
                          </a:solidFill>
                          <a:latin typeface="HelveticaNeueCyr" panose="020B0604020202020204" charset="-52"/>
                        </a:rPr>
                        <a:t>Apple</a:t>
                      </a:r>
                      <a:r>
                        <a:rPr lang="ru-RU" sz="1000">
                          <a:solidFill>
                            <a:schemeClr val="tx1"/>
                          </a:solidFill>
                          <a:latin typeface="HelveticaNeueCyr" panose="020B0604020202020204" charset="-52"/>
                        </a:rPr>
                        <a:t>, США (</a:t>
                      </a:r>
                      <a:r>
                        <a:rPr lang="en-US" sz="1000">
                          <a:solidFill>
                            <a:schemeClr val="tx1"/>
                          </a:solidFill>
                          <a:latin typeface="HelveticaNeueCyr" panose="020B0604020202020204" charset="-52"/>
                        </a:rPr>
                        <a:t>Apple Silicon, A18)</a:t>
                      </a:r>
                    </a:p>
                    <a:p>
                      <a:pPr marL="171450" indent="-171450">
                        <a:buFont typeface="Arial" panose="020B0604020202020204" pitchFamily="34" charset="0"/>
                        <a:buChar char="•"/>
                      </a:pPr>
                      <a:r>
                        <a:rPr lang="en-US" sz="1000">
                          <a:solidFill>
                            <a:schemeClr val="tx1"/>
                          </a:solidFill>
                          <a:latin typeface="HelveticaNeueCyr" panose="020B0604020202020204" charset="-52"/>
                        </a:rPr>
                        <a:t>ARM</a:t>
                      </a:r>
                      <a:r>
                        <a:rPr lang="ru-RU" sz="1000">
                          <a:solidFill>
                            <a:schemeClr val="tx1"/>
                          </a:solidFill>
                          <a:latin typeface="HelveticaNeueCyr" panose="020B0604020202020204" charset="-52"/>
                        </a:rPr>
                        <a:t>,</a:t>
                      </a:r>
                      <a:r>
                        <a:rPr lang="en-US" sz="1000">
                          <a:solidFill>
                            <a:schemeClr val="tx1"/>
                          </a:solidFill>
                          <a:latin typeface="HelveticaNeueCyr" panose="020B0604020202020204" charset="-52"/>
                        </a:rPr>
                        <a:t> </a:t>
                      </a:r>
                      <a:r>
                        <a:rPr lang="ru-RU" sz="1000">
                          <a:solidFill>
                            <a:schemeClr val="tx1"/>
                          </a:solidFill>
                          <a:latin typeface="HelveticaNeueCyr" panose="020B0604020202020204" charset="-52"/>
                        </a:rPr>
                        <a:t>Великобритания (</a:t>
                      </a:r>
                      <a:r>
                        <a:rPr lang="en-US" sz="1000">
                          <a:solidFill>
                            <a:schemeClr val="tx1"/>
                          </a:solidFill>
                          <a:latin typeface="HelveticaNeueCyr" panose="020B0604020202020204" charset="-52"/>
                        </a:rPr>
                        <a:t>Cortex M)</a:t>
                      </a:r>
                      <a:endParaRPr lang="ru-RU" sz="100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a:solidFill>
                            <a:schemeClr val="tx1"/>
                          </a:solidFill>
                          <a:latin typeface="HelveticaNeueCyr" panose="020B0604020202020204" charset="-52"/>
                        </a:rPr>
                        <a:t>Baikal Electronics</a:t>
                      </a:r>
                      <a:r>
                        <a:rPr lang="ru-RU" sz="1000">
                          <a:solidFill>
                            <a:schemeClr val="tx1"/>
                          </a:solidFill>
                          <a:latin typeface="HelveticaNeueCyr" panose="020B0604020202020204" charset="-52"/>
                        </a:rPr>
                        <a:t>, РФ (</a:t>
                      </a:r>
                      <a:r>
                        <a:rPr lang="en-US" sz="1000">
                          <a:solidFill>
                            <a:schemeClr val="tx1"/>
                          </a:solidFill>
                          <a:latin typeface="HelveticaNeueCyr" panose="020B0604020202020204" charset="-52"/>
                        </a:rPr>
                        <a:t>Baikal-M</a:t>
                      </a:r>
                      <a:r>
                        <a:rPr lang="ru-RU" sz="1000">
                          <a:solidFill>
                            <a:schemeClr val="tx1"/>
                          </a:solidFill>
                          <a:latin typeface="HelveticaNeueCyr" panose="020B0604020202020204" charset="-52"/>
                        </a:rPr>
                        <a:t>)</a:t>
                      </a:r>
                    </a:p>
                    <a:p>
                      <a:pPr marL="171450" indent="-171450">
                        <a:buFont typeface="Arial" panose="020B0604020202020204" pitchFamily="34" charset="0"/>
                        <a:buChar char="•"/>
                      </a:pPr>
                      <a:r>
                        <a:rPr lang="ru-RU" sz="1000">
                          <a:solidFill>
                            <a:schemeClr val="tx1"/>
                          </a:solidFill>
                          <a:latin typeface="HelveticaNeueCyr" panose="020B0604020202020204" charset="-52"/>
                        </a:rPr>
                        <a:t>МЦСТ, РФ (Эльбрус)</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 HD Graphics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AMD</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Radeon</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5700XT</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Nvidia</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GTX 1660 Super</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a:solidFill>
                            <a:schemeClr val="tx1"/>
                          </a:solidFill>
                          <a:latin typeface="HelveticaNeueCyr" panose="020B0604020202020204" charset="-52"/>
                        </a:rPr>
                        <a:t>ASUS, Тайвань (</a:t>
                      </a:r>
                      <a:r>
                        <a:rPr lang="ru-RU" sz="1000" dirty="0" err="1">
                          <a:solidFill>
                            <a:schemeClr val="tx1"/>
                          </a:solidFill>
                          <a:latin typeface="HelveticaNeueCyr" panose="020B0604020202020204" charset="-52"/>
                        </a:rPr>
                        <a:t>GeForce</a:t>
                      </a:r>
                      <a:r>
                        <a:rPr lang="ru-RU" sz="1000" dirty="0">
                          <a:solidFill>
                            <a:schemeClr val="tx1"/>
                          </a:solidFill>
                          <a:latin typeface="HelveticaNeueCyr" panose="020B0604020202020204" charset="-52"/>
                        </a:rPr>
                        <a:t> GTX 1060)</a:t>
                      </a:r>
                      <a:endParaRPr lang="en-US"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ARM</a:t>
                      </a:r>
                      <a:r>
                        <a:rPr lang="ru-RU" sz="1000" dirty="0">
                          <a:solidFill>
                            <a:schemeClr val="tx1"/>
                          </a:solidFill>
                          <a:latin typeface="HelveticaNeueCyr" panose="020B0604020202020204" charset="-52"/>
                        </a:rPr>
                        <a:t>, Великобритания</a:t>
                      </a:r>
                      <a:r>
                        <a:rPr lang="en-US" sz="1000" dirty="0">
                          <a:solidFill>
                            <a:schemeClr val="tx1"/>
                          </a:solidFill>
                          <a:latin typeface="HelveticaNeueCyr" panose="020B0604020202020204" charset="-52"/>
                        </a:rPr>
                        <a:t> (Immortalis-G925, Arm Mali-G725)</a:t>
                      </a:r>
                      <a:endParaRPr lang="ru-RU" sz="1000" dirty="0">
                        <a:solidFill>
                          <a:schemeClr val="tx1"/>
                        </a:solidFill>
                        <a:latin typeface="HelveticaNeueCyr" panose="020B0604020202020204" charset="-52"/>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Информация отсутствует</a:t>
                      </a:r>
                    </a:p>
                    <a:p>
                      <a:pPr marL="0" indent="0">
                        <a:buFont typeface="Arial" panose="020B0604020202020204" pitchFamily="34" charset="0"/>
                        <a:buNone/>
                      </a:pP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Иностранные разработки:</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en-US" sz="1000" dirty="0">
                          <a:solidFill>
                            <a:schemeClr val="tx1"/>
                          </a:solidFill>
                          <a:latin typeface="HelveticaNeueCyr" panose="020B0604020202020204" charset="-52"/>
                        </a:rPr>
                        <a:t>Qualcomm</a:t>
                      </a:r>
                      <a:r>
                        <a:rPr lang="ru-RU" sz="1000" dirty="0">
                          <a:solidFill>
                            <a:schemeClr val="tx1"/>
                          </a:solidFill>
                          <a:latin typeface="HelveticaNeueCyr" panose="020B0604020202020204" charset="-52"/>
                        </a:rPr>
                        <a:t>, США</a:t>
                      </a:r>
                      <a:r>
                        <a:rPr lang="en-US" sz="1000" dirty="0">
                          <a:solidFill>
                            <a:schemeClr val="tx1"/>
                          </a:solidFill>
                          <a:latin typeface="HelveticaNeueCyr" panose="020B0604020202020204" charset="-52"/>
                        </a:rPr>
                        <a:t> </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Snapdragon X Elite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X Plus</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ru-RU" sz="1000" dirty="0" err="1">
                          <a:solidFill>
                            <a:schemeClr val="tx1"/>
                          </a:solidFill>
                          <a:latin typeface="HelveticaNeueCyr" panose="020B0604020202020204" charset="-52"/>
                        </a:rPr>
                        <a:t>Apple</a:t>
                      </a:r>
                      <a:r>
                        <a:rPr lang="ru-RU" sz="1000" dirty="0">
                          <a:solidFill>
                            <a:schemeClr val="tx1"/>
                          </a:solidFill>
                          <a:latin typeface="HelveticaNeueCyr" panose="020B0604020202020204" charset="-52"/>
                        </a:rPr>
                        <a:t>, США (</a:t>
                      </a:r>
                      <a:r>
                        <a:rPr lang="ru-RU" sz="1000" dirty="0" err="1">
                          <a:solidFill>
                            <a:schemeClr val="tx1"/>
                          </a:solidFill>
                          <a:latin typeface="HelveticaNeueCyr" panose="020B0604020202020204" charset="-52"/>
                        </a:rPr>
                        <a:t>Neural</a:t>
                      </a:r>
                      <a:r>
                        <a:rPr lang="ru-RU" sz="1000" dirty="0">
                          <a:solidFill>
                            <a:schemeClr val="tx1"/>
                          </a:solidFill>
                          <a:latin typeface="HelveticaNeueCyr" panose="020B0604020202020204" charset="-52"/>
                        </a:rPr>
                        <a:t> </a:t>
                      </a:r>
                      <a:r>
                        <a:rPr lang="ru-RU" sz="1000" dirty="0" err="1">
                          <a:solidFill>
                            <a:schemeClr val="tx1"/>
                          </a:solidFill>
                          <a:latin typeface="HelveticaNeueCyr" panose="020B0604020202020204" charset="-52"/>
                        </a:rPr>
                        <a:t>Engine</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Huawei</a:t>
                      </a:r>
                      <a:r>
                        <a:rPr lang="ru-RU" sz="1000" dirty="0">
                          <a:solidFill>
                            <a:schemeClr val="tx1"/>
                          </a:solidFill>
                          <a:latin typeface="HelveticaNeueCyr" panose="020B0604020202020204" charset="-52"/>
                        </a:rPr>
                        <a:t>, КНР (</a:t>
                      </a:r>
                      <a:r>
                        <a:rPr lang="en-US" sz="1000" dirty="0">
                          <a:solidFill>
                            <a:schemeClr val="tx1"/>
                          </a:solidFill>
                          <a:latin typeface="HelveticaNeueCyr" panose="020B0604020202020204" charset="-52"/>
                        </a:rPr>
                        <a:t>Kirin 970</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США (</a:t>
                      </a:r>
                      <a:r>
                        <a:rPr lang="en-US" sz="1000" dirty="0">
                          <a:solidFill>
                            <a:schemeClr val="tx1"/>
                          </a:solidFill>
                          <a:latin typeface="HelveticaNeueCyr" panose="020B0604020202020204" charset="-52"/>
                        </a:rPr>
                        <a:t>Intel</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Core Ultra</a:t>
                      </a:r>
                      <a:r>
                        <a:rPr lang="ru-RU" sz="1000" dirty="0">
                          <a:solidFill>
                            <a:schemeClr val="tx1"/>
                          </a:solidFill>
                          <a:latin typeface="HelveticaNeueCyr" panose="020B0604020202020204" charset="-52"/>
                        </a:rPr>
                        <a:t>)</a:t>
                      </a:r>
                    </a:p>
                    <a:p>
                      <a:pPr marL="171450" indent="-171450">
                        <a:buFont typeface="Arial" panose="020B0604020202020204" pitchFamily="34" charset="0"/>
                        <a:buChar char="•"/>
                      </a:pPr>
                      <a:r>
                        <a:rPr lang="en-US" sz="1000" dirty="0">
                          <a:solidFill>
                            <a:schemeClr val="tx1"/>
                          </a:solidFill>
                          <a:latin typeface="HelveticaNeueCyr" panose="020B0604020202020204" charset="-52"/>
                        </a:rPr>
                        <a:t>IBM</a:t>
                      </a:r>
                      <a:r>
                        <a:rPr lang="ru-RU" sz="1000" dirty="0">
                          <a:solidFill>
                            <a:schemeClr val="tx1"/>
                          </a:solidFill>
                          <a:latin typeface="HelveticaNeueCyr" panose="020B0604020202020204" charset="-52"/>
                        </a:rPr>
                        <a:t>, США (</a:t>
                      </a:r>
                      <a:r>
                        <a:rPr lang="en-US" sz="1000" dirty="0" err="1">
                          <a:solidFill>
                            <a:schemeClr val="tx1"/>
                          </a:solidFill>
                          <a:latin typeface="HelveticaNeueCyr" panose="020B0604020202020204" charset="-52"/>
                        </a:rPr>
                        <a:t>TrueNorth</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МФТИ (</a:t>
                      </a:r>
                      <a:r>
                        <a:rPr lang="en-US" sz="1000" dirty="0" err="1">
                          <a:solidFill>
                            <a:schemeClr val="tx1"/>
                          </a:solidFill>
                          <a:latin typeface="HelveticaNeueCyr" panose="020B0604020202020204" charset="-52"/>
                        </a:rPr>
                        <a:t>Ncore</a:t>
                      </a:r>
                      <a:r>
                        <a:rPr lang="ru-RU" sz="1000" dirty="0">
                          <a:solidFill>
                            <a:schemeClr val="tx1"/>
                          </a:solidFill>
                          <a:latin typeface="HelveticaNeueCyr" panose="020B0604020202020204" charset="-52"/>
                        </a:rPr>
                        <a:t>)</a:t>
                      </a:r>
                      <a:r>
                        <a:rPr lang="en-US" sz="1000" dirty="0">
                          <a:solidFill>
                            <a:schemeClr val="tx1"/>
                          </a:solidFill>
                          <a:latin typeface="HelveticaNeueCyr" panose="020B0604020202020204" charset="-52"/>
                        </a:rPr>
                        <a:t> </a:t>
                      </a:r>
                      <a:endParaRPr lang="ru-RU" sz="1000" dirty="0">
                        <a:solidFill>
                          <a:schemeClr val="tx1"/>
                        </a:solidFill>
                        <a:latin typeface="HelveticaNeueCyr" panose="020B0604020202020204" charset="-52"/>
                      </a:endParaRPr>
                    </a:p>
                    <a:p>
                      <a:pPr marL="171450" indent="-171450">
                        <a:buFont typeface="Arial" panose="020B0604020202020204" pitchFamily="34" charset="0"/>
                        <a:buChar char="•"/>
                      </a:pPr>
                      <a:r>
                        <a:rPr lang="ru-RU" sz="1000" dirty="0">
                          <a:solidFill>
                            <a:schemeClr val="tx1"/>
                          </a:solidFill>
                          <a:latin typeface="HelveticaNeueCyr" panose="020B0604020202020204" charset="-52"/>
                        </a:rPr>
                        <a:t>Мотив </a:t>
                      </a:r>
                      <a:r>
                        <a:rPr lang="ru-RU" sz="1000" dirty="0" err="1">
                          <a:solidFill>
                            <a:schemeClr val="tx1"/>
                          </a:solidFill>
                          <a:latin typeface="HelveticaNeueCyr" panose="020B0604020202020204" charset="-52"/>
                        </a:rPr>
                        <a:t>Нейроморфные</a:t>
                      </a:r>
                      <a:r>
                        <a:rPr lang="ru-RU" sz="1000" dirty="0">
                          <a:solidFill>
                            <a:schemeClr val="tx1"/>
                          </a:solidFill>
                          <a:latin typeface="HelveticaNeueCyr" panose="020B0604020202020204" charset="-52"/>
                        </a:rPr>
                        <a:t> Технологии (Алтай)</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dirty="0">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Google</a:t>
                      </a:r>
                      <a:r>
                        <a:rPr lang="ru-RU" sz="1000" dirty="0">
                          <a:solidFill>
                            <a:schemeClr val="tx1"/>
                          </a:solidFill>
                          <a:latin typeface="HelveticaNeueCyr" panose="020B0604020202020204" charset="-52"/>
                        </a:rPr>
                        <a:t> </a:t>
                      </a:r>
                      <a:r>
                        <a:rPr lang="en-US" sz="1000" dirty="0">
                          <a:solidFill>
                            <a:schemeClr val="tx1"/>
                          </a:solidFill>
                          <a:latin typeface="HelveticaNeueCyr" panose="020B0604020202020204" charset="-52"/>
                        </a:rPr>
                        <a:t>TPU</a:t>
                      </a:r>
                      <a:r>
                        <a:rPr lang="ru-RU" sz="1000" dirty="0">
                          <a:solidFill>
                            <a:schemeClr val="tx1"/>
                          </a:solidFill>
                          <a:latin typeface="HelveticaNeueCyr" panose="020B0604020202020204" charset="-52"/>
                        </a:rPr>
                        <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en-US" sz="1000" dirty="0">
                          <a:solidFill>
                            <a:schemeClr val="tx1"/>
                          </a:solidFill>
                          <a:latin typeface="HelveticaNeueCyr" panose="020B0604020202020204" charset="-52"/>
                        </a:rPr>
                        <a:t>IVA Technologies</a:t>
                      </a:r>
                      <a:r>
                        <a:rPr lang="ru-RU" sz="1000" dirty="0">
                          <a:solidFill>
                            <a:schemeClr val="tx1"/>
                          </a:solidFill>
                          <a:latin typeface="HelveticaNeueCyr" panose="020B0604020202020204" charset="-52"/>
                        </a:rPr>
                        <a:t>, РФ (</a:t>
                      </a:r>
                      <a:r>
                        <a:rPr lang="en-US" sz="1000" dirty="0">
                          <a:solidFill>
                            <a:schemeClr val="tx1"/>
                          </a:solidFill>
                          <a:latin typeface="HelveticaNeueCyr" panose="020B0604020202020204" charset="-52"/>
                        </a:rPr>
                        <a:t>IVA TPU</a:t>
                      </a:r>
                      <a:r>
                        <a:rPr lang="ru-RU" sz="1000" dirty="0">
                          <a:solidFill>
                            <a:schemeClr val="tx1"/>
                          </a:solidFill>
                          <a:latin typeface="HelveticaNeueCyr" panose="020B0604020202020204" charset="-52"/>
                        </a:rPr>
                        <a:t>)</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ru-RU" sz="1000" b="1">
                          <a:solidFill>
                            <a:schemeClr val="tx1"/>
                          </a:solidFill>
                          <a:latin typeface="HelveticaNeueCyr" panose="020B0604020202020204" charset="-52"/>
                        </a:rPr>
                        <a:t>Иностранные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IBM, США (Osprey)</a:t>
                      </a:r>
                    </a:p>
                    <a:p>
                      <a:pPr marL="171450" indent="-171450">
                        <a:buFont typeface="Arial" panose="020B0604020202020204" pitchFamily="34" charset="0"/>
                        <a:buChar char="•"/>
                      </a:pPr>
                      <a:r>
                        <a:rPr lang="ru-RU" sz="1000">
                          <a:solidFill>
                            <a:schemeClr val="tx1"/>
                          </a:solidFill>
                          <a:latin typeface="HelveticaNeueCyr" panose="020B0604020202020204" charset="-52"/>
                        </a:rPr>
                        <a:t>Google, США (Sycamore)</a:t>
                      </a:r>
                    </a:p>
                    <a:p>
                      <a:pPr marL="171450" indent="-171450">
                        <a:buFont typeface="Arial" panose="020B0604020202020204" pitchFamily="34" charset="0"/>
                        <a:buChar char="•"/>
                      </a:pPr>
                      <a:r>
                        <a:rPr lang="ru-RU" sz="1000">
                          <a:solidFill>
                            <a:schemeClr val="tx1"/>
                          </a:solidFill>
                          <a:latin typeface="HelveticaNeueCyr" panose="020B0604020202020204" charset="-52"/>
                        </a:rPr>
                        <a:t>Intel, США (Tunnel Falls)</a:t>
                      </a:r>
                    </a:p>
                    <a:p>
                      <a:pPr marL="171450" indent="-171450">
                        <a:buFont typeface="Arial" panose="020B0604020202020204" pitchFamily="34" charset="0"/>
                        <a:buChar char="•"/>
                      </a:pPr>
                      <a:r>
                        <a:rPr lang="ru-RU" sz="1000">
                          <a:solidFill>
                            <a:schemeClr val="tx1"/>
                          </a:solidFill>
                          <a:latin typeface="HelveticaNeueCyr" panose="020B0604020202020204" charset="-52"/>
                        </a:rPr>
                        <a:t>Xanadu </a:t>
                      </a:r>
                      <a:r>
                        <a:rPr lang="en-US" sz="1000">
                          <a:solidFill>
                            <a:schemeClr val="tx1"/>
                          </a:solidFill>
                          <a:latin typeface="HelveticaNeueCyr" panose="020B0604020202020204" charset="-52"/>
                        </a:rPr>
                        <a:t>Quantum Tech</a:t>
                      </a:r>
                      <a:r>
                        <a:rPr lang="ru-RU" sz="1000">
                          <a:solidFill>
                            <a:schemeClr val="tx1"/>
                          </a:solidFill>
                          <a:latin typeface="HelveticaNeueCyr" panose="020B0604020202020204" charset="-52"/>
                        </a:rPr>
                        <a:t>, Канада (Borealis)</a:t>
                      </a:r>
                    </a:p>
                    <a:p>
                      <a:r>
                        <a:rPr lang="ru-RU" sz="1000" b="1">
                          <a:solidFill>
                            <a:schemeClr val="tx1"/>
                          </a:solidFill>
                          <a:latin typeface="HelveticaNeueCyr" panose="020B0604020202020204" charset="-52"/>
                        </a:rPr>
                        <a:t>Российские разработки:</a:t>
                      </a:r>
                    </a:p>
                    <a:p>
                      <a:pPr marL="171450" indent="-171450">
                        <a:buFont typeface="Arial" panose="020B0604020202020204" pitchFamily="34" charset="0"/>
                        <a:buChar char="•"/>
                      </a:pPr>
                      <a:r>
                        <a:rPr lang="ru-RU" sz="1000">
                          <a:solidFill>
                            <a:schemeClr val="tx1"/>
                          </a:solidFill>
                          <a:latin typeface="HelveticaNeueCyr" panose="020B0604020202020204" charset="-52"/>
                        </a:rPr>
                        <a:t>МФТИ и НИТУ «МИСиС» (создан 4-кубитный процессор, разработка 8-кубитного)</a:t>
                      </a:r>
                    </a:p>
                    <a:p>
                      <a:pPr marL="171450" indent="-171450">
                        <a:buFont typeface="Arial" panose="020B0604020202020204" pitchFamily="34" charset="0"/>
                        <a:buChar char="•"/>
                      </a:pPr>
                      <a:r>
                        <a:rPr lang="ru-RU" sz="1000">
                          <a:solidFill>
                            <a:schemeClr val="tx1"/>
                          </a:solidFill>
                          <a:latin typeface="HelveticaNeueCyr" panose="020B0604020202020204" charset="-52"/>
                        </a:rPr>
                        <a:t>МГУ (разработка 16-кубитного процессора)</a:t>
                      </a:r>
                    </a:p>
                    <a:p>
                      <a:pPr marL="171450" indent="-171450">
                        <a:buFont typeface="Arial" panose="020B0604020202020204" pitchFamily="34" charset="0"/>
                        <a:buChar char="•"/>
                      </a:pPr>
                      <a:r>
                        <a:rPr lang="ru-RU" sz="1000">
                          <a:solidFill>
                            <a:schemeClr val="tx1"/>
                          </a:solidFill>
                          <a:latin typeface="HelveticaNeueCyr" panose="020B0604020202020204" charset="-52"/>
                        </a:rPr>
                        <a:t>РКЦиФИ им. П.Н. Лебедева РАН, создан 50-кубитный квантовый компьютер)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11745571"/>
                  </a:ext>
                </a:extLst>
              </a:tr>
              <a:tr h="44567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000" b="1">
                          <a:solidFill>
                            <a:schemeClr val="tx1"/>
                          </a:solidFill>
                          <a:latin typeface="HelveticaNeueCyr" panose="020B0604020202020204" charset="-52"/>
                        </a:rPr>
                        <a:t>Доступность </a:t>
                      </a:r>
                      <a:br>
                        <a:rPr lang="ru-RU" sz="1000" b="1">
                          <a:solidFill>
                            <a:schemeClr val="tx1"/>
                          </a:solidFill>
                          <a:latin typeface="HelveticaNeueCyr" panose="020B0604020202020204" charset="-52"/>
                        </a:rPr>
                      </a:br>
                      <a:r>
                        <a:rPr lang="ru-RU" sz="1000" b="1">
                          <a:solidFill>
                            <a:schemeClr val="tx1"/>
                          </a:solidFill>
                          <a:latin typeface="HelveticaNeueCyr" panose="020B0604020202020204" charset="-52"/>
                        </a:rPr>
                        <a:t>на рынке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Высокая</a:t>
                      </a:r>
                      <a:r>
                        <a:rPr lang="ru-RU" sz="1000">
                          <a:solidFill>
                            <a:schemeClr val="tx1"/>
                          </a:solidFill>
                          <a:latin typeface="HelveticaNeueCyr" panose="020B0604020202020204" charset="-52"/>
                        </a:rPr>
                        <a:t> (производятся множеством компаний)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Средняя </a:t>
                      </a:r>
                      <a:r>
                        <a:rPr lang="ru-RU" sz="1000">
                          <a:solidFill>
                            <a:schemeClr val="tx1"/>
                          </a:solidFill>
                          <a:latin typeface="HelveticaNeueCyr" panose="020B0604020202020204" charset="-52"/>
                        </a:rPr>
                        <a:t>(ограниченное производство, требует инвестиций и специализированного оборудования)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 </a:t>
                      </a:r>
                      <a:r>
                        <a:rPr lang="ru-RU" sz="1000">
                          <a:solidFill>
                            <a:schemeClr val="tx1"/>
                          </a:solidFill>
                          <a:latin typeface="HelveticaNeueCyr" panose="020B0604020202020204" charset="-52"/>
                        </a:rPr>
                        <a:t>(являются специализированными устройствами)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dirty="0">
                          <a:solidFill>
                            <a:schemeClr val="tx1"/>
                          </a:solidFill>
                          <a:latin typeface="HelveticaNeueCyr" panose="020B0604020202020204" charset="-52"/>
                        </a:rPr>
                        <a:t>НИОКР</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03167570"/>
                  </a:ext>
                </a:extLst>
              </a:tr>
              <a:tr h="370840">
                <a:tc>
                  <a:txBody>
                    <a:bodyPr/>
                    <a:lstStyle/>
                    <a:p>
                      <a:r>
                        <a:rPr lang="ru-RU" sz="1000" b="1">
                          <a:solidFill>
                            <a:schemeClr val="tx1"/>
                          </a:solidFill>
                          <a:latin typeface="HelveticaNeueCyr" panose="020B0604020202020204" charset="-52"/>
                        </a:rPr>
                        <a:t>Плюсы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Работает самостоятельно, без дополнительного оборудования</a:t>
                      </a:r>
                    </a:p>
                    <a:p>
                      <a:pPr marL="171450" indent="-171450">
                        <a:buFont typeface="Arial" panose="020B0604020202020204" pitchFamily="34" charset="0"/>
                        <a:buChar char="•"/>
                      </a:pPr>
                      <a:r>
                        <a:rPr lang="ru-RU" sz="1000">
                          <a:solidFill>
                            <a:schemeClr val="tx1"/>
                          </a:solidFill>
                          <a:latin typeface="HelveticaNeueCyr" panose="020B0604020202020204" charset="-52"/>
                        </a:rPr>
                        <a:t>Широкий выбор процессоров на рынке</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точность вычислений</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Возможность параллельных вычислений, без последовательного перебора решений</a:t>
                      </a:r>
                    </a:p>
                    <a:p>
                      <a:pPr marL="171450" indent="-171450">
                        <a:buFont typeface="Arial" panose="020B0604020202020204" pitchFamily="34" charset="0"/>
                        <a:buChar char="•"/>
                      </a:pPr>
                      <a:r>
                        <a:rPr lang="ru-RU" sz="1000">
                          <a:solidFill>
                            <a:schemeClr val="tx1"/>
                          </a:solidFill>
                          <a:latin typeface="HelveticaNeueCyr" panose="020B0604020202020204" charset="-52"/>
                        </a:rPr>
                        <a:t>Высокая производительность для задач ИИ и машинного обучения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Память с высокой пропускной способностью</a:t>
                      </a:r>
                    </a:p>
                    <a:p>
                      <a:pPr marL="171450" indent="-171450">
                        <a:buFont typeface="Arial" panose="020B0604020202020204" pitchFamily="34" charset="0"/>
                        <a:buChar char="•"/>
                      </a:pPr>
                      <a:r>
                        <a:rPr lang="ru-RU" sz="1000" dirty="0">
                          <a:solidFill>
                            <a:schemeClr val="tx1"/>
                          </a:solidFill>
                          <a:latin typeface="HelveticaNeueCyr" panose="020B0604020202020204" charset="-52"/>
                        </a:rPr>
                        <a:t>Меньшее потребление энергии при большом объеме задач</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dirty="0">
                          <a:solidFill>
                            <a:schemeClr val="tx1"/>
                          </a:solidFill>
                          <a:latin typeface="HelveticaNeueCyr" panose="020B0604020202020204" charset="-52"/>
                        </a:rPr>
                        <a:t>Возможность параллельных вычислений в больших объемах</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Высокоскоростные матричные вычисления</a:t>
                      </a:r>
                    </a:p>
                    <a:p>
                      <a:pPr marL="171450" indent="-171450">
                        <a:buFont typeface="Arial" panose="020B0604020202020204" pitchFamily="34" charset="0"/>
                        <a:buChar char="•"/>
                      </a:pPr>
                      <a:r>
                        <a:rPr lang="ru-RU" sz="1000" dirty="0">
                          <a:solidFill>
                            <a:schemeClr val="tx1"/>
                          </a:solidFill>
                          <a:latin typeface="HelveticaNeueCyr" panose="020B0604020202020204" charset="-52"/>
                        </a:rPr>
                        <a:t>Высокая производительность</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и энергоэффективность</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Возможность параллельных вычислений, без последовательного перебора решений, компьютер может обрабатывать одновременно все варианты ответов</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32562584"/>
                  </a:ext>
                </a:extLst>
              </a:tr>
              <a:tr h="370840">
                <a:tc>
                  <a:txBody>
                    <a:bodyPr/>
                    <a:lstStyle/>
                    <a:p>
                      <a:r>
                        <a:rPr lang="ru-RU" sz="1000" b="1">
                          <a:solidFill>
                            <a:schemeClr val="tx1"/>
                          </a:solidFill>
                          <a:latin typeface="HelveticaNeueCyr" panose="020B0604020202020204" charset="-52"/>
                        </a:rPr>
                        <a:t>Минусы</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a:solidFill>
                            <a:schemeClr val="tx1"/>
                          </a:solidFill>
                          <a:latin typeface="HelveticaNeueCyr" panose="020B0604020202020204" charset="-52"/>
                        </a:rPr>
                        <a:t>Перебирают решения последовательно</a:t>
                      </a:r>
                    </a:p>
                    <a:p>
                      <a:pPr marL="171450" indent="-171450">
                        <a:buFont typeface="Arial" panose="020B0604020202020204" pitchFamily="34" charset="0"/>
                        <a:buChar char="•"/>
                      </a:pPr>
                      <a:r>
                        <a:rPr lang="ru-RU" sz="1000">
                          <a:solidFill>
                            <a:schemeClr val="tx1"/>
                          </a:solidFill>
                          <a:latin typeface="HelveticaNeueCyr" panose="020B0604020202020204" charset="-52"/>
                        </a:rPr>
                        <a:t>Физические ограничения (необходимость охлаждения для стабильной работы)</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Монофункциональный </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Физические ограничения (требуется охлаждение при сложных вычислениях)</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Низкая точность</a:t>
                      </a:r>
                    </a:p>
                    <a:p>
                      <a:pPr marL="171450" indent="-171450">
                        <a:buFont typeface="Arial" panose="020B0604020202020204" pitchFamily="34" charset="0"/>
                        <a:buChar char="•"/>
                      </a:pPr>
                      <a:r>
                        <a:rPr lang="ru-RU" sz="1000" dirty="0">
                          <a:solidFill>
                            <a:schemeClr val="tx1"/>
                          </a:solidFill>
                          <a:latin typeface="HelveticaNeueCyr" panose="020B0604020202020204" charset="-52"/>
                        </a:rPr>
                        <a:t>Чаще используется в смартфонах</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в качестве дополнительного модуля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ru-RU" sz="1000">
                          <a:solidFill>
                            <a:schemeClr val="tx1"/>
                          </a:solidFill>
                          <a:latin typeface="HelveticaNeueCyr" panose="020B0604020202020204" charset="-52"/>
                        </a:rPr>
                        <a:t>Не работает самостоятельно (нужен ЦП)</a:t>
                      </a:r>
                    </a:p>
                    <a:p>
                      <a:pPr marL="171450" indent="-171450">
                        <a:buFont typeface="Arial" panose="020B0604020202020204" pitchFamily="34" charset="0"/>
                        <a:buChar char="•"/>
                      </a:pPr>
                      <a:r>
                        <a:rPr lang="ru-RU" sz="1000">
                          <a:solidFill>
                            <a:schemeClr val="tx1"/>
                          </a:solidFill>
                          <a:latin typeface="HelveticaNeueCyr" panose="020B0604020202020204" charset="-52"/>
                        </a:rPr>
                        <a:t>Сложность настройки и управления, требующая специализированных знаний и навыков</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1450" indent="-171450">
                        <a:buFont typeface="Arial" panose="020B0604020202020204" pitchFamily="34" charset="0"/>
                        <a:buChar char="•"/>
                      </a:pPr>
                      <a:r>
                        <a:rPr lang="ru-RU" sz="1000" dirty="0">
                          <a:solidFill>
                            <a:schemeClr val="tx1"/>
                          </a:solidFill>
                          <a:latin typeface="HelveticaNeueCyr" panose="020B0604020202020204" charset="-52"/>
                        </a:rPr>
                        <a:t>Выдают не точные результаты,</a:t>
                      </a:r>
                      <a:br>
                        <a:rPr lang="ru-RU" sz="1000" dirty="0">
                          <a:solidFill>
                            <a:schemeClr val="tx1"/>
                          </a:solidFill>
                          <a:latin typeface="HelveticaNeueCyr" panose="020B0604020202020204" charset="-52"/>
                        </a:rPr>
                      </a:br>
                      <a:r>
                        <a:rPr lang="ru-RU" sz="1000" dirty="0">
                          <a:solidFill>
                            <a:schemeClr val="tx1"/>
                          </a:solidFill>
                          <a:latin typeface="HelveticaNeueCyr" panose="020B0604020202020204" charset="-52"/>
                        </a:rPr>
                        <a:t>а вероятностные (приближенные)</a:t>
                      </a:r>
                    </a:p>
                    <a:p>
                      <a:pPr marL="171450" indent="-171450">
                        <a:buFont typeface="Arial" panose="020B0604020202020204" pitchFamily="34" charset="0"/>
                        <a:buChar char="•"/>
                      </a:pPr>
                      <a:r>
                        <a:rPr lang="ru-RU" sz="1000" dirty="0">
                          <a:solidFill>
                            <a:schemeClr val="tx1"/>
                          </a:solidFill>
                          <a:latin typeface="HelveticaNeueCyr" panose="020B0604020202020204" charset="-52"/>
                        </a:rPr>
                        <a:t>Помехи в данных из-за внешних факторов</a:t>
                      </a:r>
                    </a:p>
                    <a:p>
                      <a:pPr marL="171450" indent="-171450">
                        <a:buFont typeface="Arial" panose="020B0604020202020204" pitchFamily="34" charset="0"/>
                        <a:buChar char="•"/>
                      </a:pPr>
                      <a:r>
                        <a:rPr lang="ru-RU" sz="1000" dirty="0">
                          <a:solidFill>
                            <a:schemeClr val="tx1"/>
                          </a:solidFill>
                          <a:latin typeface="HelveticaNeueCyr" panose="020B0604020202020204" charset="-52"/>
                        </a:rPr>
                        <a:t>Требуются специальные помещения (охлаждаемые, с наивысшим классом чистоты)</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62627259"/>
                  </a:ext>
                </a:extLst>
              </a:tr>
              <a:tr h="0">
                <a:tc>
                  <a:txBody>
                    <a:bodyPr/>
                    <a:lstStyle/>
                    <a:p>
                      <a:r>
                        <a:rPr lang="ru-RU" sz="1000" b="1">
                          <a:solidFill>
                            <a:schemeClr val="tx1"/>
                          </a:solidFill>
                          <a:latin typeface="HelveticaNeueCyr" panose="020B0604020202020204" charset="-52"/>
                        </a:rPr>
                        <a:t>Использование</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Запуск различных программ</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a:solidFill>
                            <a:schemeClr val="tx1"/>
                          </a:solidFill>
                          <a:latin typeface="HelveticaNeueCyr" panose="020B0604020202020204" charset="-52"/>
                        </a:rPr>
                        <a:t>Обработка графики, реже машинное обучение</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Ускорение задач, связанных с ИИ и машинным обучением</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dirty="0">
                          <a:solidFill>
                            <a:schemeClr val="tx1"/>
                          </a:solidFill>
                          <a:latin typeface="HelveticaNeueCyr" panose="020B0604020202020204" charset="-52"/>
                        </a:rPr>
                        <a:t>Запуск нейросетей,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a:solidFill>
                            <a:schemeClr val="tx1"/>
                          </a:solidFill>
                          <a:latin typeface="HelveticaNeueCyr" panose="020B0604020202020204" charset="-52"/>
                        </a:rPr>
                        <a:t>Квантовые вычисления, моделирование сложных молекулярных систем </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81378096"/>
                  </a:ext>
                </a:extLst>
              </a:tr>
              <a:tr h="0">
                <a:tc>
                  <a:txBody>
                    <a:bodyPr/>
                    <a:lstStyle/>
                    <a:p>
                      <a:r>
                        <a:rPr lang="ru-RU" sz="1000" b="1">
                          <a:solidFill>
                            <a:schemeClr val="tx1"/>
                          </a:solidFill>
                          <a:latin typeface="HelveticaNeueCyr" panose="020B0604020202020204" charset="-52"/>
                        </a:rPr>
                        <a:t>Скорость работы нейросетей</a:t>
                      </a:r>
                      <a:endParaRPr lang="ru-RU" sz="1000" b="1"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Низкая</a:t>
                      </a:r>
                      <a:r>
                        <a:rPr lang="ru-RU" sz="1000">
                          <a:solidFill>
                            <a:schemeClr val="tx1"/>
                          </a:solidFill>
                          <a:latin typeface="HelveticaNeueCyr" panose="020B0604020202020204" charset="-52"/>
                        </a:rPr>
                        <a:t>, требуется дополнительное оборудование для ускорения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i="0">
                          <a:solidFill>
                            <a:schemeClr val="tx1"/>
                          </a:solidFill>
                          <a:latin typeface="HelveticaNeueCyr" panose="020B0604020202020204" charset="-52"/>
                        </a:rPr>
                        <a:t>Средняя</a:t>
                      </a:r>
                      <a:r>
                        <a:rPr lang="ru-RU" sz="1000">
                          <a:solidFill>
                            <a:schemeClr val="tx1"/>
                          </a:solidFill>
                          <a:latin typeface="HelveticaNeueCyr" panose="020B0604020202020204" charset="-52"/>
                        </a:rPr>
                        <a:t>, справляется с простыми задачами</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увеличивает скорость вычисления задач ИИ </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ru-RU" sz="1000" b="1" dirty="0">
                          <a:solidFill>
                            <a:schemeClr val="tx1"/>
                          </a:solidFill>
                          <a:latin typeface="HelveticaNeueCyr" panose="020B0604020202020204" charset="-52"/>
                        </a:rPr>
                        <a:t>Высокая</a:t>
                      </a:r>
                      <a:r>
                        <a:rPr lang="ru-RU" sz="1000" dirty="0">
                          <a:solidFill>
                            <a:schemeClr val="tx1"/>
                          </a:solidFill>
                          <a:latin typeface="HelveticaNeueCyr" panose="020B0604020202020204" charset="-52"/>
                        </a:rPr>
                        <a:t>, выполняет сложные вычисления, решает задачи глубокого обучения</a:t>
                      </a: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ru-RU" sz="1000" b="1">
                          <a:solidFill>
                            <a:schemeClr val="tx1"/>
                          </a:solidFill>
                          <a:latin typeface="HelveticaNeueCyr" panose="020B0604020202020204" charset="-52"/>
                        </a:rPr>
                        <a:t>Очень высокая</a:t>
                      </a:r>
                      <a:r>
                        <a:rPr lang="ru-RU" sz="1000">
                          <a:solidFill>
                            <a:schemeClr val="tx1"/>
                          </a:solidFill>
                          <a:latin typeface="HelveticaNeueCyr" panose="020B0604020202020204" charset="-52"/>
                        </a:rPr>
                        <a:t>, быстро выполняет сложные вычисления</a:t>
                      </a:r>
                      <a:endParaRPr lang="ru-RU" sz="1000" dirty="0">
                        <a:solidFill>
                          <a:schemeClr val="tx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07176423"/>
                  </a:ext>
                </a:extLst>
              </a:tr>
              <a:tr h="370840">
                <a:tc>
                  <a:txBody>
                    <a:bodyPr/>
                    <a:lstStyle/>
                    <a:p>
                      <a:r>
                        <a:rPr lang="ru-RU" sz="1000" b="1">
                          <a:solidFill>
                            <a:schemeClr val="bg1"/>
                          </a:solidFill>
                          <a:latin typeface="HelveticaNeueCyr" panose="020B0604020202020204" charset="-52"/>
                        </a:rPr>
                        <a:t>Реализация в ДИТ</a:t>
                      </a:r>
                      <a:endParaRPr lang="ru-RU" sz="1000" b="1" dirty="0">
                        <a:solidFill>
                          <a:schemeClr val="bg1"/>
                        </a:solidFill>
                        <a:latin typeface="HelveticaNeueCyr" panose="020B0604020202020204" charset="-52"/>
                      </a:endParaRPr>
                    </a:p>
                  </a:txBody>
                  <a:tcPr>
                    <a:lnL w="12700" cap="flat" cmpd="sng" algn="ctr">
                      <a:solidFill>
                        <a:srgbClr val="3C5DFF"/>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Основной процессор для всех информационных систем и сервисов</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a:solidFill>
                            <a:schemeClr val="bg1"/>
                          </a:solidFill>
                          <a:latin typeface="HelveticaNeueCyr" panose="020B0604020202020204" charset="-52"/>
                        </a:rPr>
                        <a:t>Закупается для нужд искусственного интеллекта, рендеринга видео</a:t>
                      </a:r>
                      <a:endParaRPr lang="ru-RU" sz="1000" b="1" dirty="0">
                        <a:solidFill>
                          <a:schemeClr val="bg1"/>
                        </a:solidFill>
                        <a:latin typeface="HelveticaNeueCyr" panose="020B0604020202020204" charset="-5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i="0" u="none" strike="noStrike" cap="none" dirty="0">
                          <a:solidFill>
                            <a:schemeClr val="bg1"/>
                          </a:solidFill>
                          <a:latin typeface="HelveticaNeueCyr" panose="020B0604020202020204" charset="-52"/>
                          <a:ea typeface="+mn-ea"/>
                          <a:cs typeface="+mn-cs"/>
                          <a:sym typeface="Arial"/>
                        </a:rPr>
                        <a:t>Не используется в ДИТ</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Закупается для нужд искусственного интеллекта, рендеринга видео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tc>
                  <a:txBody>
                    <a:bodyPr/>
                    <a:lstStyle/>
                    <a:p>
                      <a:r>
                        <a:rPr lang="ru-RU" sz="1000" b="1" dirty="0">
                          <a:solidFill>
                            <a:schemeClr val="bg1"/>
                          </a:solidFill>
                          <a:latin typeface="HelveticaNeueCyr" panose="020B0604020202020204" charset="-52"/>
                        </a:rPr>
                        <a:t>Тестируется в ДИТ</a:t>
                      </a:r>
                    </a:p>
                  </a:txBody>
                  <a:tcPr>
                    <a:lnL w="12700" cap="flat" cmpd="sng" algn="ctr">
                      <a:solidFill>
                        <a:schemeClr val="bg1"/>
                      </a:solidFill>
                      <a:prstDash val="solid"/>
                      <a:round/>
                      <a:headEnd type="none" w="med" len="med"/>
                      <a:tailEnd type="none" w="med" len="med"/>
                    </a:lnL>
                    <a:lnR w="12700" cap="flat" cmpd="sng" algn="ctr">
                      <a:solidFill>
                        <a:srgbClr val="3C5DFF"/>
                      </a:solidFill>
                      <a:prstDash val="solid"/>
                      <a:round/>
                      <a:headEnd type="none" w="med" len="med"/>
                      <a:tailEnd type="none" w="med" len="med"/>
                    </a:lnR>
                    <a:lnT w="12700" cap="flat" cmpd="sng" algn="ctr">
                      <a:solidFill>
                        <a:srgbClr val="3C5DFF"/>
                      </a:solidFill>
                      <a:prstDash val="solid"/>
                      <a:round/>
                      <a:headEnd type="none" w="med" len="med"/>
                      <a:tailEnd type="none" w="med" len="med"/>
                    </a:lnT>
                    <a:lnB w="12700" cap="flat" cmpd="sng" algn="ctr">
                      <a:solidFill>
                        <a:srgbClr val="3C5DFF"/>
                      </a:solidFill>
                      <a:prstDash val="solid"/>
                      <a:round/>
                      <a:headEnd type="none" w="med" len="med"/>
                      <a:tailEnd type="none" w="med" len="med"/>
                    </a:lnB>
                    <a:lnTlToBr w="12700" cmpd="sng">
                      <a:noFill/>
                      <a:prstDash val="solid"/>
                    </a:lnTlToBr>
                    <a:lnBlToTr w="12700" cmpd="sng">
                      <a:noFill/>
                      <a:prstDash val="solid"/>
                    </a:lnBlToTr>
                    <a:solidFill>
                      <a:srgbClr val="3C5DFF"/>
                    </a:solidFill>
                  </a:tcPr>
                </a:tc>
                <a:extLst>
                  <a:ext uri="{0D108BD9-81ED-4DB2-BD59-A6C34878D82A}">
                    <a16:rowId xmlns:a16="http://schemas.microsoft.com/office/drawing/2014/main" val="2602705360"/>
                  </a:ext>
                </a:extLst>
              </a:tr>
            </a:tbl>
          </a:graphicData>
        </a:graphic>
      </p:graphicFrame>
    </p:spTree>
    <p:extLst>
      <p:ext uri="{BB962C8B-B14F-4D97-AF65-F5344CB8AC3E}">
        <p14:creationId xmlns:p14="http://schemas.microsoft.com/office/powerpoint/2010/main" val="3563366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77906" y="10226562"/>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4401634" cy="73866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lang="ru-RU">
                <a:solidFill>
                  <a:srgbClr val="000000"/>
                </a:solidFill>
                <a:latin typeface="Unbounded Medium"/>
              </a:rPr>
              <a:t>Рынок полупроводниковой электроники, почему в России и мире компании ищут альтернативные способы реализации вычислений</a:t>
            </a:r>
            <a:endParaRPr kumimoji="0" lang="ru-RU" sz="2400" b="0" i="0" u="none" strike="noStrike" kern="0" cap="none" spc="0" normalizeH="0" baseline="0" noProof="0" dirty="0">
              <a:ln>
                <a:noFill/>
              </a:ln>
              <a:solidFill>
                <a:srgbClr val="000000"/>
              </a:solidFill>
              <a:effectLst/>
              <a:uLnTx/>
              <a:uFillTx/>
              <a:latin typeface="Unbounded Medium"/>
              <a:ea typeface="Unbounded Medium"/>
              <a:cs typeface="Unbounded Medium"/>
              <a:sym typeface="Unbounded Medium"/>
            </a:endParaRPr>
          </a:p>
        </p:txBody>
      </p:sp>
      <p:sp>
        <p:nvSpPr>
          <p:cNvPr id="40" name="Прямоугольник 39">
            <a:extLst>
              <a:ext uri="{FF2B5EF4-FFF2-40B4-BE49-F238E27FC236}">
                <a16:creationId xmlns:a16="http://schemas.microsoft.com/office/drawing/2014/main" id="{891F2129-6EDF-443D-9CB0-924AA6D96381}"/>
              </a:ext>
            </a:extLst>
          </p:cNvPr>
          <p:cNvSpPr/>
          <p:nvPr/>
        </p:nvSpPr>
        <p:spPr>
          <a:xfrm>
            <a:off x="456379" y="2799885"/>
            <a:ext cx="6431874" cy="3300647"/>
          </a:xfrm>
          <a:prstGeom prst="rect">
            <a:avLst/>
          </a:prstGeom>
        </p:spPr>
        <p:txBody>
          <a:bodyPr wrap="square">
            <a:spAutoFit/>
          </a:bodyPr>
          <a:lstStyle/>
          <a:p>
            <a:pPr marL="285750" indent="-285750">
              <a:lnSpc>
                <a:spcPct val="120000"/>
              </a:lnSpc>
              <a:buFont typeface="Arial" panose="020B0604020202020204" pitchFamily="34" charset="0"/>
              <a:buChar char="•"/>
            </a:pPr>
            <a:r>
              <a:rPr sz="1200" lang="ru-RU">
                <a:solidFill>
                  <a:srgbClr val="222222"/>
                </a:solidFill>
                <a:latin typeface="HelveticaNeueCyr"/>
              </a:rPr>
              <a:t>Количество транзисторов на площади кремниевой пластины увеличивается в 2 раза каждые 2 года (Закон Мура)
При уменьшении размеров транзистора и повышении тактовой частоты процессора, можно кратно повышать производительность (Эмпирический закон Деннарда)
Закон Мура определил текущие размеры микропроцессоров, а закон Деннарда расширил его и объяснял в каком именно направлении нужно двигаться, чтобы развивать полупроводниковую индустрию
При этом с 2006 года тактовая частота массовых микропроцессоровне растет выше 4 ГГц, что показывает некоторое нарушение закона Деннарда, производители перешли на многоядерные процессоры, чтобы увеличить производительность</a:t>
            </a:r>
          </a:p>
        </p:txBody>
      </p:sp>
      <p:sp>
        <p:nvSpPr>
          <p:cNvPr id="41" name="TextBox 40">
            <a:extLst>
              <a:ext uri="{FF2B5EF4-FFF2-40B4-BE49-F238E27FC236}">
                <a16:creationId xmlns:a16="http://schemas.microsoft.com/office/drawing/2014/main" id="{DDE8E662-BE0E-46A8-B8D6-E3C911B63394}"/>
              </a:ext>
            </a:extLst>
          </p:cNvPr>
          <p:cNvSpPr txBox="1"/>
          <p:nvPr/>
        </p:nvSpPr>
        <p:spPr>
          <a:xfrm>
            <a:off x="7622980" y="1987615"/>
            <a:ext cx="7023936" cy="584775"/>
          </a:xfrm>
          <a:prstGeom prst="rect">
            <a:avLst/>
          </a:prstGeom>
          <a:noFill/>
        </p:spPr>
        <p:txBody>
          <a:bodyPr wrap="square" rtlCol="0">
            <a:spAutoFit/>
          </a:bodyPr>
          <a:lstStyle/>
          <a:p>
            <a:r>
              <a:rPr sz="1600" b="1" lang="ru-RU">
                <a:solidFill>
                  <a:srgbClr val="222222"/>
                </a:solidFill>
                <a:latin typeface="HelveticaNeueCyr"/>
              </a:rPr>
              <a:t>2020-2023 гг. на рынке наблюдался дефицит полупроводниковых чипов на фоне последствий пандемии COVID-19</a:t>
            </a:r>
            <a:endParaRPr lang="ru-RU" sz="1600" b="1" dirty="0">
              <a:solidFill>
                <a:srgbClr val="222222"/>
              </a:solidFill>
              <a:latin typeface="HelveticaNeueCyr" panose="02000503040000020004" pitchFamily="2" charset="-52"/>
            </a:endParaRPr>
          </a:p>
        </p:txBody>
      </p:sp>
      <p:sp>
        <p:nvSpPr>
          <p:cNvPr id="42" name="TextBox 41">
            <a:extLst>
              <a:ext uri="{FF2B5EF4-FFF2-40B4-BE49-F238E27FC236}">
                <a16:creationId xmlns:a16="http://schemas.microsoft.com/office/drawing/2014/main" id="{1459411F-4270-4585-BF25-778018427A04}"/>
              </a:ext>
            </a:extLst>
          </p:cNvPr>
          <p:cNvSpPr txBox="1"/>
          <p:nvPr/>
        </p:nvSpPr>
        <p:spPr>
          <a:xfrm>
            <a:off x="7744900" y="4609281"/>
            <a:ext cx="7023936" cy="3554819"/>
          </a:xfrm>
          <a:prstGeom prst="rect">
            <a:avLst/>
          </a:prstGeom>
          <a:noFill/>
        </p:spPr>
        <p:txBody>
          <a:bodyPr wrap="square" rtlCol="0">
            <a:spAutoFit/>
          </a:bodyPr>
          <a:lstStyle/>
          <a:p>
            <a:r>
              <a:rPr sz="1600" b="1" lang="ru-RU">
                <a:solidFill>
                  <a:srgbClr val="222222"/>
                </a:solidFill>
                <a:latin typeface="HelveticaNeueCyr"/>
              </a:rPr>
              <a:t>Факторы, которые влияют на рынок:
Международная напряженность, которая может нарушать мировые цепочки поставок (более 50% рынка сосредоточенов странах Азии)
Рост спроса на чипы, который определяется не только ростом спроса на высокопроизводительные вычислительные устройства, но и ростом спроса на потребительскую электронику (смартфоны, ПК и др.)
Высокая стоимость развития локального производства (выражается не только в капитальных затратахна строительство, закупку оборудования и технологии,но и в качестве подготовки кадров, задействованныхв производстве)</a:t>
            </a:r>
            <a:endParaRPr lang="ru-RU" sz="500" b="1" dirty="0">
              <a:solidFill>
                <a:srgbClr val="222222"/>
              </a:solidFill>
              <a:latin typeface="HelveticaNeueCyr" panose="02000503040000020004" pitchFamily="2" charset="-52"/>
            </a:endParaRPr>
          </a:p>
        </p:txBody>
      </p:sp>
      <p:sp>
        <p:nvSpPr>
          <p:cNvPr id="43" name="TextBox 42">
            <a:extLst>
              <a:ext uri="{FF2B5EF4-FFF2-40B4-BE49-F238E27FC236}">
                <a16:creationId xmlns:a16="http://schemas.microsoft.com/office/drawing/2014/main" id="{3FD6F73C-9B1E-46C1-B9BD-699A2788D76F}"/>
              </a:ext>
            </a:extLst>
          </p:cNvPr>
          <p:cNvSpPr txBox="1"/>
          <p:nvPr/>
        </p:nvSpPr>
        <p:spPr>
          <a:xfrm>
            <a:off x="365125" y="2322895"/>
            <a:ext cx="6268286" cy="584775"/>
          </a:xfrm>
          <a:prstGeom prst="rect">
            <a:avLst/>
          </a:prstGeom>
          <a:noFill/>
        </p:spPr>
        <p:txBody>
          <a:bodyPr wrap="square" rtlCol="0">
            <a:spAutoFit/>
          </a:bodyPr>
          <a:lstStyle/>
          <a:p>
            <a:r>
              <a:rPr sz="1600" b="1" lang="ru-RU">
                <a:solidFill>
                  <a:srgbClr val="222222"/>
                </a:solidFill>
                <a:latin typeface="HelveticaNeueCyr"/>
              </a:rPr>
              <a:t>Ретроспективно, развитие электроники определялось двумя наблюдениями:</a:t>
            </a:r>
          </a:p>
        </p:txBody>
      </p:sp>
      <p:sp>
        <p:nvSpPr>
          <p:cNvPr id="44" name="TextBox 43">
            <a:extLst>
              <a:ext uri="{FF2B5EF4-FFF2-40B4-BE49-F238E27FC236}">
                <a16:creationId xmlns:a16="http://schemas.microsoft.com/office/drawing/2014/main" id="{471D8014-1A5E-45FE-8731-FFE482F55B2A}"/>
              </a:ext>
            </a:extLst>
          </p:cNvPr>
          <p:cNvSpPr txBox="1"/>
          <p:nvPr/>
        </p:nvSpPr>
        <p:spPr>
          <a:xfrm>
            <a:off x="456378" y="6376132"/>
            <a:ext cx="6698401" cy="1323439"/>
          </a:xfrm>
          <a:prstGeom prst="rect">
            <a:avLst/>
          </a:prstGeom>
          <a:noFill/>
        </p:spPr>
        <p:txBody>
          <a:bodyPr wrap="square" rtlCol="0">
            <a:spAutoFit/>
          </a:bodyPr>
          <a:lstStyle/>
          <a:p>
            <a:r>
              <a:rPr sz="1600" b="1" lang="ru-RU">
                <a:solidFill>
                  <a:srgbClr val="222222"/>
                </a:solidFill>
                <a:latin typeface="HelveticaNeueCyr"/>
              </a:rPr>
              <a:t>Фундаментально существуют ограничения на минимально возможные линейные размеры канала транзистора порядка1.5 нм (при меньших размерах проявляются квантовомеханические эффекты, устройства становятся неработоспособными)</a:t>
            </a:r>
          </a:p>
        </p:txBody>
      </p:sp>
      <p:sp>
        <p:nvSpPr>
          <p:cNvPr id="9" name="Левая фигурная скобка 8">
            <a:extLst>
              <a:ext uri="{FF2B5EF4-FFF2-40B4-BE49-F238E27FC236}">
                <a16:creationId xmlns:a16="http://schemas.microsoft.com/office/drawing/2014/main" id="{DA01A682-6FC8-4D74-9810-EF01CEFCA8B1}"/>
              </a:ext>
            </a:extLst>
          </p:cNvPr>
          <p:cNvSpPr/>
          <p:nvPr/>
        </p:nvSpPr>
        <p:spPr>
          <a:xfrm rot="16200000">
            <a:off x="7261226" y="1267512"/>
            <a:ext cx="537409" cy="14329611"/>
          </a:xfrm>
          <a:prstGeom prst="leftBrace">
            <a:avLst>
              <a:gd name="adj1" fmla="val 120273"/>
              <a:gd name="adj2" fmla="val 50000"/>
            </a:avLst>
          </a:prstGeom>
          <a:ln>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1" name="TextBox 10">
            <a:extLst>
              <a:ext uri="{FF2B5EF4-FFF2-40B4-BE49-F238E27FC236}">
                <a16:creationId xmlns:a16="http://schemas.microsoft.com/office/drawing/2014/main" id="{F132CAC8-C911-49E0-93B4-F9672BE7367C}"/>
              </a:ext>
            </a:extLst>
          </p:cNvPr>
          <p:cNvSpPr txBox="1"/>
          <p:nvPr/>
        </p:nvSpPr>
        <p:spPr>
          <a:xfrm>
            <a:off x="365125" y="9470219"/>
            <a:ext cx="14249232" cy="584775"/>
          </a:xfrm>
          <a:prstGeom prst="rect">
            <a:avLst/>
          </a:prstGeom>
          <a:noFill/>
        </p:spPr>
        <p:txBody>
          <a:bodyPr wrap="square" rtlCol="0">
            <a:spAutoFit/>
          </a:bodyPr>
          <a:lstStyle/>
          <a:p>
            <a:r>
              <a:rPr sz="1600" lang="ru-RU">
                <a:solidFill>
                  <a:srgbClr val="000000"/>
                </a:solidFill>
                <a:latin typeface="HelveticaNeueCyr"/>
              </a:rPr>
              <a:t>Поиск новых технологий (например квантовые вычисления, оптические интегральные схемы, спинтроника и др.), и новых программно-определяемых решений для вычислений (виртуализация вычислительных мощностей, вычисления на конечных устройствах пользователей, дезагрегация памяти)</a:t>
            </a:r>
          </a:p>
        </p:txBody>
      </p:sp>
      <p:pic>
        <p:nvPicPr>
          <p:cNvPr id="12" name="Рисунок 11">
            <a:extLst>
              <a:ext uri="{FF2B5EF4-FFF2-40B4-BE49-F238E27FC236}">
                <a16:creationId xmlns:a16="http://schemas.microsoft.com/office/drawing/2014/main" id="{6A0FF2B0-FE97-4BC5-97AA-D47BDEDA1676}"/>
              </a:ext>
            </a:extLst>
          </p:cNvPr>
          <p:cNvPicPr>
            <a:picLocks noChangeAspect="1"/>
          </p:cNvPicPr>
          <p:nvPr/>
        </p:nvPicPr>
        <p:blipFill>
          <a:blip r:embed="rId3"/>
          <a:stretch>
            <a:fillRect/>
          </a:stretch>
        </p:blipFill>
        <p:spPr>
          <a:xfrm>
            <a:off x="15556167" y="2009656"/>
            <a:ext cx="5725324" cy="3238952"/>
          </a:xfrm>
          <a:prstGeom prst="rect">
            <a:avLst/>
          </a:prstGeom>
        </p:spPr>
      </p:pic>
      <p:sp>
        <p:nvSpPr>
          <p:cNvPr id="24" name="TextBox 23">
            <a:extLst>
              <a:ext uri="{FF2B5EF4-FFF2-40B4-BE49-F238E27FC236}">
                <a16:creationId xmlns:a16="http://schemas.microsoft.com/office/drawing/2014/main" id="{0C8F06F5-B464-4D38-8091-6CC9D4A83494}"/>
              </a:ext>
            </a:extLst>
          </p:cNvPr>
          <p:cNvSpPr txBox="1"/>
          <p:nvPr/>
        </p:nvSpPr>
        <p:spPr>
          <a:xfrm>
            <a:off x="7622979" y="2621831"/>
            <a:ext cx="7023936" cy="307777"/>
          </a:xfrm>
          <a:prstGeom prst="rect">
            <a:avLst/>
          </a:prstGeom>
          <a:noFill/>
        </p:spPr>
        <p:txBody>
          <a:bodyPr wrap="square" rtlCol="0">
            <a:spAutoFit/>
          </a:bodyPr>
          <a:lstStyle/>
          <a:p>
            <a:r>
              <a:rPr sz="1200" b="1" lang="ru-RU">
                <a:solidFill>
                  <a:srgbClr val="222222"/>
                </a:solidFill>
                <a:latin typeface="Unbounded SemiBold"/>
              </a:rPr>
              <a:t>Сроки поставок чипов 2017-2022 гг., недели</a:t>
            </a:r>
          </a:p>
        </p:txBody>
      </p:sp>
      <p:sp>
        <p:nvSpPr>
          <p:cNvPr id="14" name="Прямоугольник: скругленные углы 13">
            <a:extLst>
              <a:ext uri="{FF2B5EF4-FFF2-40B4-BE49-F238E27FC236}">
                <a16:creationId xmlns:a16="http://schemas.microsoft.com/office/drawing/2014/main" id="{D8EF907B-7858-4A4D-A696-59C73F19286F}"/>
              </a:ext>
            </a:extLst>
          </p:cNvPr>
          <p:cNvSpPr/>
          <p:nvPr/>
        </p:nvSpPr>
        <p:spPr>
          <a:xfrm>
            <a:off x="212725" y="1129177"/>
            <a:ext cx="7023936" cy="6999591"/>
          </a:xfrm>
          <a:prstGeom prst="roundRect">
            <a:avLst>
              <a:gd name="adj" fmla="val 560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32" name="Picture 8">
            <a:extLst>
              <a:ext uri="{FF2B5EF4-FFF2-40B4-BE49-F238E27FC236}">
                <a16:creationId xmlns:a16="http://schemas.microsoft.com/office/drawing/2014/main" id="{06BA755A-57EE-4ADB-A137-B625DAD3A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887" y="2898589"/>
            <a:ext cx="5837399" cy="1723017"/>
          </a:xfrm>
          <a:prstGeom prst="rect">
            <a:avLst/>
          </a:prstGeom>
          <a:noFill/>
          <a:extLst>
            <a:ext uri="{909E8E84-426E-40DD-AFC4-6F175D3DCCD1}">
              <a14:hiddenFill xmlns:a14="http://schemas.microsoft.com/office/drawing/2010/main">
                <a:solidFill>
                  <a:srgbClr val="FFFFFF"/>
                </a:solidFill>
              </a14:hiddenFill>
            </a:ext>
          </a:extLst>
        </p:spPr>
      </p:pic>
      <p:sp>
        <p:nvSpPr>
          <p:cNvPr id="28" name="Прямоугольник: скругленные углы 27">
            <a:extLst>
              <a:ext uri="{FF2B5EF4-FFF2-40B4-BE49-F238E27FC236}">
                <a16:creationId xmlns:a16="http://schemas.microsoft.com/office/drawing/2014/main" id="{D4363672-D52E-4707-9D6C-6814C29DA744}"/>
              </a:ext>
            </a:extLst>
          </p:cNvPr>
          <p:cNvSpPr/>
          <p:nvPr/>
        </p:nvSpPr>
        <p:spPr>
          <a:xfrm>
            <a:off x="7409618" y="1129177"/>
            <a:ext cx="7204739" cy="6999591"/>
          </a:xfrm>
          <a:prstGeom prst="roundRect">
            <a:avLst>
              <a:gd name="adj" fmla="val 51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a:extLst>
              <a:ext uri="{FF2B5EF4-FFF2-40B4-BE49-F238E27FC236}">
                <a16:creationId xmlns:a16="http://schemas.microsoft.com/office/drawing/2014/main" id="{A73983AA-882B-496C-8DB2-534C8E122625}"/>
              </a:ext>
            </a:extLst>
          </p:cNvPr>
          <p:cNvSpPr txBox="1"/>
          <p:nvPr/>
        </p:nvSpPr>
        <p:spPr>
          <a:xfrm>
            <a:off x="365125" y="1351932"/>
            <a:ext cx="5719836" cy="461665"/>
          </a:xfrm>
          <a:prstGeom prst="rect">
            <a:avLst/>
          </a:prstGeom>
          <a:noFill/>
        </p:spPr>
        <p:txBody>
          <a:bodyPr wrap="none" rtlCol="0">
            <a:spAutoFit/>
          </a:bodyPr>
          <a:lstStyle/>
          <a:p>
            <a:r>
              <a:rPr sz="2400" lang="ru-RU">
                <a:solidFill>
                  <a:srgbClr val="002060"/>
                </a:solidFill>
                <a:latin typeface="Unbounded SemiBold"/>
              </a:rPr>
              <a:t>1. Технические ограничения</a:t>
            </a:r>
          </a:p>
        </p:txBody>
      </p:sp>
      <p:sp>
        <p:nvSpPr>
          <p:cNvPr id="30" name="TextBox 29">
            <a:extLst>
              <a:ext uri="{FF2B5EF4-FFF2-40B4-BE49-F238E27FC236}">
                <a16:creationId xmlns:a16="http://schemas.microsoft.com/office/drawing/2014/main" id="{0BC1D3F5-452F-49AF-92B8-9199C179AACB}"/>
              </a:ext>
            </a:extLst>
          </p:cNvPr>
          <p:cNvSpPr txBox="1"/>
          <p:nvPr/>
        </p:nvSpPr>
        <p:spPr>
          <a:xfrm>
            <a:off x="7529930" y="1372553"/>
            <a:ext cx="5354351" cy="461665"/>
          </a:xfrm>
          <a:prstGeom prst="rect">
            <a:avLst/>
          </a:prstGeom>
          <a:noFill/>
        </p:spPr>
        <p:txBody>
          <a:bodyPr wrap="none" rtlCol="0">
            <a:spAutoFit/>
          </a:bodyPr>
          <a:lstStyle/>
          <a:p>
            <a:r>
              <a:rPr sz="2400" lang="ru-RU">
                <a:solidFill>
                  <a:srgbClr val="002060"/>
                </a:solidFill>
                <a:latin typeface="Unbounded SemiBold"/>
              </a:rPr>
              <a:t>2. Рыночные ограничения</a:t>
            </a:r>
          </a:p>
        </p:txBody>
      </p:sp>
      <p:sp>
        <p:nvSpPr>
          <p:cNvPr id="31" name="Прямоугольник: скругленные углы 30">
            <a:extLst>
              <a:ext uri="{FF2B5EF4-FFF2-40B4-BE49-F238E27FC236}">
                <a16:creationId xmlns:a16="http://schemas.microsoft.com/office/drawing/2014/main" id="{9F351316-01E4-4E6E-A42A-FC0FFC40F796}"/>
              </a:ext>
            </a:extLst>
          </p:cNvPr>
          <p:cNvSpPr/>
          <p:nvPr/>
        </p:nvSpPr>
        <p:spPr>
          <a:xfrm flipV="1">
            <a:off x="203208" y="8879970"/>
            <a:ext cx="14411149" cy="1346591"/>
          </a:xfrm>
          <a:prstGeom prst="roundRect">
            <a:avLst>
              <a:gd name="adj" fmla="val 266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TextBox 21">
            <a:extLst>
              <a:ext uri="{FF2B5EF4-FFF2-40B4-BE49-F238E27FC236}">
                <a16:creationId xmlns:a16="http://schemas.microsoft.com/office/drawing/2014/main" id="{FD8EC98D-317A-4B36-8084-AAC43D676FFC}"/>
              </a:ext>
            </a:extLst>
          </p:cNvPr>
          <p:cNvSpPr txBox="1"/>
          <p:nvPr/>
        </p:nvSpPr>
        <p:spPr>
          <a:xfrm>
            <a:off x="365125" y="9067819"/>
            <a:ext cx="2853666" cy="461665"/>
          </a:xfrm>
          <a:prstGeom prst="rect">
            <a:avLst/>
          </a:prstGeom>
          <a:noFill/>
        </p:spPr>
        <p:txBody>
          <a:bodyPr wrap="none" rtlCol="0">
            <a:spAutoFit/>
          </a:bodyPr>
          <a:lstStyle/>
          <a:p>
            <a:r>
              <a:rPr sz="2400" lang="ru-RU">
                <a:solidFill>
                  <a:srgbClr val="002060"/>
                </a:solidFill>
                <a:latin typeface="Unbounded SemiBold"/>
              </a:rPr>
              <a:t>3. Следствие</a:t>
            </a:r>
          </a:p>
        </p:txBody>
      </p:sp>
      <p:sp>
        <p:nvSpPr>
          <p:cNvPr id="21" name="Прямоугольник 20">
            <a:extLst>
              <a:ext uri="{FF2B5EF4-FFF2-40B4-BE49-F238E27FC236}">
                <a16:creationId xmlns:a16="http://schemas.microsoft.com/office/drawing/2014/main" id="{B462F29B-E3A7-4564-A976-33306ECE24D9}"/>
              </a:ext>
            </a:extLst>
          </p:cNvPr>
          <p:cNvSpPr/>
          <p:nvPr/>
        </p:nvSpPr>
        <p:spPr>
          <a:xfrm>
            <a:off x="7558087" y="3351906"/>
            <a:ext cx="7102793" cy="6870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График нужно перерисовать, оригинал на полях</a:t>
            </a:r>
          </a:p>
        </p:txBody>
      </p:sp>
    </p:spTree>
    <p:extLst>
      <p:ext uri="{BB962C8B-B14F-4D97-AF65-F5344CB8AC3E}">
        <p14:creationId xmlns:p14="http://schemas.microsoft.com/office/powerpoint/2010/main" val="42145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Центральный процессор</a:t>
            </a:r>
          </a:p>
        </p:txBody>
      </p:sp>
      <p:sp>
        <p:nvSpPr>
          <p:cNvPr id="5" name="Прямоугольник: скругленные углы 4">
            <a:extLst>
              <a:ext uri="{FF2B5EF4-FFF2-40B4-BE49-F238E27FC236}">
                <a16:creationId xmlns:a16="http://schemas.microsoft.com/office/drawing/2014/main" id="{8BB88A57-BEF0-47DB-9A7B-8EE282669915}"/>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электронный блок или интегральная схема, исполняющая машинные инструкции (код программ), главная часть аппаратного обеспечения компьютера </a:t>
            </a:r>
          </a:p>
        </p:txBody>
      </p:sp>
      <p:sp>
        <p:nvSpPr>
          <p:cNvPr id="6" name="Прямоугольник 5">
            <a:extLst>
              <a:ext uri="{FF2B5EF4-FFF2-40B4-BE49-F238E27FC236}">
                <a16:creationId xmlns:a16="http://schemas.microsoft.com/office/drawing/2014/main" id="{30352715-4AFC-4C3A-8114-BCD41DB38F63}"/>
              </a:ext>
            </a:extLst>
          </p:cNvPr>
          <p:cNvSpPr/>
          <p:nvPr/>
        </p:nvSpPr>
        <p:spPr>
          <a:xfrm>
            <a:off x="443796" y="1890935"/>
            <a:ext cx="4835529" cy="4278094"/>
          </a:xfrm>
          <a:prstGeom prst="rect">
            <a:avLst/>
          </a:prstGeom>
        </p:spPr>
        <p:txBody>
          <a:bodyPr wrap="square">
            <a:spAutoFit/>
          </a:bodyPr>
          <a:lstStyle/>
          <a:p>
            <a:r>
              <a:rPr sz="1600" b="1" lang="ru-RU">
                <a:solidFill>
                  <a:srgbClr val="222222"/>
                </a:solidFill>
                <a:latin typeface="Unbounded SemiBold"/>
              </a:rPr>
              <a:t>Особенности:
Универсальность 
Последовательная обработка данных
Сценарии применения:
Повседневные вычислительные задачи
Разработка и компиляция ПО
Обработка графики и использование для игр
Применение в ИИ:
Небольшие модели могут быть напрямую обучены или точно настроены на ЦП (CPU) 
ЦП (CPU) необходим в более крупных моделях как средство координации обучения на ГП (GPU) или ТП (TPU) 
Иногда используются для генерацииили обработки данных обучения</a:t>
            </a:r>
            <a:endParaRPr lang="ru-RU" sz="1600" dirty="0">
              <a:solidFill>
                <a:schemeClr val="tx1"/>
              </a:solidFill>
              <a:latin typeface="Unbounded SemiBold" pitchFamily="2" charset="-52"/>
            </a:endParaRPr>
          </a:p>
        </p:txBody>
      </p:sp>
      <p:sp>
        <p:nvSpPr>
          <p:cNvPr id="9" name="Прямоугольник: скругленные углы 8">
            <a:extLst>
              <a:ext uri="{FF2B5EF4-FFF2-40B4-BE49-F238E27FC236}">
                <a16:creationId xmlns:a16="http://schemas.microsoft.com/office/drawing/2014/main" id="{3B590C0C-84D6-46B6-8FDB-8D6186D1E846}"/>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3" name="Рисунок 12">
            <a:extLst>
              <a:ext uri="{FF2B5EF4-FFF2-40B4-BE49-F238E27FC236}">
                <a16:creationId xmlns:a16="http://schemas.microsoft.com/office/drawing/2014/main" id="{06817EAD-B5C6-4855-83CB-303E0DB99346}"/>
              </a:ext>
            </a:extLst>
          </p:cNvPr>
          <p:cNvPicPr>
            <a:picLocks noChangeAspect="1"/>
          </p:cNvPicPr>
          <p:nvPr/>
        </p:nvPicPr>
        <p:blipFill>
          <a:blip r:embed="rId3"/>
          <a:stretch>
            <a:fillRect/>
          </a:stretch>
        </p:blipFill>
        <p:spPr>
          <a:xfrm>
            <a:off x="635537" y="7213228"/>
            <a:ext cx="1269886" cy="450618"/>
          </a:xfrm>
          <a:prstGeom prst="rect">
            <a:avLst/>
          </a:prstGeom>
        </p:spPr>
      </p:pic>
      <p:pic>
        <p:nvPicPr>
          <p:cNvPr id="15" name="Рисунок 14">
            <a:extLst>
              <a:ext uri="{FF2B5EF4-FFF2-40B4-BE49-F238E27FC236}">
                <a16:creationId xmlns:a16="http://schemas.microsoft.com/office/drawing/2014/main" id="{3E36266E-DE38-43BE-8085-6DF2BD0792FF}"/>
              </a:ext>
            </a:extLst>
          </p:cNvPr>
          <p:cNvPicPr>
            <a:picLocks noChangeAspect="1"/>
          </p:cNvPicPr>
          <p:nvPr/>
        </p:nvPicPr>
        <p:blipFill rotWithShape="1">
          <a:blip r:embed="rId4"/>
          <a:srcRect t="29224" b="27953"/>
          <a:stretch/>
        </p:blipFill>
        <p:spPr>
          <a:xfrm>
            <a:off x="453667" y="7963276"/>
            <a:ext cx="1573839" cy="450618"/>
          </a:xfrm>
          <a:prstGeom prst="rect">
            <a:avLst/>
          </a:prstGeom>
        </p:spPr>
      </p:pic>
      <p:pic>
        <p:nvPicPr>
          <p:cNvPr id="17" name="Рисунок 16">
            <a:extLst>
              <a:ext uri="{FF2B5EF4-FFF2-40B4-BE49-F238E27FC236}">
                <a16:creationId xmlns:a16="http://schemas.microsoft.com/office/drawing/2014/main" id="{959B0EEA-B3BC-481F-AA47-CBE0DD21DD0D}"/>
              </a:ext>
            </a:extLst>
          </p:cNvPr>
          <p:cNvPicPr>
            <a:picLocks noChangeAspect="1"/>
          </p:cNvPicPr>
          <p:nvPr/>
        </p:nvPicPr>
        <p:blipFill>
          <a:blip r:embed="rId5"/>
          <a:stretch>
            <a:fillRect/>
          </a:stretch>
        </p:blipFill>
        <p:spPr>
          <a:xfrm>
            <a:off x="3759819" y="7213228"/>
            <a:ext cx="1269887" cy="450618"/>
          </a:xfrm>
          <a:prstGeom prst="rect">
            <a:avLst/>
          </a:prstGeom>
        </p:spPr>
      </p:pic>
      <p:pic>
        <p:nvPicPr>
          <p:cNvPr id="19" name="Рисунок 18">
            <a:extLst>
              <a:ext uri="{FF2B5EF4-FFF2-40B4-BE49-F238E27FC236}">
                <a16:creationId xmlns:a16="http://schemas.microsoft.com/office/drawing/2014/main" id="{91A67274-0BFD-470D-9BB0-B660EB4D0932}"/>
              </a:ext>
            </a:extLst>
          </p:cNvPr>
          <p:cNvPicPr>
            <a:picLocks noChangeAspect="1"/>
          </p:cNvPicPr>
          <p:nvPr/>
        </p:nvPicPr>
        <p:blipFill>
          <a:blip r:embed="rId6"/>
          <a:stretch>
            <a:fillRect/>
          </a:stretch>
        </p:blipFill>
        <p:spPr>
          <a:xfrm>
            <a:off x="2533933" y="7427888"/>
            <a:ext cx="655254" cy="761078"/>
          </a:xfrm>
          <a:prstGeom prst="rect">
            <a:avLst/>
          </a:prstGeom>
        </p:spPr>
      </p:pic>
      <p:pic>
        <p:nvPicPr>
          <p:cNvPr id="24" name="Рисунок 23">
            <a:extLst>
              <a:ext uri="{FF2B5EF4-FFF2-40B4-BE49-F238E27FC236}">
                <a16:creationId xmlns:a16="http://schemas.microsoft.com/office/drawing/2014/main" id="{ACFA170D-A356-4F57-A3CC-50D7DF7354F3}"/>
              </a:ext>
            </a:extLst>
          </p:cNvPr>
          <p:cNvPicPr>
            <a:picLocks noChangeAspect="1"/>
          </p:cNvPicPr>
          <p:nvPr/>
        </p:nvPicPr>
        <p:blipFill>
          <a:blip r:embed="rId7"/>
          <a:stretch>
            <a:fillRect/>
          </a:stretch>
        </p:blipFill>
        <p:spPr>
          <a:xfrm>
            <a:off x="3759818" y="7988670"/>
            <a:ext cx="1269887" cy="339435"/>
          </a:xfrm>
          <a:prstGeom prst="rect">
            <a:avLst/>
          </a:prstGeom>
        </p:spPr>
      </p:pic>
      <p:pic>
        <p:nvPicPr>
          <p:cNvPr id="25" name="Рисунок 24">
            <a:extLst>
              <a:ext uri="{FF2B5EF4-FFF2-40B4-BE49-F238E27FC236}">
                <a16:creationId xmlns:a16="http://schemas.microsoft.com/office/drawing/2014/main" id="{AF059995-BE00-4A1F-B82F-F66953B68B36}"/>
              </a:ext>
            </a:extLst>
          </p:cNvPr>
          <p:cNvPicPr>
            <a:picLocks noChangeAspect="1"/>
          </p:cNvPicPr>
          <p:nvPr/>
        </p:nvPicPr>
        <p:blipFill>
          <a:blip r:embed="rId8"/>
          <a:stretch>
            <a:fillRect/>
          </a:stretch>
        </p:blipFill>
        <p:spPr>
          <a:xfrm>
            <a:off x="453667" y="9508636"/>
            <a:ext cx="2032257" cy="555114"/>
          </a:xfrm>
          <a:prstGeom prst="rect">
            <a:avLst/>
          </a:prstGeom>
        </p:spPr>
      </p:pic>
      <p:sp>
        <p:nvSpPr>
          <p:cNvPr id="26" name="Прямоугольник: скругленные углы 25">
            <a:extLst>
              <a:ext uri="{FF2B5EF4-FFF2-40B4-BE49-F238E27FC236}">
                <a16:creationId xmlns:a16="http://schemas.microsoft.com/office/drawing/2014/main" id="{43DA0815-F646-4CE9-ADB2-C171958FA3C8}"/>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8" name="Рисунок 27">
            <a:extLst>
              <a:ext uri="{FF2B5EF4-FFF2-40B4-BE49-F238E27FC236}">
                <a16:creationId xmlns:a16="http://schemas.microsoft.com/office/drawing/2014/main" id="{43C0F638-65A9-44E6-BBFE-7974E838D05B}"/>
              </a:ext>
            </a:extLst>
          </p:cNvPr>
          <p:cNvPicPr>
            <a:picLocks noChangeAspect="1"/>
          </p:cNvPicPr>
          <p:nvPr/>
        </p:nvPicPr>
        <p:blipFill>
          <a:blip r:embed="rId9"/>
          <a:stretch>
            <a:fillRect/>
          </a:stretch>
        </p:blipFill>
        <p:spPr>
          <a:xfrm>
            <a:off x="3363864" y="9456220"/>
            <a:ext cx="1915461" cy="607530"/>
          </a:xfrm>
          <a:prstGeom prst="rect">
            <a:avLst/>
          </a:prstGeom>
        </p:spPr>
      </p:pic>
      <p:sp>
        <p:nvSpPr>
          <p:cNvPr id="3" name="Прямоугольник 2">
            <a:extLst>
              <a:ext uri="{FF2B5EF4-FFF2-40B4-BE49-F238E27FC236}">
                <a16:creationId xmlns:a16="http://schemas.microsoft.com/office/drawing/2014/main" id="{B35AEC6C-B462-4C9B-9615-8065AE036D14}"/>
              </a:ext>
            </a:extLst>
          </p:cNvPr>
          <p:cNvSpPr/>
          <p:nvPr/>
        </p:nvSpPr>
        <p:spPr>
          <a:xfrm>
            <a:off x="5941924" y="7670428"/>
            <a:ext cx="3028834" cy="830997"/>
          </a:xfrm>
          <a:prstGeom prst="rect">
            <a:avLst/>
          </a:prstGeom>
        </p:spPr>
        <p:txBody>
          <a:bodyPr wrap="square">
            <a:spAutoFit/>
          </a:bodyPr>
          <a:lstStyle/>
          <a:p>
            <a:r>
              <a:rPr sz="1600" lang="ru-RU">
                <a:solidFill>
                  <a:srgbClr val="000000"/>
                </a:solidFill>
                <a:latin typeface="HelveticaNeueCyr"/>
              </a:rPr>
              <a:t>Основной процессор для всех информационных системи сервисов</a:t>
            </a:r>
          </a:p>
        </p:txBody>
      </p:sp>
      <p:sp>
        <p:nvSpPr>
          <p:cNvPr id="30" name="Прямоугольник: скругленные углы 29">
            <a:extLst>
              <a:ext uri="{FF2B5EF4-FFF2-40B4-BE49-F238E27FC236}">
                <a16:creationId xmlns:a16="http://schemas.microsoft.com/office/drawing/2014/main" id="{4B97EA5F-8436-430D-82BD-BAC45108CD94}"/>
              </a:ext>
            </a:extLst>
          </p:cNvPr>
          <p:cNvSpPr/>
          <p:nvPr/>
        </p:nvSpPr>
        <p:spPr>
          <a:xfrm>
            <a:off x="5941924" y="69036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539AF9DE-11EF-46BE-9169-27876DB17157}"/>
              </a:ext>
            </a:extLst>
          </p:cNvPr>
          <p:cNvSpPr txBox="1"/>
          <p:nvPr/>
        </p:nvSpPr>
        <p:spPr>
          <a:xfrm>
            <a:off x="5882641" y="2015630"/>
            <a:ext cx="8785862" cy="1261884"/>
          </a:xfrm>
          <a:prstGeom prst="rect">
            <a:avLst/>
          </a:prstGeom>
          <a:noFill/>
        </p:spPr>
        <p:txBody>
          <a:bodyPr wrap="square" rtlCol="0">
            <a:spAutoFit/>
          </a:bodyPr>
          <a:lstStyle/>
          <a:p>
            <a:r>
              <a:rPr sz="1600" b="1" lang="ru-RU">
                <a:solidFill>
                  <a:srgbClr val="000000"/>
                </a:solidFill>
                <a:latin typeface="HelveticaNeueCyr"/>
              </a:rPr>
              <a:t>Традиционно рынок вычислений и обработки данных ориентирован на использование ЦП (CPU), этот компонент был самым дорогим в серверах общего назначенияСпрос на ЦП по прогнозам будет снижаться из-за конкуренции традиционных ЦП с альтернативными вычислительными устройствами (ГП (GPU), специализированными ускорителями и др.)</a:t>
            </a:r>
            <a:endParaRPr lang="ru-RU" dirty="0">
              <a:latin typeface="Unbounded Medium" pitchFamily="2" charset="-52"/>
            </a:endParaRPr>
          </a:p>
        </p:txBody>
      </p:sp>
      <p:graphicFrame>
        <p:nvGraphicFramePr>
          <p:cNvPr id="11" name="Диаграмма 10">
            <a:extLst>
              <a:ext uri="{FF2B5EF4-FFF2-40B4-BE49-F238E27FC236}">
                <a16:creationId xmlns:a16="http://schemas.microsoft.com/office/drawing/2014/main" id="{38962B51-CF93-40D7-BB26-61C2C1E912C0}"/>
              </a:ext>
            </a:extLst>
          </p:cNvPr>
          <p:cNvGraphicFramePr/>
          <p:nvPr>
            <p:extLst>
              <p:ext uri="{D42A27DB-BD31-4B8C-83A1-F6EECF244321}">
                <p14:modId xmlns:p14="http://schemas.microsoft.com/office/powerpoint/2010/main" val="840806219"/>
              </p:ext>
            </p:extLst>
          </p:nvPr>
        </p:nvGraphicFramePr>
        <p:xfrm>
          <a:off x="6135887" y="3754283"/>
          <a:ext cx="6023092" cy="2941255"/>
        </p:xfrm>
        <a:graphic>
          <a:graphicData uri="http://schemas.openxmlformats.org/drawingml/2006/chart">
            <c:chart xmlns:c="http://schemas.openxmlformats.org/drawingml/2006/chart" xmlns:r="http://schemas.openxmlformats.org/officeDocument/2006/relationships" r:id="rId10"/>
          </a:graphicData>
        </a:graphic>
      </p:graphicFrame>
      <p:sp>
        <p:nvSpPr>
          <p:cNvPr id="14" name="TextBox 13">
            <a:extLst>
              <a:ext uri="{FF2B5EF4-FFF2-40B4-BE49-F238E27FC236}">
                <a16:creationId xmlns:a16="http://schemas.microsoft.com/office/drawing/2014/main" id="{586B397A-99C5-4286-89FB-E8A80F5017CD}"/>
              </a:ext>
            </a:extLst>
          </p:cNvPr>
          <p:cNvSpPr txBox="1"/>
          <p:nvPr/>
        </p:nvSpPr>
        <p:spPr>
          <a:xfrm>
            <a:off x="12204699" y="4592307"/>
            <a:ext cx="2228857" cy="1197636"/>
          </a:xfrm>
          <a:prstGeom prst="rect">
            <a:avLst/>
          </a:prstGeom>
          <a:noFill/>
        </p:spPr>
        <p:txBody>
          <a:bodyPr wrap="square" rtlCol="0">
            <a:spAutoFit/>
          </a:bodyPr>
          <a:lstStyle/>
          <a:p>
            <a:pPr>
              <a:defRPr sz="1197" b="0" i="0" u="none" strike="noStrike" kern="1200" baseline="0">
                <a:solidFill>
                  <a:schemeClr val="tx1">
                    <a:lumMod val="65000"/>
                    <a:lumOff val="35000"/>
                  </a:schemeClr>
                </a:solidFill>
                <a:latin typeface="HelveticaNeueCyr" panose="02000503040000020004" pitchFamily="2" charset="-52"/>
                <a:ea typeface="+mn-ea"/>
                <a:cs typeface="+mn-cs"/>
              </a:defRPr>
            </a:pPr>
            <a:r>
              <a:rPr sz="1197" lang="ru-RU">
                <a:solidFill>
                  <a:srgbClr val="000000"/>
                </a:solidFill>
                <a:latin typeface="HelveticaNeueCyr"/>
              </a:rPr>
              <a:t>*Сопроцессоры – графические процессоры (GPU), тензорные процессоры (TPU) и другие специализированные интегральные схемы</a:t>
            </a:r>
          </a:p>
        </p:txBody>
      </p:sp>
      <p:sp>
        <p:nvSpPr>
          <p:cNvPr id="16" name="Прямоугольник 15">
            <a:extLst>
              <a:ext uri="{FF2B5EF4-FFF2-40B4-BE49-F238E27FC236}">
                <a16:creationId xmlns:a16="http://schemas.microsoft.com/office/drawing/2014/main" id="{5035837C-9C57-405E-9C4C-EAF3B9111301}"/>
              </a:ext>
            </a:extLst>
          </p:cNvPr>
          <p:cNvSpPr/>
          <p:nvPr/>
        </p:nvSpPr>
        <p:spPr>
          <a:xfrm>
            <a:off x="5941924" y="3441452"/>
            <a:ext cx="7556500" cy="307777"/>
          </a:xfrm>
          <a:prstGeom prst="rect">
            <a:avLst/>
          </a:prstGeom>
        </p:spPr>
        <p:txBody>
          <a:bodyPr>
            <a:spAutoFit/>
          </a:bodyPr>
          <a:lstStyle/>
          <a:p>
            <a:r>
              <a:rPr sz="1200" b="1" lang="ru-RU">
                <a:solidFill>
                  <a:srgbClr val="000000"/>
                </a:solidFill>
                <a:latin typeface="Unbounded SemiBold"/>
              </a:rPr>
              <a:t>Оценка доли серверов с сопроцессорами, прогноз роста</a:t>
            </a:r>
          </a:p>
        </p:txBody>
      </p:sp>
      <p:sp>
        <p:nvSpPr>
          <p:cNvPr id="29" name="Прямоугольник: скругленные углы 28">
            <a:extLst>
              <a:ext uri="{FF2B5EF4-FFF2-40B4-BE49-F238E27FC236}">
                <a16:creationId xmlns:a16="http://schemas.microsoft.com/office/drawing/2014/main" id="{4A53C8CB-A6A3-4184-B7D6-8CF8CC92C416}"/>
              </a:ext>
            </a:extLst>
          </p:cNvPr>
          <p:cNvSpPr/>
          <p:nvPr/>
        </p:nvSpPr>
        <p:spPr>
          <a:xfrm>
            <a:off x="9607899" y="6859936"/>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31" name="Прямоугольник 30">
            <a:extLst>
              <a:ext uri="{FF2B5EF4-FFF2-40B4-BE49-F238E27FC236}">
                <a16:creationId xmlns:a16="http://schemas.microsoft.com/office/drawing/2014/main" id="{B9B6DDCA-7147-4BB8-A722-C6C3A6C6C553}"/>
              </a:ext>
            </a:extLst>
          </p:cNvPr>
          <p:cNvSpPr/>
          <p:nvPr/>
        </p:nvSpPr>
        <p:spPr>
          <a:xfrm>
            <a:off x="9607899" y="7554307"/>
            <a:ext cx="4825657" cy="1077218"/>
          </a:xfrm>
          <a:prstGeom prst="rect">
            <a:avLst/>
          </a:prstGeom>
        </p:spPr>
        <p:txBody>
          <a:bodyPr wrap="square">
            <a:spAutoFit/>
          </a:bodyPr>
          <a:lstStyle/>
          <a:p>
            <a:r>
              <a:rPr sz="1600" lang="ru-RU">
                <a:solidFill>
                  <a:srgbClr val="000000"/>
                </a:solidFill>
                <a:latin typeface="HelveticaNeueCyr"/>
              </a:rPr>
              <a:t>Добавление сопроцессоров позволяет избавиться от необходимости увеличивать количество ЦП (CPU), следовательно снижается вероятность возникновения дефицита</a:t>
            </a:r>
          </a:p>
        </p:txBody>
      </p:sp>
      <p:sp>
        <p:nvSpPr>
          <p:cNvPr id="4" name="Прямоугольник 3">
            <a:extLst>
              <a:ext uri="{FF2B5EF4-FFF2-40B4-BE49-F238E27FC236}">
                <a16:creationId xmlns:a16="http://schemas.microsoft.com/office/drawing/2014/main" id="{414B63DB-F9C1-45E2-8B9C-AE9D8B456653}"/>
              </a:ext>
            </a:extLst>
          </p:cNvPr>
          <p:cNvSpPr/>
          <p:nvPr/>
        </p:nvSpPr>
        <p:spPr>
          <a:xfrm>
            <a:off x="5930588" y="8736636"/>
            <a:ext cx="3372900" cy="1323439"/>
          </a:xfrm>
          <a:prstGeom prst="rect">
            <a:avLst/>
          </a:prstGeom>
        </p:spPr>
        <p:txBody>
          <a:bodyPr wrap="square">
            <a:spAutoFit/>
          </a:bodyPr>
          <a:lstStyle/>
          <a:p>
            <a:r>
              <a:rPr sz="1600" lang="ru-RU">
                <a:solidFill>
                  <a:srgbClr val="002060"/>
                </a:solidFill>
                <a:latin typeface="Unbounded SemiBold"/>
              </a:rPr>
              <a:t>37 304 шт. – количество физических ЦП
До 100% нагрузки, так как используется виртуализация</a:t>
            </a:r>
          </a:p>
        </p:txBody>
      </p:sp>
      <p:sp>
        <p:nvSpPr>
          <p:cNvPr id="10" name="Прямоугольник: скругленные углы 9">
            <a:extLst>
              <a:ext uri="{FF2B5EF4-FFF2-40B4-BE49-F238E27FC236}">
                <a16:creationId xmlns:a16="http://schemas.microsoft.com/office/drawing/2014/main" id="{165B1CCF-C5BB-4A4A-AAE6-F09CAE95B067}"/>
              </a:ext>
            </a:extLst>
          </p:cNvPr>
          <p:cNvSpPr/>
          <p:nvPr/>
        </p:nvSpPr>
        <p:spPr>
          <a:xfrm>
            <a:off x="5941924" y="6903631"/>
            <a:ext cx="3028834" cy="324090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E8DB2B93-57DD-4B89-9934-3568D37F301F}"/>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2294995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Графический процессор</a:t>
            </a:r>
          </a:p>
        </p:txBody>
      </p:sp>
      <p:sp>
        <p:nvSpPr>
          <p:cNvPr id="4" name="Прямоугольник: скругленные углы 3">
            <a:extLst>
              <a:ext uri="{FF2B5EF4-FFF2-40B4-BE49-F238E27FC236}">
                <a16:creationId xmlns:a16="http://schemas.microsoft.com/office/drawing/2014/main" id="{7B346811-B021-46F2-96B4-C6E2BECA5D6E}"/>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специализированная электронная схема, которая может выполнять математические вычисления с высокой скоростью. Используется для таких задач как рендеринг графики, машинное обучение, редактирование видео и пр.</a:t>
            </a:r>
          </a:p>
        </p:txBody>
      </p:sp>
      <p:sp>
        <p:nvSpPr>
          <p:cNvPr id="6" name="Прямоугольник 5">
            <a:extLst>
              <a:ext uri="{FF2B5EF4-FFF2-40B4-BE49-F238E27FC236}">
                <a16:creationId xmlns:a16="http://schemas.microsoft.com/office/drawing/2014/main" id="{EC370C80-4B60-4861-9D95-515A6801E279}"/>
              </a:ext>
            </a:extLst>
          </p:cNvPr>
          <p:cNvSpPr/>
          <p:nvPr/>
        </p:nvSpPr>
        <p:spPr>
          <a:xfrm>
            <a:off x="447671" y="2015630"/>
            <a:ext cx="4926762" cy="4278094"/>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
Использование для графического рендеринга
Сценарии применения:
Приложения с интенсивной графикой 
Глубокое обучение, а также тренировка нейронных сетей
Анализ данных и научные вычисления
Применение в ИИ:
Выполнение определенных математических операций, которые также распространеныв машинном обучении 
Наиболее распространенный вариант ускорителя для обучения моделей ИИ</a:t>
            </a:r>
            <a:endParaRPr lang="ru-RU" sz="1600" dirty="0">
              <a:solidFill>
                <a:schemeClr val="tx1"/>
              </a:solidFill>
              <a:latin typeface="Unbounded SemiBold" pitchFamily="2" charset="-52"/>
            </a:endParaRPr>
          </a:p>
        </p:txBody>
      </p:sp>
      <p:sp>
        <p:nvSpPr>
          <p:cNvPr id="8" name="Прямоугольник: скругленные углы 7">
            <a:extLst>
              <a:ext uri="{FF2B5EF4-FFF2-40B4-BE49-F238E27FC236}">
                <a16:creationId xmlns:a16="http://schemas.microsoft.com/office/drawing/2014/main" id="{CC8646F9-96D5-4085-AA50-A76B7B79CD9B}"/>
              </a:ext>
            </a:extLst>
          </p:cNvPr>
          <p:cNvSpPr/>
          <p:nvPr/>
        </p:nvSpPr>
        <p:spPr>
          <a:xfrm>
            <a:off x="453668" y="6449197"/>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pic>
        <p:nvPicPr>
          <p:cNvPr id="10" name="Рисунок 9">
            <a:extLst>
              <a:ext uri="{FF2B5EF4-FFF2-40B4-BE49-F238E27FC236}">
                <a16:creationId xmlns:a16="http://schemas.microsoft.com/office/drawing/2014/main" id="{1714EA39-B5A2-4236-8CEA-BE0587EBC867}"/>
              </a:ext>
            </a:extLst>
          </p:cNvPr>
          <p:cNvPicPr>
            <a:picLocks noChangeAspect="1"/>
          </p:cNvPicPr>
          <p:nvPr/>
        </p:nvPicPr>
        <p:blipFill rotWithShape="1">
          <a:blip r:embed="rId3"/>
          <a:srcRect t="29224" b="27953"/>
          <a:stretch/>
        </p:blipFill>
        <p:spPr>
          <a:xfrm>
            <a:off x="3705486" y="7199796"/>
            <a:ext cx="1573839" cy="450618"/>
          </a:xfrm>
          <a:prstGeom prst="rect">
            <a:avLst/>
          </a:prstGeom>
        </p:spPr>
      </p:pic>
      <p:pic>
        <p:nvPicPr>
          <p:cNvPr id="11" name="Рисунок 10">
            <a:extLst>
              <a:ext uri="{FF2B5EF4-FFF2-40B4-BE49-F238E27FC236}">
                <a16:creationId xmlns:a16="http://schemas.microsoft.com/office/drawing/2014/main" id="{A7E1BDC9-D695-431C-B7E2-1DDBE920888E}"/>
              </a:ext>
            </a:extLst>
          </p:cNvPr>
          <p:cNvPicPr>
            <a:picLocks noChangeAspect="1"/>
          </p:cNvPicPr>
          <p:nvPr/>
        </p:nvPicPr>
        <p:blipFill>
          <a:blip r:embed="rId4"/>
          <a:stretch>
            <a:fillRect/>
          </a:stretch>
        </p:blipFill>
        <p:spPr>
          <a:xfrm>
            <a:off x="2076671" y="7203151"/>
            <a:ext cx="1264079" cy="450618"/>
          </a:xfrm>
          <a:prstGeom prst="rect">
            <a:avLst/>
          </a:prstGeom>
        </p:spPr>
      </p:pic>
      <p:pic>
        <p:nvPicPr>
          <p:cNvPr id="13" name="Рисунок 12">
            <a:extLst>
              <a:ext uri="{FF2B5EF4-FFF2-40B4-BE49-F238E27FC236}">
                <a16:creationId xmlns:a16="http://schemas.microsoft.com/office/drawing/2014/main" id="{F9453F75-F7D1-474B-940C-3BAAB5614840}"/>
              </a:ext>
            </a:extLst>
          </p:cNvPr>
          <p:cNvPicPr>
            <a:picLocks noChangeAspect="1"/>
          </p:cNvPicPr>
          <p:nvPr/>
        </p:nvPicPr>
        <p:blipFill>
          <a:blip r:embed="rId5"/>
          <a:stretch>
            <a:fillRect/>
          </a:stretch>
        </p:blipFill>
        <p:spPr>
          <a:xfrm>
            <a:off x="2076672" y="8023366"/>
            <a:ext cx="1269887" cy="339435"/>
          </a:xfrm>
          <a:prstGeom prst="rect">
            <a:avLst/>
          </a:prstGeom>
        </p:spPr>
      </p:pic>
      <p:sp>
        <p:nvSpPr>
          <p:cNvPr id="15" name="Прямоугольник: скругленные углы 14">
            <a:extLst>
              <a:ext uri="{FF2B5EF4-FFF2-40B4-BE49-F238E27FC236}">
                <a16:creationId xmlns:a16="http://schemas.microsoft.com/office/drawing/2014/main" id="{A0F0C86C-A40F-4270-BE6D-92FAD6C5E456}"/>
              </a:ext>
            </a:extLst>
          </p:cNvPr>
          <p:cNvSpPr/>
          <p:nvPr/>
        </p:nvSpPr>
        <p:spPr>
          <a:xfrm>
            <a:off x="443796" y="8743546"/>
            <a:ext cx="4835529"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16" name="Рисунок 15">
            <a:extLst>
              <a:ext uri="{FF2B5EF4-FFF2-40B4-BE49-F238E27FC236}">
                <a16:creationId xmlns:a16="http://schemas.microsoft.com/office/drawing/2014/main" id="{9850C9A4-8798-438E-8910-D1F31EA59B1B}"/>
              </a:ext>
            </a:extLst>
          </p:cNvPr>
          <p:cNvPicPr>
            <a:picLocks noChangeAspect="1"/>
          </p:cNvPicPr>
          <p:nvPr/>
        </p:nvPicPr>
        <p:blipFill>
          <a:blip r:embed="rId6"/>
          <a:stretch>
            <a:fillRect/>
          </a:stretch>
        </p:blipFill>
        <p:spPr>
          <a:xfrm>
            <a:off x="453668" y="7088940"/>
            <a:ext cx="1264078" cy="1350677"/>
          </a:xfrm>
          <a:prstGeom prst="rect">
            <a:avLst/>
          </a:prstGeom>
        </p:spPr>
      </p:pic>
      <p:pic>
        <p:nvPicPr>
          <p:cNvPr id="17" name="Рисунок 16">
            <a:extLst>
              <a:ext uri="{FF2B5EF4-FFF2-40B4-BE49-F238E27FC236}">
                <a16:creationId xmlns:a16="http://schemas.microsoft.com/office/drawing/2014/main" id="{BA4DA3C4-7B02-4DEC-96D2-9736E39DA6E5}"/>
              </a:ext>
            </a:extLst>
          </p:cNvPr>
          <p:cNvPicPr>
            <a:picLocks noChangeAspect="1"/>
          </p:cNvPicPr>
          <p:nvPr/>
        </p:nvPicPr>
        <p:blipFill>
          <a:blip r:embed="rId7"/>
          <a:stretch>
            <a:fillRect/>
          </a:stretch>
        </p:blipFill>
        <p:spPr>
          <a:xfrm>
            <a:off x="3705485" y="7764279"/>
            <a:ext cx="1573839" cy="857607"/>
          </a:xfrm>
          <a:prstGeom prst="rect">
            <a:avLst/>
          </a:prstGeom>
        </p:spPr>
      </p:pic>
      <p:sp>
        <p:nvSpPr>
          <p:cNvPr id="18" name="Прямоугольник 17">
            <a:extLst>
              <a:ext uri="{FF2B5EF4-FFF2-40B4-BE49-F238E27FC236}">
                <a16:creationId xmlns:a16="http://schemas.microsoft.com/office/drawing/2014/main" id="{B3C61156-BD3A-44F0-A6EF-00FBC23EC8F9}"/>
              </a:ext>
            </a:extLst>
          </p:cNvPr>
          <p:cNvSpPr/>
          <p:nvPr/>
        </p:nvSpPr>
        <p:spPr>
          <a:xfrm>
            <a:off x="453668" y="9606179"/>
            <a:ext cx="2778325" cy="369332"/>
          </a:xfrm>
          <a:prstGeom prst="rect">
            <a:avLst/>
          </a:prstGeom>
        </p:spPr>
        <p:txBody>
          <a:bodyPr wrap="none">
            <a:spAutoFit/>
          </a:bodyPr>
          <a:lstStyle/>
          <a:p>
            <a:r>
              <a:rPr sz="1800" b="1" lang="ru-RU">
                <a:solidFill>
                  <a:srgbClr val="000000"/>
                </a:solidFill>
                <a:latin typeface="HelveticaNeueCyr"/>
              </a:rPr>
              <a:t>Не производится в РФ</a:t>
            </a:r>
            <a:endParaRPr lang="ru-RU" sz="1800" b="1" dirty="0"/>
          </a:p>
        </p:txBody>
      </p:sp>
      <p:sp>
        <p:nvSpPr>
          <p:cNvPr id="14" name="Прямоугольник: скругленные углы 13">
            <a:extLst>
              <a:ext uri="{FF2B5EF4-FFF2-40B4-BE49-F238E27FC236}">
                <a16:creationId xmlns:a16="http://schemas.microsoft.com/office/drawing/2014/main" id="{E69A73D7-08EA-45CE-A6C9-F6400F8BED58}"/>
              </a:ext>
            </a:extLst>
          </p:cNvPr>
          <p:cNvSpPr/>
          <p:nvPr/>
        </p:nvSpPr>
        <p:spPr>
          <a:xfrm>
            <a:off x="6048604" y="6446431"/>
            <a:ext cx="3028834"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6312295E-3996-425A-AA0C-DB74AAE202D7}"/>
              </a:ext>
            </a:extLst>
          </p:cNvPr>
          <p:cNvSpPr/>
          <p:nvPr/>
        </p:nvSpPr>
        <p:spPr>
          <a:xfrm>
            <a:off x="6043668" y="7120781"/>
            <a:ext cx="3028835" cy="830997"/>
          </a:xfrm>
          <a:prstGeom prst="rect">
            <a:avLst/>
          </a:prstGeom>
        </p:spPr>
        <p:txBody>
          <a:bodyPr wrap="square">
            <a:spAutoFit/>
          </a:bodyPr>
          <a:lstStyle/>
          <a:p>
            <a:r>
              <a:rPr sz="1600" lang="ru-RU">
                <a:solidFill>
                  <a:srgbClr val="000000"/>
                </a:solidFill>
                <a:latin typeface="HelveticaNeueCyr"/>
              </a:rPr>
              <a:t>Закупается для нужд искусственного интеллекта, рендеринга видео</a:t>
            </a:r>
          </a:p>
        </p:txBody>
      </p:sp>
      <p:sp>
        <p:nvSpPr>
          <p:cNvPr id="5" name="Прямоугольник 4">
            <a:extLst>
              <a:ext uri="{FF2B5EF4-FFF2-40B4-BE49-F238E27FC236}">
                <a16:creationId xmlns:a16="http://schemas.microsoft.com/office/drawing/2014/main" id="{DE32FD75-79A6-44F0-91F2-664144AEBDBC}"/>
              </a:ext>
            </a:extLst>
          </p:cNvPr>
          <p:cNvSpPr/>
          <p:nvPr/>
        </p:nvSpPr>
        <p:spPr>
          <a:xfrm>
            <a:off x="9846722" y="7081552"/>
            <a:ext cx="4825657" cy="2769989"/>
          </a:xfrm>
          <a:prstGeom prst="rect">
            <a:avLst/>
          </a:prstGeom>
        </p:spPr>
        <p:txBody>
          <a:bodyPr wrap="square">
            <a:spAutoFit/>
          </a:bodyPr>
          <a:lstStyle/>
          <a:p>
            <a:r>
              <a:rPr sz="1600" lang="ru-RU">
                <a:solidFill>
                  <a:srgbClr val="000000"/>
                </a:solidFill>
                <a:latin typeface="Unbounded SemiBold"/>
              </a:rPr>
              <a:t>Причины:
Проблемы с глобальными цепочками поставок
Влияние криптовалюты, требующей ГП для майнинга
Рост спроса из-за развития и распространения генеративного ИИ, в частности, больших языковых моделей (LLM)
Инициативы в мире по снижению дефицитности:
Выпуск чипов специально предназначенныхдля приложений ИИ (например, NVIDIA)
Регулирование майнинга криптовалют</a:t>
            </a:r>
          </a:p>
        </p:txBody>
      </p:sp>
      <p:sp>
        <p:nvSpPr>
          <p:cNvPr id="24" name="Прямоугольник: скругленные углы 23">
            <a:extLst>
              <a:ext uri="{FF2B5EF4-FFF2-40B4-BE49-F238E27FC236}">
                <a16:creationId xmlns:a16="http://schemas.microsoft.com/office/drawing/2014/main" id="{CA90032A-3A72-42CF-A78A-CE877F8CBC87}"/>
              </a:ext>
            </a:extLst>
          </p:cNvPr>
          <p:cNvSpPr/>
          <p:nvPr/>
        </p:nvSpPr>
        <p:spPr>
          <a:xfrm>
            <a:off x="9836851" y="6446431"/>
            <a:ext cx="4825657"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Дефицит</a:t>
            </a:r>
            <a:endParaRPr lang="ru-RU" sz="1600" dirty="0">
              <a:latin typeface="Unbounded SemiBold" pitchFamily="2" charset="-52"/>
            </a:endParaRPr>
          </a:p>
        </p:txBody>
      </p:sp>
      <p:sp>
        <p:nvSpPr>
          <p:cNvPr id="21" name="TextBox 20">
            <a:extLst>
              <a:ext uri="{FF2B5EF4-FFF2-40B4-BE49-F238E27FC236}">
                <a16:creationId xmlns:a16="http://schemas.microsoft.com/office/drawing/2014/main" id="{942D3102-6571-4571-B1F4-899D6567FDF0}"/>
              </a:ext>
            </a:extLst>
          </p:cNvPr>
          <p:cNvSpPr txBox="1"/>
          <p:nvPr/>
        </p:nvSpPr>
        <p:spPr>
          <a:xfrm>
            <a:off x="5882641" y="2015630"/>
            <a:ext cx="8243906" cy="523220"/>
          </a:xfrm>
          <a:prstGeom prst="rect">
            <a:avLst/>
          </a:prstGeom>
          <a:noFill/>
        </p:spPr>
        <p:txBody>
          <a:bodyPr wrap="square" rtlCol="0">
            <a:spAutoFit/>
          </a:bodyPr>
          <a:lstStyle/>
          <a:p>
            <a:r>
              <a:rPr sz="1200" lang="ru-RU">
                <a:solidFill>
                  <a:srgbClr val="000000"/>
                </a:solidFill>
                <a:latin typeface="Unbounded Medium"/>
              </a:rPr>
              <a:t>Прогнозируемый процентный рост спроса на ГП (GPU) к 2026 году в ЦОД, при сценариях быстрого внедрения ИИ</a:t>
            </a:r>
          </a:p>
        </p:txBody>
      </p:sp>
      <p:grpSp>
        <p:nvGrpSpPr>
          <p:cNvPr id="9" name="Группа 8">
            <a:extLst>
              <a:ext uri="{FF2B5EF4-FFF2-40B4-BE49-F238E27FC236}">
                <a16:creationId xmlns:a16="http://schemas.microsoft.com/office/drawing/2014/main" id="{52C5F894-2539-462F-9A75-390D24C03346}"/>
              </a:ext>
            </a:extLst>
          </p:cNvPr>
          <p:cNvGrpSpPr/>
          <p:nvPr/>
        </p:nvGrpSpPr>
        <p:grpSpPr>
          <a:xfrm>
            <a:off x="5971883" y="2600325"/>
            <a:ext cx="4572000" cy="1061187"/>
            <a:chOff x="5971883" y="2600325"/>
            <a:chExt cx="4572000" cy="1061187"/>
          </a:xfrm>
        </p:grpSpPr>
        <p:graphicFrame>
          <p:nvGraphicFramePr>
            <p:cNvPr id="22" name="Диаграмма 21">
              <a:extLst>
                <a:ext uri="{FF2B5EF4-FFF2-40B4-BE49-F238E27FC236}">
                  <a16:creationId xmlns:a16="http://schemas.microsoft.com/office/drawing/2014/main" id="{0AC6DEE3-C35F-4B6E-B7E9-8E0DFE42355B}"/>
                </a:ext>
              </a:extLst>
            </p:cNvPr>
            <p:cNvGraphicFramePr>
              <a:graphicFrameLocks/>
            </p:cNvGraphicFramePr>
            <p:nvPr>
              <p:extLst>
                <p:ext uri="{D42A27DB-BD31-4B8C-83A1-F6EECF244321}">
                  <p14:modId xmlns:p14="http://schemas.microsoft.com/office/powerpoint/2010/main" val="697634224"/>
                </p:ext>
              </p:extLst>
            </p:nvPr>
          </p:nvGraphicFramePr>
          <p:xfrm>
            <a:off x="5971883" y="2600325"/>
            <a:ext cx="4572000" cy="1061187"/>
          </p:xfrm>
          <a:graphic>
            <a:graphicData uri="http://schemas.openxmlformats.org/drawingml/2006/chart">
              <c:chart xmlns:c="http://schemas.openxmlformats.org/drawingml/2006/chart" xmlns:r="http://schemas.openxmlformats.org/officeDocument/2006/relationships" r:id="rId8"/>
            </a:graphicData>
          </a:graphic>
        </p:graphicFrame>
        <p:sp>
          <p:nvSpPr>
            <p:cNvPr id="3" name="Прямоугольник 2">
              <a:extLst>
                <a:ext uri="{FF2B5EF4-FFF2-40B4-BE49-F238E27FC236}">
                  <a16:creationId xmlns:a16="http://schemas.microsoft.com/office/drawing/2014/main" id="{88060D2B-D3EA-475B-9B5B-685CD2B5B625}"/>
                </a:ext>
              </a:extLst>
            </p:cNvPr>
            <p:cNvSpPr/>
            <p:nvPr/>
          </p:nvSpPr>
          <p:spPr>
            <a:xfrm>
              <a:off x="9570634" y="2692726"/>
              <a:ext cx="869149" cy="307777"/>
            </a:xfrm>
            <a:prstGeom prst="rect">
              <a:avLst/>
            </a:prstGeom>
          </p:spPr>
          <p:txBody>
            <a:bodyPr wrap="none">
              <a:spAutoFit/>
            </a:bodyPr>
            <a:lstStyle/>
            <a:p>
              <a:r>
                <a:rPr sz="1200" lang="ru-RU">
                  <a:solidFill>
                    <a:srgbClr val="000000"/>
                  </a:solidFill>
                  <a:latin typeface="HelveticaNeueCyr"/>
                </a:rPr>
                <a:t>5%-10%</a:t>
              </a:r>
              <a:endParaRPr lang="ru-RU" dirty="0"/>
            </a:p>
          </p:txBody>
        </p:sp>
        <p:sp>
          <p:nvSpPr>
            <p:cNvPr id="25" name="Прямоугольник 24">
              <a:extLst>
                <a:ext uri="{FF2B5EF4-FFF2-40B4-BE49-F238E27FC236}">
                  <a16:creationId xmlns:a16="http://schemas.microsoft.com/office/drawing/2014/main" id="{8C3EE791-7B6C-4223-A419-DFFF8E986452}"/>
                </a:ext>
              </a:extLst>
            </p:cNvPr>
            <p:cNvSpPr/>
            <p:nvPr/>
          </p:nvSpPr>
          <p:spPr>
            <a:xfrm>
              <a:off x="7984969" y="3149580"/>
              <a:ext cx="769763" cy="307777"/>
            </a:xfrm>
            <a:prstGeom prst="rect">
              <a:avLst/>
            </a:prstGeom>
          </p:spPr>
          <p:txBody>
            <a:bodyPr wrap="none">
              <a:spAutoFit/>
            </a:bodyPr>
            <a:lstStyle/>
            <a:p>
              <a:r>
                <a:rPr sz="1200" lang="ru-RU">
                  <a:solidFill>
                    <a:srgbClr val="000000"/>
                  </a:solidFill>
                  <a:latin typeface="HelveticaNeueCyr"/>
                </a:rPr>
                <a:t>1%-5%</a:t>
              </a:r>
              <a:endParaRPr lang="ru-RU" dirty="0"/>
            </a:p>
          </p:txBody>
        </p:sp>
      </p:grpSp>
      <p:sp>
        <p:nvSpPr>
          <p:cNvPr id="12" name="TextBox 11">
            <a:extLst>
              <a:ext uri="{FF2B5EF4-FFF2-40B4-BE49-F238E27FC236}">
                <a16:creationId xmlns:a16="http://schemas.microsoft.com/office/drawing/2014/main" id="{58A0D965-B23F-47F6-A3A6-947839547E68}"/>
              </a:ext>
            </a:extLst>
          </p:cNvPr>
          <p:cNvSpPr txBox="1"/>
          <p:nvPr/>
        </p:nvSpPr>
        <p:spPr>
          <a:xfrm>
            <a:off x="5882640" y="3654206"/>
            <a:ext cx="4661243" cy="2769989"/>
          </a:xfrm>
          <a:prstGeom prst="rect">
            <a:avLst/>
          </a:prstGeom>
          <a:noFill/>
        </p:spPr>
        <p:txBody>
          <a:bodyPr wrap="square" rtlCol="0">
            <a:spAutoFit/>
          </a:bodyPr>
          <a:lstStyle/>
          <a:p>
            <a:r>
              <a:rPr sz="1600" b="1" lang="ru-RU">
                <a:solidFill>
                  <a:srgbClr val="000000"/>
                </a:solidFill>
                <a:latin typeface="HelveticaNeueCyr"/>
              </a:rPr>
              <a:t>В мире: Основной производитель интегральных микросхем TSMC (осуществляет производство Nvidia A100 и H100) заявляет, что не может удовлетворить растущие потребности из-за ограниченных мощностей компании в части производства по технологии CoWoS (Chip-on-Wafer-on-Substrate), которая позволяет создавать высокопроизводительные вычислительные устройства
</a:t>
            </a:r>
          </a:p>
        </p:txBody>
      </p:sp>
      <p:sp>
        <p:nvSpPr>
          <p:cNvPr id="31" name="TextBox 30">
            <a:extLst>
              <a:ext uri="{FF2B5EF4-FFF2-40B4-BE49-F238E27FC236}">
                <a16:creationId xmlns:a16="http://schemas.microsoft.com/office/drawing/2014/main" id="{F50C19DC-46D3-41F2-BD65-E911BE73227B}"/>
              </a:ext>
            </a:extLst>
          </p:cNvPr>
          <p:cNvSpPr txBox="1"/>
          <p:nvPr/>
        </p:nvSpPr>
        <p:spPr>
          <a:xfrm>
            <a:off x="10482837" y="3620115"/>
            <a:ext cx="4661243" cy="1292662"/>
          </a:xfrm>
          <a:prstGeom prst="rect">
            <a:avLst/>
          </a:prstGeom>
          <a:noFill/>
        </p:spPr>
        <p:txBody>
          <a:bodyPr wrap="square" rtlCol="0">
            <a:spAutoFit/>
          </a:bodyPr>
          <a:lstStyle/>
          <a:p>
            <a:r>
              <a:rPr sz="1600" b="1" lang="ru-RU">
                <a:solidFill>
                  <a:srgbClr val="000000"/>
                </a:solidFill>
                <a:latin typeface="HelveticaNeueCyr"/>
              </a:rPr>
              <a:t>В РФ: Поставки высокопроизводительных графических процессоров Nvidia A100 и H100, AMD Instinct MI250 под санкциями
</a:t>
            </a:r>
            <a:endParaRPr lang="ru-RU" sz="1600" dirty="0">
              <a:latin typeface="HelveticaNeueCyr" panose="02000503040000020004" pitchFamily="2" charset="-52"/>
            </a:endParaRPr>
          </a:p>
        </p:txBody>
      </p:sp>
      <p:sp>
        <p:nvSpPr>
          <p:cNvPr id="33" name="Прямоугольник 32">
            <a:extLst>
              <a:ext uri="{FF2B5EF4-FFF2-40B4-BE49-F238E27FC236}">
                <a16:creationId xmlns:a16="http://schemas.microsoft.com/office/drawing/2014/main" id="{874A1B78-0A1F-4EAD-AE65-E01375D729AE}"/>
              </a:ext>
            </a:extLst>
          </p:cNvPr>
          <p:cNvSpPr/>
          <p:nvPr/>
        </p:nvSpPr>
        <p:spPr>
          <a:xfrm>
            <a:off x="6032188" y="8050836"/>
            <a:ext cx="3130291" cy="1661993"/>
          </a:xfrm>
          <a:prstGeom prst="rect">
            <a:avLst/>
          </a:prstGeom>
        </p:spPr>
        <p:txBody>
          <a:bodyPr wrap="square">
            <a:spAutoFit/>
          </a:bodyPr>
          <a:lstStyle/>
          <a:p>
            <a:r>
              <a:rPr sz="1600" lang="ru-RU">
                <a:solidFill>
                  <a:srgbClr val="002060"/>
                </a:solidFill>
                <a:latin typeface="Unbounded SemiBold"/>
              </a:rPr>
              <a:t>4 032 ГБ ГП используется для рендеринга
3 200 ГБ ГП используется для рендеринга
До 100% нагрузки</a:t>
            </a:r>
          </a:p>
        </p:txBody>
      </p:sp>
      <p:sp>
        <p:nvSpPr>
          <p:cNvPr id="34" name="Прямоугольник: скругленные углы 33">
            <a:extLst>
              <a:ext uri="{FF2B5EF4-FFF2-40B4-BE49-F238E27FC236}">
                <a16:creationId xmlns:a16="http://schemas.microsoft.com/office/drawing/2014/main" id="{DB9F07EA-8009-41A7-AF85-5EDAECF5697C}"/>
              </a:ext>
            </a:extLst>
          </p:cNvPr>
          <p:cNvSpPr/>
          <p:nvPr/>
        </p:nvSpPr>
        <p:spPr>
          <a:xfrm>
            <a:off x="6043524" y="6446431"/>
            <a:ext cx="3028834" cy="3529080"/>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рямоугольник 34">
            <a:extLst>
              <a:ext uri="{FF2B5EF4-FFF2-40B4-BE49-F238E27FC236}">
                <a16:creationId xmlns:a16="http://schemas.microsoft.com/office/drawing/2014/main" id="{3C02AB36-D9B7-481F-992F-2AF0A0F7DAF1}"/>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5561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a:xfrm>
            <a:off x="13629780" y="10222964"/>
            <a:ext cx="755650" cy="24622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Нейронный и тензорный процессор</a:t>
            </a:r>
          </a:p>
        </p:txBody>
      </p:sp>
      <p:sp>
        <p:nvSpPr>
          <p:cNvPr id="6" name="Прямоугольник: скругленные углы 5">
            <a:extLst>
              <a:ext uri="{FF2B5EF4-FFF2-40B4-BE49-F238E27FC236}">
                <a16:creationId xmlns:a16="http://schemas.microsoft.com/office/drawing/2014/main" id="{BBEFC215-3D1C-4D6B-A126-A03F3B18A846}"/>
              </a:ext>
            </a:extLst>
          </p:cNvPr>
          <p:cNvSpPr/>
          <p:nvPr/>
        </p:nvSpPr>
        <p:spPr>
          <a:xfrm>
            <a:off x="447672" y="908392"/>
            <a:ext cx="14158794" cy="1393781"/>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Нейронные процессоры (НП) – специализированный класс микропроцессоров и сопроцессоров, используемый для аппаратного ускорения работы алгоритмов искусственных нейронных сетей, компьютерного зрения, распознавания по голосу, машинного обучения и других методов ИИ. Одним из видов НП является тензорный процессор (ТП), предназначенный для выполнения высокопроизводительных вычислений с пониженной точностью</a:t>
            </a:r>
          </a:p>
        </p:txBody>
      </p:sp>
      <p:sp>
        <p:nvSpPr>
          <p:cNvPr id="9" name="Прямоугольник 8">
            <a:extLst>
              <a:ext uri="{FF2B5EF4-FFF2-40B4-BE49-F238E27FC236}">
                <a16:creationId xmlns:a16="http://schemas.microsoft.com/office/drawing/2014/main" id="{4B0A05F0-141E-4D4B-BAA4-8832FB896CD6}"/>
              </a:ext>
            </a:extLst>
          </p:cNvPr>
          <p:cNvSpPr/>
          <p:nvPr/>
        </p:nvSpPr>
        <p:spPr>
          <a:xfrm>
            <a:off x="458663" y="2443990"/>
            <a:ext cx="5235128" cy="4770537"/>
          </a:xfrm>
          <a:prstGeom prst="rect">
            <a:avLst/>
          </a:prstGeom>
        </p:spPr>
        <p:txBody>
          <a:bodyPr wrap="square">
            <a:spAutoFit/>
          </a:bodyPr>
          <a:lstStyle/>
          <a:p>
            <a:r>
              <a:rPr sz="1600" b="1" lang="ru-RU">
                <a:solidFill>
                  <a:srgbClr val="222222"/>
                </a:solidFill>
                <a:latin typeface="Unbounded SemiBold"/>
              </a:rPr>
              <a:t>Особенности:
Параллельная обработка данных
Высокая пропускная способностьи эффективность
Низкая точность для снижения энергопотребления
Для использования необходимы специализированные навыки
Сценарии применения:
Применяются в различных сферах: интернет вещей, распознавание образов и др.
Глубокое обучение, тренировка нейронных сетей
Анализ данных и научные вычисления
Применение в ИИ:
Разработан специально для применения в задачах машинного обучения и других задачах ИИ
Обучение и поддержка работоспособности  моделей нейронных сетей</a:t>
            </a:r>
            <a:endParaRPr lang="ru-RU" sz="1600" dirty="0">
              <a:solidFill>
                <a:schemeClr val="tx1"/>
              </a:solidFill>
              <a:latin typeface="Unbounded SemiBold" pitchFamily="2" charset="-52"/>
            </a:endParaRPr>
          </a:p>
        </p:txBody>
      </p:sp>
      <p:sp>
        <p:nvSpPr>
          <p:cNvPr id="12" name="Прямоугольник: скругленные углы 11">
            <a:extLst>
              <a:ext uri="{FF2B5EF4-FFF2-40B4-BE49-F238E27FC236}">
                <a16:creationId xmlns:a16="http://schemas.microsoft.com/office/drawing/2014/main" id="{ADFB645D-46E3-4B81-9965-B5D2C09C3704}"/>
              </a:ext>
            </a:extLst>
          </p:cNvPr>
          <p:cNvSpPr/>
          <p:nvPr/>
        </p:nvSpPr>
        <p:spPr>
          <a:xfrm>
            <a:off x="458662" y="7126405"/>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16" name="Прямоугольник: скругленные углы 15">
            <a:extLst>
              <a:ext uri="{FF2B5EF4-FFF2-40B4-BE49-F238E27FC236}">
                <a16:creationId xmlns:a16="http://schemas.microsoft.com/office/drawing/2014/main" id="{DEF05364-CDC9-40C0-94B2-B4D4B2736215}"/>
              </a:ext>
            </a:extLst>
          </p:cNvPr>
          <p:cNvSpPr/>
          <p:nvPr/>
        </p:nvSpPr>
        <p:spPr>
          <a:xfrm>
            <a:off x="448790" y="8893933"/>
            <a:ext cx="523512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0" name="Рисунок 19">
            <a:extLst>
              <a:ext uri="{FF2B5EF4-FFF2-40B4-BE49-F238E27FC236}">
                <a16:creationId xmlns:a16="http://schemas.microsoft.com/office/drawing/2014/main" id="{60909B0F-F672-47C2-9523-5C588F40A443}"/>
              </a:ext>
            </a:extLst>
          </p:cNvPr>
          <p:cNvPicPr>
            <a:picLocks noChangeAspect="1"/>
          </p:cNvPicPr>
          <p:nvPr/>
        </p:nvPicPr>
        <p:blipFill>
          <a:blip r:embed="rId3"/>
          <a:stretch>
            <a:fillRect/>
          </a:stretch>
        </p:blipFill>
        <p:spPr>
          <a:xfrm>
            <a:off x="2141178" y="8407910"/>
            <a:ext cx="1847910" cy="342259"/>
          </a:xfrm>
          <a:prstGeom prst="rect">
            <a:avLst/>
          </a:prstGeom>
        </p:spPr>
      </p:pic>
      <p:pic>
        <p:nvPicPr>
          <p:cNvPr id="21" name="Рисунок 20">
            <a:extLst>
              <a:ext uri="{FF2B5EF4-FFF2-40B4-BE49-F238E27FC236}">
                <a16:creationId xmlns:a16="http://schemas.microsoft.com/office/drawing/2014/main" id="{45C6376F-8F45-44AE-BB91-BBC7B3C61C22}"/>
              </a:ext>
            </a:extLst>
          </p:cNvPr>
          <p:cNvPicPr>
            <a:picLocks noChangeAspect="1"/>
          </p:cNvPicPr>
          <p:nvPr/>
        </p:nvPicPr>
        <p:blipFill>
          <a:blip r:embed="rId4"/>
          <a:stretch>
            <a:fillRect/>
          </a:stretch>
        </p:blipFill>
        <p:spPr>
          <a:xfrm>
            <a:off x="509710" y="7796216"/>
            <a:ext cx="1055681" cy="374608"/>
          </a:xfrm>
          <a:prstGeom prst="rect">
            <a:avLst/>
          </a:prstGeom>
        </p:spPr>
      </p:pic>
      <p:pic>
        <p:nvPicPr>
          <p:cNvPr id="22" name="Рисунок 21">
            <a:extLst>
              <a:ext uri="{FF2B5EF4-FFF2-40B4-BE49-F238E27FC236}">
                <a16:creationId xmlns:a16="http://schemas.microsoft.com/office/drawing/2014/main" id="{1531EA21-6546-440F-BA3B-D66A65874614}"/>
              </a:ext>
            </a:extLst>
          </p:cNvPr>
          <p:cNvPicPr>
            <a:picLocks noChangeAspect="1"/>
          </p:cNvPicPr>
          <p:nvPr/>
        </p:nvPicPr>
        <p:blipFill>
          <a:blip r:embed="rId5"/>
          <a:stretch>
            <a:fillRect/>
          </a:stretch>
        </p:blipFill>
        <p:spPr>
          <a:xfrm>
            <a:off x="4542851" y="7790349"/>
            <a:ext cx="1141067" cy="380475"/>
          </a:xfrm>
          <a:prstGeom prst="rect">
            <a:avLst/>
          </a:prstGeom>
        </p:spPr>
      </p:pic>
      <p:pic>
        <p:nvPicPr>
          <p:cNvPr id="23" name="Рисунок 22">
            <a:extLst>
              <a:ext uri="{FF2B5EF4-FFF2-40B4-BE49-F238E27FC236}">
                <a16:creationId xmlns:a16="http://schemas.microsoft.com/office/drawing/2014/main" id="{6A5B9BC4-3E3A-4BC8-969F-0922AFC151BD}"/>
              </a:ext>
            </a:extLst>
          </p:cNvPr>
          <p:cNvPicPr>
            <a:picLocks noChangeAspect="1"/>
          </p:cNvPicPr>
          <p:nvPr/>
        </p:nvPicPr>
        <p:blipFill>
          <a:blip r:embed="rId6"/>
          <a:stretch>
            <a:fillRect/>
          </a:stretch>
        </p:blipFill>
        <p:spPr>
          <a:xfrm>
            <a:off x="4825396" y="8293296"/>
            <a:ext cx="406642" cy="472314"/>
          </a:xfrm>
          <a:prstGeom prst="rect">
            <a:avLst/>
          </a:prstGeom>
        </p:spPr>
      </p:pic>
      <p:pic>
        <p:nvPicPr>
          <p:cNvPr id="5" name="Рисунок 4">
            <a:extLst>
              <a:ext uri="{FF2B5EF4-FFF2-40B4-BE49-F238E27FC236}">
                <a16:creationId xmlns:a16="http://schemas.microsoft.com/office/drawing/2014/main" id="{2D003ED4-EE8D-4DB5-AA77-A43647C00B32}"/>
              </a:ext>
            </a:extLst>
          </p:cNvPr>
          <p:cNvPicPr>
            <a:picLocks noChangeAspect="1"/>
          </p:cNvPicPr>
          <p:nvPr/>
        </p:nvPicPr>
        <p:blipFill>
          <a:blip r:embed="rId7"/>
          <a:stretch>
            <a:fillRect/>
          </a:stretch>
        </p:blipFill>
        <p:spPr>
          <a:xfrm>
            <a:off x="2141178" y="7571234"/>
            <a:ext cx="1747658" cy="841218"/>
          </a:xfrm>
          <a:prstGeom prst="rect">
            <a:avLst/>
          </a:prstGeom>
        </p:spPr>
      </p:pic>
      <p:pic>
        <p:nvPicPr>
          <p:cNvPr id="25" name="Рисунок 24">
            <a:extLst>
              <a:ext uri="{FF2B5EF4-FFF2-40B4-BE49-F238E27FC236}">
                <a16:creationId xmlns:a16="http://schemas.microsoft.com/office/drawing/2014/main" id="{1F0A5394-1698-4EBB-80CA-0E6A6925B2C5}"/>
              </a:ext>
            </a:extLst>
          </p:cNvPr>
          <p:cNvPicPr>
            <a:picLocks noChangeAspect="1"/>
          </p:cNvPicPr>
          <p:nvPr/>
        </p:nvPicPr>
        <p:blipFill>
          <a:blip r:embed="rId8"/>
          <a:stretch>
            <a:fillRect/>
          </a:stretch>
        </p:blipFill>
        <p:spPr>
          <a:xfrm>
            <a:off x="278582" y="9189146"/>
            <a:ext cx="1744954" cy="1179023"/>
          </a:xfrm>
          <a:prstGeom prst="rect">
            <a:avLst/>
          </a:prstGeom>
        </p:spPr>
      </p:pic>
      <p:pic>
        <p:nvPicPr>
          <p:cNvPr id="14" name="Рисунок 13">
            <a:extLst>
              <a:ext uri="{FF2B5EF4-FFF2-40B4-BE49-F238E27FC236}">
                <a16:creationId xmlns:a16="http://schemas.microsoft.com/office/drawing/2014/main" id="{94E84CA5-5127-4591-8949-F1C53D3FA165}"/>
              </a:ext>
            </a:extLst>
          </p:cNvPr>
          <p:cNvPicPr>
            <a:picLocks noChangeAspect="1"/>
          </p:cNvPicPr>
          <p:nvPr/>
        </p:nvPicPr>
        <p:blipFill>
          <a:blip r:embed="rId9">
            <a:extLst>
              <a:ext uri="{BEBA8EAE-BF5A-486C-A8C5-ECC9F3942E4B}">
                <a14:imgProps xmlns:a14="http://schemas.microsoft.com/office/drawing/2010/main">
                  <a14:imgLayer r:embed="rId10">
                    <a14:imgEffect>
                      <a14:saturation sat="200000"/>
                    </a14:imgEffect>
                  </a14:imgLayer>
                </a14:imgProps>
              </a:ext>
            </a:extLst>
          </a:blip>
          <a:stretch>
            <a:fillRect/>
          </a:stretch>
        </p:blipFill>
        <p:spPr>
          <a:xfrm>
            <a:off x="2389294" y="9506252"/>
            <a:ext cx="1725426" cy="580372"/>
          </a:xfrm>
          <a:prstGeom prst="rect">
            <a:avLst/>
          </a:prstGeom>
        </p:spPr>
      </p:pic>
      <p:sp>
        <p:nvSpPr>
          <p:cNvPr id="30" name="Прямоугольник: скругленные углы 29">
            <a:extLst>
              <a:ext uri="{FF2B5EF4-FFF2-40B4-BE49-F238E27FC236}">
                <a16:creationId xmlns:a16="http://schemas.microsoft.com/office/drawing/2014/main" id="{5FF02A7F-96F9-4222-9225-803C1062E5A7}"/>
              </a:ext>
            </a:extLst>
          </p:cNvPr>
          <p:cNvSpPr/>
          <p:nvPr/>
        </p:nvSpPr>
        <p:spPr>
          <a:xfrm>
            <a:off x="6196009" y="6688416"/>
            <a:ext cx="3028834" cy="63666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19" name="Прямоугольник 18">
            <a:extLst>
              <a:ext uri="{FF2B5EF4-FFF2-40B4-BE49-F238E27FC236}">
                <a16:creationId xmlns:a16="http://schemas.microsoft.com/office/drawing/2014/main" id="{5425FDD1-0120-49AA-991B-D6FAD1982081}"/>
              </a:ext>
            </a:extLst>
          </p:cNvPr>
          <p:cNvSpPr/>
          <p:nvPr/>
        </p:nvSpPr>
        <p:spPr>
          <a:xfrm>
            <a:off x="9863784" y="2454174"/>
            <a:ext cx="4804719" cy="3785652"/>
          </a:xfrm>
          <a:prstGeom prst="rect">
            <a:avLst/>
          </a:prstGeom>
        </p:spPr>
        <p:txBody>
          <a:bodyPr wrap="square">
            <a:spAutoFit/>
          </a:bodyPr>
          <a:lstStyle/>
          <a:p>
            <a:r>
              <a:rPr sz="1600" lang="ru-RU">
                <a:solidFill>
                  <a:srgbClr val="000000"/>
                </a:solidFill>
                <a:latin typeface="Unbounded SemiBold"/>
              </a:rPr>
              <a:t>Разработка НП в РФ:
В июне 2024 года российские ученыеиз МФТИ начали разрабатывать первый отечественный нейристор (искусственный нейрон, способный имитировать работу человеческого мозга), который станет основой для создания нейроморфного компьютера
Компания «Мотив нейроморфные технологии» («Мотив НТ») представила в 2019 году прототип нейроморфного процессора «Алтай», а в 2023 году процессор «Алтай 2.0». К 2025 году планируется реализация процессора «Алтай 3.0», ключевой особенностью которого будет обучение ИИ</a:t>
            </a:r>
          </a:p>
        </p:txBody>
      </p:sp>
      <p:sp>
        <p:nvSpPr>
          <p:cNvPr id="24" name="Прямоугольник: скругленные углы 23">
            <a:extLst>
              <a:ext uri="{FF2B5EF4-FFF2-40B4-BE49-F238E27FC236}">
                <a16:creationId xmlns:a16="http://schemas.microsoft.com/office/drawing/2014/main" id="{B5D3DF23-1090-4EC5-BFD1-87B912C53AA8}"/>
              </a:ext>
            </a:extLst>
          </p:cNvPr>
          <p:cNvSpPr/>
          <p:nvPr/>
        </p:nvSpPr>
        <p:spPr>
          <a:xfrm>
            <a:off x="6208710" y="2454174"/>
            <a:ext cx="3028833"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Виды нейронных процессоров</a:t>
            </a:r>
            <a:endParaRPr lang="ru-RU" sz="1600" dirty="0">
              <a:latin typeface="Unbounded SemiBold" pitchFamily="2" charset="-52"/>
            </a:endParaRPr>
          </a:p>
        </p:txBody>
      </p:sp>
      <p:sp>
        <p:nvSpPr>
          <p:cNvPr id="3" name="Прямоугольник 2">
            <a:extLst>
              <a:ext uri="{FF2B5EF4-FFF2-40B4-BE49-F238E27FC236}">
                <a16:creationId xmlns:a16="http://schemas.microsoft.com/office/drawing/2014/main" id="{B0617177-BA0D-4F1E-A173-72B63347F0A5}"/>
              </a:ext>
            </a:extLst>
          </p:cNvPr>
          <p:cNvSpPr/>
          <p:nvPr/>
        </p:nvSpPr>
        <p:spPr>
          <a:xfrm>
            <a:off x="6208709" y="3042729"/>
            <a:ext cx="3028834" cy="1077218"/>
          </a:xfrm>
          <a:prstGeom prst="rect">
            <a:avLst/>
          </a:prstGeom>
        </p:spPr>
        <p:txBody>
          <a:bodyPr wrap="square">
            <a:spAutoFit/>
          </a:bodyPr>
          <a:lstStyle/>
          <a:p>
            <a:pPr marL="285750" indent="-285750">
              <a:buFont typeface="Arial" panose="020B0604020202020204" pitchFamily="34" charset="0"/>
              <a:buChar char="•"/>
            </a:pPr>
            <a:r>
              <a:rPr sz="1600" lang="ru-RU">
                <a:solidFill>
                  <a:srgbClr val="000000"/>
                </a:solidFill>
                <a:latin typeface="HelveticaNeueCyr"/>
              </a:rPr>
              <a:t>Нейроморфные
Тензорные
Процессоры машинного зрения </a:t>
            </a:r>
            <a:endParaRPr lang="ru-RU" sz="1600" dirty="0">
              <a:latin typeface="HelveticaNeueCyr" panose="020B0604020202020204" charset="-52"/>
            </a:endParaRPr>
          </a:p>
        </p:txBody>
      </p:sp>
      <p:sp>
        <p:nvSpPr>
          <p:cNvPr id="27" name="Прямоугольник 26">
            <a:extLst>
              <a:ext uri="{FF2B5EF4-FFF2-40B4-BE49-F238E27FC236}">
                <a16:creationId xmlns:a16="http://schemas.microsoft.com/office/drawing/2014/main" id="{6BFE98E2-C057-47E2-95ED-36FC5ABD3B8E}"/>
              </a:ext>
            </a:extLst>
          </p:cNvPr>
          <p:cNvSpPr/>
          <p:nvPr/>
        </p:nvSpPr>
        <p:spPr>
          <a:xfrm>
            <a:off x="6208709" y="7412425"/>
            <a:ext cx="3028834" cy="830997"/>
          </a:xfrm>
          <a:prstGeom prst="rect">
            <a:avLst/>
          </a:prstGeom>
        </p:spPr>
        <p:txBody>
          <a:bodyPr wrap="square">
            <a:spAutoFit/>
          </a:bodyPr>
          <a:lstStyle/>
          <a:p>
            <a:r>
              <a:rPr sz="1600" lang="ru-RU">
                <a:solidFill>
                  <a:srgbClr val="000000"/>
                </a:solidFill>
                <a:latin typeface="HelveticaNeueCyr"/>
              </a:rPr>
              <a:t>ТП закупаются для нужд искусственного интеллекта, рендеринга видео</a:t>
            </a:r>
          </a:p>
        </p:txBody>
      </p:sp>
      <p:pic>
        <p:nvPicPr>
          <p:cNvPr id="11" name="Рисунок 26">
            <a:extLst>
              <a:ext uri="{FF2B5EF4-FFF2-40B4-BE49-F238E27FC236}">
                <a16:creationId xmlns:a16="http://schemas.microsoft.com/office/drawing/2014/main" id="{3E4390E6-700F-4947-AA72-CA6E309DE3A3}"/>
              </a:ext>
            </a:extLst>
          </p:cNvPr>
          <p:cNvPicPr>
            <a:picLocks noChangeAspect="1"/>
          </p:cNvPicPr>
          <p:nvPr/>
        </p:nvPicPr>
        <p:blipFill>
          <a:blip r:embed="rId11"/>
          <a:stretch>
            <a:fillRect/>
          </a:stretch>
        </p:blipFill>
        <p:spPr>
          <a:xfrm>
            <a:off x="372255" y="8293296"/>
            <a:ext cx="1557609" cy="571488"/>
          </a:xfrm>
          <a:prstGeom prst="rect">
            <a:avLst/>
          </a:prstGeom>
        </p:spPr>
      </p:pic>
      <p:pic>
        <p:nvPicPr>
          <p:cNvPr id="28" name="Рисунок 27">
            <a:extLst>
              <a:ext uri="{FF2B5EF4-FFF2-40B4-BE49-F238E27FC236}">
                <a16:creationId xmlns:a16="http://schemas.microsoft.com/office/drawing/2014/main" id="{DFD55002-D4CE-4341-8CFB-7E0D0217C6BA}"/>
              </a:ext>
            </a:extLst>
          </p:cNvPr>
          <p:cNvPicPr>
            <a:picLocks noChangeAspect="1"/>
          </p:cNvPicPr>
          <p:nvPr/>
        </p:nvPicPr>
        <p:blipFill>
          <a:blip r:embed="rId12"/>
          <a:stretch>
            <a:fillRect/>
          </a:stretch>
        </p:blipFill>
        <p:spPr>
          <a:xfrm>
            <a:off x="4480478" y="9433783"/>
            <a:ext cx="1058751" cy="716651"/>
          </a:xfrm>
          <a:prstGeom prst="rect">
            <a:avLst/>
          </a:prstGeom>
        </p:spPr>
      </p:pic>
      <p:sp>
        <p:nvSpPr>
          <p:cNvPr id="8" name="Прямоугольник 7">
            <a:extLst>
              <a:ext uri="{FF2B5EF4-FFF2-40B4-BE49-F238E27FC236}">
                <a16:creationId xmlns:a16="http://schemas.microsoft.com/office/drawing/2014/main" id="{8A9EAFC4-1EBA-4EBB-BD07-F15387EC6710}"/>
              </a:ext>
            </a:extLst>
          </p:cNvPr>
          <p:cNvSpPr/>
          <p:nvPr/>
        </p:nvSpPr>
        <p:spPr>
          <a:xfrm>
            <a:off x="447671" y="10146001"/>
            <a:ext cx="5180256" cy="369332"/>
          </a:xfrm>
          <a:prstGeom prst="rect">
            <a:avLst/>
          </a:prstGeom>
        </p:spPr>
        <p:txBody>
          <a:bodyPr wrap="square">
            <a:spAutoFit/>
          </a:bodyPr>
          <a:lstStyle/>
          <a:p>
            <a:r>
              <a:rPr sz="900" lang="en-US">
                <a:solidFill>
                  <a:srgbClr val="000000"/>
                </a:solidFill>
                <a:latin typeface="HelveticaNeueCyr"/>
              </a:rPr>
              <a:t>*IVA TPU – проект российской компании, презентация проведена в сентябре 2018 года На данный момент на сайте компании не представлена, с 2020 года нет публичных новостей</a:t>
            </a:r>
          </a:p>
        </p:txBody>
      </p:sp>
      <p:sp>
        <p:nvSpPr>
          <p:cNvPr id="10" name="Прямоугольник 9">
            <a:extLst>
              <a:ext uri="{FF2B5EF4-FFF2-40B4-BE49-F238E27FC236}">
                <a16:creationId xmlns:a16="http://schemas.microsoft.com/office/drawing/2014/main" id="{26202E0F-26ED-4456-9B2D-04E70F46E905}"/>
              </a:ext>
            </a:extLst>
          </p:cNvPr>
          <p:cNvSpPr/>
          <p:nvPr/>
        </p:nvSpPr>
        <p:spPr>
          <a:xfrm>
            <a:off x="5359905" y="9452637"/>
            <a:ext cx="268022" cy="338554"/>
          </a:xfrm>
          <a:prstGeom prst="rect">
            <a:avLst/>
          </a:prstGeom>
        </p:spPr>
        <p:txBody>
          <a:bodyPr wrap="none">
            <a:spAutoFit/>
          </a:bodyPr>
          <a:lstStyle/>
          <a:p>
            <a:r>
              <a:rPr sz="1600" b="1" lang="en-US">
                <a:solidFill>
                  <a:srgbClr val="000000"/>
                </a:solidFill>
                <a:latin typeface="HelveticaNeueCyr"/>
              </a:rPr>
              <a:t>*</a:t>
            </a:r>
            <a:endParaRPr lang="ru-RU" b="1" dirty="0"/>
          </a:p>
        </p:txBody>
      </p:sp>
      <p:sp>
        <p:nvSpPr>
          <p:cNvPr id="31" name="TextBox 30">
            <a:extLst>
              <a:ext uri="{FF2B5EF4-FFF2-40B4-BE49-F238E27FC236}">
                <a16:creationId xmlns:a16="http://schemas.microsoft.com/office/drawing/2014/main" id="{83C36D03-14FA-456A-BED1-EA877AA63AA2}"/>
              </a:ext>
            </a:extLst>
          </p:cNvPr>
          <p:cNvSpPr txBox="1"/>
          <p:nvPr/>
        </p:nvSpPr>
        <p:spPr>
          <a:xfrm>
            <a:off x="9863784" y="6274843"/>
            <a:ext cx="4742681" cy="4031873"/>
          </a:xfrm>
          <a:prstGeom prst="rect">
            <a:avLst/>
          </a:prstGeom>
          <a:noFill/>
        </p:spPr>
        <p:txBody>
          <a:bodyPr wrap="square" rtlCol="0">
            <a:spAutoFit/>
          </a:bodyPr>
          <a:lstStyle/>
          <a:p>
            <a:r>
              <a:rPr sz="1600" lang="ru-RU">
                <a:solidFill>
                  <a:srgbClr val="000000"/>
                </a:solidFill>
                <a:latin typeface="Unbounded SemiBold"/>
              </a:rPr>
              <a:t>Разработка НП и ТП в мире:
В настоящее время ТП производится и используется только компанией Google. Процессоры не продаются в формате физического вычислительного устройства. Использовать Google Cloud TPU возможно через аренду облачных вычислительных мощностей
В декабре 2023 года австралийские ученые анонсировали проект нейроморфного суперкомпьютера нового типа DeepSouth, который способен моделировать нейронные сети масштаба человеческого мозга и будет обрабатывать огромные объемы данныхс высокой скоростью, потребляя меньше энергии, чем обычные суперкомпьютеры</a:t>
            </a:r>
          </a:p>
        </p:txBody>
      </p:sp>
      <p:sp>
        <p:nvSpPr>
          <p:cNvPr id="32" name="Прямоугольник 31">
            <a:extLst>
              <a:ext uri="{FF2B5EF4-FFF2-40B4-BE49-F238E27FC236}">
                <a16:creationId xmlns:a16="http://schemas.microsoft.com/office/drawing/2014/main" id="{8324FD6E-5FF3-4AF5-BADE-B4D40EF887B8}"/>
              </a:ext>
            </a:extLst>
          </p:cNvPr>
          <p:cNvSpPr/>
          <p:nvPr/>
        </p:nvSpPr>
        <p:spPr>
          <a:xfrm>
            <a:off x="6184588" y="8342936"/>
            <a:ext cx="3130291" cy="1969770"/>
          </a:xfrm>
          <a:prstGeom prst="rect">
            <a:avLst/>
          </a:prstGeom>
        </p:spPr>
        <p:txBody>
          <a:bodyPr wrap="square">
            <a:spAutoFit/>
          </a:bodyPr>
          <a:lstStyle/>
          <a:p>
            <a:r>
              <a:rPr sz="1600" lang="ru-RU">
                <a:solidFill>
                  <a:srgbClr val="002060"/>
                </a:solidFill>
                <a:latin typeface="Unbounded SemiBold"/>
              </a:rPr>
              <a:t>4 видеокарты ГП с тензорными сопроцессорами используется для тестов 
2025 год ожидаемый срок основной поставки мощностей в рамках создания кластера ИИ</a:t>
            </a:r>
          </a:p>
        </p:txBody>
      </p:sp>
      <p:sp>
        <p:nvSpPr>
          <p:cNvPr id="33" name="Прямоугольник: скругленные углы 32">
            <a:extLst>
              <a:ext uri="{FF2B5EF4-FFF2-40B4-BE49-F238E27FC236}">
                <a16:creationId xmlns:a16="http://schemas.microsoft.com/office/drawing/2014/main" id="{24D5FA7A-D73C-456D-81E1-CA8E98E87677}"/>
              </a:ext>
            </a:extLst>
          </p:cNvPr>
          <p:cNvSpPr/>
          <p:nvPr/>
        </p:nvSpPr>
        <p:spPr>
          <a:xfrm>
            <a:off x="6195924" y="6675031"/>
            <a:ext cx="3028834" cy="3693138"/>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рямоугольник 33">
            <a:extLst>
              <a:ext uri="{FF2B5EF4-FFF2-40B4-BE49-F238E27FC236}">
                <a16:creationId xmlns:a16="http://schemas.microsoft.com/office/drawing/2014/main" id="{FEA672C0-1775-4B9C-9967-7A53A14790A4}"/>
              </a:ext>
            </a:extLst>
          </p:cNvPr>
          <p:cNvSpPr/>
          <p:nvPr/>
        </p:nvSpPr>
        <p:spPr>
          <a:xfrm>
            <a:off x="5849956" y="7335877"/>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084854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CADC82BF-0C89-400C-98F4-578F57BE9F4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FD2042-F21C-415A-9EA3-4A549B5658B7}" type="slidenum">
              <a:rPr kumimoji="0" lang="ru-RU" sz="1600" b="0" i="0" u="none" strike="noStrike" kern="1200" cap="none" spc="0" normalizeH="0" baseline="0" noProof="0" smtClean="0">
                <a:ln>
                  <a:noFill/>
                </a:ln>
                <a:solidFill>
                  <a:srgbClr val="FFFFFF">
                    <a:lumMod val="75000"/>
                  </a:srgbClr>
                </a:solidFill>
                <a:effectLst/>
                <a:uLnTx/>
                <a:uFillTx/>
                <a:latin typeface="Unbounded Light" pitchFamily="2" charset="-52"/>
                <a:sym typeface="Arial"/>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ru-RU" sz="1600" b="0" i="0" u="none" strike="noStrike" kern="1200" cap="none" spc="0" normalizeH="0" baseline="0" noProof="0" dirty="0">
              <a:ln>
                <a:noFill/>
              </a:ln>
              <a:solidFill>
                <a:srgbClr val="FFFFFF">
                  <a:lumMod val="75000"/>
                </a:srgbClr>
              </a:solidFill>
              <a:effectLst/>
              <a:uLnTx/>
              <a:uFillTx/>
              <a:latin typeface="Unbounded Light" pitchFamily="2" charset="-52"/>
              <a:sym typeface="Arial"/>
            </a:endParaRPr>
          </a:p>
        </p:txBody>
      </p:sp>
      <p:sp>
        <p:nvSpPr>
          <p:cNvPr id="7" name="Google Shape;1046;p21">
            <a:extLst>
              <a:ext uri="{FF2B5EF4-FFF2-40B4-BE49-F238E27FC236}">
                <a16:creationId xmlns:a16="http://schemas.microsoft.com/office/drawing/2014/main" id="{BF704CA4-FC90-0D7F-95E2-B0F309C793A4}"/>
              </a:ext>
            </a:extLst>
          </p:cNvPr>
          <p:cNvSpPr/>
          <p:nvPr/>
        </p:nvSpPr>
        <p:spPr>
          <a:xfrm>
            <a:off x="212724" y="266700"/>
            <a:ext cx="11991975"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262626"/>
              </a:buClr>
              <a:buSzPts val="2300"/>
              <a:buFont typeface="Arial"/>
              <a:buNone/>
              <a:tabLst/>
              <a:defRPr/>
            </a:pPr>
            <a:r>
              <a:rPr sz="2400" b="0" i="0" u="none" lang="ru-RU">
                <a:solidFill>
                  <a:srgbClr val="000000"/>
                </a:solidFill>
                <a:latin typeface="Unbounded Medium"/>
              </a:rPr>
              <a:t>Квантовый компьютер</a:t>
            </a:r>
          </a:p>
        </p:txBody>
      </p:sp>
      <p:sp>
        <p:nvSpPr>
          <p:cNvPr id="8" name="Прямоугольник: скругленные углы 7">
            <a:extLst>
              <a:ext uri="{FF2B5EF4-FFF2-40B4-BE49-F238E27FC236}">
                <a16:creationId xmlns:a16="http://schemas.microsoft.com/office/drawing/2014/main" id="{6EFF3E60-4717-43A8-B9E2-5540B95713D0}"/>
              </a:ext>
            </a:extLst>
          </p:cNvPr>
          <p:cNvSpPr/>
          <p:nvPr/>
        </p:nvSpPr>
        <p:spPr>
          <a:xfrm>
            <a:off x="447671" y="899061"/>
            <a:ext cx="14220832" cy="853540"/>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800" lang="ru-RU">
                <a:solidFill>
                  <a:srgbClr val="000000"/>
                </a:solidFill>
                <a:latin typeface="HelveticaNeueCyr"/>
              </a:rPr>
              <a:t>устройство, которое выполняет вычисления, основываясь на законах квантовой механики</a:t>
            </a:r>
            <a:endParaRPr lang="ru-RU" sz="1800" kern="1200" dirty="0">
              <a:solidFill>
                <a:schemeClr val="tx1"/>
              </a:solidFill>
              <a:latin typeface="HelveticaNeueCyr" panose="020B0604020202020204" charset="-52"/>
              <a:cs typeface="Wix Madefor Display" panose="020B0503020203020203" pitchFamily="34" charset="-52"/>
            </a:endParaRPr>
          </a:p>
        </p:txBody>
      </p:sp>
      <p:sp>
        <p:nvSpPr>
          <p:cNvPr id="19" name="Прямоугольник: скругленные углы 18">
            <a:extLst>
              <a:ext uri="{FF2B5EF4-FFF2-40B4-BE49-F238E27FC236}">
                <a16:creationId xmlns:a16="http://schemas.microsoft.com/office/drawing/2014/main" id="{ECB0B50F-7BA9-4B61-A6FB-F8BF0EF4501E}"/>
              </a:ext>
            </a:extLst>
          </p:cNvPr>
          <p:cNvSpPr/>
          <p:nvPr/>
        </p:nvSpPr>
        <p:spPr>
          <a:xfrm>
            <a:off x="453669" y="7082757"/>
            <a:ext cx="4143788"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Иностранные производители</a:t>
            </a:r>
            <a:endParaRPr lang="ru-RU" sz="1600" dirty="0">
              <a:latin typeface="Unbounded SemiBold" pitchFamily="2" charset="-52"/>
            </a:endParaRPr>
          </a:p>
        </p:txBody>
      </p:sp>
      <p:sp>
        <p:nvSpPr>
          <p:cNvPr id="20" name="Прямоугольник: скругленные углы 19">
            <a:extLst>
              <a:ext uri="{FF2B5EF4-FFF2-40B4-BE49-F238E27FC236}">
                <a16:creationId xmlns:a16="http://schemas.microsoft.com/office/drawing/2014/main" id="{C772AA5D-EDC1-4139-AA1D-EA16E2C51BA5}"/>
              </a:ext>
            </a:extLst>
          </p:cNvPr>
          <p:cNvSpPr/>
          <p:nvPr/>
        </p:nvSpPr>
        <p:spPr>
          <a:xfrm>
            <a:off x="502441" y="8776862"/>
            <a:ext cx="4095015" cy="558704"/>
          </a:xfrm>
          <a:prstGeom prst="roundRect">
            <a:avLst>
              <a:gd name="adj" fmla="val 9260"/>
            </a:avLst>
          </a:prstGeom>
          <a:solidFill>
            <a:srgbClr val="D8D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Российские производители</a:t>
            </a:r>
            <a:endParaRPr lang="ru-RU" sz="1600" dirty="0">
              <a:latin typeface="Unbounded SemiBold" pitchFamily="2" charset="-52"/>
            </a:endParaRPr>
          </a:p>
        </p:txBody>
      </p:sp>
      <p:pic>
        <p:nvPicPr>
          <p:cNvPr id="22" name="Рисунок 21">
            <a:extLst>
              <a:ext uri="{FF2B5EF4-FFF2-40B4-BE49-F238E27FC236}">
                <a16:creationId xmlns:a16="http://schemas.microsoft.com/office/drawing/2014/main" id="{F7DABFDE-B079-4CA0-982A-179887B442F1}"/>
              </a:ext>
            </a:extLst>
          </p:cNvPr>
          <p:cNvPicPr>
            <a:picLocks noChangeAspect="1"/>
          </p:cNvPicPr>
          <p:nvPr/>
        </p:nvPicPr>
        <p:blipFill>
          <a:blip r:embed="rId3"/>
          <a:stretch>
            <a:fillRect/>
          </a:stretch>
        </p:blipFill>
        <p:spPr>
          <a:xfrm>
            <a:off x="376948" y="9016492"/>
            <a:ext cx="1722044" cy="1163543"/>
          </a:xfrm>
          <a:prstGeom prst="rect">
            <a:avLst/>
          </a:prstGeom>
        </p:spPr>
      </p:pic>
      <p:pic>
        <p:nvPicPr>
          <p:cNvPr id="23" name="Рисунок 22">
            <a:extLst>
              <a:ext uri="{FF2B5EF4-FFF2-40B4-BE49-F238E27FC236}">
                <a16:creationId xmlns:a16="http://schemas.microsoft.com/office/drawing/2014/main" id="{FD3CDF88-7EE6-4CED-939E-AC05214A7887}"/>
              </a:ext>
            </a:extLst>
          </p:cNvPr>
          <p:cNvPicPr>
            <a:picLocks noChangeAspect="1"/>
          </p:cNvPicPr>
          <p:nvPr/>
        </p:nvPicPr>
        <p:blipFill>
          <a:blip r:embed="rId4"/>
          <a:stretch>
            <a:fillRect/>
          </a:stretch>
        </p:blipFill>
        <p:spPr>
          <a:xfrm>
            <a:off x="3000589" y="9289533"/>
            <a:ext cx="1628345" cy="803995"/>
          </a:xfrm>
          <a:prstGeom prst="rect">
            <a:avLst/>
          </a:prstGeom>
        </p:spPr>
      </p:pic>
      <p:pic>
        <p:nvPicPr>
          <p:cNvPr id="24" name="Рисунок 23">
            <a:extLst>
              <a:ext uri="{FF2B5EF4-FFF2-40B4-BE49-F238E27FC236}">
                <a16:creationId xmlns:a16="http://schemas.microsoft.com/office/drawing/2014/main" id="{6E0F0D40-4D4D-486B-B1F1-50CBD4186A39}"/>
              </a:ext>
            </a:extLst>
          </p:cNvPr>
          <p:cNvPicPr>
            <a:picLocks noChangeAspect="1"/>
          </p:cNvPicPr>
          <p:nvPr/>
        </p:nvPicPr>
        <p:blipFill>
          <a:blip r:embed="rId5"/>
          <a:stretch>
            <a:fillRect/>
          </a:stretch>
        </p:blipFill>
        <p:spPr>
          <a:xfrm>
            <a:off x="1983652" y="9260809"/>
            <a:ext cx="1163544" cy="1163544"/>
          </a:xfrm>
          <a:prstGeom prst="rect">
            <a:avLst/>
          </a:prstGeom>
        </p:spPr>
      </p:pic>
      <p:pic>
        <p:nvPicPr>
          <p:cNvPr id="25" name="Рисунок 24">
            <a:extLst>
              <a:ext uri="{FF2B5EF4-FFF2-40B4-BE49-F238E27FC236}">
                <a16:creationId xmlns:a16="http://schemas.microsoft.com/office/drawing/2014/main" id="{67414608-543E-4B8C-B654-C1BF5EC1CA80}"/>
              </a:ext>
            </a:extLst>
          </p:cNvPr>
          <p:cNvPicPr>
            <a:picLocks noChangeAspect="1"/>
          </p:cNvPicPr>
          <p:nvPr/>
        </p:nvPicPr>
        <p:blipFill>
          <a:blip r:embed="rId6"/>
          <a:stretch>
            <a:fillRect/>
          </a:stretch>
        </p:blipFill>
        <p:spPr>
          <a:xfrm>
            <a:off x="467379" y="9837314"/>
            <a:ext cx="1521924" cy="674724"/>
          </a:xfrm>
          <a:prstGeom prst="rect">
            <a:avLst/>
          </a:prstGeom>
        </p:spPr>
      </p:pic>
      <p:sp>
        <p:nvSpPr>
          <p:cNvPr id="27" name="Прямоугольник 26">
            <a:extLst>
              <a:ext uri="{FF2B5EF4-FFF2-40B4-BE49-F238E27FC236}">
                <a16:creationId xmlns:a16="http://schemas.microsoft.com/office/drawing/2014/main" id="{65889190-B890-49B4-AA07-AC53E940126F}"/>
              </a:ext>
            </a:extLst>
          </p:cNvPr>
          <p:cNvSpPr/>
          <p:nvPr/>
        </p:nvSpPr>
        <p:spPr>
          <a:xfrm>
            <a:off x="447671" y="1937651"/>
            <a:ext cx="4143788" cy="4493538"/>
          </a:xfrm>
          <a:prstGeom prst="rect">
            <a:avLst/>
          </a:prstGeom>
        </p:spPr>
        <p:txBody>
          <a:bodyPr wrap="square">
            <a:spAutoFit/>
          </a:bodyPr>
          <a:lstStyle/>
          <a:p>
            <a:r>
              <a:rPr sz="1600" b="1" lang="ru-RU">
                <a:solidFill>
                  <a:srgbClr val="222222"/>
                </a:solidFill>
                <a:latin typeface="Unbounded SemiBold"/>
              </a:rPr>
              <a:t>Особенности:
Работа на основе принципов квантовой механики, основной элемент – квантовый бит
Параллельная обработка данныхс возможностью одновременного перебора всех вариантов ответов
Сценарии применения:
Решение узкоспециализированных задач: молекулярное моделирование, разработка новых алгоритмов для криптографиии безопасности, биоинформатика и др.
Применение в ИИ:
Обработка больших объемов данных
Обучение моделей для классификации и кластеризации</a:t>
            </a:r>
            <a:endParaRPr lang="ru-RU" sz="1600" dirty="0">
              <a:solidFill>
                <a:schemeClr val="tx1"/>
              </a:solidFill>
              <a:latin typeface="Unbounded SemiBold" pitchFamily="2" charset="-52"/>
            </a:endParaRPr>
          </a:p>
        </p:txBody>
      </p:sp>
      <p:pic>
        <p:nvPicPr>
          <p:cNvPr id="28" name="Рисунок 27">
            <a:extLst>
              <a:ext uri="{FF2B5EF4-FFF2-40B4-BE49-F238E27FC236}">
                <a16:creationId xmlns:a16="http://schemas.microsoft.com/office/drawing/2014/main" id="{24AFE4E2-8CB5-42FA-9DB8-35C441797301}"/>
              </a:ext>
            </a:extLst>
          </p:cNvPr>
          <p:cNvPicPr>
            <a:picLocks noChangeAspect="1"/>
          </p:cNvPicPr>
          <p:nvPr/>
        </p:nvPicPr>
        <p:blipFill>
          <a:blip r:embed="rId7"/>
          <a:stretch>
            <a:fillRect/>
          </a:stretch>
        </p:blipFill>
        <p:spPr>
          <a:xfrm>
            <a:off x="651019" y="8241972"/>
            <a:ext cx="1434957" cy="508971"/>
          </a:xfrm>
          <a:prstGeom prst="rect">
            <a:avLst/>
          </a:prstGeom>
        </p:spPr>
      </p:pic>
      <p:pic>
        <p:nvPicPr>
          <p:cNvPr id="29" name="Рисунок 28">
            <a:extLst>
              <a:ext uri="{FF2B5EF4-FFF2-40B4-BE49-F238E27FC236}">
                <a16:creationId xmlns:a16="http://schemas.microsoft.com/office/drawing/2014/main" id="{98FC9B0D-8D05-43B6-898D-13DC3F6F5E2C}"/>
              </a:ext>
            </a:extLst>
          </p:cNvPr>
          <p:cNvPicPr>
            <a:picLocks noChangeAspect="1"/>
          </p:cNvPicPr>
          <p:nvPr/>
        </p:nvPicPr>
        <p:blipFill>
          <a:blip r:embed="rId8"/>
          <a:stretch>
            <a:fillRect/>
          </a:stretch>
        </p:blipFill>
        <p:spPr>
          <a:xfrm>
            <a:off x="914400" y="7785864"/>
            <a:ext cx="998703" cy="354389"/>
          </a:xfrm>
          <a:prstGeom prst="rect">
            <a:avLst/>
          </a:prstGeom>
        </p:spPr>
      </p:pic>
      <p:pic>
        <p:nvPicPr>
          <p:cNvPr id="30" name="Рисунок 29">
            <a:extLst>
              <a:ext uri="{FF2B5EF4-FFF2-40B4-BE49-F238E27FC236}">
                <a16:creationId xmlns:a16="http://schemas.microsoft.com/office/drawing/2014/main" id="{A41F4DD5-408A-4300-9101-74717325A31F}"/>
              </a:ext>
            </a:extLst>
          </p:cNvPr>
          <p:cNvPicPr>
            <a:picLocks noChangeAspect="1"/>
          </p:cNvPicPr>
          <p:nvPr/>
        </p:nvPicPr>
        <p:blipFill>
          <a:blip r:embed="rId9"/>
          <a:stretch>
            <a:fillRect/>
          </a:stretch>
        </p:blipFill>
        <p:spPr>
          <a:xfrm>
            <a:off x="3601850" y="7800587"/>
            <a:ext cx="995606" cy="353290"/>
          </a:xfrm>
          <a:prstGeom prst="rect">
            <a:avLst/>
          </a:prstGeom>
        </p:spPr>
      </p:pic>
      <p:pic>
        <p:nvPicPr>
          <p:cNvPr id="11" name="Рисунок 10">
            <a:extLst>
              <a:ext uri="{FF2B5EF4-FFF2-40B4-BE49-F238E27FC236}">
                <a16:creationId xmlns:a16="http://schemas.microsoft.com/office/drawing/2014/main" id="{A7FC44E0-40EB-49CF-A55C-F390F9C0C934}"/>
              </a:ext>
            </a:extLst>
          </p:cNvPr>
          <p:cNvPicPr>
            <a:picLocks noChangeAspect="1"/>
          </p:cNvPicPr>
          <p:nvPr/>
        </p:nvPicPr>
        <p:blipFill>
          <a:blip r:embed="rId10"/>
          <a:stretch>
            <a:fillRect/>
          </a:stretch>
        </p:blipFill>
        <p:spPr>
          <a:xfrm>
            <a:off x="2321183" y="7871144"/>
            <a:ext cx="992109" cy="719279"/>
          </a:xfrm>
          <a:prstGeom prst="rect">
            <a:avLst/>
          </a:prstGeom>
        </p:spPr>
      </p:pic>
      <p:sp>
        <p:nvSpPr>
          <p:cNvPr id="32" name="Прямоугольник: скругленные углы 31">
            <a:extLst>
              <a:ext uri="{FF2B5EF4-FFF2-40B4-BE49-F238E27FC236}">
                <a16:creationId xmlns:a16="http://schemas.microsoft.com/office/drawing/2014/main" id="{9A48DB04-7AD2-4548-A8A7-22F45306F562}"/>
              </a:ext>
            </a:extLst>
          </p:cNvPr>
          <p:cNvSpPr/>
          <p:nvPr/>
        </p:nvSpPr>
        <p:spPr>
          <a:xfrm>
            <a:off x="5030198" y="8302215"/>
            <a:ext cx="4519430" cy="558704"/>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Реализация в ДИТ</a:t>
            </a:r>
            <a:endParaRPr lang="ru-RU" sz="1600" dirty="0">
              <a:latin typeface="Unbounded SemiBold" pitchFamily="2" charset="-52"/>
            </a:endParaRPr>
          </a:p>
        </p:txBody>
      </p:sp>
      <p:sp>
        <p:nvSpPr>
          <p:cNvPr id="5" name="Прямоугольник 4">
            <a:extLst>
              <a:ext uri="{FF2B5EF4-FFF2-40B4-BE49-F238E27FC236}">
                <a16:creationId xmlns:a16="http://schemas.microsoft.com/office/drawing/2014/main" id="{336FD43F-AB97-4828-839F-C1985DE99A55}"/>
              </a:ext>
            </a:extLst>
          </p:cNvPr>
          <p:cNvSpPr/>
          <p:nvPr/>
        </p:nvSpPr>
        <p:spPr>
          <a:xfrm>
            <a:off x="9896054" y="1970351"/>
            <a:ext cx="4717680" cy="2308324"/>
          </a:xfrm>
          <a:prstGeom prst="rect">
            <a:avLst/>
          </a:prstGeom>
        </p:spPr>
        <p:txBody>
          <a:bodyPr wrap="square">
            <a:spAutoFit/>
          </a:bodyPr>
          <a:lstStyle/>
          <a:p>
            <a:r>
              <a:rPr sz="1600" lang="ru-RU">
                <a:solidFill>
                  <a:srgbClr val="000000"/>
                </a:solidFill>
                <a:latin typeface="Unbounded SemiBold"/>
              </a:rPr>
              <a:t>Развитие мирового рынка квантовых вычислений
Google намерена показать устройствона 1 000 кубитов после 2025 года
IBM в октябре 2024 года открыла свой первый квантовый центр обработки данныхв Европе, а также объявила о создании модульной системы, способной поддерживать до 16 632 кубитов</a:t>
            </a:r>
          </a:p>
        </p:txBody>
      </p:sp>
      <p:sp>
        <p:nvSpPr>
          <p:cNvPr id="9" name="Прямоугольник 8">
            <a:extLst>
              <a:ext uri="{FF2B5EF4-FFF2-40B4-BE49-F238E27FC236}">
                <a16:creationId xmlns:a16="http://schemas.microsoft.com/office/drawing/2014/main" id="{C39181CE-AACA-4F2A-B3E6-697E8508EAA3}"/>
              </a:ext>
            </a:extLst>
          </p:cNvPr>
          <p:cNvSpPr/>
          <p:nvPr/>
        </p:nvSpPr>
        <p:spPr>
          <a:xfrm>
            <a:off x="9936883" y="7347924"/>
            <a:ext cx="4615196" cy="523220"/>
          </a:xfrm>
          <a:prstGeom prst="rect">
            <a:avLst/>
          </a:prstGeom>
        </p:spPr>
        <p:txBody>
          <a:bodyPr wrap="square">
            <a:spAutoFit/>
          </a:bodyPr>
          <a:lstStyle/>
          <a:p>
            <a:r>
              <a:rPr sz="1200" b="1" lang="ru-RU">
                <a:solidFill>
                  <a:srgbClr val="0F24E7"/>
                </a:solidFill>
                <a:latin typeface="HelveticaNeueCyr"/>
              </a:rPr>
              <a:t>Сумма инвестиций в квантовые разработкив мире, млн $ </a:t>
            </a:r>
            <a:endParaRPr lang="ru-RU" b="1" dirty="0">
              <a:solidFill>
                <a:srgbClr val="0F24E7"/>
              </a:solidFill>
            </a:endParaRPr>
          </a:p>
        </p:txBody>
      </p:sp>
      <p:graphicFrame>
        <p:nvGraphicFramePr>
          <p:cNvPr id="35" name="Диаграмма 34">
            <a:extLst>
              <a:ext uri="{FF2B5EF4-FFF2-40B4-BE49-F238E27FC236}">
                <a16:creationId xmlns:a16="http://schemas.microsoft.com/office/drawing/2014/main" id="{5C5E5E02-B05C-4ACF-8A5E-2B85D0816B89}"/>
              </a:ext>
            </a:extLst>
          </p:cNvPr>
          <p:cNvGraphicFramePr>
            <a:graphicFrameLocks/>
          </p:cNvGraphicFramePr>
          <p:nvPr>
            <p:extLst>
              <p:ext uri="{D42A27DB-BD31-4B8C-83A1-F6EECF244321}">
                <p14:modId xmlns:p14="http://schemas.microsoft.com/office/powerpoint/2010/main" val="3967731015"/>
              </p:ext>
            </p:extLst>
          </p:nvPr>
        </p:nvGraphicFramePr>
        <p:xfrm>
          <a:off x="9936883" y="7903784"/>
          <a:ext cx="4676851" cy="2105294"/>
        </p:xfrm>
        <a:graphic>
          <a:graphicData uri="http://schemas.openxmlformats.org/drawingml/2006/chart">
            <c:chart xmlns:c="http://schemas.openxmlformats.org/drawingml/2006/chart" xmlns:r="http://schemas.openxmlformats.org/officeDocument/2006/relationships" r:id="rId11"/>
          </a:graphicData>
        </a:graphic>
      </p:graphicFrame>
      <p:sp>
        <p:nvSpPr>
          <p:cNvPr id="36" name="Прямоугольник: скругленные углы 35">
            <a:extLst>
              <a:ext uri="{FF2B5EF4-FFF2-40B4-BE49-F238E27FC236}">
                <a16:creationId xmlns:a16="http://schemas.microsoft.com/office/drawing/2014/main" id="{7D8270D8-3F1C-48C5-AE80-B2A3812F8924}"/>
              </a:ext>
            </a:extLst>
          </p:cNvPr>
          <p:cNvSpPr/>
          <p:nvPr/>
        </p:nvSpPr>
        <p:spPr>
          <a:xfrm>
            <a:off x="9896054" y="6687302"/>
            <a:ext cx="4717680"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Объем частных инвестиций в КТ</a:t>
            </a:r>
          </a:p>
        </p:txBody>
      </p:sp>
      <p:sp>
        <p:nvSpPr>
          <p:cNvPr id="38" name="Прямоугольник 37">
            <a:extLst>
              <a:ext uri="{FF2B5EF4-FFF2-40B4-BE49-F238E27FC236}">
                <a16:creationId xmlns:a16="http://schemas.microsoft.com/office/drawing/2014/main" id="{F58168E8-EDC1-43D2-9B76-22A10BACFD96}"/>
              </a:ext>
            </a:extLst>
          </p:cNvPr>
          <p:cNvSpPr/>
          <p:nvPr/>
        </p:nvSpPr>
        <p:spPr>
          <a:xfrm>
            <a:off x="5003800" y="2751028"/>
            <a:ext cx="4540056" cy="2308324"/>
          </a:xfrm>
          <a:prstGeom prst="rect">
            <a:avLst/>
          </a:prstGeom>
        </p:spPr>
        <p:txBody>
          <a:bodyPr wrap="square">
            <a:spAutoFit/>
          </a:bodyPr>
          <a:lstStyle/>
          <a:p>
            <a:pPr marL="285750" indent="-285750">
              <a:buFont typeface="Arial" panose="020B0604020202020204" pitchFamily="34" charset="0"/>
              <a:buChar char="•"/>
            </a:pPr>
            <a:r>
              <a:rPr sz="1600" lang="ru-RU">
                <a:solidFill>
                  <a:srgbClr val="222222"/>
                </a:solidFill>
                <a:latin typeface="HelveticaNeueCyr"/>
              </a:rPr>
              <a:t>Фокус на рост количества кубитов
Повышение точности 
Квантовая коррекция ошибки 
Потенциальное расширение фокусас роста количества кубитов на другие направления: снижение шума с целью повышения точности, обеспечение возможности загрузки данных в квантовый компьютер и др.</a:t>
            </a:r>
            <a:endParaRPr lang="ru-RU" sz="1600" dirty="0">
              <a:solidFill>
                <a:srgbClr val="222222"/>
              </a:solidFill>
              <a:latin typeface="HelveticaNeueCyr" panose="020B0604020202020204" charset="-52"/>
            </a:endParaRPr>
          </a:p>
        </p:txBody>
      </p:sp>
      <p:sp>
        <p:nvSpPr>
          <p:cNvPr id="39" name="Прямоугольник: скругленные углы 38">
            <a:extLst>
              <a:ext uri="{FF2B5EF4-FFF2-40B4-BE49-F238E27FC236}">
                <a16:creationId xmlns:a16="http://schemas.microsoft.com/office/drawing/2014/main" id="{C1C72FCA-C328-4F9B-806B-B2C0325B2E0B}"/>
              </a:ext>
            </a:extLst>
          </p:cNvPr>
          <p:cNvSpPr/>
          <p:nvPr/>
        </p:nvSpPr>
        <p:spPr>
          <a:xfrm>
            <a:off x="5035969" y="1937624"/>
            <a:ext cx="4513659" cy="748886"/>
          </a:xfrm>
          <a:prstGeom prst="roundRect">
            <a:avLst>
              <a:gd name="adj" fmla="val 9260"/>
            </a:avLst>
          </a:prstGeom>
          <a:solidFill>
            <a:srgbClr val="0F24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lang="ru-RU">
                <a:solidFill>
                  <a:srgbClr val="222222"/>
                </a:solidFill>
                <a:latin typeface="Unbounded SemiBold"/>
              </a:rPr>
              <a:t>Основные тренды на рынке квантовых вычислений</a:t>
            </a:r>
          </a:p>
        </p:txBody>
      </p:sp>
      <p:sp>
        <p:nvSpPr>
          <p:cNvPr id="40" name="Прямоугольник: скругленные углы 39">
            <a:extLst>
              <a:ext uri="{FF2B5EF4-FFF2-40B4-BE49-F238E27FC236}">
                <a16:creationId xmlns:a16="http://schemas.microsoft.com/office/drawing/2014/main" id="{68771CCD-4157-4609-9275-FB03F9B30277}"/>
              </a:ext>
            </a:extLst>
          </p:cNvPr>
          <p:cNvSpPr/>
          <p:nvPr/>
        </p:nvSpPr>
        <p:spPr>
          <a:xfrm>
            <a:off x="5035970" y="5174459"/>
            <a:ext cx="4502116" cy="558704"/>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222222"/>
                </a:solidFill>
                <a:latin typeface="Unbounded SemiBold"/>
              </a:rPr>
              <a:t>Государственные инвестиции</a:t>
            </a:r>
          </a:p>
        </p:txBody>
      </p:sp>
      <p:sp>
        <p:nvSpPr>
          <p:cNvPr id="12" name="Прямоугольник 11">
            <a:extLst>
              <a:ext uri="{FF2B5EF4-FFF2-40B4-BE49-F238E27FC236}">
                <a16:creationId xmlns:a16="http://schemas.microsoft.com/office/drawing/2014/main" id="{08F3AFBD-4655-4BDE-B39A-74FEDAED818D}"/>
              </a:ext>
            </a:extLst>
          </p:cNvPr>
          <p:cNvSpPr/>
          <p:nvPr/>
        </p:nvSpPr>
        <p:spPr>
          <a:xfrm>
            <a:off x="5048669" y="5737649"/>
            <a:ext cx="4118242" cy="1323439"/>
          </a:xfrm>
          <a:prstGeom prst="rect">
            <a:avLst/>
          </a:prstGeom>
        </p:spPr>
        <p:txBody>
          <a:bodyPr wrap="square">
            <a:spAutoFit/>
          </a:bodyPr>
          <a:lstStyle/>
          <a:p>
            <a:r>
              <a:rPr sz="1600" b="1" lang="ru-RU">
                <a:solidFill>
                  <a:srgbClr val="0F24E7"/>
                </a:solidFill>
                <a:latin typeface="HelveticaNeueCyr"/>
              </a:rPr>
              <a:t>Китай является лидеромпо госфинансированию квантовых технологий (КТ) с объемом 15,3 млрд $, обогоняя Евросоюз с 8,4 млрд $и США с 3,7 млрд $</a:t>
            </a:r>
            <a:endParaRPr lang="ru-RU" sz="1600" b="1" dirty="0">
              <a:solidFill>
                <a:srgbClr val="0F24E7"/>
              </a:solidFill>
              <a:highlight>
                <a:srgbClr val="FFFF00"/>
              </a:highlight>
              <a:latin typeface="HelveticaNeueCyr" panose="020B0604020202020204" charset="-52"/>
            </a:endParaRPr>
          </a:p>
        </p:txBody>
      </p:sp>
      <p:sp>
        <p:nvSpPr>
          <p:cNvPr id="42" name="Прямоугольник 41">
            <a:extLst>
              <a:ext uri="{FF2B5EF4-FFF2-40B4-BE49-F238E27FC236}">
                <a16:creationId xmlns:a16="http://schemas.microsoft.com/office/drawing/2014/main" id="{43D2D37B-5C3B-4D35-A99E-84B1244C1BAA}"/>
              </a:ext>
            </a:extLst>
          </p:cNvPr>
          <p:cNvSpPr/>
          <p:nvPr/>
        </p:nvSpPr>
        <p:spPr>
          <a:xfrm>
            <a:off x="9936883" y="4344414"/>
            <a:ext cx="4821786" cy="2308324"/>
          </a:xfrm>
          <a:prstGeom prst="rect">
            <a:avLst/>
          </a:prstGeom>
        </p:spPr>
        <p:txBody>
          <a:bodyPr wrap="square">
            <a:spAutoFit/>
          </a:bodyPr>
          <a:lstStyle/>
          <a:p>
            <a:r>
              <a:rPr sz="1600" lang="ru-RU">
                <a:solidFill>
                  <a:srgbClr val="000000"/>
                </a:solidFill>
                <a:latin typeface="Unbounded SemiBold"/>
              </a:rPr>
              <a:t>Проблемы рынка квантовых компьютеров
Высокая стоимость и техническая сложность создания и обслуживания компьютеров
Мало вариантов использования в реальных задачах
Сложность создания и поддержки кубитовв стабильном состоянии (температура помещения, вибрации)</a:t>
            </a:r>
          </a:p>
        </p:txBody>
      </p:sp>
      <p:sp>
        <p:nvSpPr>
          <p:cNvPr id="43" name="Прямоугольник: скругленные углы 42">
            <a:extLst>
              <a:ext uri="{FF2B5EF4-FFF2-40B4-BE49-F238E27FC236}">
                <a16:creationId xmlns:a16="http://schemas.microsoft.com/office/drawing/2014/main" id="{89993C67-FC84-4404-B01D-886D81EBAD87}"/>
              </a:ext>
            </a:extLst>
          </p:cNvPr>
          <p:cNvSpPr/>
          <p:nvPr/>
        </p:nvSpPr>
        <p:spPr>
          <a:xfrm>
            <a:off x="5016918" y="7198058"/>
            <a:ext cx="4507887" cy="870326"/>
          </a:xfrm>
          <a:prstGeom prst="roundRect">
            <a:avLst>
              <a:gd name="adj" fmla="val 9260"/>
            </a:avLst>
          </a:prstGeom>
          <a:solidFill>
            <a:srgbClr val="EF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sz="1600" b="1" lang="ru-RU">
                <a:solidFill>
                  <a:srgbClr val="0F24E7"/>
                </a:solidFill>
                <a:latin typeface="HelveticaNeueCyr"/>
              </a:rPr>
              <a:t>IBM Quantum Condor – самый мощный квантовый компьютер на сегодняшний день, имеющий 433 кубита</a:t>
            </a:r>
            <a:endParaRPr lang="ru-RU" sz="1600" b="1" dirty="0">
              <a:solidFill>
                <a:schemeClr val="tx1"/>
              </a:solidFill>
              <a:latin typeface="HelveticaNeueCyr" panose="020B0604020202020204" charset="-52"/>
            </a:endParaRPr>
          </a:p>
        </p:txBody>
      </p:sp>
      <p:sp>
        <p:nvSpPr>
          <p:cNvPr id="45" name="Прямоугольник 44">
            <a:extLst>
              <a:ext uri="{FF2B5EF4-FFF2-40B4-BE49-F238E27FC236}">
                <a16:creationId xmlns:a16="http://schemas.microsoft.com/office/drawing/2014/main" id="{76331F69-AB47-40D9-BB4D-7F22CD43E781}"/>
              </a:ext>
            </a:extLst>
          </p:cNvPr>
          <p:cNvSpPr/>
          <p:nvPr/>
        </p:nvSpPr>
        <p:spPr>
          <a:xfrm>
            <a:off x="5108861" y="8956431"/>
            <a:ext cx="4259728" cy="584775"/>
          </a:xfrm>
          <a:prstGeom prst="rect">
            <a:avLst/>
          </a:prstGeom>
        </p:spPr>
        <p:txBody>
          <a:bodyPr wrap="square">
            <a:spAutoFit/>
          </a:bodyPr>
          <a:lstStyle/>
          <a:p>
            <a:r>
              <a:rPr sz="1600" lang="ru-RU">
                <a:solidFill>
                  <a:srgbClr val="002060"/>
                </a:solidFill>
                <a:latin typeface="Unbounded SemiBold"/>
              </a:rPr>
              <a:t>2 двухкубитовых компьютера на текущий момент тестируются в ДИТ</a:t>
            </a:r>
          </a:p>
        </p:txBody>
      </p:sp>
      <p:sp>
        <p:nvSpPr>
          <p:cNvPr id="46" name="Прямоугольник: скругленные углы 45">
            <a:extLst>
              <a:ext uri="{FF2B5EF4-FFF2-40B4-BE49-F238E27FC236}">
                <a16:creationId xmlns:a16="http://schemas.microsoft.com/office/drawing/2014/main" id="{D42A0922-31C4-498F-8010-517ED65FE52A}"/>
              </a:ext>
            </a:extLst>
          </p:cNvPr>
          <p:cNvSpPr/>
          <p:nvPr/>
        </p:nvSpPr>
        <p:spPr>
          <a:xfrm>
            <a:off x="5041011" y="8302215"/>
            <a:ext cx="4483793" cy="1706863"/>
          </a:xfrm>
          <a:prstGeom prst="roundRect">
            <a:avLst>
              <a:gd name="adj" fmla="val 2436"/>
            </a:avLst>
          </a:prstGeom>
          <a:noFill/>
          <a:ln>
            <a:solidFill>
              <a:srgbClr val="818C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257D1D4D-243C-4C65-8A8B-03FDD3CD69F6}"/>
              </a:ext>
            </a:extLst>
          </p:cNvPr>
          <p:cNvSpPr/>
          <p:nvPr/>
        </p:nvSpPr>
        <p:spPr>
          <a:xfrm>
            <a:off x="5236575" y="8888808"/>
            <a:ext cx="3742429" cy="150009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200" lang="ru-RU">
                <a:solidFill>
                  <a:srgbClr val="000000"/>
                </a:solidFill>
              </a:rPr>
              <a:t>Нужно подумать о формате и месте размещения блока с реализацией в ДИТПока он расположен в середине, не отслеживается структура</a:t>
            </a:r>
          </a:p>
        </p:txBody>
      </p:sp>
    </p:spTree>
    <p:extLst>
      <p:ext uri="{BB962C8B-B14F-4D97-AF65-F5344CB8AC3E}">
        <p14:creationId xmlns:p14="http://schemas.microsoft.com/office/powerpoint/2010/main" val="380603074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7092</TotalTime>
  <Words>3470</Words>
  <Application>Microsoft Office PowerPoint</Application>
  <PresentationFormat>Произвольный</PresentationFormat>
  <Paragraphs>460</Paragraphs>
  <Slides>12</Slides>
  <Notes>12</Notes>
  <HiddenSlides>0</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12</vt:i4>
      </vt:variant>
    </vt:vector>
  </HeadingPairs>
  <TitlesOfParts>
    <vt:vector size="23" baseType="lpstr">
      <vt:lpstr>Wix Madefor Display SemiBold</vt:lpstr>
      <vt:lpstr>Unbounded Light</vt:lpstr>
      <vt:lpstr>Wix Madefor Display ExtraBold</vt:lpstr>
      <vt:lpstr>HelveticaNeueCyr</vt:lpstr>
      <vt:lpstr>Wix Madefor Display</vt:lpstr>
      <vt:lpstr>Unbounded Medium</vt:lpstr>
      <vt:lpstr>Arial</vt:lpstr>
      <vt:lpstr>Unbounded SemiBold</vt:lpstr>
      <vt:lpstr>Calibri</vt:lpstr>
      <vt:lpstr>Unbounded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PptxGenJS</dc:creator>
  <cp:lastModifiedBy>Корчажинская Софья Александровна</cp:lastModifiedBy>
  <cp:revision>571</cp:revision>
  <cp:lastPrinted>2024-11-08T10:52:42Z</cp:lastPrinted>
  <dcterms:created xsi:type="dcterms:W3CDTF">2024-02-24T12:25:12Z</dcterms:created>
  <dcterms:modified xsi:type="dcterms:W3CDTF">2024-11-26T14:57:24Z</dcterms:modified>
</cp:coreProperties>
</file>