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147473636" r:id="rId3"/>
    <p:sldId id="2147473637" r:id="rId4"/>
    <p:sldId id="2147473641" r:id="rId5"/>
    <p:sldId id="2147473639" r:id="rId6"/>
    <p:sldId id="2147473642" r:id="rId7"/>
    <p:sldId id="2147473643" r:id="rId8"/>
    <p:sldId id="2147473645" r:id="rId9"/>
  </p:sldIdLst>
  <p:sldSz cx="12192000" cy="6858000"/>
  <p:notesSz cx="6797675" cy="9928225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Inter" panose="02000503000000020004" pitchFamily="2" charset="0"/>
      <p:regular r:id="rId17"/>
      <p:bold r:id="rId18"/>
      <p:italic r:id="rId19"/>
      <p:boldItalic r:id="rId20"/>
    </p:embeddedFont>
    <p:embeddedFont>
      <p:font typeface="Inter SemiBold" panose="02000503000000020004" pitchFamily="2" charset="0"/>
      <p:regular r:id="rId21"/>
      <p:bold r:id="rId22"/>
      <p:italic r:id="rId23"/>
      <p:boldItalic r:id="rId24"/>
    </p:embeddedFont>
    <p:embeddedFont>
      <p:font typeface="Roboto" panose="02000000000000000000" pitchFamily="2" charset="0"/>
      <p:regular r:id="rId25"/>
      <p:bold r:id="rId26"/>
      <p:italic r:id="rId27"/>
      <p:boldItalic r:id="rId28"/>
    </p:embeddedFont>
    <p:embeddedFont>
      <p:font typeface="Roboto Black" panose="02000000000000000000" pitchFamily="2" charset="0"/>
      <p:bold r:id="rId29"/>
      <p:italic r:id="rId30"/>
      <p:boldItalic r:id="rId31"/>
    </p:embeddedFont>
    <p:embeddedFont>
      <p:font typeface="Roboto Medium" panose="02000000000000000000" pitchFamily="2" charset="0"/>
      <p:regular r:id="rId32"/>
      <p:italic r:id="rId33"/>
    </p:embeddedFont>
    <p:embeddedFont>
      <p:font typeface="Tilda Sans Bold" panose="020B0702020204020303" pitchFamily="34" charset="0"/>
      <p:bold r:id="rId34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098953F9-D213-4A21-9CEA-B627B0934DB5}">
          <p14:sldIdLst>
            <p14:sldId id="256"/>
            <p14:sldId id="2147473636"/>
            <p14:sldId id="2147473637"/>
            <p14:sldId id="2147473641"/>
            <p14:sldId id="2147473639"/>
            <p14:sldId id="2147473642"/>
            <p14:sldId id="2147473643"/>
            <p14:sldId id="214747364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139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57" userDrawn="1">
          <p15:clr>
            <a:srgbClr val="A4A3A4"/>
          </p15:clr>
        </p15:guide>
        <p15:guide id="4" pos="7401" userDrawn="1">
          <p15:clr>
            <a:srgbClr val="A4A3A4"/>
          </p15:clr>
        </p15:guide>
        <p15:guide id="5" orient="horz" pos="278" userDrawn="1">
          <p15:clr>
            <a:srgbClr val="A4A3A4"/>
          </p15:clr>
        </p15:guide>
        <p15:guide id="6" orient="horz" pos="4042" userDrawn="1">
          <p15:clr>
            <a:srgbClr val="A4A3A4"/>
          </p15:clr>
        </p15:guide>
        <p15:guide id="7" pos="291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9FF"/>
    <a:srgbClr val="E4E4E4"/>
    <a:srgbClr val="4525FF"/>
    <a:srgbClr val="7700FF"/>
    <a:srgbClr val="FF4F12"/>
    <a:srgbClr val="171F3E"/>
    <a:srgbClr val="ADC7DE"/>
    <a:srgbClr val="D6E2EF"/>
    <a:srgbClr val="3784FF"/>
    <a:srgbClr val="2B30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31" autoAdjust="0"/>
    <p:restoredTop sz="95865" autoAdjust="0"/>
  </p:normalViewPr>
  <p:slideViewPr>
    <p:cSldViewPr snapToGrid="0">
      <p:cViewPr>
        <p:scale>
          <a:sx n="100" d="100"/>
          <a:sy n="100" d="100"/>
        </p:scale>
        <p:origin x="276" y="312"/>
      </p:cViewPr>
      <p:guideLst>
        <p:guide orient="horz" pos="1139"/>
        <p:guide pos="3840"/>
        <p:guide pos="257"/>
        <p:guide pos="7401"/>
        <p:guide orient="horz" pos="278"/>
        <p:guide orient="horz" pos="4042"/>
        <p:guide pos="291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font" Target="fonts/font16.fntdata"/><Relationship Id="rId21" Type="http://schemas.openxmlformats.org/officeDocument/2006/relationships/font" Target="fonts/font11.fntdata"/><Relationship Id="rId34" Type="http://schemas.openxmlformats.org/officeDocument/2006/relationships/font" Target="fonts/font24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font" Target="fonts/font15.fntdata"/><Relationship Id="rId33" Type="http://schemas.openxmlformats.org/officeDocument/2006/relationships/font" Target="fonts/font23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openxmlformats.org/officeDocument/2006/relationships/font" Target="fonts/font1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32" Type="http://schemas.openxmlformats.org/officeDocument/2006/relationships/font" Target="fonts/font22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font" Target="fonts/font18.fntdata"/><Relationship Id="rId36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31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font" Target="fonts/font17.fntdata"/><Relationship Id="rId30" Type="http://schemas.openxmlformats.org/officeDocument/2006/relationships/font" Target="fonts/font20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977D17-03BC-455E-9D30-FF6D174554CF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9768" y="4777958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B3252A-A06B-48D6-B3F3-C2C2E510C5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305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029B36-E8CD-4B42-9BD8-B01C170F1616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69377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2AB14-1DFA-B8F7-BE8F-9DD4C1E81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4AF0A0F-68FC-D900-F9AB-AAEA0856A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591102F-D2D2-350B-C2DD-84F5452DB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75928A9-4CE2-3056-8FFD-B26E4FAAF0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029B36-E8CD-4B42-9BD8-B01C170F1616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316016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2AB14-1DFA-B8F7-BE8F-9DD4C1E81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4AF0A0F-68FC-D900-F9AB-AAEA0856A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591102F-D2D2-350B-C2DD-84F5452DB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75928A9-4CE2-3056-8FFD-B26E4FAAF0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029B36-E8CD-4B42-9BD8-B01C170F1616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82867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2AB14-1DFA-B8F7-BE8F-9DD4C1E81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4AF0A0F-68FC-D900-F9AB-AAEA0856A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591102F-D2D2-350B-C2DD-84F5452DB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75928A9-4CE2-3056-8FFD-B26E4FAAF0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029B36-E8CD-4B42-9BD8-B01C170F1616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83070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2AB14-1DFA-B8F7-BE8F-9DD4C1E81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4AF0A0F-68FC-D900-F9AB-AAEA0856A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591102F-D2D2-350B-C2DD-84F5452DB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75928A9-4CE2-3056-8FFD-B26E4FAAF0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029B36-E8CD-4B42-9BD8-B01C170F1616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28027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2AB14-1DFA-B8F7-BE8F-9DD4C1E81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4AF0A0F-68FC-D900-F9AB-AAEA0856A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591102F-D2D2-350B-C2DD-84F5452DB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75928A9-4CE2-3056-8FFD-B26E4FAAF0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029B36-E8CD-4B42-9BD8-B01C170F1616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772328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10572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4109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FF0C3-D048-4E6E-BB1C-A43E9CBFAD0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63E89-6B5B-4949-9AD0-0051239766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5412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FF0C3-D048-4E6E-BB1C-A43E9CBFAD0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63E89-6B5B-4949-9AD0-0051239766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1962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FF0C3-D048-4E6E-BB1C-A43E9CBFAD0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63E89-6B5B-4949-9AD0-0051239766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4446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FF0C3-D048-4E6E-BB1C-A43E9CBFAD0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63E89-6B5B-4949-9AD0-0051239766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1879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FF0C3-D048-4E6E-BB1C-A43E9CBFAD0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63E89-6B5B-4949-9AD0-0051239766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348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FF0C3-D048-4E6E-BB1C-A43E9CBFAD0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63E89-6B5B-4949-9AD0-0051239766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2990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FF0C3-D048-4E6E-BB1C-A43E9CBFAD0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63E89-6B5B-4949-9AD0-0051239766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6474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FF0C3-D048-4E6E-BB1C-A43E9CBFAD0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63E89-6B5B-4949-9AD0-0051239766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8472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FF0C3-D048-4E6E-BB1C-A43E9CBFAD0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63E89-6B5B-4949-9AD0-0051239766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605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FF0C3-D048-4E6E-BB1C-A43E9CBFAD0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63E89-6B5B-4949-9AD0-0051239766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148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FF0C3-D048-4E6E-BB1C-A43E9CBFAD0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63E89-6B5B-4949-9AD0-0051239766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6966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4FF0C3-D048-4E6E-BB1C-A43E9CBFAD0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563E89-6B5B-4949-9AD0-0051239766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1795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.svg"/><Relationship Id="rId18" Type="http://schemas.openxmlformats.org/officeDocument/2006/relationships/image" Target="../media/image20.png"/><Relationship Id="rId26" Type="http://schemas.openxmlformats.org/officeDocument/2006/relationships/image" Target="../media/image28.svg"/><Relationship Id="rId3" Type="http://schemas.openxmlformats.org/officeDocument/2006/relationships/image" Target="../media/image2.png"/><Relationship Id="rId21" Type="http://schemas.openxmlformats.org/officeDocument/2006/relationships/image" Target="../media/image23.svg"/><Relationship Id="rId34" Type="http://schemas.openxmlformats.org/officeDocument/2006/relationships/image" Target="../media/image35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17" Type="http://schemas.microsoft.com/office/2007/relationships/hdphoto" Target="../media/hdphoto1.wdp"/><Relationship Id="rId25" Type="http://schemas.openxmlformats.org/officeDocument/2006/relationships/image" Target="../media/image27.png"/><Relationship Id="rId33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9.png"/><Relationship Id="rId20" Type="http://schemas.openxmlformats.org/officeDocument/2006/relationships/image" Target="../media/image22.png"/><Relationship Id="rId29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24" Type="http://schemas.openxmlformats.org/officeDocument/2006/relationships/image" Target="../media/image26.svg"/><Relationship Id="rId32" Type="http://schemas.openxmlformats.org/officeDocument/2006/relationships/image" Target="../media/image33.svg"/><Relationship Id="rId5" Type="http://schemas.openxmlformats.org/officeDocument/2006/relationships/image" Target="../media/image8.svg"/><Relationship Id="rId15" Type="http://schemas.openxmlformats.org/officeDocument/2006/relationships/image" Target="../media/image18.svg"/><Relationship Id="rId23" Type="http://schemas.openxmlformats.org/officeDocument/2006/relationships/image" Target="../media/image25.svg"/><Relationship Id="rId28" Type="http://schemas.openxmlformats.org/officeDocument/2006/relationships/image" Target="../media/image30.svg"/><Relationship Id="rId10" Type="http://schemas.openxmlformats.org/officeDocument/2006/relationships/image" Target="../media/image13.png"/><Relationship Id="rId19" Type="http://schemas.openxmlformats.org/officeDocument/2006/relationships/image" Target="../media/image21.svg"/><Relationship Id="rId31" Type="http://schemas.openxmlformats.org/officeDocument/2006/relationships/image" Target="../media/image32.png"/><Relationship Id="rId4" Type="http://schemas.openxmlformats.org/officeDocument/2006/relationships/image" Target="../media/image7.png"/><Relationship Id="rId9" Type="http://schemas.openxmlformats.org/officeDocument/2006/relationships/image" Target="../media/image12.svg"/><Relationship Id="rId14" Type="http://schemas.openxmlformats.org/officeDocument/2006/relationships/image" Target="../media/image17.png"/><Relationship Id="rId22" Type="http://schemas.openxmlformats.org/officeDocument/2006/relationships/image" Target="../media/image24.png"/><Relationship Id="rId27" Type="http://schemas.openxmlformats.org/officeDocument/2006/relationships/image" Target="../media/image29.png"/><Relationship Id="rId30" Type="http://schemas.microsoft.com/office/2007/relationships/hdphoto" Target="../media/hdphoto2.wdp"/><Relationship Id="rId8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3A1A647-92CE-1F09-13F6-DEA496885C71}"/>
              </a:ext>
            </a:extLst>
          </p:cNvPr>
          <p:cNvSpPr/>
          <p:nvPr/>
        </p:nvSpPr>
        <p:spPr>
          <a:xfrm>
            <a:off x="3873806" y="2758552"/>
            <a:ext cx="4566376" cy="532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57" cap="all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HR-</a:t>
            </a:r>
            <a:r>
              <a:rPr lang="ru-RU" sz="2857" cap="all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платформа</a:t>
            </a:r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5EC55B2B-CB4B-1346-AEBA-8DBA965745C3}"/>
              </a:ext>
            </a:extLst>
          </p:cNvPr>
          <p:cNvCxnSpPr>
            <a:cxnSpLocks/>
          </p:cNvCxnSpPr>
          <p:nvPr/>
        </p:nvCxnSpPr>
        <p:spPr>
          <a:xfrm>
            <a:off x="3809739" y="2604118"/>
            <a:ext cx="0" cy="1382195"/>
          </a:xfrm>
          <a:prstGeom prst="line">
            <a:avLst/>
          </a:prstGeom>
          <a:noFill/>
          <a:ln w="6350" cap="rnd">
            <a:solidFill>
              <a:srgbClr val="2B30C6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E9E15243-2862-4294-D036-AED05542E21C}"/>
              </a:ext>
            </a:extLst>
          </p:cNvPr>
          <p:cNvSpPr/>
          <p:nvPr/>
        </p:nvSpPr>
        <p:spPr>
          <a:xfrm>
            <a:off x="5576455" y="6396274"/>
            <a:ext cx="1424598" cy="2242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857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Москва, 9 апреля 2025</a:t>
            </a: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7704330C-C84F-E7C9-C96D-637007D52DCC}"/>
              </a:ext>
            </a:extLst>
          </p:cNvPr>
          <p:cNvCxnSpPr>
            <a:cxnSpLocks/>
          </p:cNvCxnSpPr>
          <p:nvPr/>
        </p:nvCxnSpPr>
        <p:spPr>
          <a:xfrm flipH="1">
            <a:off x="3809739" y="3295214"/>
            <a:ext cx="5704401" cy="0"/>
          </a:xfrm>
          <a:prstGeom prst="line">
            <a:avLst/>
          </a:prstGeom>
          <a:noFill/>
          <a:ln w="6350" cap="rnd">
            <a:solidFill>
              <a:srgbClr val="2B30C6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4E231CE-34C5-AC13-F83C-62C3FD1DEA16}"/>
              </a:ext>
            </a:extLst>
          </p:cNvPr>
          <p:cNvSpPr/>
          <p:nvPr/>
        </p:nvSpPr>
        <p:spPr>
          <a:xfrm>
            <a:off x="3873807" y="3418620"/>
            <a:ext cx="547289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ctr">
              <a:buClr>
                <a:srgbClr val="4361EE"/>
              </a:buClr>
            </a:pPr>
            <a:r>
              <a:rPr lang="ru-RU" sz="1600" cap="all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цифровые инструменты повышения эффективности госслужащих</a:t>
            </a:r>
          </a:p>
        </p:txBody>
      </p:sp>
      <p:pic>
        <p:nvPicPr>
          <p:cNvPr id="9" name="Рисунок 3" descr="Рисунок 3"/>
          <p:cNvPicPr>
            <a:picLocks noChangeAspect="1"/>
          </p:cNvPicPr>
          <p:nvPr/>
        </p:nvPicPr>
        <p:blipFill>
          <a:blip r:embed="rId3">
            <a:clrChange>
              <a:clrFrom>
                <a:srgbClr val="EDF1F5"/>
              </a:clrFrom>
              <a:clrTo>
                <a:srgbClr val="EDF1F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9595" y="2772046"/>
            <a:ext cx="2589812" cy="492139"/>
          </a:xfrm>
          <a:prstGeom prst="rect">
            <a:avLst/>
          </a:prstGeom>
          <a:ln w="12700">
            <a:miter lim="400000"/>
          </a:ln>
        </p:spPr>
      </p:pic>
      <p:pic>
        <p:nvPicPr>
          <p:cNvPr id="10" name="Picture 2" descr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528" y="3161700"/>
            <a:ext cx="2381182" cy="834345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1849095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9D06A-4883-0255-C7BD-3531478CD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Прямоугольник: скругленные углы 74">
            <a:extLst>
              <a:ext uri="{FF2B5EF4-FFF2-40B4-BE49-F238E27FC236}">
                <a16:creationId xmlns:a16="http://schemas.microsoft.com/office/drawing/2014/main" id="{3E38F9CE-D83E-4C1A-ADC4-79A4CE8B886E}"/>
              </a:ext>
            </a:extLst>
          </p:cNvPr>
          <p:cNvSpPr/>
          <p:nvPr/>
        </p:nvSpPr>
        <p:spPr>
          <a:xfrm>
            <a:off x="284369" y="842829"/>
            <a:ext cx="3708000" cy="5594627"/>
          </a:xfrm>
          <a:prstGeom prst="roundRect">
            <a:avLst>
              <a:gd name="adj" fmla="val 4319"/>
            </a:avLst>
          </a:prstGeom>
          <a:solidFill>
            <a:srgbClr val="4525FF">
              <a:alpha val="5000"/>
            </a:srgbClr>
          </a:solidFill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Прямоугольник: скругленные углы 132">
            <a:extLst>
              <a:ext uri="{FF2B5EF4-FFF2-40B4-BE49-F238E27FC236}">
                <a16:creationId xmlns:a16="http://schemas.microsoft.com/office/drawing/2014/main" id="{C2A1D3DE-67B2-4392-988E-B32877646E57}"/>
              </a:ext>
            </a:extLst>
          </p:cNvPr>
          <p:cNvSpPr/>
          <p:nvPr/>
        </p:nvSpPr>
        <p:spPr>
          <a:xfrm>
            <a:off x="4241310" y="842829"/>
            <a:ext cx="3708000" cy="5594627"/>
          </a:xfrm>
          <a:prstGeom prst="roundRect">
            <a:avLst>
              <a:gd name="adj" fmla="val 3805"/>
            </a:avLst>
          </a:prstGeom>
          <a:solidFill>
            <a:srgbClr val="4525FF">
              <a:alpha val="5000"/>
            </a:srgbClr>
          </a:solidFill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53E969E-A7E6-DD6C-84F3-979F6DC36BD0}"/>
              </a:ext>
            </a:extLst>
          </p:cNvPr>
          <p:cNvSpPr/>
          <p:nvPr/>
        </p:nvSpPr>
        <p:spPr>
          <a:xfrm>
            <a:off x="285750" y="105333"/>
            <a:ext cx="7058025" cy="3517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ru-RU" sz="2286" cap="all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эффекты</a:t>
            </a:r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26B82AA9-FD36-71A2-FA88-83CC00E5B169}"/>
              </a:ext>
            </a:extLst>
          </p:cNvPr>
          <p:cNvCxnSpPr/>
          <p:nvPr/>
        </p:nvCxnSpPr>
        <p:spPr>
          <a:xfrm>
            <a:off x="0" y="562429"/>
            <a:ext cx="12192000" cy="0"/>
          </a:xfrm>
          <a:prstGeom prst="line">
            <a:avLst/>
          </a:prstGeom>
          <a:noFill/>
          <a:ln w="6350" cap="rnd">
            <a:solidFill>
              <a:srgbClr val="706F6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" name="Полилиния 29">
            <a:extLst>
              <a:ext uri="{FF2B5EF4-FFF2-40B4-BE49-F238E27FC236}">
                <a16:creationId xmlns:a16="http://schemas.microsoft.com/office/drawing/2014/main" id="{3E1A8F69-E5AA-A6F7-B5F3-AFBDBC1EBCD4}"/>
              </a:ext>
            </a:extLst>
          </p:cNvPr>
          <p:cNvSpPr/>
          <p:nvPr/>
        </p:nvSpPr>
        <p:spPr>
          <a:xfrm>
            <a:off x="11303001" y="0"/>
            <a:ext cx="889000" cy="562429"/>
          </a:xfrm>
          <a:custGeom>
            <a:avLst/>
            <a:gdLst>
              <a:gd name="connsiteX0" fmla="*/ 558263 w 1347538"/>
              <a:gd name="connsiteY0" fmla="*/ 0 h 1001027"/>
              <a:gd name="connsiteX1" fmla="*/ 1347538 w 1347538"/>
              <a:gd name="connsiteY1" fmla="*/ 0 h 1001027"/>
              <a:gd name="connsiteX2" fmla="*/ 1347538 w 1347538"/>
              <a:gd name="connsiteY2" fmla="*/ 1001027 h 1001027"/>
              <a:gd name="connsiteX3" fmla="*/ 0 w 1347538"/>
              <a:gd name="connsiteY3" fmla="*/ 1001027 h 1001027"/>
              <a:gd name="connsiteX4" fmla="*/ 558263 w 1347538"/>
              <a:gd name="connsiteY4" fmla="*/ 0 h 1001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47538" h="1001027">
                <a:moveTo>
                  <a:pt x="558263" y="0"/>
                </a:moveTo>
                <a:lnTo>
                  <a:pt x="1347538" y="0"/>
                </a:lnTo>
                <a:lnTo>
                  <a:pt x="1347538" y="1001027"/>
                </a:lnTo>
                <a:lnTo>
                  <a:pt x="0" y="1001027"/>
                </a:lnTo>
                <a:lnTo>
                  <a:pt x="558263" y="0"/>
                </a:lnTo>
                <a:close/>
              </a:path>
            </a:pathLst>
          </a:custGeom>
          <a:solidFill>
            <a:srgbClr val="706F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286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2909FF06-3980-6802-C366-2A957785B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1133" y="138210"/>
            <a:ext cx="551543" cy="365125"/>
          </a:xfrm>
        </p:spPr>
        <p:txBody>
          <a:bodyPr/>
          <a:lstStyle/>
          <a:p>
            <a:pPr algn="ctr"/>
            <a:fld id="{F74C0E69-0BB3-470F-83A5-6283F13B629C}" type="slidenum">
              <a:rPr lang="ru-RU" sz="1143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pPr algn="ctr"/>
              <a:t>2</a:t>
            </a:fld>
            <a:endParaRPr lang="ru-RU" sz="1143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Segoe UI Light" panose="020B0502040204020203" pitchFamily="34" charset="0"/>
            </a:endParaRPr>
          </a:p>
        </p:txBody>
      </p:sp>
      <p:sp>
        <p:nvSpPr>
          <p:cNvPr id="86" name="Прямоугольник 85">
            <a:extLst>
              <a:ext uri="{FF2B5EF4-FFF2-40B4-BE49-F238E27FC236}">
                <a16:creationId xmlns:a16="http://schemas.microsoft.com/office/drawing/2014/main" id="{B8DED1C6-54E8-F24E-8681-DAD5073D5FFF}"/>
              </a:ext>
            </a:extLst>
          </p:cNvPr>
          <p:cNvSpPr/>
          <p:nvPr/>
        </p:nvSpPr>
        <p:spPr>
          <a:xfrm>
            <a:off x="285749" y="6599684"/>
            <a:ext cx="7121208" cy="9233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ru-RU" sz="6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*2024 – пилот в МЦ </a:t>
            </a:r>
            <a:r>
              <a:rPr lang="en-US" sz="6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HR-</a:t>
            </a:r>
            <a:r>
              <a:rPr lang="ru-RU" sz="6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платформы (синтетические данные, блок Филатова – 50 чел, пилот образовательного контента </a:t>
            </a:r>
            <a:r>
              <a:rPr lang="ru-RU" sz="600" dirty="0" err="1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Яндекс.Практикум</a:t>
            </a:r>
            <a:r>
              <a:rPr lang="ru-RU" sz="6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на Юниорах МЦ – 30 чел )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3046322" y="3012576"/>
            <a:ext cx="540000" cy="138499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 hangingPunct="0">
              <a:spcAft>
                <a:spcPts val="429"/>
              </a:spcAft>
            </a:pPr>
            <a:r>
              <a:rPr lang="en-US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2027</a:t>
            </a:r>
            <a:endParaRPr lang="ru-RU" sz="900" kern="0" dirty="0">
              <a:solidFill>
                <a:srgbClr val="171F3E"/>
              </a:solidFill>
              <a:latin typeface="Roboto" panose="02000000000000000000" pitchFamily="2" charset="0"/>
              <a:ea typeface="Roboto" panose="02000000000000000000" pitchFamily="2" charset="0"/>
              <a:cs typeface="Segoe UI Semibold" panose="020B0702040204020203" pitchFamily="34" charset="0"/>
              <a:sym typeface="Calibri"/>
            </a:endParaRPr>
          </a:p>
        </p:txBody>
      </p: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68B822D5-5336-C268-7BAB-56951EF3A2E3}"/>
              </a:ext>
            </a:extLst>
          </p:cNvPr>
          <p:cNvCxnSpPr>
            <a:cxnSpLocks/>
          </p:cNvCxnSpPr>
          <p:nvPr/>
        </p:nvCxnSpPr>
        <p:spPr>
          <a:xfrm flipH="1">
            <a:off x="868578" y="2978744"/>
            <a:ext cx="2736000" cy="0"/>
          </a:xfrm>
          <a:prstGeom prst="line">
            <a:avLst/>
          </a:prstGeom>
          <a:noFill/>
          <a:ln w="9525" cap="rnd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3" name="Прямая соединительная линия 42">
            <a:extLst>
              <a:ext uri="{FF2B5EF4-FFF2-40B4-BE49-F238E27FC236}">
                <a16:creationId xmlns:a16="http://schemas.microsoft.com/office/drawing/2014/main" id="{68B822D5-5336-C268-7BAB-56951EF3A2E3}"/>
              </a:ext>
            </a:extLst>
          </p:cNvPr>
          <p:cNvCxnSpPr>
            <a:cxnSpLocks/>
          </p:cNvCxnSpPr>
          <p:nvPr/>
        </p:nvCxnSpPr>
        <p:spPr>
          <a:xfrm>
            <a:off x="868579" y="1654502"/>
            <a:ext cx="0" cy="1296000"/>
          </a:xfrm>
          <a:prstGeom prst="line">
            <a:avLst/>
          </a:prstGeom>
          <a:noFill/>
          <a:ln w="9525" cap="rnd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2357680" y="3014763"/>
            <a:ext cx="540000" cy="138499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 hangingPunct="0">
              <a:spcAft>
                <a:spcPts val="429"/>
              </a:spcAft>
            </a:pPr>
            <a:r>
              <a:rPr lang="en-US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2026</a:t>
            </a:r>
            <a:endParaRPr lang="ru-RU" sz="900" kern="0" dirty="0">
              <a:solidFill>
                <a:srgbClr val="171F3E"/>
              </a:solidFill>
              <a:latin typeface="Roboto" panose="02000000000000000000" pitchFamily="2" charset="0"/>
              <a:ea typeface="Roboto" panose="02000000000000000000" pitchFamily="2" charset="0"/>
              <a:cs typeface="Segoe UI Semibold" panose="020B0702040204020203" pitchFamily="34" charset="0"/>
              <a:sym typeface="Calibri"/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1669551" y="3014763"/>
            <a:ext cx="540000" cy="138499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 hangingPunct="0">
              <a:spcAft>
                <a:spcPts val="429"/>
              </a:spcAft>
            </a:pPr>
            <a:r>
              <a:rPr lang="en-US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2025</a:t>
            </a:r>
            <a:endParaRPr lang="ru-RU" sz="900" kern="0" dirty="0">
              <a:solidFill>
                <a:srgbClr val="171F3E"/>
              </a:solidFill>
              <a:latin typeface="Roboto" panose="02000000000000000000" pitchFamily="2" charset="0"/>
              <a:ea typeface="Roboto" panose="02000000000000000000" pitchFamily="2" charset="0"/>
              <a:cs typeface="Segoe UI Semibold" panose="020B0702040204020203" pitchFamily="34" charset="0"/>
              <a:sym typeface="Calibri"/>
            </a:endParaRPr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27244" y="2236099"/>
            <a:ext cx="349509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 hangingPunct="0">
              <a:spcAft>
                <a:spcPts val="429"/>
              </a:spcAft>
            </a:pPr>
            <a: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100К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27245" y="2701360"/>
            <a:ext cx="349862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 hangingPunct="0">
              <a:spcAft>
                <a:spcPts val="429"/>
              </a:spcAft>
            </a:pPr>
            <a: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2.5К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27244" y="1770838"/>
            <a:ext cx="345659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 hangingPunct="0">
              <a:spcAft>
                <a:spcPts val="429"/>
              </a:spcAft>
            </a:pPr>
            <a: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400К</a:t>
            </a: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975313" y="3012576"/>
            <a:ext cx="540000" cy="138499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 hangingPunct="0">
              <a:spcAft>
                <a:spcPts val="429"/>
              </a:spcAft>
            </a:pPr>
            <a:r>
              <a:rPr lang="en-US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2024</a:t>
            </a:r>
            <a: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*</a:t>
            </a:r>
          </a:p>
        </p:txBody>
      </p:sp>
      <p:sp>
        <p:nvSpPr>
          <p:cNvPr id="81" name="Скругленный прямоугольник 80">
            <a:extLst>
              <a:ext uri="{FF2B5EF4-FFF2-40B4-BE49-F238E27FC236}">
                <a16:creationId xmlns:a16="http://schemas.microsoft.com/office/drawing/2014/main" id="{D42CB0CC-EEC2-3E01-27F2-E4C6026B44CD}"/>
              </a:ext>
            </a:extLst>
          </p:cNvPr>
          <p:cNvSpPr/>
          <p:nvPr/>
        </p:nvSpPr>
        <p:spPr>
          <a:xfrm>
            <a:off x="3046322" y="1770838"/>
            <a:ext cx="540000" cy="1102486"/>
          </a:xfrm>
          <a:prstGeom prst="roundRect">
            <a:avLst/>
          </a:prstGeom>
          <a:solidFill>
            <a:srgbClr val="452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525FF"/>
              </a:solidFill>
            </a:endParaRPr>
          </a:p>
        </p:txBody>
      </p:sp>
      <p:sp>
        <p:nvSpPr>
          <p:cNvPr id="87" name="Скругленный прямоугольник 86">
            <a:extLst>
              <a:ext uri="{FF2B5EF4-FFF2-40B4-BE49-F238E27FC236}">
                <a16:creationId xmlns:a16="http://schemas.microsoft.com/office/drawing/2014/main" id="{3CCF4C28-A0EA-EDEC-5AF6-37BDA635735A}"/>
              </a:ext>
            </a:extLst>
          </p:cNvPr>
          <p:cNvSpPr/>
          <p:nvPr/>
        </p:nvSpPr>
        <p:spPr>
          <a:xfrm>
            <a:off x="2357680" y="2208506"/>
            <a:ext cx="540000" cy="664817"/>
          </a:xfrm>
          <a:prstGeom prst="roundRect">
            <a:avLst/>
          </a:prstGeom>
          <a:solidFill>
            <a:srgbClr val="452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525FF"/>
              </a:solidFill>
            </a:endParaRPr>
          </a:p>
        </p:txBody>
      </p:sp>
      <p:sp>
        <p:nvSpPr>
          <p:cNvPr id="88" name="Скругленный прямоугольник 87">
            <a:extLst>
              <a:ext uri="{FF2B5EF4-FFF2-40B4-BE49-F238E27FC236}">
                <a16:creationId xmlns:a16="http://schemas.microsoft.com/office/drawing/2014/main" id="{7B3D63D8-817A-14D8-FBD3-6E4720E28FFA}"/>
              </a:ext>
            </a:extLst>
          </p:cNvPr>
          <p:cNvSpPr/>
          <p:nvPr/>
        </p:nvSpPr>
        <p:spPr>
          <a:xfrm>
            <a:off x="1669551" y="2676004"/>
            <a:ext cx="540000" cy="197319"/>
          </a:xfrm>
          <a:prstGeom prst="roundRect">
            <a:avLst>
              <a:gd name="adj" fmla="val 30364"/>
            </a:avLst>
          </a:prstGeom>
          <a:solidFill>
            <a:srgbClr val="452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525FF"/>
              </a:solidFill>
            </a:endParaRPr>
          </a:p>
        </p:txBody>
      </p:sp>
      <p:sp>
        <p:nvSpPr>
          <p:cNvPr id="89" name="Скругленный прямоугольник 88">
            <a:extLst>
              <a:ext uri="{FF2B5EF4-FFF2-40B4-BE49-F238E27FC236}">
                <a16:creationId xmlns:a16="http://schemas.microsoft.com/office/drawing/2014/main" id="{833D3C47-3191-0DEF-6AAE-EB994C3F15EB}"/>
              </a:ext>
            </a:extLst>
          </p:cNvPr>
          <p:cNvSpPr/>
          <p:nvPr/>
        </p:nvSpPr>
        <p:spPr>
          <a:xfrm>
            <a:off x="975313" y="2813188"/>
            <a:ext cx="540000" cy="56894"/>
          </a:xfrm>
          <a:prstGeom prst="roundRect">
            <a:avLst>
              <a:gd name="adj" fmla="val 30364"/>
            </a:avLst>
          </a:prstGeom>
          <a:solidFill>
            <a:srgbClr val="452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525FF"/>
              </a:solidFill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8731D226-939B-950B-E8A4-44E393A11C7C}"/>
              </a:ext>
            </a:extLst>
          </p:cNvPr>
          <p:cNvSpPr/>
          <p:nvPr/>
        </p:nvSpPr>
        <p:spPr>
          <a:xfrm>
            <a:off x="1022938" y="1631898"/>
            <a:ext cx="1621516" cy="9233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ru-RU" sz="600" dirty="0">
                <a:solidFill>
                  <a:schemeClr val="bg1">
                    <a:lumMod val="6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Рост количества пользователей платформы</a:t>
            </a:r>
            <a:endParaRPr lang="en-US" sz="600" dirty="0">
              <a:solidFill>
                <a:schemeClr val="bg1">
                  <a:lumMod val="6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0E39F7E-37D4-7F43-B551-DFF910461153}"/>
              </a:ext>
            </a:extLst>
          </p:cNvPr>
          <p:cNvSpPr/>
          <p:nvPr/>
        </p:nvSpPr>
        <p:spPr>
          <a:xfrm>
            <a:off x="1054342" y="1010227"/>
            <a:ext cx="2660362" cy="4364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07000"/>
              </a:lnSpc>
            </a:pPr>
            <a:r>
              <a:rPr lang="ru-RU" sz="9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Корпоративный портал, </a:t>
            </a:r>
            <a:r>
              <a:rPr lang="en-US" sz="9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HR-</a:t>
            </a:r>
            <a:r>
              <a:rPr lang="ru-RU" sz="9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сервисы</a:t>
            </a:r>
          </a:p>
          <a:p>
            <a:pPr>
              <a:lnSpc>
                <a:spcPct val="107000"/>
              </a:lnSpc>
            </a:pPr>
            <a: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Рост производительности труда и снижение текучести кадров</a:t>
            </a:r>
            <a:endParaRPr lang="en-US" sz="900" kern="0" dirty="0">
              <a:solidFill>
                <a:srgbClr val="171F3E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65" name="Прямая соединительная линия 64">
            <a:extLst>
              <a:ext uri="{FF2B5EF4-FFF2-40B4-BE49-F238E27FC236}">
                <a16:creationId xmlns:a16="http://schemas.microsoft.com/office/drawing/2014/main" id="{926E25C6-4ABB-43ED-B5AC-C07009E74538}"/>
              </a:ext>
            </a:extLst>
          </p:cNvPr>
          <p:cNvCxnSpPr>
            <a:cxnSpLocks/>
          </p:cNvCxnSpPr>
          <p:nvPr/>
        </p:nvCxnSpPr>
        <p:spPr>
          <a:xfrm>
            <a:off x="476248" y="3379959"/>
            <a:ext cx="3315600" cy="0"/>
          </a:xfrm>
          <a:prstGeom prst="line">
            <a:avLst/>
          </a:prstGeom>
          <a:ln w="12700">
            <a:solidFill>
              <a:srgbClr val="4525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2972BF76-F6CE-C64D-8AC8-FFB7BBE3A450}"/>
              </a:ext>
            </a:extLst>
          </p:cNvPr>
          <p:cNvSpPr/>
          <p:nvPr/>
        </p:nvSpPr>
        <p:spPr>
          <a:xfrm>
            <a:off x="5011293" y="1010227"/>
            <a:ext cx="2560543" cy="4364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07000"/>
              </a:lnSpc>
            </a:pPr>
            <a:r>
              <a:rPr lang="ru-RU" sz="9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Кадровая аналитика и проектный учет </a:t>
            </a:r>
            <a: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Повышение качества управленческих решений по персоналу</a:t>
            </a:r>
          </a:p>
        </p:txBody>
      </p:sp>
      <p:sp>
        <p:nvSpPr>
          <p:cNvPr id="53" name="Прямоугольник 52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7000078" y="3014763"/>
            <a:ext cx="540000" cy="15388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 hangingPunct="0">
              <a:spcAft>
                <a:spcPts val="429"/>
              </a:spcAft>
            </a:pPr>
            <a:r>
              <a:rPr lang="en-US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2027</a:t>
            </a:r>
            <a:endParaRPr lang="ru-RU" sz="900" kern="0" dirty="0">
              <a:solidFill>
                <a:srgbClr val="171F3E"/>
              </a:solidFill>
              <a:latin typeface="Roboto" panose="02000000000000000000" pitchFamily="2" charset="0"/>
              <a:ea typeface="Roboto" panose="02000000000000000000" pitchFamily="2" charset="0"/>
              <a:cs typeface="Segoe UI Semibold" panose="020B0702040204020203" pitchFamily="34" charset="0"/>
              <a:sym typeface="Calibri"/>
            </a:endParaRPr>
          </a:p>
        </p:txBody>
      </p:sp>
      <p:cxnSp>
        <p:nvCxnSpPr>
          <p:cNvPr id="56" name="Прямая соединительная линия 55">
            <a:extLst>
              <a:ext uri="{FF2B5EF4-FFF2-40B4-BE49-F238E27FC236}">
                <a16:creationId xmlns:a16="http://schemas.microsoft.com/office/drawing/2014/main" id="{68B822D5-5336-C268-7BAB-56951EF3A2E3}"/>
              </a:ext>
            </a:extLst>
          </p:cNvPr>
          <p:cNvCxnSpPr>
            <a:cxnSpLocks/>
          </p:cNvCxnSpPr>
          <p:nvPr/>
        </p:nvCxnSpPr>
        <p:spPr>
          <a:xfrm>
            <a:off x="4824140" y="1655365"/>
            <a:ext cx="0" cy="1296000"/>
          </a:xfrm>
          <a:prstGeom prst="line">
            <a:avLst/>
          </a:prstGeom>
          <a:noFill/>
          <a:ln w="9525" cap="rnd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Прямоугольник 56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6311436" y="3014763"/>
            <a:ext cx="540000" cy="15388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 hangingPunct="0">
              <a:spcAft>
                <a:spcPts val="429"/>
              </a:spcAft>
            </a:pPr>
            <a:r>
              <a:rPr lang="en-US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2026</a:t>
            </a:r>
            <a:endParaRPr lang="ru-RU" sz="900" kern="0" dirty="0">
              <a:solidFill>
                <a:srgbClr val="171F3E"/>
              </a:solidFill>
              <a:latin typeface="Roboto" panose="02000000000000000000" pitchFamily="2" charset="0"/>
              <a:ea typeface="Roboto" panose="02000000000000000000" pitchFamily="2" charset="0"/>
              <a:cs typeface="Segoe UI Semibold" panose="020B0702040204020203" pitchFamily="34" charset="0"/>
              <a:sym typeface="Calibri"/>
            </a:endParaRPr>
          </a:p>
        </p:txBody>
      </p: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5623307" y="3014763"/>
            <a:ext cx="540000" cy="15388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 hangingPunct="0">
              <a:spcAft>
                <a:spcPts val="429"/>
              </a:spcAft>
            </a:pPr>
            <a:r>
              <a:rPr lang="en-US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2025</a:t>
            </a:r>
            <a:endParaRPr lang="ru-RU" sz="900" kern="0" dirty="0">
              <a:solidFill>
                <a:srgbClr val="171F3E"/>
              </a:solidFill>
              <a:latin typeface="Roboto" panose="02000000000000000000" pitchFamily="2" charset="0"/>
              <a:ea typeface="Roboto" panose="02000000000000000000" pitchFamily="2" charset="0"/>
              <a:cs typeface="Segoe UI Semibold" panose="020B0702040204020203" pitchFamily="34" charset="0"/>
              <a:sym typeface="Calibri"/>
            </a:endParaRPr>
          </a:p>
        </p:txBody>
      </p:sp>
      <p:sp>
        <p:nvSpPr>
          <p:cNvPr id="59" name="Прямоугольник 58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384185" y="2353130"/>
            <a:ext cx="339869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 hangingPunct="0">
              <a:spcAft>
                <a:spcPts val="429"/>
              </a:spcAft>
            </a:pPr>
            <a: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50%</a:t>
            </a:r>
          </a:p>
        </p:txBody>
      </p: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384185" y="2714666"/>
            <a:ext cx="348482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 hangingPunct="0">
              <a:spcAft>
                <a:spcPts val="429"/>
              </a:spcAft>
            </a:pPr>
            <a: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30%</a:t>
            </a: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384185" y="1662676"/>
            <a:ext cx="34495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 hangingPunct="0">
              <a:spcAft>
                <a:spcPts val="429"/>
              </a:spcAft>
            </a:pPr>
            <a: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80%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932349" y="3012576"/>
            <a:ext cx="540000" cy="15388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 hangingPunct="0">
              <a:spcAft>
                <a:spcPts val="429"/>
              </a:spcAft>
            </a:pPr>
            <a:r>
              <a:rPr lang="en-US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cs typeface="Segoe UI Semibold" panose="020B0702040204020203" pitchFamily="34" charset="0"/>
                <a:sym typeface="Calibri"/>
              </a:rPr>
              <a:t>2024</a:t>
            </a:r>
            <a:endParaRPr lang="ru-RU" sz="900" kern="0" dirty="0">
              <a:solidFill>
                <a:srgbClr val="171F3E"/>
              </a:solidFill>
              <a:latin typeface="Roboto" panose="02000000000000000000" pitchFamily="2" charset="0"/>
              <a:ea typeface="Roboto" panose="02000000000000000000" pitchFamily="2" charset="0"/>
              <a:cs typeface="Segoe UI Semibold" panose="020B0702040204020203" pitchFamily="34" charset="0"/>
              <a:sym typeface="Calibri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07C2358-E794-DE7F-894F-082DBF3A9CFB}"/>
              </a:ext>
            </a:extLst>
          </p:cNvPr>
          <p:cNvSpPr/>
          <p:nvPr/>
        </p:nvSpPr>
        <p:spPr>
          <a:xfrm>
            <a:off x="4978499" y="1631898"/>
            <a:ext cx="1894653" cy="9233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ru-RU" sz="600" dirty="0">
                <a:solidFill>
                  <a:schemeClr val="bg1">
                    <a:lumMod val="6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Доступность проектной отчетности руководителям</a:t>
            </a:r>
            <a:endParaRPr lang="en-US" sz="600" dirty="0">
              <a:solidFill>
                <a:schemeClr val="bg1">
                  <a:lumMod val="6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5" name="Скругленный прямоугольник 54">
            <a:extLst>
              <a:ext uri="{FF2B5EF4-FFF2-40B4-BE49-F238E27FC236}">
                <a16:creationId xmlns:a16="http://schemas.microsoft.com/office/drawing/2014/main" id="{48B6B432-9606-E7BD-9B59-B5017FFC8348}"/>
              </a:ext>
            </a:extLst>
          </p:cNvPr>
          <p:cNvSpPr/>
          <p:nvPr/>
        </p:nvSpPr>
        <p:spPr>
          <a:xfrm>
            <a:off x="7000078" y="1770838"/>
            <a:ext cx="540000" cy="1102486"/>
          </a:xfrm>
          <a:prstGeom prst="roundRect">
            <a:avLst/>
          </a:prstGeom>
          <a:solidFill>
            <a:srgbClr val="452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кругленный прямоугольник 75">
            <a:extLst>
              <a:ext uri="{FF2B5EF4-FFF2-40B4-BE49-F238E27FC236}">
                <a16:creationId xmlns:a16="http://schemas.microsoft.com/office/drawing/2014/main" id="{ECA0B06F-073E-9400-350D-DBA8C779F508}"/>
              </a:ext>
            </a:extLst>
          </p:cNvPr>
          <p:cNvSpPr/>
          <p:nvPr/>
        </p:nvSpPr>
        <p:spPr>
          <a:xfrm>
            <a:off x="6311436" y="2449461"/>
            <a:ext cx="540000" cy="423863"/>
          </a:xfrm>
          <a:prstGeom prst="roundRect">
            <a:avLst/>
          </a:prstGeom>
          <a:solidFill>
            <a:srgbClr val="452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Скругленный прямоугольник 76">
            <a:extLst>
              <a:ext uri="{FF2B5EF4-FFF2-40B4-BE49-F238E27FC236}">
                <a16:creationId xmlns:a16="http://schemas.microsoft.com/office/drawing/2014/main" id="{63F79A2F-25BD-3D36-3056-7EB7416F962D}"/>
              </a:ext>
            </a:extLst>
          </p:cNvPr>
          <p:cNvSpPr/>
          <p:nvPr/>
        </p:nvSpPr>
        <p:spPr>
          <a:xfrm>
            <a:off x="5623307" y="2724511"/>
            <a:ext cx="540000" cy="148813"/>
          </a:xfrm>
          <a:prstGeom prst="roundRect">
            <a:avLst>
              <a:gd name="adj" fmla="val 33455"/>
            </a:avLst>
          </a:prstGeom>
          <a:solidFill>
            <a:srgbClr val="452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24" name="Прямая соединительная линия 123">
            <a:extLst>
              <a:ext uri="{FF2B5EF4-FFF2-40B4-BE49-F238E27FC236}">
                <a16:creationId xmlns:a16="http://schemas.microsoft.com/office/drawing/2014/main" id="{2808CD12-486B-4F92-91C1-7C4EB64F3C4F}"/>
              </a:ext>
            </a:extLst>
          </p:cNvPr>
          <p:cNvCxnSpPr>
            <a:cxnSpLocks/>
          </p:cNvCxnSpPr>
          <p:nvPr/>
        </p:nvCxnSpPr>
        <p:spPr>
          <a:xfrm flipH="1">
            <a:off x="4824139" y="2978728"/>
            <a:ext cx="2736000" cy="0"/>
          </a:xfrm>
          <a:prstGeom prst="line">
            <a:avLst/>
          </a:prstGeom>
          <a:noFill/>
          <a:ln w="9525" cap="rnd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1" name="Прямая соединительная линия 130">
            <a:extLst>
              <a:ext uri="{FF2B5EF4-FFF2-40B4-BE49-F238E27FC236}">
                <a16:creationId xmlns:a16="http://schemas.microsoft.com/office/drawing/2014/main" id="{3DBFA371-DB53-4F33-8FA2-C41DB2FDCE7D}"/>
              </a:ext>
            </a:extLst>
          </p:cNvPr>
          <p:cNvCxnSpPr>
            <a:cxnSpLocks/>
          </p:cNvCxnSpPr>
          <p:nvPr/>
        </p:nvCxnSpPr>
        <p:spPr>
          <a:xfrm>
            <a:off x="4431810" y="3379959"/>
            <a:ext cx="3315600" cy="0"/>
          </a:xfrm>
          <a:prstGeom prst="line">
            <a:avLst/>
          </a:prstGeom>
          <a:ln w="12700">
            <a:solidFill>
              <a:srgbClr val="4525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76248" y="3906785"/>
            <a:ext cx="3314698" cy="8079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44000" indent="-144000" hangingPunct="0">
              <a:spcAft>
                <a:spcPts val="300"/>
              </a:spcAft>
              <a:buClr>
                <a:srgbClr val="4525F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2.500 сотрудников (МЦ + 3 </a:t>
            </a:r>
            <a:r>
              <a:rPr lang="ru-RU" sz="900" kern="0" dirty="0" err="1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подведа</a:t>
            </a: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)</a:t>
            </a:r>
          </a:p>
          <a:p>
            <a:pPr marL="144000" indent="-144000" hangingPunct="0">
              <a:spcAft>
                <a:spcPts val="300"/>
              </a:spcAft>
              <a:buClr>
                <a:srgbClr val="4525F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900" dirty="0">
                <a:latin typeface="Roboto" panose="02000000000000000000" pitchFamily="2" charset="0"/>
                <a:ea typeface="Roboto" panose="02000000000000000000" pitchFamily="2" charset="0"/>
              </a:rPr>
              <a:t>Снижение на </a:t>
            </a:r>
            <a:r>
              <a:rPr lang="ru-RU" sz="90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20% времени адаптации новых сотрудников</a:t>
            </a:r>
          </a:p>
          <a:p>
            <a:pPr marL="144000" indent="-144000" hangingPunct="0">
              <a:spcAft>
                <a:spcPts val="300"/>
              </a:spcAft>
              <a:buClr>
                <a:srgbClr val="4525F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90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100 % сотрудников имеют доступ к необходимой информации, сервисам в едином окне</a:t>
            </a:r>
          </a:p>
          <a:p>
            <a:pPr marL="144000" indent="-144000" hangingPunct="0">
              <a:spcAft>
                <a:spcPts val="300"/>
              </a:spcAft>
              <a:buClr>
                <a:srgbClr val="4525F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100% сотрудников могут высказаться</a:t>
            </a:r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76248" y="3608843"/>
            <a:ext cx="405152" cy="216000"/>
          </a:xfrm>
          <a:prstGeom prst="roundRect">
            <a:avLst>
              <a:gd name="adj" fmla="val 22066"/>
            </a:avLst>
          </a:prstGeom>
          <a:solidFill>
            <a:srgbClr val="4525FF"/>
          </a:solidFill>
        </p:spPr>
        <p:txBody>
          <a:bodyPr wrap="square" lIns="36000" tIns="36000" rIns="36000" bIns="36000" anchor="ctr">
            <a:noAutofit/>
          </a:bodyPr>
          <a:lstStyle/>
          <a:p>
            <a:pPr algn="ctr" hangingPunct="0">
              <a:spcAft>
                <a:spcPts val="429"/>
              </a:spcAft>
            </a:pPr>
            <a:r>
              <a:rPr lang="en-US" sz="900" kern="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2025</a:t>
            </a:r>
            <a:endParaRPr lang="ru-RU" sz="900" kern="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Calibri"/>
              <a:sym typeface="Calibri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76248" y="5167479"/>
            <a:ext cx="3314698" cy="10849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44000" indent="-144000" hangingPunct="0">
              <a:spcAft>
                <a:spcPts val="300"/>
              </a:spcAft>
              <a:buClr>
                <a:srgbClr val="4525F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10</a:t>
            </a:r>
            <a:r>
              <a:rPr lang="en-US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%</a:t>
            </a: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 ОГВ/ОМС от общего кол-ва подключены к платформе </a:t>
            </a:r>
          </a:p>
          <a:p>
            <a:pPr marL="144000" indent="-144000" hangingPunct="0">
              <a:spcAft>
                <a:spcPts val="300"/>
              </a:spcAft>
              <a:buClr>
                <a:srgbClr val="4525F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900" dirty="0">
                <a:latin typeface="Roboto" panose="02000000000000000000" pitchFamily="2" charset="0"/>
                <a:ea typeface="Roboto" panose="02000000000000000000" pitchFamily="2" charset="0"/>
              </a:rPr>
              <a:t>Снижение на</a:t>
            </a:r>
            <a:r>
              <a:rPr lang="ru-RU" sz="900" dirty="0">
                <a:effectLst/>
                <a:latin typeface="Roboto" panose="02000000000000000000" pitchFamily="2" charset="0"/>
                <a:ea typeface="Roboto" panose="02000000000000000000" pitchFamily="2" charset="0"/>
              </a:rPr>
              <a:t> 50% времени на адаптацию новых сотрудников</a:t>
            </a:r>
            <a:endParaRPr lang="ru-RU" sz="900" kern="0" dirty="0">
              <a:latin typeface="Roboto" panose="02000000000000000000" pitchFamily="2" charset="0"/>
              <a:ea typeface="Roboto" panose="02000000000000000000" pitchFamily="2" charset="0"/>
              <a:cs typeface="Segoe UI Light" panose="020B0502040204020203" pitchFamily="34" charset="0"/>
            </a:endParaRPr>
          </a:p>
          <a:p>
            <a:pPr marL="144000" indent="-144000" hangingPunct="0">
              <a:spcAft>
                <a:spcPts val="300"/>
              </a:spcAft>
              <a:buClr>
                <a:srgbClr val="4525F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30% сотрудников прошло обучение через </a:t>
            </a:r>
            <a:b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</a:br>
            <a:r>
              <a:rPr lang="en-US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HR</a:t>
            </a:r>
            <a:r>
              <a:rPr lang="en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-</a:t>
            </a: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платформу</a:t>
            </a:r>
          </a:p>
          <a:p>
            <a:pPr marL="144000" indent="-144000" hangingPunct="0">
              <a:spcAft>
                <a:spcPts val="300"/>
              </a:spcAft>
              <a:buClr>
                <a:srgbClr val="4525F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На 20% повышен уровень удовлетворенности</a:t>
            </a:r>
            <a:b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</a:b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новых сотрудников</a:t>
            </a:r>
          </a:p>
        </p:txBody>
      </p:sp>
      <p:sp>
        <p:nvSpPr>
          <p:cNvPr id="79" name="Прямоугольник: скругленные углы 78">
            <a:extLst>
              <a:ext uri="{FF2B5EF4-FFF2-40B4-BE49-F238E27FC236}">
                <a16:creationId xmlns:a16="http://schemas.microsoft.com/office/drawing/2014/main" id="{DF815036-F4D2-4E72-9054-8EC55DBE92CF}"/>
              </a:ext>
            </a:extLst>
          </p:cNvPr>
          <p:cNvSpPr/>
          <p:nvPr/>
        </p:nvSpPr>
        <p:spPr>
          <a:xfrm>
            <a:off x="476248" y="4869537"/>
            <a:ext cx="405152" cy="216000"/>
          </a:xfrm>
          <a:prstGeom prst="roundRect">
            <a:avLst>
              <a:gd name="adj" fmla="val 22066"/>
            </a:avLst>
          </a:prstGeom>
          <a:solidFill>
            <a:srgbClr val="4525FF"/>
          </a:solidFill>
        </p:spPr>
        <p:txBody>
          <a:bodyPr wrap="square" lIns="36000" tIns="36000" rIns="36000" bIns="36000" anchor="ctr">
            <a:noAutofit/>
          </a:bodyPr>
          <a:lstStyle/>
          <a:p>
            <a:pPr algn="ctr" hangingPunct="0">
              <a:spcAft>
                <a:spcPts val="429"/>
              </a:spcAft>
            </a:pPr>
            <a:r>
              <a:rPr lang="ru-RU" sz="900" kern="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2026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431810" y="3907793"/>
            <a:ext cx="3315600" cy="5924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44000" indent="-144000" hangingPunct="0">
              <a:spcAft>
                <a:spcPts val="300"/>
              </a:spcAft>
              <a:buClr>
                <a:srgbClr val="4525F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900" dirty="0">
                <a:latin typeface="Roboto" panose="02000000000000000000" pitchFamily="2" charset="0"/>
                <a:ea typeface="Roboto" panose="02000000000000000000" pitchFamily="2" charset="0"/>
              </a:rPr>
              <a:t>30% руководителей доступна отчетность</a:t>
            </a:r>
            <a:br>
              <a:rPr lang="ru-RU" sz="9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900" dirty="0">
                <a:latin typeface="Roboto" panose="02000000000000000000" pitchFamily="2" charset="0"/>
                <a:ea typeface="Roboto" panose="02000000000000000000" pitchFamily="2" charset="0"/>
              </a:rPr>
              <a:t>по их сотрудникам (настроения, вовлеченность, текучесть, занятость, обучение)</a:t>
            </a:r>
            <a:endParaRPr lang="ru-RU" sz="900" kern="0" dirty="0">
              <a:latin typeface="Roboto" panose="02000000000000000000" pitchFamily="2" charset="0"/>
              <a:ea typeface="Roboto" panose="02000000000000000000" pitchFamily="2" charset="0"/>
              <a:cs typeface="Segoe UI Light" panose="020B0502040204020203" pitchFamily="34" charset="0"/>
            </a:endParaRPr>
          </a:p>
          <a:p>
            <a:pPr marL="144000" indent="-144000" hangingPunct="0">
              <a:spcAft>
                <a:spcPts val="300"/>
              </a:spcAft>
              <a:buClr>
                <a:srgbClr val="4525F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5 мин - скорость подготовки аналитических отчетов </a:t>
            </a:r>
          </a:p>
        </p:txBody>
      </p:sp>
      <p:sp>
        <p:nvSpPr>
          <p:cNvPr id="127" name="Прямоугольник: скругленные углы 126">
            <a:extLst>
              <a:ext uri="{FF2B5EF4-FFF2-40B4-BE49-F238E27FC236}">
                <a16:creationId xmlns:a16="http://schemas.microsoft.com/office/drawing/2014/main" id="{C5775FB7-9C49-4129-AB25-25438586180B}"/>
              </a:ext>
            </a:extLst>
          </p:cNvPr>
          <p:cNvSpPr/>
          <p:nvPr/>
        </p:nvSpPr>
        <p:spPr>
          <a:xfrm>
            <a:off x="4431810" y="3609851"/>
            <a:ext cx="405152" cy="216000"/>
          </a:xfrm>
          <a:prstGeom prst="roundRect">
            <a:avLst>
              <a:gd name="adj" fmla="val 22066"/>
            </a:avLst>
          </a:prstGeom>
          <a:solidFill>
            <a:srgbClr val="4525FF"/>
          </a:solidFill>
        </p:spPr>
        <p:txBody>
          <a:bodyPr wrap="square" lIns="36000" tIns="36000" rIns="36000" bIns="36000" anchor="ctr">
            <a:noAutofit/>
          </a:bodyPr>
          <a:lstStyle/>
          <a:p>
            <a:pPr algn="ctr" hangingPunct="0">
              <a:spcAft>
                <a:spcPts val="429"/>
              </a:spcAft>
            </a:pPr>
            <a:r>
              <a:rPr lang="en-US" sz="900" kern="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2025</a:t>
            </a:r>
            <a:endParaRPr lang="ru-RU" sz="900" kern="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Calibri"/>
              <a:sym typeface="Calibri"/>
            </a:endParaRP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431810" y="5167479"/>
            <a:ext cx="3315600" cy="73096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44000" indent="-144000" hangingPunct="0">
              <a:spcAft>
                <a:spcPts val="300"/>
              </a:spcAft>
              <a:buClr>
                <a:srgbClr val="4525F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900" dirty="0">
                <a:latin typeface="Roboto" panose="02000000000000000000" pitchFamily="2" charset="0"/>
                <a:ea typeface="Roboto" panose="02000000000000000000" pitchFamily="2" charset="0"/>
              </a:rPr>
              <a:t>50% руководителей доступна отчетность</a:t>
            </a:r>
            <a:br>
              <a:rPr lang="ru-RU" sz="9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900" dirty="0">
                <a:latin typeface="Roboto" panose="02000000000000000000" pitchFamily="2" charset="0"/>
                <a:ea typeface="Roboto" panose="02000000000000000000" pitchFamily="2" charset="0"/>
              </a:rPr>
              <a:t>по их сотрудникам (настроения, вовлеченность, текучесть, занятость, обучение)</a:t>
            </a:r>
            <a:endParaRPr lang="ru-RU" sz="900" kern="0" dirty="0">
              <a:latin typeface="Roboto" panose="02000000000000000000" pitchFamily="2" charset="0"/>
              <a:ea typeface="Roboto" panose="02000000000000000000" pitchFamily="2" charset="0"/>
              <a:cs typeface="Segoe UI Light" panose="020B0502040204020203" pitchFamily="34" charset="0"/>
            </a:endParaRPr>
          </a:p>
          <a:p>
            <a:pPr marL="144000" indent="-144000" hangingPunct="0">
              <a:spcAft>
                <a:spcPts val="300"/>
              </a:spcAft>
              <a:buClr>
                <a:srgbClr val="4525F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100% понимания целей, планов и прогресса</a:t>
            </a:r>
            <a:b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</a:b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по проектам</a:t>
            </a:r>
          </a:p>
        </p:txBody>
      </p:sp>
      <p:sp>
        <p:nvSpPr>
          <p:cNvPr id="129" name="Прямоугольник: скругленные углы 128">
            <a:extLst>
              <a:ext uri="{FF2B5EF4-FFF2-40B4-BE49-F238E27FC236}">
                <a16:creationId xmlns:a16="http://schemas.microsoft.com/office/drawing/2014/main" id="{AF8712AF-DE69-40D1-9D2D-E42353323CB3}"/>
              </a:ext>
            </a:extLst>
          </p:cNvPr>
          <p:cNvSpPr/>
          <p:nvPr/>
        </p:nvSpPr>
        <p:spPr>
          <a:xfrm>
            <a:off x="4431810" y="4869537"/>
            <a:ext cx="405152" cy="216000"/>
          </a:xfrm>
          <a:prstGeom prst="roundRect">
            <a:avLst>
              <a:gd name="adj" fmla="val 22066"/>
            </a:avLst>
          </a:prstGeom>
          <a:solidFill>
            <a:srgbClr val="4525FF"/>
          </a:solidFill>
        </p:spPr>
        <p:txBody>
          <a:bodyPr wrap="square" lIns="36000" tIns="36000" rIns="36000" bIns="36000" anchor="ctr">
            <a:noAutofit/>
          </a:bodyPr>
          <a:lstStyle/>
          <a:p>
            <a:pPr algn="ctr" hangingPunct="0">
              <a:spcAft>
                <a:spcPts val="429"/>
              </a:spcAft>
            </a:pPr>
            <a:r>
              <a:rPr lang="ru-RU" sz="900" kern="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2026</a:t>
            </a:r>
          </a:p>
        </p:txBody>
      </p:sp>
      <p:pic>
        <p:nvPicPr>
          <p:cNvPr id="135" name="Picture 8" descr="Фирменный стиль. Официальный информационный сайт Ростелеком.">
            <a:extLst>
              <a:ext uri="{FF2B5EF4-FFF2-40B4-BE49-F238E27FC236}">
                <a16:creationId xmlns:a16="http://schemas.microsoft.com/office/drawing/2014/main" id="{6D503237-2017-4ED3-9C00-18F2414FD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9" b="15526"/>
          <a:stretch/>
        </p:blipFill>
        <p:spPr bwMode="auto">
          <a:xfrm>
            <a:off x="9620110" y="91071"/>
            <a:ext cx="1605351" cy="380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8" name="Рисунок 136">
            <a:extLst>
              <a:ext uri="{FF2B5EF4-FFF2-40B4-BE49-F238E27FC236}">
                <a16:creationId xmlns:a16="http://schemas.microsoft.com/office/drawing/2014/main" id="{08D0DE63-15D7-416C-917D-149C659FBFF2}"/>
              </a:ext>
            </a:extLst>
          </p:cNvPr>
          <p:cNvGrpSpPr/>
          <p:nvPr/>
        </p:nvGrpSpPr>
        <p:grpSpPr>
          <a:xfrm>
            <a:off x="4431810" y="1004754"/>
            <a:ext cx="431474" cy="453048"/>
            <a:chOff x="4431810" y="1004754"/>
            <a:chExt cx="431474" cy="453048"/>
          </a:xfrm>
        </p:grpSpPr>
        <p:sp>
          <p:nvSpPr>
            <p:cNvPr id="149" name="Полилиния: фигура 148">
              <a:extLst>
                <a:ext uri="{FF2B5EF4-FFF2-40B4-BE49-F238E27FC236}">
                  <a16:creationId xmlns:a16="http://schemas.microsoft.com/office/drawing/2014/main" id="{D0F25BB3-8DD8-4DA9-A0BE-E1BDCE895768}"/>
                </a:ext>
              </a:extLst>
            </p:cNvPr>
            <p:cNvSpPr/>
            <p:nvPr/>
          </p:nvSpPr>
          <p:spPr>
            <a:xfrm>
              <a:off x="4643250" y="1026237"/>
              <a:ext cx="172661" cy="172661"/>
            </a:xfrm>
            <a:custGeom>
              <a:avLst/>
              <a:gdLst>
                <a:gd name="connsiteX0" fmla="*/ 172662 w 172661"/>
                <a:gd name="connsiteY0" fmla="*/ 86331 h 172661"/>
                <a:gd name="connsiteX1" fmla="*/ 86331 w 172661"/>
                <a:gd name="connsiteY1" fmla="*/ 172662 h 172661"/>
                <a:gd name="connsiteX2" fmla="*/ 0 w 172661"/>
                <a:gd name="connsiteY2" fmla="*/ 86331 h 172661"/>
                <a:gd name="connsiteX3" fmla="*/ 86331 w 172661"/>
                <a:gd name="connsiteY3" fmla="*/ 0 h 172661"/>
                <a:gd name="connsiteX4" fmla="*/ 172662 w 172661"/>
                <a:gd name="connsiteY4" fmla="*/ 86331 h 172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661" h="172661">
                  <a:moveTo>
                    <a:pt x="172662" y="86331"/>
                  </a:moveTo>
                  <a:cubicBezTo>
                    <a:pt x="172662" y="134010"/>
                    <a:pt x="134010" y="172662"/>
                    <a:pt x="86331" y="172662"/>
                  </a:cubicBezTo>
                  <a:cubicBezTo>
                    <a:pt x="38652" y="172662"/>
                    <a:pt x="0" y="134010"/>
                    <a:pt x="0" y="86331"/>
                  </a:cubicBezTo>
                  <a:cubicBezTo>
                    <a:pt x="0" y="38652"/>
                    <a:pt x="38652" y="0"/>
                    <a:pt x="86331" y="0"/>
                  </a:cubicBezTo>
                  <a:cubicBezTo>
                    <a:pt x="134010" y="0"/>
                    <a:pt x="172662" y="38652"/>
                    <a:pt x="172662" y="86331"/>
                  </a:cubicBez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0" name="Полилиния: фигура 149">
              <a:extLst>
                <a:ext uri="{FF2B5EF4-FFF2-40B4-BE49-F238E27FC236}">
                  <a16:creationId xmlns:a16="http://schemas.microsoft.com/office/drawing/2014/main" id="{D5D0E43A-CD4A-47E2-937F-6755673CD553}"/>
                </a:ext>
              </a:extLst>
            </p:cNvPr>
            <p:cNvSpPr/>
            <p:nvPr/>
          </p:nvSpPr>
          <p:spPr>
            <a:xfrm>
              <a:off x="4790617" y="1173604"/>
              <a:ext cx="46877" cy="46877"/>
            </a:xfrm>
            <a:custGeom>
              <a:avLst/>
              <a:gdLst>
                <a:gd name="connsiteX0" fmla="*/ 46877 w 46877"/>
                <a:gd name="connsiteY0" fmla="*/ 46878 h 46877"/>
                <a:gd name="connsiteX1" fmla="*/ 0 w 46877"/>
                <a:gd name="connsiteY1" fmla="*/ 0 h 46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6877" h="46877">
                  <a:moveTo>
                    <a:pt x="46877" y="46878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50">
              <a:extLst>
                <a:ext uri="{FF2B5EF4-FFF2-40B4-BE49-F238E27FC236}">
                  <a16:creationId xmlns:a16="http://schemas.microsoft.com/office/drawing/2014/main" id="{2504BDA7-3663-45D4-95FE-1375583000A0}"/>
                </a:ext>
              </a:extLst>
            </p:cNvPr>
            <p:cNvSpPr/>
            <p:nvPr/>
          </p:nvSpPr>
          <p:spPr>
            <a:xfrm>
              <a:off x="4729580" y="1306814"/>
              <a:ext cx="107913" cy="129496"/>
            </a:xfrm>
            <a:custGeom>
              <a:avLst/>
              <a:gdLst>
                <a:gd name="connsiteX0" fmla="*/ 0 w 107913"/>
                <a:gd name="connsiteY0" fmla="*/ 129496 h 129496"/>
                <a:gd name="connsiteX1" fmla="*/ 43167 w 107913"/>
                <a:gd name="connsiteY1" fmla="*/ 129496 h 129496"/>
                <a:gd name="connsiteX2" fmla="*/ 107914 w 107913"/>
                <a:gd name="connsiteY2" fmla="*/ 64747 h 129496"/>
                <a:gd name="connsiteX3" fmla="*/ 107914 w 107913"/>
                <a:gd name="connsiteY3" fmla="*/ 0 h 129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913" h="129496">
                  <a:moveTo>
                    <a:pt x="0" y="129496"/>
                  </a:moveTo>
                  <a:lnTo>
                    <a:pt x="43167" y="129496"/>
                  </a:lnTo>
                  <a:cubicBezTo>
                    <a:pt x="78925" y="129496"/>
                    <a:pt x="107914" y="100505"/>
                    <a:pt x="107914" y="64747"/>
                  </a:cubicBezTo>
                  <a:lnTo>
                    <a:pt x="107914" y="0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51">
              <a:extLst>
                <a:ext uri="{FF2B5EF4-FFF2-40B4-BE49-F238E27FC236}">
                  <a16:creationId xmlns:a16="http://schemas.microsoft.com/office/drawing/2014/main" id="{333E14AD-3208-4D17-B5D3-997E455717AB}"/>
                </a:ext>
              </a:extLst>
            </p:cNvPr>
            <p:cNvSpPr/>
            <p:nvPr/>
          </p:nvSpPr>
          <p:spPr>
            <a:xfrm>
              <a:off x="4449006" y="1069403"/>
              <a:ext cx="107913" cy="151078"/>
            </a:xfrm>
            <a:custGeom>
              <a:avLst/>
              <a:gdLst>
                <a:gd name="connsiteX0" fmla="*/ 0 w 107913"/>
                <a:gd name="connsiteY0" fmla="*/ 151079 h 151078"/>
                <a:gd name="connsiteX1" fmla="*/ 0 w 107913"/>
                <a:gd name="connsiteY1" fmla="*/ 64748 h 151078"/>
                <a:gd name="connsiteX2" fmla="*/ 64748 w 107913"/>
                <a:gd name="connsiteY2" fmla="*/ 0 h 151078"/>
                <a:gd name="connsiteX3" fmla="*/ 107913 w 107913"/>
                <a:gd name="connsiteY3" fmla="*/ 0 h 151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913" h="151078">
                  <a:moveTo>
                    <a:pt x="0" y="151079"/>
                  </a:moveTo>
                  <a:lnTo>
                    <a:pt x="0" y="64748"/>
                  </a:lnTo>
                  <a:cubicBezTo>
                    <a:pt x="0" y="28989"/>
                    <a:pt x="28989" y="0"/>
                    <a:pt x="64748" y="0"/>
                  </a:cubicBezTo>
                  <a:lnTo>
                    <a:pt x="107913" y="0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52">
              <a:extLst>
                <a:ext uri="{FF2B5EF4-FFF2-40B4-BE49-F238E27FC236}">
                  <a16:creationId xmlns:a16="http://schemas.microsoft.com/office/drawing/2014/main" id="{17D74C4D-37E6-4310-8486-C43D941E35D2}"/>
                </a:ext>
              </a:extLst>
            </p:cNvPr>
            <p:cNvSpPr/>
            <p:nvPr/>
          </p:nvSpPr>
          <p:spPr>
            <a:xfrm>
              <a:off x="4449006" y="1355374"/>
              <a:ext cx="64748" cy="80935"/>
            </a:xfrm>
            <a:custGeom>
              <a:avLst/>
              <a:gdLst>
                <a:gd name="connsiteX0" fmla="*/ 0 w 64748"/>
                <a:gd name="connsiteY0" fmla="*/ 0 h 80935"/>
                <a:gd name="connsiteX1" fmla="*/ 64748 w 64748"/>
                <a:gd name="connsiteY1" fmla="*/ 0 h 80935"/>
                <a:gd name="connsiteX2" fmla="*/ 64748 w 64748"/>
                <a:gd name="connsiteY2" fmla="*/ 80935 h 80935"/>
                <a:gd name="connsiteX3" fmla="*/ 0 w 64748"/>
                <a:gd name="connsiteY3" fmla="*/ 80935 h 80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48" h="80935">
                  <a:moveTo>
                    <a:pt x="0" y="0"/>
                  </a:moveTo>
                  <a:lnTo>
                    <a:pt x="64748" y="0"/>
                  </a:lnTo>
                  <a:lnTo>
                    <a:pt x="64748" y="80935"/>
                  </a:lnTo>
                  <a:lnTo>
                    <a:pt x="0" y="80935"/>
                  </a:ln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53">
              <a:extLst>
                <a:ext uri="{FF2B5EF4-FFF2-40B4-BE49-F238E27FC236}">
                  <a16:creationId xmlns:a16="http://schemas.microsoft.com/office/drawing/2014/main" id="{1DB6FC50-958C-4E4C-9DF4-BA2890D30004}"/>
                </a:ext>
              </a:extLst>
            </p:cNvPr>
            <p:cNvSpPr/>
            <p:nvPr/>
          </p:nvSpPr>
          <p:spPr>
            <a:xfrm>
              <a:off x="4513754" y="1263647"/>
              <a:ext cx="64748" cy="172661"/>
            </a:xfrm>
            <a:custGeom>
              <a:avLst/>
              <a:gdLst>
                <a:gd name="connsiteX0" fmla="*/ 0 w 64748"/>
                <a:gd name="connsiteY0" fmla="*/ 0 h 172661"/>
                <a:gd name="connsiteX1" fmla="*/ 64748 w 64748"/>
                <a:gd name="connsiteY1" fmla="*/ 0 h 172661"/>
                <a:gd name="connsiteX2" fmla="*/ 64748 w 64748"/>
                <a:gd name="connsiteY2" fmla="*/ 172662 h 172661"/>
                <a:gd name="connsiteX3" fmla="*/ 0 w 64748"/>
                <a:gd name="connsiteY3" fmla="*/ 172662 h 172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48" h="172661">
                  <a:moveTo>
                    <a:pt x="0" y="0"/>
                  </a:moveTo>
                  <a:lnTo>
                    <a:pt x="64748" y="0"/>
                  </a:lnTo>
                  <a:lnTo>
                    <a:pt x="64748" y="172662"/>
                  </a:lnTo>
                  <a:lnTo>
                    <a:pt x="0" y="172662"/>
                  </a:ln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154">
              <a:extLst>
                <a:ext uri="{FF2B5EF4-FFF2-40B4-BE49-F238E27FC236}">
                  <a16:creationId xmlns:a16="http://schemas.microsoft.com/office/drawing/2014/main" id="{0D07058F-DF8B-4AFB-8186-7C47AA94E72E}"/>
                </a:ext>
              </a:extLst>
            </p:cNvPr>
            <p:cNvSpPr/>
            <p:nvPr/>
          </p:nvSpPr>
          <p:spPr>
            <a:xfrm>
              <a:off x="4578502" y="1312209"/>
              <a:ext cx="64748" cy="124100"/>
            </a:xfrm>
            <a:custGeom>
              <a:avLst/>
              <a:gdLst>
                <a:gd name="connsiteX0" fmla="*/ 0 w 64748"/>
                <a:gd name="connsiteY0" fmla="*/ 0 h 124100"/>
                <a:gd name="connsiteX1" fmla="*/ 64748 w 64748"/>
                <a:gd name="connsiteY1" fmla="*/ 0 h 124100"/>
                <a:gd name="connsiteX2" fmla="*/ 64748 w 64748"/>
                <a:gd name="connsiteY2" fmla="*/ 124101 h 124100"/>
                <a:gd name="connsiteX3" fmla="*/ 0 w 64748"/>
                <a:gd name="connsiteY3" fmla="*/ 124101 h 124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48" h="124100">
                  <a:moveTo>
                    <a:pt x="0" y="0"/>
                  </a:moveTo>
                  <a:lnTo>
                    <a:pt x="64748" y="0"/>
                  </a:lnTo>
                  <a:lnTo>
                    <a:pt x="64748" y="124101"/>
                  </a:lnTo>
                  <a:lnTo>
                    <a:pt x="0" y="124101"/>
                  </a:ln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56" name="Рисунок 140">
            <a:extLst>
              <a:ext uri="{FF2B5EF4-FFF2-40B4-BE49-F238E27FC236}">
                <a16:creationId xmlns:a16="http://schemas.microsoft.com/office/drawing/2014/main" id="{08015AB8-CBE8-4F8B-A523-059090C2D3F9}"/>
              </a:ext>
            </a:extLst>
          </p:cNvPr>
          <p:cNvGrpSpPr/>
          <p:nvPr/>
        </p:nvGrpSpPr>
        <p:grpSpPr>
          <a:xfrm>
            <a:off x="476248" y="1004753"/>
            <a:ext cx="452211" cy="387609"/>
            <a:chOff x="476248" y="1004753"/>
            <a:chExt cx="452211" cy="387609"/>
          </a:xfrm>
        </p:grpSpPr>
        <p:sp>
          <p:nvSpPr>
            <p:cNvPr id="157" name="Полилиния: фигура 156">
              <a:extLst>
                <a:ext uri="{FF2B5EF4-FFF2-40B4-BE49-F238E27FC236}">
                  <a16:creationId xmlns:a16="http://schemas.microsoft.com/office/drawing/2014/main" id="{C376E73B-6CA5-4AD4-818A-7BB4C5B6705E}"/>
                </a:ext>
              </a:extLst>
            </p:cNvPr>
            <p:cNvSpPr/>
            <p:nvPr/>
          </p:nvSpPr>
          <p:spPr>
            <a:xfrm>
              <a:off x="515027" y="1026286"/>
              <a:ext cx="387610" cy="344541"/>
            </a:xfrm>
            <a:custGeom>
              <a:avLst/>
              <a:gdLst>
                <a:gd name="connsiteX0" fmla="*/ 0 w 387610"/>
                <a:gd name="connsiteY0" fmla="*/ 107669 h 344541"/>
                <a:gd name="connsiteX1" fmla="*/ 0 w 387610"/>
                <a:gd name="connsiteY1" fmla="*/ 43068 h 344541"/>
                <a:gd name="connsiteX2" fmla="*/ 43068 w 387610"/>
                <a:gd name="connsiteY2" fmla="*/ 0 h 344541"/>
                <a:gd name="connsiteX3" fmla="*/ 344542 w 387610"/>
                <a:gd name="connsiteY3" fmla="*/ 0 h 344541"/>
                <a:gd name="connsiteX4" fmla="*/ 387610 w 387610"/>
                <a:gd name="connsiteY4" fmla="*/ 43068 h 344541"/>
                <a:gd name="connsiteX5" fmla="*/ 387610 w 387610"/>
                <a:gd name="connsiteY5" fmla="*/ 301474 h 344541"/>
                <a:gd name="connsiteX6" fmla="*/ 344542 w 387610"/>
                <a:gd name="connsiteY6" fmla="*/ 344541 h 344541"/>
                <a:gd name="connsiteX7" fmla="*/ 215339 w 387610"/>
                <a:gd name="connsiteY7" fmla="*/ 344541 h 344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7610" h="344541">
                  <a:moveTo>
                    <a:pt x="0" y="107669"/>
                  </a:moveTo>
                  <a:lnTo>
                    <a:pt x="0" y="43068"/>
                  </a:lnTo>
                  <a:cubicBezTo>
                    <a:pt x="0" y="19273"/>
                    <a:pt x="19273" y="0"/>
                    <a:pt x="43068" y="0"/>
                  </a:cubicBezTo>
                  <a:lnTo>
                    <a:pt x="344542" y="0"/>
                  </a:lnTo>
                  <a:cubicBezTo>
                    <a:pt x="368337" y="0"/>
                    <a:pt x="387610" y="19273"/>
                    <a:pt x="387610" y="43068"/>
                  </a:cubicBezTo>
                  <a:lnTo>
                    <a:pt x="387610" y="301474"/>
                  </a:lnTo>
                  <a:cubicBezTo>
                    <a:pt x="387610" y="325269"/>
                    <a:pt x="368337" y="344541"/>
                    <a:pt x="344542" y="344541"/>
                  </a:cubicBezTo>
                  <a:lnTo>
                    <a:pt x="215339" y="344541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157">
              <a:extLst>
                <a:ext uri="{FF2B5EF4-FFF2-40B4-BE49-F238E27FC236}">
                  <a16:creationId xmlns:a16="http://schemas.microsoft.com/office/drawing/2014/main" id="{AA02E70A-DFF6-4640-BA90-E7FE4FAD4A5F}"/>
                </a:ext>
              </a:extLst>
            </p:cNvPr>
            <p:cNvSpPr/>
            <p:nvPr/>
          </p:nvSpPr>
          <p:spPr>
            <a:xfrm>
              <a:off x="493493" y="1325951"/>
              <a:ext cx="150736" cy="44876"/>
            </a:xfrm>
            <a:custGeom>
              <a:avLst/>
              <a:gdLst>
                <a:gd name="connsiteX0" fmla="*/ 150737 w 150736"/>
                <a:gd name="connsiteY0" fmla="*/ 44877 h 44876"/>
                <a:gd name="connsiteX1" fmla="*/ 145332 w 150736"/>
                <a:gd name="connsiteY1" fmla="*/ 31310 h 44876"/>
                <a:gd name="connsiteX2" fmla="*/ 132928 w 150736"/>
                <a:gd name="connsiteY2" fmla="*/ 13243 h 44876"/>
                <a:gd name="connsiteX3" fmla="*/ 132928 w 150736"/>
                <a:gd name="connsiteY3" fmla="*/ 13243 h 44876"/>
                <a:gd name="connsiteX4" fmla="*/ 99142 w 150736"/>
                <a:gd name="connsiteY4" fmla="*/ 0 h 44876"/>
                <a:gd name="connsiteX5" fmla="*/ 51595 w 150736"/>
                <a:gd name="connsiteY5" fmla="*/ 0 h 44876"/>
                <a:gd name="connsiteX6" fmla="*/ 17808 w 150736"/>
                <a:gd name="connsiteY6" fmla="*/ 13243 h 44876"/>
                <a:gd name="connsiteX7" fmla="*/ 17808 w 150736"/>
                <a:gd name="connsiteY7" fmla="*/ 13243 h 44876"/>
                <a:gd name="connsiteX8" fmla="*/ 5405 w 150736"/>
                <a:gd name="connsiteY8" fmla="*/ 31310 h 44876"/>
                <a:gd name="connsiteX9" fmla="*/ 0 w 150736"/>
                <a:gd name="connsiteY9" fmla="*/ 44877 h 44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0736" h="44876">
                  <a:moveTo>
                    <a:pt x="150737" y="44877"/>
                  </a:moveTo>
                  <a:lnTo>
                    <a:pt x="145332" y="31310"/>
                  </a:lnTo>
                  <a:cubicBezTo>
                    <a:pt x="142597" y="24441"/>
                    <a:pt x="138355" y="18261"/>
                    <a:pt x="132928" y="13243"/>
                  </a:cubicBezTo>
                  <a:lnTo>
                    <a:pt x="132928" y="13243"/>
                  </a:lnTo>
                  <a:cubicBezTo>
                    <a:pt x="123733" y="4716"/>
                    <a:pt x="111653" y="0"/>
                    <a:pt x="99142" y="0"/>
                  </a:cubicBezTo>
                  <a:lnTo>
                    <a:pt x="51595" y="0"/>
                  </a:lnTo>
                  <a:cubicBezTo>
                    <a:pt x="39062" y="0"/>
                    <a:pt x="27003" y="4737"/>
                    <a:pt x="17808" y="13243"/>
                  </a:cubicBezTo>
                  <a:lnTo>
                    <a:pt x="17808" y="13243"/>
                  </a:lnTo>
                  <a:cubicBezTo>
                    <a:pt x="12382" y="18261"/>
                    <a:pt x="8140" y="24441"/>
                    <a:pt x="5405" y="31310"/>
                  </a:cubicBezTo>
                  <a:lnTo>
                    <a:pt x="0" y="44877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158">
              <a:extLst>
                <a:ext uri="{FF2B5EF4-FFF2-40B4-BE49-F238E27FC236}">
                  <a16:creationId xmlns:a16="http://schemas.microsoft.com/office/drawing/2014/main" id="{995E0561-F7A0-4842-953B-30BDB2C6FD6F}"/>
                </a:ext>
              </a:extLst>
            </p:cNvPr>
            <p:cNvSpPr/>
            <p:nvPr/>
          </p:nvSpPr>
          <p:spPr>
            <a:xfrm>
              <a:off x="531172" y="1198557"/>
              <a:ext cx="75357" cy="75373"/>
            </a:xfrm>
            <a:custGeom>
              <a:avLst/>
              <a:gdLst>
                <a:gd name="connsiteX0" fmla="*/ 64327 w 75357"/>
                <a:gd name="connsiteY0" fmla="*/ 11047 h 75373"/>
                <a:gd name="connsiteX1" fmla="*/ 64327 w 75357"/>
                <a:gd name="connsiteY1" fmla="*/ 64343 h 75373"/>
                <a:gd name="connsiteX2" fmla="*/ 11031 w 75357"/>
                <a:gd name="connsiteY2" fmla="*/ 64343 h 75373"/>
                <a:gd name="connsiteX3" fmla="*/ 11031 w 75357"/>
                <a:gd name="connsiteY3" fmla="*/ 11047 h 75373"/>
                <a:gd name="connsiteX4" fmla="*/ 64327 w 75357"/>
                <a:gd name="connsiteY4" fmla="*/ 11047 h 7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357" h="75373">
                  <a:moveTo>
                    <a:pt x="64327" y="11047"/>
                  </a:moveTo>
                  <a:cubicBezTo>
                    <a:pt x="79035" y="25754"/>
                    <a:pt x="79035" y="49614"/>
                    <a:pt x="64327" y="64343"/>
                  </a:cubicBezTo>
                  <a:cubicBezTo>
                    <a:pt x="49619" y="79051"/>
                    <a:pt x="25760" y="79051"/>
                    <a:pt x="11031" y="64343"/>
                  </a:cubicBezTo>
                  <a:cubicBezTo>
                    <a:pt x="-3677" y="49635"/>
                    <a:pt x="-3677" y="25776"/>
                    <a:pt x="11031" y="11047"/>
                  </a:cubicBezTo>
                  <a:cubicBezTo>
                    <a:pt x="25760" y="-3682"/>
                    <a:pt x="49619" y="-3682"/>
                    <a:pt x="64327" y="11047"/>
                  </a:cubicBez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159">
              <a:extLst>
                <a:ext uri="{FF2B5EF4-FFF2-40B4-BE49-F238E27FC236}">
                  <a16:creationId xmlns:a16="http://schemas.microsoft.com/office/drawing/2014/main" id="{4286222B-ECCD-4960-A57A-D6025F8DC344}"/>
                </a:ext>
              </a:extLst>
            </p:cNvPr>
            <p:cNvSpPr/>
            <p:nvPr/>
          </p:nvSpPr>
          <p:spPr>
            <a:xfrm>
              <a:off x="687298" y="1133956"/>
              <a:ext cx="21533" cy="129203"/>
            </a:xfrm>
            <a:custGeom>
              <a:avLst/>
              <a:gdLst>
                <a:gd name="connsiteX0" fmla="*/ 0 w 21533"/>
                <a:gd name="connsiteY0" fmla="*/ 129203 h 129203"/>
                <a:gd name="connsiteX1" fmla="*/ 0 w 21533"/>
                <a:gd name="connsiteY1" fmla="*/ 0 h 129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533" h="129203">
                  <a:moveTo>
                    <a:pt x="0" y="129203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160">
              <a:extLst>
                <a:ext uri="{FF2B5EF4-FFF2-40B4-BE49-F238E27FC236}">
                  <a16:creationId xmlns:a16="http://schemas.microsoft.com/office/drawing/2014/main" id="{08DF7130-131F-479A-B17E-D2497E240B79}"/>
                </a:ext>
              </a:extLst>
            </p:cNvPr>
            <p:cNvSpPr/>
            <p:nvPr/>
          </p:nvSpPr>
          <p:spPr>
            <a:xfrm>
              <a:off x="751900" y="1191666"/>
              <a:ext cx="21533" cy="71492"/>
            </a:xfrm>
            <a:custGeom>
              <a:avLst/>
              <a:gdLst>
                <a:gd name="connsiteX0" fmla="*/ 0 w 21533"/>
                <a:gd name="connsiteY0" fmla="*/ 71492 h 71492"/>
                <a:gd name="connsiteX1" fmla="*/ 0 w 21533"/>
                <a:gd name="connsiteY1" fmla="*/ 0 h 71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533" h="71492">
                  <a:moveTo>
                    <a:pt x="0" y="71492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161">
              <a:extLst>
                <a:ext uri="{FF2B5EF4-FFF2-40B4-BE49-F238E27FC236}">
                  <a16:creationId xmlns:a16="http://schemas.microsoft.com/office/drawing/2014/main" id="{D51E81A6-4E1B-424A-9D2D-C991B3C1484C}"/>
                </a:ext>
              </a:extLst>
            </p:cNvPr>
            <p:cNvSpPr/>
            <p:nvPr/>
          </p:nvSpPr>
          <p:spPr>
            <a:xfrm>
              <a:off x="816502" y="1145799"/>
              <a:ext cx="21533" cy="117359"/>
            </a:xfrm>
            <a:custGeom>
              <a:avLst/>
              <a:gdLst>
                <a:gd name="connsiteX0" fmla="*/ 0 w 21533"/>
                <a:gd name="connsiteY0" fmla="*/ 117359 h 117359"/>
                <a:gd name="connsiteX1" fmla="*/ 0 w 21533"/>
                <a:gd name="connsiteY1" fmla="*/ 0 h 117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533" h="117359">
                  <a:moveTo>
                    <a:pt x="0" y="117359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55656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9D06A-4883-0255-C7BD-3531478CD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99ACAF0D-E613-4575-8F5F-1DB4BF66ED10}"/>
              </a:ext>
            </a:extLst>
          </p:cNvPr>
          <p:cNvSpPr/>
          <p:nvPr/>
        </p:nvSpPr>
        <p:spPr>
          <a:xfrm>
            <a:off x="284369" y="842829"/>
            <a:ext cx="3708000" cy="5594627"/>
          </a:xfrm>
          <a:prstGeom prst="roundRect">
            <a:avLst>
              <a:gd name="adj" fmla="val 4319"/>
            </a:avLst>
          </a:prstGeom>
          <a:solidFill>
            <a:srgbClr val="4525FF">
              <a:alpha val="5000"/>
            </a:srgbClr>
          </a:solidFill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Прямоугольник: скругленные углы 64">
            <a:extLst>
              <a:ext uri="{FF2B5EF4-FFF2-40B4-BE49-F238E27FC236}">
                <a16:creationId xmlns:a16="http://schemas.microsoft.com/office/drawing/2014/main" id="{172D74DD-D5A6-4C14-AFC3-8ECD771B8430}"/>
              </a:ext>
            </a:extLst>
          </p:cNvPr>
          <p:cNvSpPr/>
          <p:nvPr/>
        </p:nvSpPr>
        <p:spPr>
          <a:xfrm>
            <a:off x="4241310" y="842829"/>
            <a:ext cx="3708000" cy="5594627"/>
          </a:xfrm>
          <a:prstGeom prst="roundRect">
            <a:avLst>
              <a:gd name="adj" fmla="val 3805"/>
            </a:avLst>
          </a:prstGeom>
          <a:solidFill>
            <a:srgbClr val="4525FF">
              <a:alpha val="5000"/>
            </a:srgbClr>
          </a:solidFill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F7E9AFF0-CA3F-4A5B-BDE4-D1F9BA6FF959}"/>
              </a:ext>
            </a:extLst>
          </p:cNvPr>
          <p:cNvSpPr/>
          <p:nvPr/>
        </p:nvSpPr>
        <p:spPr>
          <a:xfrm>
            <a:off x="1054342" y="1010227"/>
            <a:ext cx="2660362" cy="452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07000"/>
              </a:lnSpc>
            </a:pPr>
            <a:r>
              <a:rPr lang="ru-RU" sz="9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Корпоративный портал, </a:t>
            </a:r>
            <a:r>
              <a:rPr lang="en-US" sz="9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HR-</a:t>
            </a:r>
            <a:r>
              <a:rPr lang="ru-RU" sz="9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сервисы</a:t>
            </a:r>
          </a:p>
          <a:p>
            <a:pPr>
              <a:lnSpc>
                <a:spcPct val="107000"/>
              </a:lnSpc>
            </a:pPr>
            <a: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Рост производительности труда и снижение текучести кадров</a:t>
            </a:r>
            <a:endParaRPr lang="en-US" sz="900" kern="0" dirty="0">
              <a:solidFill>
                <a:srgbClr val="171F3E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6DFA03AB-1FA4-45FB-91CF-E94BB2DA3639}"/>
              </a:ext>
            </a:extLst>
          </p:cNvPr>
          <p:cNvSpPr/>
          <p:nvPr/>
        </p:nvSpPr>
        <p:spPr>
          <a:xfrm>
            <a:off x="5011293" y="1010227"/>
            <a:ext cx="2560543" cy="452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07000"/>
              </a:lnSpc>
            </a:pPr>
            <a:r>
              <a:rPr lang="ru-RU" sz="9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Кадровая аналитика и проектный учет </a:t>
            </a:r>
            <a: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Повышение качества управленческих решений по персоналу</a:t>
            </a:r>
          </a:p>
        </p:txBody>
      </p:sp>
      <p:grpSp>
        <p:nvGrpSpPr>
          <p:cNvPr id="76" name="Рисунок 136">
            <a:extLst>
              <a:ext uri="{FF2B5EF4-FFF2-40B4-BE49-F238E27FC236}">
                <a16:creationId xmlns:a16="http://schemas.microsoft.com/office/drawing/2014/main" id="{B00364BF-9CD0-43BB-B2F0-52229FE138A0}"/>
              </a:ext>
            </a:extLst>
          </p:cNvPr>
          <p:cNvGrpSpPr/>
          <p:nvPr/>
        </p:nvGrpSpPr>
        <p:grpSpPr>
          <a:xfrm>
            <a:off x="4431810" y="1004754"/>
            <a:ext cx="431474" cy="453048"/>
            <a:chOff x="4431810" y="1004754"/>
            <a:chExt cx="431474" cy="453048"/>
          </a:xfrm>
        </p:grpSpPr>
        <p:sp>
          <p:nvSpPr>
            <p:cNvPr id="77" name="Полилиния: фигура 76">
              <a:extLst>
                <a:ext uri="{FF2B5EF4-FFF2-40B4-BE49-F238E27FC236}">
                  <a16:creationId xmlns:a16="http://schemas.microsoft.com/office/drawing/2014/main" id="{4501812B-91C0-428C-B47F-B212D9BDCB14}"/>
                </a:ext>
              </a:extLst>
            </p:cNvPr>
            <p:cNvSpPr/>
            <p:nvPr/>
          </p:nvSpPr>
          <p:spPr>
            <a:xfrm>
              <a:off x="4643250" y="1026237"/>
              <a:ext cx="172661" cy="172661"/>
            </a:xfrm>
            <a:custGeom>
              <a:avLst/>
              <a:gdLst>
                <a:gd name="connsiteX0" fmla="*/ 172662 w 172661"/>
                <a:gd name="connsiteY0" fmla="*/ 86331 h 172661"/>
                <a:gd name="connsiteX1" fmla="*/ 86331 w 172661"/>
                <a:gd name="connsiteY1" fmla="*/ 172662 h 172661"/>
                <a:gd name="connsiteX2" fmla="*/ 0 w 172661"/>
                <a:gd name="connsiteY2" fmla="*/ 86331 h 172661"/>
                <a:gd name="connsiteX3" fmla="*/ 86331 w 172661"/>
                <a:gd name="connsiteY3" fmla="*/ 0 h 172661"/>
                <a:gd name="connsiteX4" fmla="*/ 172662 w 172661"/>
                <a:gd name="connsiteY4" fmla="*/ 86331 h 172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661" h="172661">
                  <a:moveTo>
                    <a:pt x="172662" y="86331"/>
                  </a:moveTo>
                  <a:cubicBezTo>
                    <a:pt x="172662" y="134010"/>
                    <a:pt x="134010" y="172662"/>
                    <a:pt x="86331" y="172662"/>
                  </a:cubicBezTo>
                  <a:cubicBezTo>
                    <a:pt x="38652" y="172662"/>
                    <a:pt x="0" y="134010"/>
                    <a:pt x="0" y="86331"/>
                  </a:cubicBezTo>
                  <a:cubicBezTo>
                    <a:pt x="0" y="38652"/>
                    <a:pt x="38652" y="0"/>
                    <a:pt x="86331" y="0"/>
                  </a:cubicBezTo>
                  <a:cubicBezTo>
                    <a:pt x="134010" y="0"/>
                    <a:pt x="172662" y="38652"/>
                    <a:pt x="172662" y="86331"/>
                  </a:cubicBez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8" name="Полилиния: фигура 77">
              <a:extLst>
                <a:ext uri="{FF2B5EF4-FFF2-40B4-BE49-F238E27FC236}">
                  <a16:creationId xmlns:a16="http://schemas.microsoft.com/office/drawing/2014/main" id="{215BA3BF-8E39-4E84-819F-234819D5B45F}"/>
                </a:ext>
              </a:extLst>
            </p:cNvPr>
            <p:cNvSpPr/>
            <p:nvPr/>
          </p:nvSpPr>
          <p:spPr>
            <a:xfrm>
              <a:off x="4790617" y="1173604"/>
              <a:ext cx="46877" cy="46877"/>
            </a:xfrm>
            <a:custGeom>
              <a:avLst/>
              <a:gdLst>
                <a:gd name="connsiteX0" fmla="*/ 46877 w 46877"/>
                <a:gd name="connsiteY0" fmla="*/ 46878 h 46877"/>
                <a:gd name="connsiteX1" fmla="*/ 0 w 46877"/>
                <a:gd name="connsiteY1" fmla="*/ 0 h 46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6877" h="46877">
                  <a:moveTo>
                    <a:pt x="46877" y="46878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9" name="Полилиния: фигура 78">
              <a:extLst>
                <a:ext uri="{FF2B5EF4-FFF2-40B4-BE49-F238E27FC236}">
                  <a16:creationId xmlns:a16="http://schemas.microsoft.com/office/drawing/2014/main" id="{3E3498B3-2108-4DFB-A21A-8F7B004F335D}"/>
                </a:ext>
              </a:extLst>
            </p:cNvPr>
            <p:cNvSpPr/>
            <p:nvPr/>
          </p:nvSpPr>
          <p:spPr>
            <a:xfrm>
              <a:off x="4729580" y="1306814"/>
              <a:ext cx="107913" cy="129496"/>
            </a:xfrm>
            <a:custGeom>
              <a:avLst/>
              <a:gdLst>
                <a:gd name="connsiteX0" fmla="*/ 0 w 107913"/>
                <a:gd name="connsiteY0" fmla="*/ 129496 h 129496"/>
                <a:gd name="connsiteX1" fmla="*/ 43167 w 107913"/>
                <a:gd name="connsiteY1" fmla="*/ 129496 h 129496"/>
                <a:gd name="connsiteX2" fmla="*/ 107914 w 107913"/>
                <a:gd name="connsiteY2" fmla="*/ 64747 h 129496"/>
                <a:gd name="connsiteX3" fmla="*/ 107914 w 107913"/>
                <a:gd name="connsiteY3" fmla="*/ 0 h 129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913" h="129496">
                  <a:moveTo>
                    <a:pt x="0" y="129496"/>
                  </a:moveTo>
                  <a:lnTo>
                    <a:pt x="43167" y="129496"/>
                  </a:lnTo>
                  <a:cubicBezTo>
                    <a:pt x="78925" y="129496"/>
                    <a:pt x="107914" y="100505"/>
                    <a:pt x="107914" y="64747"/>
                  </a:cubicBezTo>
                  <a:lnTo>
                    <a:pt x="107914" y="0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0" name="Полилиния: фигура 79">
              <a:extLst>
                <a:ext uri="{FF2B5EF4-FFF2-40B4-BE49-F238E27FC236}">
                  <a16:creationId xmlns:a16="http://schemas.microsoft.com/office/drawing/2014/main" id="{8A3F2B27-08DE-4480-AAAD-557250F7A882}"/>
                </a:ext>
              </a:extLst>
            </p:cNvPr>
            <p:cNvSpPr/>
            <p:nvPr/>
          </p:nvSpPr>
          <p:spPr>
            <a:xfrm>
              <a:off x="4449006" y="1069403"/>
              <a:ext cx="107913" cy="151078"/>
            </a:xfrm>
            <a:custGeom>
              <a:avLst/>
              <a:gdLst>
                <a:gd name="connsiteX0" fmla="*/ 0 w 107913"/>
                <a:gd name="connsiteY0" fmla="*/ 151079 h 151078"/>
                <a:gd name="connsiteX1" fmla="*/ 0 w 107913"/>
                <a:gd name="connsiteY1" fmla="*/ 64748 h 151078"/>
                <a:gd name="connsiteX2" fmla="*/ 64748 w 107913"/>
                <a:gd name="connsiteY2" fmla="*/ 0 h 151078"/>
                <a:gd name="connsiteX3" fmla="*/ 107913 w 107913"/>
                <a:gd name="connsiteY3" fmla="*/ 0 h 151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913" h="151078">
                  <a:moveTo>
                    <a:pt x="0" y="151079"/>
                  </a:moveTo>
                  <a:lnTo>
                    <a:pt x="0" y="64748"/>
                  </a:lnTo>
                  <a:cubicBezTo>
                    <a:pt x="0" y="28989"/>
                    <a:pt x="28989" y="0"/>
                    <a:pt x="64748" y="0"/>
                  </a:cubicBezTo>
                  <a:lnTo>
                    <a:pt x="107913" y="0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1" name="Полилиния: фигура 80">
              <a:extLst>
                <a:ext uri="{FF2B5EF4-FFF2-40B4-BE49-F238E27FC236}">
                  <a16:creationId xmlns:a16="http://schemas.microsoft.com/office/drawing/2014/main" id="{B23E2BC3-5D36-4D04-BB72-041826596B70}"/>
                </a:ext>
              </a:extLst>
            </p:cNvPr>
            <p:cNvSpPr/>
            <p:nvPr/>
          </p:nvSpPr>
          <p:spPr>
            <a:xfrm>
              <a:off x="4449006" y="1355374"/>
              <a:ext cx="64748" cy="80935"/>
            </a:xfrm>
            <a:custGeom>
              <a:avLst/>
              <a:gdLst>
                <a:gd name="connsiteX0" fmla="*/ 0 w 64748"/>
                <a:gd name="connsiteY0" fmla="*/ 0 h 80935"/>
                <a:gd name="connsiteX1" fmla="*/ 64748 w 64748"/>
                <a:gd name="connsiteY1" fmla="*/ 0 h 80935"/>
                <a:gd name="connsiteX2" fmla="*/ 64748 w 64748"/>
                <a:gd name="connsiteY2" fmla="*/ 80935 h 80935"/>
                <a:gd name="connsiteX3" fmla="*/ 0 w 64748"/>
                <a:gd name="connsiteY3" fmla="*/ 80935 h 80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48" h="80935">
                  <a:moveTo>
                    <a:pt x="0" y="0"/>
                  </a:moveTo>
                  <a:lnTo>
                    <a:pt x="64748" y="0"/>
                  </a:lnTo>
                  <a:lnTo>
                    <a:pt x="64748" y="80935"/>
                  </a:lnTo>
                  <a:lnTo>
                    <a:pt x="0" y="80935"/>
                  </a:ln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2" name="Полилиния: фигура 81">
              <a:extLst>
                <a:ext uri="{FF2B5EF4-FFF2-40B4-BE49-F238E27FC236}">
                  <a16:creationId xmlns:a16="http://schemas.microsoft.com/office/drawing/2014/main" id="{FED28E8A-DB91-4A27-9FDD-29DC571BA65F}"/>
                </a:ext>
              </a:extLst>
            </p:cNvPr>
            <p:cNvSpPr/>
            <p:nvPr/>
          </p:nvSpPr>
          <p:spPr>
            <a:xfrm>
              <a:off x="4513754" y="1263647"/>
              <a:ext cx="64748" cy="172661"/>
            </a:xfrm>
            <a:custGeom>
              <a:avLst/>
              <a:gdLst>
                <a:gd name="connsiteX0" fmla="*/ 0 w 64748"/>
                <a:gd name="connsiteY0" fmla="*/ 0 h 172661"/>
                <a:gd name="connsiteX1" fmla="*/ 64748 w 64748"/>
                <a:gd name="connsiteY1" fmla="*/ 0 h 172661"/>
                <a:gd name="connsiteX2" fmla="*/ 64748 w 64748"/>
                <a:gd name="connsiteY2" fmla="*/ 172662 h 172661"/>
                <a:gd name="connsiteX3" fmla="*/ 0 w 64748"/>
                <a:gd name="connsiteY3" fmla="*/ 172662 h 172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48" h="172661">
                  <a:moveTo>
                    <a:pt x="0" y="0"/>
                  </a:moveTo>
                  <a:lnTo>
                    <a:pt x="64748" y="0"/>
                  </a:lnTo>
                  <a:lnTo>
                    <a:pt x="64748" y="172662"/>
                  </a:lnTo>
                  <a:lnTo>
                    <a:pt x="0" y="172662"/>
                  </a:ln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3" name="Полилиния: фигура 82">
              <a:extLst>
                <a:ext uri="{FF2B5EF4-FFF2-40B4-BE49-F238E27FC236}">
                  <a16:creationId xmlns:a16="http://schemas.microsoft.com/office/drawing/2014/main" id="{0796B780-8B7E-424E-B2F8-8DFA087FCDA5}"/>
                </a:ext>
              </a:extLst>
            </p:cNvPr>
            <p:cNvSpPr/>
            <p:nvPr/>
          </p:nvSpPr>
          <p:spPr>
            <a:xfrm>
              <a:off x="4578502" y="1312209"/>
              <a:ext cx="64748" cy="124100"/>
            </a:xfrm>
            <a:custGeom>
              <a:avLst/>
              <a:gdLst>
                <a:gd name="connsiteX0" fmla="*/ 0 w 64748"/>
                <a:gd name="connsiteY0" fmla="*/ 0 h 124100"/>
                <a:gd name="connsiteX1" fmla="*/ 64748 w 64748"/>
                <a:gd name="connsiteY1" fmla="*/ 0 h 124100"/>
                <a:gd name="connsiteX2" fmla="*/ 64748 w 64748"/>
                <a:gd name="connsiteY2" fmla="*/ 124101 h 124100"/>
                <a:gd name="connsiteX3" fmla="*/ 0 w 64748"/>
                <a:gd name="connsiteY3" fmla="*/ 124101 h 124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48" h="124100">
                  <a:moveTo>
                    <a:pt x="0" y="0"/>
                  </a:moveTo>
                  <a:lnTo>
                    <a:pt x="64748" y="0"/>
                  </a:lnTo>
                  <a:lnTo>
                    <a:pt x="64748" y="124101"/>
                  </a:lnTo>
                  <a:lnTo>
                    <a:pt x="0" y="124101"/>
                  </a:ln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84" name="Рисунок 140">
            <a:extLst>
              <a:ext uri="{FF2B5EF4-FFF2-40B4-BE49-F238E27FC236}">
                <a16:creationId xmlns:a16="http://schemas.microsoft.com/office/drawing/2014/main" id="{404A0F7B-FC1C-48D5-BE1D-68B1F6F708DB}"/>
              </a:ext>
            </a:extLst>
          </p:cNvPr>
          <p:cNvGrpSpPr/>
          <p:nvPr/>
        </p:nvGrpSpPr>
        <p:grpSpPr>
          <a:xfrm>
            <a:off x="476248" y="1004753"/>
            <a:ext cx="452211" cy="387609"/>
            <a:chOff x="476248" y="1004753"/>
            <a:chExt cx="452211" cy="387609"/>
          </a:xfrm>
        </p:grpSpPr>
        <p:sp>
          <p:nvSpPr>
            <p:cNvPr id="85" name="Полилиния: фигура 84">
              <a:extLst>
                <a:ext uri="{FF2B5EF4-FFF2-40B4-BE49-F238E27FC236}">
                  <a16:creationId xmlns:a16="http://schemas.microsoft.com/office/drawing/2014/main" id="{0BC8844B-9709-4985-BE04-8D947C3124CD}"/>
                </a:ext>
              </a:extLst>
            </p:cNvPr>
            <p:cNvSpPr/>
            <p:nvPr/>
          </p:nvSpPr>
          <p:spPr>
            <a:xfrm>
              <a:off x="515027" y="1026286"/>
              <a:ext cx="387610" cy="344541"/>
            </a:xfrm>
            <a:custGeom>
              <a:avLst/>
              <a:gdLst>
                <a:gd name="connsiteX0" fmla="*/ 0 w 387610"/>
                <a:gd name="connsiteY0" fmla="*/ 107669 h 344541"/>
                <a:gd name="connsiteX1" fmla="*/ 0 w 387610"/>
                <a:gd name="connsiteY1" fmla="*/ 43068 h 344541"/>
                <a:gd name="connsiteX2" fmla="*/ 43068 w 387610"/>
                <a:gd name="connsiteY2" fmla="*/ 0 h 344541"/>
                <a:gd name="connsiteX3" fmla="*/ 344542 w 387610"/>
                <a:gd name="connsiteY3" fmla="*/ 0 h 344541"/>
                <a:gd name="connsiteX4" fmla="*/ 387610 w 387610"/>
                <a:gd name="connsiteY4" fmla="*/ 43068 h 344541"/>
                <a:gd name="connsiteX5" fmla="*/ 387610 w 387610"/>
                <a:gd name="connsiteY5" fmla="*/ 301474 h 344541"/>
                <a:gd name="connsiteX6" fmla="*/ 344542 w 387610"/>
                <a:gd name="connsiteY6" fmla="*/ 344541 h 344541"/>
                <a:gd name="connsiteX7" fmla="*/ 215339 w 387610"/>
                <a:gd name="connsiteY7" fmla="*/ 344541 h 344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7610" h="344541">
                  <a:moveTo>
                    <a:pt x="0" y="107669"/>
                  </a:moveTo>
                  <a:lnTo>
                    <a:pt x="0" y="43068"/>
                  </a:lnTo>
                  <a:cubicBezTo>
                    <a:pt x="0" y="19273"/>
                    <a:pt x="19273" y="0"/>
                    <a:pt x="43068" y="0"/>
                  </a:cubicBezTo>
                  <a:lnTo>
                    <a:pt x="344542" y="0"/>
                  </a:lnTo>
                  <a:cubicBezTo>
                    <a:pt x="368337" y="0"/>
                    <a:pt x="387610" y="19273"/>
                    <a:pt x="387610" y="43068"/>
                  </a:cubicBezTo>
                  <a:lnTo>
                    <a:pt x="387610" y="301474"/>
                  </a:lnTo>
                  <a:cubicBezTo>
                    <a:pt x="387610" y="325269"/>
                    <a:pt x="368337" y="344541"/>
                    <a:pt x="344542" y="344541"/>
                  </a:cubicBezTo>
                  <a:lnTo>
                    <a:pt x="215339" y="344541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6" name="Полилиния: фигура 85">
              <a:extLst>
                <a:ext uri="{FF2B5EF4-FFF2-40B4-BE49-F238E27FC236}">
                  <a16:creationId xmlns:a16="http://schemas.microsoft.com/office/drawing/2014/main" id="{31882ED1-B482-47BD-AD0B-C2C03A5CF5DC}"/>
                </a:ext>
              </a:extLst>
            </p:cNvPr>
            <p:cNvSpPr/>
            <p:nvPr/>
          </p:nvSpPr>
          <p:spPr>
            <a:xfrm>
              <a:off x="493493" y="1325951"/>
              <a:ext cx="150736" cy="44876"/>
            </a:xfrm>
            <a:custGeom>
              <a:avLst/>
              <a:gdLst>
                <a:gd name="connsiteX0" fmla="*/ 150737 w 150736"/>
                <a:gd name="connsiteY0" fmla="*/ 44877 h 44876"/>
                <a:gd name="connsiteX1" fmla="*/ 145332 w 150736"/>
                <a:gd name="connsiteY1" fmla="*/ 31310 h 44876"/>
                <a:gd name="connsiteX2" fmla="*/ 132928 w 150736"/>
                <a:gd name="connsiteY2" fmla="*/ 13243 h 44876"/>
                <a:gd name="connsiteX3" fmla="*/ 132928 w 150736"/>
                <a:gd name="connsiteY3" fmla="*/ 13243 h 44876"/>
                <a:gd name="connsiteX4" fmla="*/ 99142 w 150736"/>
                <a:gd name="connsiteY4" fmla="*/ 0 h 44876"/>
                <a:gd name="connsiteX5" fmla="*/ 51595 w 150736"/>
                <a:gd name="connsiteY5" fmla="*/ 0 h 44876"/>
                <a:gd name="connsiteX6" fmla="*/ 17808 w 150736"/>
                <a:gd name="connsiteY6" fmla="*/ 13243 h 44876"/>
                <a:gd name="connsiteX7" fmla="*/ 17808 w 150736"/>
                <a:gd name="connsiteY7" fmla="*/ 13243 h 44876"/>
                <a:gd name="connsiteX8" fmla="*/ 5405 w 150736"/>
                <a:gd name="connsiteY8" fmla="*/ 31310 h 44876"/>
                <a:gd name="connsiteX9" fmla="*/ 0 w 150736"/>
                <a:gd name="connsiteY9" fmla="*/ 44877 h 44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0736" h="44876">
                  <a:moveTo>
                    <a:pt x="150737" y="44877"/>
                  </a:moveTo>
                  <a:lnTo>
                    <a:pt x="145332" y="31310"/>
                  </a:lnTo>
                  <a:cubicBezTo>
                    <a:pt x="142597" y="24441"/>
                    <a:pt x="138355" y="18261"/>
                    <a:pt x="132928" y="13243"/>
                  </a:cubicBezTo>
                  <a:lnTo>
                    <a:pt x="132928" y="13243"/>
                  </a:lnTo>
                  <a:cubicBezTo>
                    <a:pt x="123733" y="4716"/>
                    <a:pt x="111653" y="0"/>
                    <a:pt x="99142" y="0"/>
                  </a:cubicBezTo>
                  <a:lnTo>
                    <a:pt x="51595" y="0"/>
                  </a:lnTo>
                  <a:cubicBezTo>
                    <a:pt x="39062" y="0"/>
                    <a:pt x="27003" y="4737"/>
                    <a:pt x="17808" y="13243"/>
                  </a:cubicBezTo>
                  <a:lnTo>
                    <a:pt x="17808" y="13243"/>
                  </a:lnTo>
                  <a:cubicBezTo>
                    <a:pt x="12382" y="18261"/>
                    <a:pt x="8140" y="24441"/>
                    <a:pt x="5405" y="31310"/>
                  </a:cubicBezTo>
                  <a:lnTo>
                    <a:pt x="0" y="44877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7" name="Полилиния: фигура 86">
              <a:extLst>
                <a:ext uri="{FF2B5EF4-FFF2-40B4-BE49-F238E27FC236}">
                  <a16:creationId xmlns:a16="http://schemas.microsoft.com/office/drawing/2014/main" id="{B5392167-37A9-4AB6-A850-EBF0B93BE5B4}"/>
                </a:ext>
              </a:extLst>
            </p:cNvPr>
            <p:cNvSpPr/>
            <p:nvPr/>
          </p:nvSpPr>
          <p:spPr>
            <a:xfrm>
              <a:off x="531172" y="1198557"/>
              <a:ext cx="75357" cy="75373"/>
            </a:xfrm>
            <a:custGeom>
              <a:avLst/>
              <a:gdLst>
                <a:gd name="connsiteX0" fmla="*/ 64327 w 75357"/>
                <a:gd name="connsiteY0" fmla="*/ 11047 h 75373"/>
                <a:gd name="connsiteX1" fmla="*/ 64327 w 75357"/>
                <a:gd name="connsiteY1" fmla="*/ 64343 h 75373"/>
                <a:gd name="connsiteX2" fmla="*/ 11031 w 75357"/>
                <a:gd name="connsiteY2" fmla="*/ 64343 h 75373"/>
                <a:gd name="connsiteX3" fmla="*/ 11031 w 75357"/>
                <a:gd name="connsiteY3" fmla="*/ 11047 h 75373"/>
                <a:gd name="connsiteX4" fmla="*/ 64327 w 75357"/>
                <a:gd name="connsiteY4" fmla="*/ 11047 h 7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357" h="75373">
                  <a:moveTo>
                    <a:pt x="64327" y="11047"/>
                  </a:moveTo>
                  <a:cubicBezTo>
                    <a:pt x="79035" y="25754"/>
                    <a:pt x="79035" y="49614"/>
                    <a:pt x="64327" y="64343"/>
                  </a:cubicBezTo>
                  <a:cubicBezTo>
                    <a:pt x="49619" y="79051"/>
                    <a:pt x="25760" y="79051"/>
                    <a:pt x="11031" y="64343"/>
                  </a:cubicBezTo>
                  <a:cubicBezTo>
                    <a:pt x="-3677" y="49635"/>
                    <a:pt x="-3677" y="25776"/>
                    <a:pt x="11031" y="11047"/>
                  </a:cubicBezTo>
                  <a:cubicBezTo>
                    <a:pt x="25760" y="-3682"/>
                    <a:pt x="49619" y="-3682"/>
                    <a:pt x="64327" y="11047"/>
                  </a:cubicBez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8" name="Полилиния: фигура 87">
              <a:extLst>
                <a:ext uri="{FF2B5EF4-FFF2-40B4-BE49-F238E27FC236}">
                  <a16:creationId xmlns:a16="http://schemas.microsoft.com/office/drawing/2014/main" id="{D23B06F7-0C62-4091-9F3F-413C375AC5F4}"/>
                </a:ext>
              </a:extLst>
            </p:cNvPr>
            <p:cNvSpPr/>
            <p:nvPr/>
          </p:nvSpPr>
          <p:spPr>
            <a:xfrm>
              <a:off x="687298" y="1133956"/>
              <a:ext cx="21533" cy="129203"/>
            </a:xfrm>
            <a:custGeom>
              <a:avLst/>
              <a:gdLst>
                <a:gd name="connsiteX0" fmla="*/ 0 w 21533"/>
                <a:gd name="connsiteY0" fmla="*/ 129203 h 129203"/>
                <a:gd name="connsiteX1" fmla="*/ 0 w 21533"/>
                <a:gd name="connsiteY1" fmla="*/ 0 h 129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533" h="129203">
                  <a:moveTo>
                    <a:pt x="0" y="129203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9" name="Полилиния: фигура 88">
              <a:extLst>
                <a:ext uri="{FF2B5EF4-FFF2-40B4-BE49-F238E27FC236}">
                  <a16:creationId xmlns:a16="http://schemas.microsoft.com/office/drawing/2014/main" id="{CD22D5D3-42C0-40A9-AADA-667E4D614F28}"/>
                </a:ext>
              </a:extLst>
            </p:cNvPr>
            <p:cNvSpPr/>
            <p:nvPr/>
          </p:nvSpPr>
          <p:spPr>
            <a:xfrm>
              <a:off x="751900" y="1191666"/>
              <a:ext cx="21533" cy="71492"/>
            </a:xfrm>
            <a:custGeom>
              <a:avLst/>
              <a:gdLst>
                <a:gd name="connsiteX0" fmla="*/ 0 w 21533"/>
                <a:gd name="connsiteY0" fmla="*/ 71492 h 71492"/>
                <a:gd name="connsiteX1" fmla="*/ 0 w 21533"/>
                <a:gd name="connsiteY1" fmla="*/ 0 h 71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533" h="71492">
                  <a:moveTo>
                    <a:pt x="0" y="71492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0" name="Полилиния: фигура 89">
              <a:extLst>
                <a:ext uri="{FF2B5EF4-FFF2-40B4-BE49-F238E27FC236}">
                  <a16:creationId xmlns:a16="http://schemas.microsoft.com/office/drawing/2014/main" id="{475C2F94-3489-4492-92A8-B0DCB30B45FC}"/>
                </a:ext>
              </a:extLst>
            </p:cNvPr>
            <p:cNvSpPr/>
            <p:nvPr/>
          </p:nvSpPr>
          <p:spPr>
            <a:xfrm>
              <a:off x="816502" y="1145799"/>
              <a:ext cx="21533" cy="117359"/>
            </a:xfrm>
            <a:custGeom>
              <a:avLst/>
              <a:gdLst>
                <a:gd name="connsiteX0" fmla="*/ 0 w 21533"/>
                <a:gd name="connsiteY0" fmla="*/ 117359 h 117359"/>
                <a:gd name="connsiteX1" fmla="*/ 0 w 21533"/>
                <a:gd name="connsiteY1" fmla="*/ 0 h 117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533" h="117359">
                  <a:moveTo>
                    <a:pt x="0" y="117359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26B82AA9-FD36-71A2-FA88-83CC00E5B169}"/>
              </a:ext>
            </a:extLst>
          </p:cNvPr>
          <p:cNvCxnSpPr/>
          <p:nvPr/>
        </p:nvCxnSpPr>
        <p:spPr>
          <a:xfrm>
            <a:off x="0" y="562429"/>
            <a:ext cx="12192000" cy="0"/>
          </a:xfrm>
          <a:prstGeom prst="line">
            <a:avLst/>
          </a:prstGeom>
          <a:noFill/>
          <a:ln w="6350" cap="rnd">
            <a:solidFill>
              <a:srgbClr val="706F6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" name="Полилиния 29">
            <a:extLst>
              <a:ext uri="{FF2B5EF4-FFF2-40B4-BE49-F238E27FC236}">
                <a16:creationId xmlns:a16="http://schemas.microsoft.com/office/drawing/2014/main" id="{3E1A8F69-E5AA-A6F7-B5F3-AFBDBC1EBCD4}"/>
              </a:ext>
            </a:extLst>
          </p:cNvPr>
          <p:cNvSpPr/>
          <p:nvPr/>
        </p:nvSpPr>
        <p:spPr>
          <a:xfrm>
            <a:off x="11303001" y="0"/>
            <a:ext cx="889000" cy="562429"/>
          </a:xfrm>
          <a:custGeom>
            <a:avLst/>
            <a:gdLst>
              <a:gd name="connsiteX0" fmla="*/ 558263 w 1347538"/>
              <a:gd name="connsiteY0" fmla="*/ 0 h 1001027"/>
              <a:gd name="connsiteX1" fmla="*/ 1347538 w 1347538"/>
              <a:gd name="connsiteY1" fmla="*/ 0 h 1001027"/>
              <a:gd name="connsiteX2" fmla="*/ 1347538 w 1347538"/>
              <a:gd name="connsiteY2" fmla="*/ 1001027 h 1001027"/>
              <a:gd name="connsiteX3" fmla="*/ 0 w 1347538"/>
              <a:gd name="connsiteY3" fmla="*/ 1001027 h 1001027"/>
              <a:gd name="connsiteX4" fmla="*/ 558263 w 1347538"/>
              <a:gd name="connsiteY4" fmla="*/ 0 h 1001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47538" h="1001027">
                <a:moveTo>
                  <a:pt x="558263" y="0"/>
                </a:moveTo>
                <a:lnTo>
                  <a:pt x="1347538" y="0"/>
                </a:lnTo>
                <a:lnTo>
                  <a:pt x="1347538" y="1001027"/>
                </a:lnTo>
                <a:lnTo>
                  <a:pt x="0" y="1001027"/>
                </a:lnTo>
                <a:lnTo>
                  <a:pt x="558263" y="0"/>
                </a:lnTo>
                <a:close/>
              </a:path>
            </a:pathLst>
          </a:custGeom>
          <a:solidFill>
            <a:srgbClr val="706F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286" dirty="0">
              <a:ea typeface="Roboto" panose="02000000000000000000" pitchFamily="2" charset="0"/>
            </a:endParaRP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2909FF06-3980-6802-C366-2A957785B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1133" y="138210"/>
            <a:ext cx="551543" cy="365125"/>
          </a:xfrm>
        </p:spPr>
        <p:txBody>
          <a:bodyPr/>
          <a:lstStyle/>
          <a:p>
            <a:pPr algn="ctr"/>
            <a:r>
              <a:rPr lang="en-US" sz="1143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3</a:t>
            </a:r>
            <a:endParaRPr lang="ru-RU" sz="1143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Segoe UI Light" panose="020B0502040204020203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76248" y="1636058"/>
            <a:ext cx="3315600" cy="451918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hangingPunct="0">
              <a:spcAft>
                <a:spcPts val="400"/>
              </a:spcAft>
              <a:buClr>
                <a:srgbClr val="00E88C"/>
              </a:buClr>
            </a:pPr>
            <a:r>
              <a:rPr lang="ru-RU" sz="900" kern="0" dirty="0" err="1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sym typeface="Calibri"/>
              </a:rPr>
              <a:t>Онбординг</a:t>
            </a: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sym typeface="Calibri"/>
              </a:rPr>
              <a:t> и адаптация</a:t>
            </a:r>
          </a:p>
          <a:p>
            <a:pPr marL="144000" lvl="1" indent="-144000">
              <a:spcAft>
                <a:spcPts val="4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Создание плана адаптации для новых сотрудников</a:t>
            </a:r>
          </a:p>
          <a:p>
            <a:pPr marL="144000" lvl="1" indent="-144000">
              <a:spcAft>
                <a:spcPts val="4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Публикация материалов для новых сотрудников и контроль ознакомления</a:t>
            </a:r>
          </a:p>
          <a:p>
            <a:pPr marL="144000" lvl="1" indent="-144000">
              <a:spcAft>
                <a:spcPts val="12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Информирование и представление новых сотрудников</a:t>
            </a:r>
          </a:p>
          <a:p>
            <a:pPr hangingPunct="0">
              <a:spcAft>
                <a:spcPts val="400"/>
              </a:spcAft>
              <a:buClr>
                <a:srgbClr val="00E88C"/>
              </a:buClr>
            </a:pP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sym typeface="Calibri"/>
              </a:rPr>
              <a:t>Рабочий процесс</a:t>
            </a:r>
          </a:p>
          <a:p>
            <a:pPr marL="144000" lvl="1" indent="-144000">
              <a:spcAft>
                <a:spcPts val="12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Умные рекомендации, интеллектуальный</a:t>
            </a:r>
            <a:br>
              <a:rPr lang="en-US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</a:b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поиск (</a:t>
            </a:r>
            <a:r>
              <a:rPr lang="en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HR-</a:t>
            </a: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помощник для сотрудника 24/7)</a:t>
            </a:r>
          </a:p>
          <a:p>
            <a:pPr hangingPunct="0">
              <a:spcAft>
                <a:spcPts val="400"/>
              </a:spcAft>
              <a:buClr>
                <a:srgbClr val="00E88C"/>
              </a:buClr>
            </a:pP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sym typeface="Calibri"/>
              </a:rPr>
              <a:t>Вовлечение и мотивация</a:t>
            </a:r>
          </a:p>
          <a:p>
            <a:pPr marL="144000" lvl="1" indent="-144000">
              <a:spcAft>
                <a:spcPts val="4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Публикация новостей и анонсов</a:t>
            </a:r>
          </a:p>
          <a:p>
            <a:pPr marL="144000" lvl="1" indent="-144000">
              <a:spcAft>
                <a:spcPts val="4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Поиск по </a:t>
            </a:r>
            <a:r>
              <a:rPr lang="ru-RU" sz="900" dirty="0" err="1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оргструктуре</a:t>
            </a:r>
            <a:endParaRPr lang="ru-RU" sz="900" dirty="0">
              <a:solidFill>
                <a:srgbClr val="171F3E"/>
              </a:solidFill>
              <a:latin typeface="Roboto" panose="02000000000000000000" pitchFamily="2" charset="0"/>
              <a:ea typeface="Roboto" panose="02000000000000000000" pitchFamily="2" charset="0"/>
              <a:sym typeface="Calibri"/>
            </a:endParaRPr>
          </a:p>
          <a:p>
            <a:pPr marL="144000" lvl="1" indent="-144000">
              <a:spcAft>
                <a:spcPts val="4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Информирование сотрудников (благодарности, объявления, мероприятия, дни рождения)</a:t>
            </a:r>
          </a:p>
          <a:p>
            <a:pPr marL="144000" lvl="1" indent="-144000">
              <a:spcAft>
                <a:spcPts val="4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Создание внутренних сообществ</a:t>
            </a:r>
          </a:p>
          <a:p>
            <a:pPr marL="144000" lvl="1" indent="-144000">
              <a:spcAft>
                <a:spcPts val="12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Проведение опросов удовлетворенности</a:t>
            </a:r>
          </a:p>
          <a:p>
            <a:pPr hangingPunct="0">
              <a:spcAft>
                <a:spcPts val="400"/>
              </a:spcAft>
              <a:buClr>
                <a:srgbClr val="00E88C"/>
              </a:buClr>
            </a:pP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sym typeface="Calibri"/>
              </a:rPr>
              <a:t>Оценка и развитие</a:t>
            </a:r>
          </a:p>
          <a:p>
            <a:pPr marL="144000" lvl="1" indent="-144000">
              <a:spcAft>
                <a:spcPts val="4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Публикация и прохождение обучения онлайн</a:t>
            </a:r>
          </a:p>
          <a:p>
            <a:pPr marL="144000" lvl="1" indent="-144000">
              <a:spcAft>
                <a:spcPts val="4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Тестирование и проверка знаний </a:t>
            </a:r>
          </a:p>
          <a:p>
            <a:pPr marL="144000" lvl="1" indent="-144000">
              <a:spcAft>
                <a:spcPts val="4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Проведение оценки компетенций 360/270/180</a:t>
            </a:r>
          </a:p>
          <a:p>
            <a:pPr marL="144000" lvl="1" indent="-144000">
              <a:spcAft>
                <a:spcPts val="12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Создание индивидуальных планов развития сотрудников</a:t>
            </a:r>
          </a:p>
          <a:p>
            <a:pPr hangingPunct="0">
              <a:spcAft>
                <a:spcPts val="400"/>
              </a:spcAft>
              <a:buClr>
                <a:srgbClr val="00E88C"/>
              </a:buClr>
            </a:pP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sym typeface="Calibri"/>
              </a:rPr>
              <a:t>Увольнение и удержание</a:t>
            </a:r>
          </a:p>
          <a:p>
            <a:pPr marL="144000" lvl="1" indent="-144000">
              <a:spcAft>
                <a:spcPts val="4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Фиксация результатов выходных интервью и анализ причин увольнения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431810" y="1641204"/>
            <a:ext cx="3315600" cy="172867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Цифровые «профили» сотрудников и организаций</a:t>
            </a:r>
            <a:br>
              <a:rPr lang="ru-RU" sz="900" b="1" kern="0" dirty="0">
                <a:solidFill>
                  <a:srgbClr val="7700FF"/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Единая система для оценки и управления</a:t>
            </a:r>
            <a:b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900" kern="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сотрудниками и проектами</a:t>
            </a:r>
          </a:p>
          <a:p>
            <a:pPr marL="144000" indent="-144000">
              <a:spcAft>
                <a:spcPts val="4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Учет вакансий (и их статусов) и  сотрудников</a:t>
            </a:r>
            <a:br>
              <a:rPr lang="en-US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(с привязкой</a:t>
            </a:r>
            <a:r>
              <a:rPr lang="en-US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к проектам) + визуализация</a:t>
            </a:r>
            <a:br>
              <a:rPr lang="en-US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для оперативного реагирования</a:t>
            </a:r>
          </a:p>
          <a:p>
            <a:pPr marL="144000" indent="-144000">
              <a:spcAft>
                <a:spcPts val="4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Анализ загрузки сотрудников для выявления нехватки или избытка кадров</a:t>
            </a:r>
          </a:p>
          <a:p>
            <a:pPr marL="144000" indent="-144000">
              <a:spcAft>
                <a:spcPts val="4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Визуализация: </a:t>
            </a:r>
            <a:r>
              <a:rPr lang="ru-RU" sz="900" dirty="0" err="1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дашборды</a:t>
            </a: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с ключевыми показателями — загрузка, статус вакансий, сотрудники (с фильтрацией</a:t>
            </a:r>
            <a:b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900" dirty="0">
                <a:solidFill>
                  <a:srgbClr val="171F3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по департаментам)</a:t>
            </a:r>
          </a:p>
        </p:txBody>
      </p:sp>
      <p:sp>
        <p:nvSpPr>
          <p:cNvPr id="18" name="Номер слайда 4">
            <a:extLst>
              <a:ext uri="{FF2B5EF4-FFF2-40B4-BE49-F238E27FC236}">
                <a16:creationId xmlns:a16="http://schemas.microsoft.com/office/drawing/2014/main" id="{B86CBE6F-66A2-C34C-BBFE-41967A2295CA}"/>
              </a:ext>
            </a:extLst>
          </p:cNvPr>
          <p:cNvSpPr txBox="1">
            <a:spLocks/>
          </p:cNvSpPr>
          <p:nvPr/>
        </p:nvSpPr>
        <p:spPr>
          <a:xfrm>
            <a:off x="9759821" y="6413112"/>
            <a:ext cx="2181549" cy="18630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100" dirty="0">
                <a:solidFill>
                  <a:srgbClr val="B7CAF4"/>
                </a:solidFill>
                <a:latin typeface="Inter" panose="020B0502030000000004" pitchFamily="34" charset="0"/>
                <a:ea typeface="Inter" panose="020B0502030000000004" pitchFamily="34" charset="0"/>
              </a:rPr>
              <a:t>HR-</a:t>
            </a:r>
            <a:r>
              <a:rPr lang="ru-RU" sz="1100" dirty="0">
                <a:solidFill>
                  <a:srgbClr val="B7CAF4"/>
                </a:solidFill>
                <a:latin typeface="Inter" panose="020B0502030000000004" pitchFamily="34" charset="0"/>
                <a:ea typeface="Inter" panose="020B0502030000000004" pitchFamily="34" charset="0"/>
              </a:rPr>
              <a:t>платформа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2836033F-8552-475C-8C63-3EBE4B76C7F5}"/>
              </a:ext>
            </a:extLst>
          </p:cNvPr>
          <p:cNvSpPr/>
          <p:nvPr/>
        </p:nvSpPr>
        <p:spPr>
          <a:xfrm>
            <a:off x="285750" y="105333"/>
            <a:ext cx="7058025" cy="3517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ru-RU" sz="2286" cap="all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Сервисы</a:t>
            </a:r>
          </a:p>
        </p:txBody>
      </p:sp>
      <p:pic>
        <p:nvPicPr>
          <p:cNvPr id="23" name="Picture 8" descr="Фирменный стиль. Официальный информационный сайт Ростелеком.">
            <a:extLst>
              <a:ext uri="{FF2B5EF4-FFF2-40B4-BE49-F238E27FC236}">
                <a16:creationId xmlns:a16="http://schemas.microsoft.com/office/drawing/2014/main" id="{F43B010F-7E0F-45A8-B49A-FB1192D38D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9" b="15526"/>
          <a:stretch/>
        </p:blipFill>
        <p:spPr bwMode="auto">
          <a:xfrm>
            <a:off x="9620110" y="91071"/>
            <a:ext cx="1605351" cy="380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8162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9D06A-4883-0255-C7BD-3531478CD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26B82AA9-FD36-71A2-FA88-83CC00E5B169}"/>
              </a:ext>
            </a:extLst>
          </p:cNvPr>
          <p:cNvCxnSpPr/>
          <p:nvPr/>
        </p:nvCxnSpPr>
        <p:spPr>
          <a:xfrm>
            <a:off x="0" y="562429"/>
            <a:ext cx="12192000" cy="0"/>
          </a:xfrm>
          <a:prstGeom prst="line">
            <a:avLst/>
          </a:prstGeom>
          <a:noFill/>
          <a:ln w="6350" cap="rnd">
            <a:solidFill>
              <a:srgbClr val="706F6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" name="Полилиния 29">
            <a:extLst>
              <a:ext uri="{FF2B5EF4-FFF2-40B4-BE49-F238E27FC236}">
                <a16:creationId xmlns:a16="http://schemas.microsoft.com/office/drawing/2014/main" id="{3E1A8F69-E5AA-A6F7-B5F3-AFBDBC1EBCD4}"/>
              </a:ext>
            </a:extLst>
          </p:cNvPr>
          <p:cNvSpPr/>
          <p:nvPr/>
        </p:nvSpPr>
        <p:spPr>
          <a:xfrm>
            <a:off x="11303001" y="0"/>
            <a:ext cx="889000" cy="562429"/>
          </a:xfrm>
          <a:custGeom>
            <a:avLst/>
            <a:gdLst>
              <a:gd name="connsiteX0" fmla="*/ 558263 w 1347538"/>
              <a:gd name="connsiteY0" fmla="*/ 0 h 1001027"/>
              <a:gd name="connsiteX1" fmla="*/ 1347538 w 1347538"/>
              <a:gd name="connsiteY1" fmla="*/ 0 h 1001027"/>
              <a:gd name="connsiteX2" fmla="*/ 1347538 w 1347538"/>
              <a:gd name="connsiteY2" fmla="*/ 1001027 h 1001027"/>
              <a:gd name="connsiteX3" fmla="*/ 0 w 1347538"/>
              <a:gd name="connsiteY3" fmla="*/ 1001027 h 1001027"/>
              <a:gd name="connsiteX4" fmla="*/ 558263 w 1347538"/>
              <a:gd name="connsiteY4" fmla="*/ 0 h 1001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47538" h="1001027">
                <a:moveTo>
                  <a:pt x="558263" y="0"/>
                </a:moveTo>
                <a:lnTo>
                  <a:pt x="1347538" y="0"/>
                </a:lnTo>
                <a:lnTo>
                  <a:pt x="1347538" y="1001027"/>
                </a:lnTo>
                <a:lnTo>
                  <a:pt x="0" y="1001027"/>
                </a:lnTo>
                <a:lnTo>
                  <a:pt x="558263" y="0"/>
                </a:lnTo>
                <a:close/>
              </a:path>
            </a:pathLst>
          </a:custGeom>
          <a:solidFill>
            <a:srgbClr val="706F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286" dirty="0">
              <a:ea typeface="Roboto" panose="02000000000000000000" pitchFamily="2" charset="0"/>
            </a:endParaRP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2909FF06-3980-6802-C366-2A957785B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1133" y="138210"/>
            <a:ext cx="551543" cy="365125"/>
          </a:xfrm>
        </p:spPr>
        <p:txBody>
          <a:bodyPr/>
          <a:lstStyle/>
          <a:p>
            <a:pPr algn="ctr"/>
            <a:r>
              <a:rPr lang="ru-RU" sz="1143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4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2836033F-8552-475C-8C63-3EBE4B76C7F5}"/>
              </a:ext>
            </a:extLst>
          </p:cNvPr>
          <p:cNvSpPr/>
          <p:nvPr/>
        </p:nvSpPr>
        <p:spPr>
          <a:xfrm>
            <a:off x="285750" y="105333"/>
            <a:ext cx="7058025" cy="3517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ru-RU" sz="2286" cap="all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БЮДЖЕТ И КОМАНДА 2025</a:t>
            </a:r>
          </a:p>
        </p:txBody>
      </p:sp>
      <p:pic>
        <p:nvPicPr>
          <p:cNvPr id="23" name="Picture 8" descr="Фирменный стиль. Официальный информационный сайт Ростелеком.">
            <a:extLst>
              <a:ext uri="{FF2B5EF4-FFF2-40B4-BE49-F238E27FC236}">
                <a16:creationId xmlns:a16="http://schemas.microsoft.com/office/drawing/2014/main" id="{F43B010F-7E0F-45A8-B49A-FB1192D38D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9" b="15526"/>
          <a:stretch/>
        </p:blipFill>
        <p:spPr bwMode="auto">
          <a:xfrm>
            <a:off x="9620110" y="91071"/>
            <a:ext cx="1605351" cy="380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Прямоугольник: скругленные углы 32">
            <a:extLst>
              <a:ext uri="{FF2B5EF4-FFF2-40B4-BE49-F238E27FC236}">
                <a16:creationId xmlns:a16="http://schemas.microsoft.com/office/drawing/2014/main" id="{7B267AA9-0E72-4273-986C-B16C8AB85AC1}"/>
              </a:ext>
            </a:extLst>
          </p:cNvPr>
          <p:cNvSpPr/>
          <p:nvPr/>
        </p:nvSpPr>
        <p:spPr>
          <a:xfrm>
            <a:off x="266923" y="4272191"/>
            <a:ext cx="3312000" cy="521779"/>
          </a:xfrm>
          <a:prstGeom prst="roundRect">
            <a:avLst>
              <a:gd name="adj" fmla="val 17321"/>
            </a:avLst>
          </a:prstGeom>
          <a:noFill/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hangingPunct="0"/>
            <a:r>
              <a:rPr lang="ru-RU" sz="900" kern="0" dirty="0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Аппарат Правительства – Координатор</a:t>
            </a:r>
          </a:p>
          <a:p>
            <a:pPr hangingPunct="0"/>
            <a:r>
              <a:rPr lang="ru-RU" sz="900" kern="0" dirty="0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Минтруд – Методолог</a:t>
            </a:r>
            <a:endParaRPr lang="en-US" sz="900" kern="0" dirty="0">
              <a:solidFill>
                <a:srgbClr val="1E2340"/>
              </a:solidFill>
              <a:latin typeface="Roboto Medium" panose="02000000000000000000" pitchFamily="2" charset="0"/>
              <a:ea typeface="Roboto Medium" panose="02000000000000000000" pitchFamily="2" charset="0"/>
              <a:cs typeface="Calibri"/>
              <a:sym typeface="Calibri"/>
            </a:endParaRPr>
          </a:p>
        </p:txBody>
      </p:sp>
      <p:sp>
        <p:nvSpPr>
          <p:cNvPr id="57" name="Прямоугольник: скругленные углы 51">
            <a:extLst>
              <a:ext uri="{FF2B5EF4-FFF2-40B4-BE49-F238E27FC236}">
                <a16:creationId xmlns:a16="http://schemas.microsoft.com/office/drawing/2014/main" id="{B174B20D-FEAA-4A5E-BB16-F0153AB72C5F}"/>
              </a:ext>
            </a:extLst>
          </p:cNvPr>
          <p:cNvSpPr/>
          <p:nvPr/>
        </p:nvSpPr>
        <p:spPr>
          <a:xfrm>
            <a:off x="3807456" y="4975609"/>
            <a:ext cx="1908000" cy="522000"/>
          </a:xfrm>
          <a:prstGeom prst="roundRect">
            <a:avLst>
              <a:gd name="adj" fmla="val 20972"/>
            </a:avLst>
          </a:prstGeom>
          <a:noFill/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9" name="Группа 128">
            <a:extLst>
              <a:ext uri="{FF2B5EF4-FFF2-40B4-BE49-F238E27FC236}">
                <a16:creationId xmlns:a16="http://schemas.microsoft.com/office/drawing/2014/main" id="{D3CF0FBC-3FED-476E-84B1-AEE5219899DF}"/>
              </a:ext>
            </a:extLst>
          </p:cNvPr>
          <p:cNvGrpSpPr/>
          <p:nvPr/>
        </p:nvGrpSpPr>
        <p:grpSpPr>
          <a:xfrm>
            <a:off x="3952143" y="5098110"/>
            <a:ext cx="1618626" cy="276999"/>
            <a:chOff x="3982074" y="5098110"/>
            <a:chExt cx="1618626" cy="276999"/>
          </a:xfrm>
        </p:grpSpPr>
        <p:pic>
          <p:nvPicPr>
            <p:cNvPr id="43" name="Рисунок 42">
              <a:extLst>
                <a:ext uri="{FF2B5EF4-FFF2-40B4-BE49-F238E27FC236}">
                  <a16:creationId xmlns:a16="http://schemas.microsoft.com/office/drawing/2014/main" id="{A5A549C2-C7CA-43EF-B091-9741FD2AD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82074" y="5184727"/>
              <a:ext cx="672687" cy="103765"/>
            </a:xfrm>
            <a:prstGeom prst="rect">
              <a:avLst/>
            </a:prstGeom>
          </p:spPr>
        </p:pic>
        <p:sp>
          <p:nvSpPr>
            <p:cNvPr id="58" name="Прямоугольник 57">
              <a:extLst>
                <a:ext uri="{FF2B5EF4-FFF2-40B4-BE49-F238E27FC236}">
                  <a16:creationId xmlns:a16="http://schemas.microsoft.com/office/drawing/2014/main" id="{F9228DE6-73E2-427B-8425-08C67095697C}"/>
                </a:ext>
              </a:extLst>
            </p:cNvPr>
            <p:cNvSpPr/>
            <p:nvPr/>
          </p:nvSpPr>
          <p:spPr>
            <a:xfrm>
              <a:off x="4781133" y="5098110"/>
              <a:ext cx="819567" cy="276999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hangingPunct="0">
                <a:spcAft>
                  <a:spcPts val="429"/>
                </a:spcAft>
              </a:pPr>
              <a:r>
                <a:rPr lang="ru-RU" sz="900" kern="0" dirty="0">
                  <a:solidFill>
                    <a:srgbClr val="1E2340"/>
                  </a:solidFill>
                  <a:latin typeface="Roboto Medium" panose="02000000000000000000" pitchFamily="2" charset="0"/>
                  <a:ea typeface="Roboto Medium" panose="02000000000000000000" pitchFamily="2" charset="0"/>
                  <a:cs typeface="Calibri"/>
                  <a:sym typeface="Calibri"/>
                </a:rPr>
                <a:t>Координатор </a:t>
              </a:r>
              <a:br>
                <a:rPr lang="ru-RU" sz="900" kern="0" dirty="0">
                  <a:solidFill>
                    <a:srgbClr val="1E2340"/>
                  </a:solidFill>
                  <a:latin typeface="Roboto Medium" panose="02000000000000000000" pitchFamily="2" charset="0"/>
                  <a:ea typeface="Roboto Medium" panose="02000000000000000000" pitchFamily="2" charset="0"/>
                  <a:cs typeface="Calibri"/>
                  <a:sym typeface="Calibri"/>
                </a:rPr>
              </a:br>
              <a:r>
                <a:rPr lang="ru-RU" sz="900" kern="0" dirty="0">
                  <a:solidFill>
                    <a:srgbClr val="1E2340"/>
                  </a:solidFill>
                  <a:latin typeface="Roboto Medium" panose="02000000000000000000" pitchFamily="2" charset="0"/>
                  <a:ea typeface="Roboto Medium" panose="02000000000000000000" pitchFamily="2" charset="0"/>
                  <a:cs typeface="Calibri"/>
                  <a:sym typeface="Calibri"/>
                </a:rPr>
                <a:t>ФКУ «ГосТех»</a:t>
              </a:r>
            </a:p>
          </p:txBody>
        </p:sp>
      </p:grpSp>
      <p:sp>
        <p:nvSpPr>
          <p:cNvPr id="52" name="Прямоугольник: скругленные углы 42">
            <a:extLst>
              <a:ext uri="{FF2B5EF4-FFF2-40B4-BE49-F238E27FC236}">
                <a16:creationId xmlns:a16="http://schemas.microsoft.com/office/drawing/2014/main" id="{5B7D82CB-2AB0-4E23-9D45-651A26EAC26F}"/>
              </a:ext>
            </a:extLst>
          </p:cNvPr>
          <p:cNvSpPr/>
          <p:nvPr/>
        </p:nvSpPr>
        <p:spPr>
          <a:xfrm>
            <a:off x="238277" y="5679247"/>
            <a:ext cx="3312000" cy="522000"/>
          </a:xfrm>
          <a:prstGeom prst="roundRect">
            <a:avLst>
              <a:gd name="adj" fmla="val 20972"/>
            </a:avLst>
          </a:prstGeom>
          <a:noFill/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76000" rtlCol="0" anchor="ctr"/>
          <a:lstStyle/>
          <a:p>
            <a:pPr hangingPunct="0"/>
            <a:r>
              <a:rPr lang="ru-RU" sz="900" kern="0" dirty="0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ГРБС и технический заказчик </a:t>
            </a:r>
            <a:r>
              <a:rPr lang="ru-RU" sz="900" kern="0" dirty="0" err="1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Минцифры</a:t>
            </a:r>
            <a:r>
              <a:rPr lang="ru-RU" sz="900" kern="0" dirty="0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 РФ</a:t>
            </a:r>
          </a:p>
          <a:p>
            <a:pPr hangingPunct="0"/>
            <a:r>
              <a:rPr lang="ru-RU" sz="900" kern="0" dirty="0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Филатов Е.В. - Курирующий Замминистра</a:t>
            </a:r>
          </a:p>
        </p:txBody>
      </p:sp>
      <p:pic>
        <p:nvPicPr>
          <p:cNvPr id="69" name="Рисунок 3" descr="Рисунок 3">
            <a:extLst>
              <a:ext uri="{FF2B5EF4-FFF2-40B4-BE49-F238E27FC236}">
                <a16:creationId xmlns:a16="http://schemas.microsoft.com/office/drawing/2014/main" id="{D9ADEF10-DD41-4693-AB39-EBA1F79D7EC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EDF1F5"/>
              </a:clrFrom>
              <a:clrTo>
                <a:srgbClr val="EDF1F5">
                  <a:alpha val="0"/>
                </a:srgbClr>
              </a:clrTo>
            </a:clrChange>
          </a:blip>
          <a:srcRect l="2427" t="9715" r="84589" b="22442"/>
          <a:stretch/>
        </p:blipFill>
        <p:spPr>
          <a:xfrm>
            <a:off x="425875" y="5769866"/>
            <a:ext cx="298522" cy="296407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Скругленный прямоугольник 296">
            <a:extLst>
              <a:ext uri="{FF2B5EF4-FFF2-40B4-BE49-F238E27FC236}">
                <a16:creationId xmlns:a16="http://schemas.microsoft.com/office/drawing/2014/main" id="{37253A9C-9431-44B6-8C56-B6FFDD13C7FA}"/>
              </a:ext>
            </a:extLst>
          </p:cNvPr>
          <p:cNvSpPr/>
          <p:nvPr/>
        </p:nvSpPr>
        <p:spPr>
          <a:xfrm>
            <a:off x="9104101" y="989164"/>
            <a:ext cx="2742797" cy="2087999"/>
          </a:xfrm>
          <a:prstGeom prst="roundRect">
            <a:avLst>
              <a:gd name="adj" fmla="val 9539"/>
            </a:avLst>
          </a:prstGeom>
          <a:solidFill>
            <a:srgbClr val="4525FF">
              <a:alpha val="3000"/>
            </a:srgbClr>
          </a:solidFill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 76">
            <a:extLst>
              <a:ext uri="{FF2B5EF4-FFF2-40B4-BE49-F238E27FC236}">
                <a16:creationId xmlns:a16="http://schemas.microsoft.com/office/drawing/2014/main" id="{A5DEB7B9-C4EC-482D-8864-0F820D2B824C}"/>
              </a:ext>
            </a:extLst>
          </p:cNvPr>
          <p:cNvSpPr/>
          <p:nvPr/>
        </p:nvSpPr>
        <p:spPr>
          <a:xfrm>
            <a:off x="9264039" y="1118051"/>
            <a:ext cx="2148587" cy="184666"/>
          </a:xfrm>
          <a:prstGeom prst="rect">
            <a:avLst/>
          </a:prstGeom>
          <a:ln>
            <a:noFill/>
          </a:ln>
        </p:spPr>
        <p:txBody>
          <a:bodyPr wrap="square" lIns="0" tIns="0" rIns="0" bIns="0">
            <a:spAutoFit/>
          </a:bodyPr>
          <a:lstStyle/>
          <a:p>
            <a:pPr hangingPunct="0">
              <a:spcAft>
                <a:spcPts val="429"/>
              </a:spcAft>
            </a:pPr>
            <a:r>
              <a:rPr lang="ru-RU" sz="12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Эксплуатация 2026</a:t>
            </a:r>
          </a:p>
        </p:txBody>
      </p:sp>
      <p:sp>
        <p:nvSpPr>
          <p:cNvPr id="78" name="TextBox 34">
            <a:extLst>
              <a:ext uri="{FF2B5EF4-FFF2-40B4-BE49-F238E27FC236}">
                <a16:creationId xmlns:a16="http://schemas.microsoft.com/office/drawing/2014/main" id="{70613658-6AEE-4001-A40E-70BDB19F0C28}"/>
              </a:ext>
            </a:extLst>
          </p:cNvPr>
          <p:cNvSpPr txBox="1"/>
          <p:nvPr/>
        </p:nvSpPr>
        <p:spPr>
          <a:xfrm>
            <a:off x="9264039" y="2723766"/>
            <a:ext cx="1153545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1pPr>
            <a:lvl2pPr marL="0" marR="0" indent="4572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2pPr>
            <a:lvl3pPr marL="0" marR="0" indent="9144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3pPr>
            <a:lvl4pPr marL="0" marR="0" indent="13716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4pPr>
            <a:lvl5pPr marL="0" marR="0" indent="18288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5pPr>
            <a:lvl6pPr marL="0" marR="0" indent="22860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6pPr>
            <a:lvl7pPr marL="0" marR="0" indent="27432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7pPr>
            <a:lvl8pPr marL="0" marR="0" indent="32004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8pPr>
            <a:lvl9pPr marL="0" marR="0" indent="365760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Calibri"/>
              </a:defRPr>
            </a:lvl9pPr>
          </a:lstStyle>
          <a:p>
            <a:pPr>
              <a:spcAft>
                <a:spcPts val="429"/>
              </a:spcAft>
              <a:defRPr/>
            </a:pPr>
            <a:r>
              <a:rPr lang="en-US" sz="12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</a:rPr>
              <a:t>60.9</a:t>
            </a:r>
            <a:r>
              <a:rPr lang="ru-RU" sz="12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</a:rPr>
              <a:t> млн </a:t>
            </a:r>
            <a:r>
              <a:rPr lang="ru-RU" sz="1200" kern="0" dirty="0">
                <a:solidFill>
                  <a:srgbClr val="4525FF"/>
                </a:solidFill>
                <a:latin typeface="Tilda Sans Bold" panose="020B0702020204020303" pitchFamily="34" charset="0"/>
                <a:ea typeface="Roboto Medium" panose="02000000000000000000" pitchFamily="2" charset="0"/>
                <a:cs typeface="Calibri"/>
              </a:rPr>
              <a:t>₽</a:t>
            </a:r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7B9244AD-33BB-4D01-8498-590BF729F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8079" y="4345455"/>
            <a:ext cx="385867" cy="169781"/>
          </a:xfrm>
          <a:prstGeom prst="rect">
            <a:avLst/>
          </a:prstGeom>
        </p:spPr>
      </p:pic>
      <p:sp>
        <p:nvSpPr>
          <p:cNvPr id="94" name="Прямоугольник: скругленные углы 65">
            <a:extLst>
              <a:ext uri="{FF2B5EF4-FFF2-40B4-BE49-F238E27FC236}">
                <a16:creationId xmlns:a16="http://schemas.microsoft.com/office/drawing/2014/main" id="{9D7F6CE7-1271-4C6A-A34E-CF95804E5FEB}"/>
              </a:ext>
            </a:extLst>
          </p:cNvPr>
          <p:cNvSpPr/>
          <p:nvPr/>
        </p:nvSpPr>
        <p:spPr>
          <a:xfrm>
            <a:off x="9104097" y="4106345"/>
            <a:ext cx="2742801" cy="648000"/>
          </a:xfrm>
          <a:prstGeom prst="roundRect">
            <a:avLst>
              <a:gd name="adj" fmla="val 20972"/>
            </a:avLst>
          </a:prstGeom>
          <a:noFill/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>
            <a:extLst>
              <a:ext uri="{FF2B5EF4-FFF2-40B4-BE49-F238E27FC236}">
                <a16:creationId xmlns:a16="http://schemas.microsoft.com/office/drawing/2014/main" id="{8A596441-DE59-4DBA-BC94-5ACA05653ECE}"/>
              </a:ext>
            </a:extLst>
          </p:cNvPr>
          <p:cNvSpPr/>
          <p:nvPr/>
        </p:nvSpPr>
        <p:spPr>
          <a:xfrm>
            <a:off x="9837346" y="4291846"/>
            <a:ext cx="1145429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hangingPunct="0">
              <a:spcAft>
                <a:spcPts val="429"/>
              </a:spcAft>
            </a:pPr>
            <a:r>
              <a:rPr lang="ru-RU" sz="900" kern="0" dirty="0">
                <a:solidFill>
                  <a:srgbClr val="1E2340"/>
                </a:solidFill>
                <a:latin typeface="Inter SemiBold" panose="020B0502030000000004" pitchFamily="34" charset="0"/>
                <a:ea typeface="Inter SemiBold" panose="020B0502030000000004" pitchFamily="34" charset="0"/>
                <a:cs typeface="Calibri"/>
                <a:sym typeface="Calibri"/>
              </a:rPr>
              <a:t>АО «РТ </a:t>
            </a:r>
            <a:r>
              <a:rPr lang="ru-RU" sz="900" kern="0" dirty="0" err="1">
                <a:solidFill>
                  <a:srgbClr val="1E2340"/>
                </a:solidFill>
                <a:latin typeface="Inter SemiBold" panose="020B0502030000000004" pitchFamily="34" charset="0"/>
                <a:ea typeface="Inter SemiBold" panose="020B0502030000000004" pitchFamily="34" charset="0"/>
                <a:cs typeface="Calibri"/>
                <a:sym typeface="Calibri"/>
              </a:rPr>
              <a:t>Лабс</a:t>
            </a:r>
            <a:r>
              <a:rPr lang="ru-RU" sz="900" kern="0" dirty="0">
                <a:solidFill>
                  <a:srgbClr val="1E2340"/>
                </a:solidFill>
                <a:latin typeface="Inter SemiBold" panose="020B0502030000000004" pitchFamily="34" charset="0"/>
                <a:ea typeface="Inter SemiBold" panose="020B0502030000000004" pitchFamily="34" charset="0"/>
                <a:cs typeface="Calibri"/>
                <a:sym typeface="Calibri"/>
              </a:rPr>
              <a:t>»</a:t>
            </a:r>
            <a:br>
              <a:rPr lang="ru-RU" sz="900" kern="0" dirty="0">
                <a:solidFill>
                  <a:srgbClr val="1E2340"/>
                </a:solidFill>
                <a:latin typeface="Inter SemiBold" panose="020B0502030000000004" pitchFamily="34" charset="0"/>
                <a:ea typeface="Inter SemiBold" panose="020B0502030000000004" pitchFamily="34" charset="0"/>
                <a:cs typeface="Calibri"/>
                <a:sym typeface="Calibri"/>
              </a:rPr>
            </a:br>
            <a:r>
              <a:rPr lang="ru-RU" sz="900" kern="0" dirty="0">
                <a:solidFill>
                  <a:srgbClr val="1E2340"/>
                </a:solidFill>
                <a:latin typeface="Inter SemiBold" panose="020B0502030000000004" pitchFamily="34" charset="0"/>
                <a:ea typeface="Inter SemiBold" panose="020B0502030000000004" pitchFamily="34" charset="0"/>
                <a:cs typeface="Calibri"/>
                <a:sym typeface="Calibri"/>
              </a:rPr>
              <a:t>(ДЗО Ростелеком)</a:t>
            </a:r>
          </a:p>
        </p:txBody>
      </p:sp>
      <p:sp>
        <p:nvSpPr>
          <p:cNvPr id="97" name="Прямоугольник 96">
            <a:extLst>
              <a:ext uri="{FF2B5EF4-FFF2-40B4-BE49-F238E27FC236}">
                <a16:creationId xmlns:a16="http://schemas.microsoft.com/office/drawing/2014/main" id="{8279C0E3-CD81-4683-853D-CA9E496822C6}"/>
              </a:ext>
            </a:extLst>
          </p:cNvPr>
          <p:cNvSpPr/>
          <p:nvPr/>
        </p:nvSpPr>
        <p:spPr>
          <a:xfrm>
            <a:off x="11121136" y="4361096"/>
            <a:ext cx="556740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 hangingPunct="0">
              <a:spcAft>
                <a:spcPts val="429"/>
              </a:spcAft>
              <a:defRPr/>
            </a:pP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20 млн </a:t>
            </a:r>
            <a:r>
              <a:rPr lang="ru-RU" sz="900" kern="0" dirty="0">
                <a:solidFill>
                  <a:srgbClr val="4525FF"/>
                </a:solidFill>
                <a:latin typeface="Tilda Sans Bold" panose="020B0702020204020303" pitchFamily="34" charset="0"/>
                <a:ea typeface="Roboto Medium" panose="02000000000000000000" pitchFamily="2" charset="0"/>
                <a:cs typeface="Calibri"/>
                <a:sym typeface="Calibri"/>
              </a:rPr>
              <a:t>₽ </a:t>
            </a:r>
          </a:p>
        </p:txBody>
      </p:sp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5A58E60D-571F-4D8D-84DB-654DBA7F8E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7931" y="5065907"/>
            <a:ext cx="317997" cy="317997"/>
          </a:xfrm>
          <a:prstGeom prst="rect">
            <a:avLst/>
          </a:prstGeom>
        </p:spPr>
      </p:pic>
      <p:sp>
        <p:nvSpPr>
          <p:cNvPr id="99" name="Прямоугольник: скругленные углы 68">
            <a:extLst>
              <a:ext uri="{FF2B5EF4-FFF2-40B4-BE49-F238E27FC236}">
                <a16:creationId xmlns:a16="http://schemas.microsoft.com/office/drawing/2014/main" id="{E3807483-1B76-4944-8AEA-C1389032DC3E}"/>
              </a:ext>
            </a:extLst>
          </p:cNvPr>
          <p:cNvSpPr/>
          <p:nvPr/>
        </p:nvSpPr>
        <p:spPr>
          <a:xfrm>
            <a:off x="9104097" y="4900905"/>
            <a:ext cx="2742796" cy="648000"/>
          </a:xfrm>
          <a:prstGeom prst="roundRect">
            <a:avLst>
              <a:gd name="adj" fmla="val 20972"/>
            </a:avLst>
          </a:prstGeom>
          <a:noFill/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A4B94036-E85E-4A43-9136-A32FC9730EB5}"/>
              </a:ext>
            </a:extLst>
          </p:cNvPr>
          <p:cNvSpPr/>
          <p:nvPr/>
        </p:nvSpPr>
        <p:spPr>
          <a:xfrm>
            <a:off x="9847198" y="5086406"/>
            <a:ext cx="1145429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hangingPunct="0">
              <a:spcAft>
                <a:spcPts val="429"/>
              </a:spcAft>
            </a:pPr>
            <a:r>
              <a:rPr lang="ru-RU" sz="900" kern="0" dirty="0">
                <a:solidFill>
                  <a:srgbClr val="1E2340"/>
                </a:solidFill>
                <a:latin typeface="Inter SemiBold" panose="020B0502030000000004" pitchFamily="34" charset="0"/>
                <a:ea typeface="Inter SemiBold" panose="020B0502030000000004" pitchFamily="34" charset="0"/>
                <a:cs typeface="Calibri"/>
                <a:sym typeface="Calibri"/>
              </a:rPr>
              <a:t>ООО «Простые Коммуникации» 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000D9B5B-5A26-47D3-957A-0DEA3B9A06B7}"/>
              </a:ext>
            </a:extLst>
          </p:cNvPr>
          <p:cNvSpPr/>
          <p:nvPr/>
        </p:nvSpPr>
        <p:spPr>
          <a:xfrm>
            <a:off x="11130988" y="5155656"/>
            <a:ext cx="556740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 hangingPunct="0">
              <a:spcAft>
                <a:spcPts val="429"/>
              </a:spcAft>
              <a:defRPr/>
            </a:pP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215 млн </a:t>
            </a:r>
            <a:r>
              <a:rPr lang="ru-RU" sz="900" kern="0" dirty="0">
                <a:solidFill>
                  <a:srgbClr val="4525FF"/>
                </a:solidFill>
                <a:latin typeface="Tilda Sans Bold" panose="020B0702020204020303" pitchFamily="34" charset="0"/>
                <a:ea typeface="Roboto Medium" panose="02000000000000000000" pitchFamily="2" charset="0"/>
                <a:cs typeface="Calibri"/>
                <a:sym typeface="Calibri"/>
              </a:rPr>
              <a:t>₽ </a:t>
            </a:r>
          </a:p>
        </p:txBody>
      </p:sp>
      <p:sp>
        <p:nvSpPr>
          <p:cNvPr id="104" name="Прямоугольник: скругленные углы 65">
            <a:extLst>
              <a:ext uri="{FF2B5EF4-FFF2-40B4-BE49-F238E27FC236}">
                <a16:creationId xmlns:a16="http://schemas.microsoft.com/office/drawing/2014/main" id="{E6CF9AE9-FA39-49D3-B7D7-4C3C471FC9FE}"/>
              </a:ext>
            </a:extLst>
          </p:cNvPr>
          <p:cNvSpPr/>
          <p:nvPr/>
        </p:nvSpPr>
        <p:spPr>
          <a:xfrm>
            <a:off x="9104097" y="5695465"/>
            <a:ext cx="2742801" cy="648000"/>
          </a:xfrm>
          <a:prstGeom prst="roundRect">
            <a:avLst>
              <a:gd name="adj" fmla="val 20972"/>
            </a:avLst>
          </a:prstGeom>
          <a:noFill/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4B7B2672-257D-4982-AE82-D419E7FA24E9}"/>
              </a:ext>
            </a:extLst>
          </p:cNvPr>
          <p:cNvSpPr/>
          <p:nvPr/>
        </p:nvSpPr>
        <p:spPr>
          <a:xfrm>
            <a:off x="9863494" y="5880966"/>
            <a:ext cx="1145429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hangingPunct="0"/>
            <a:r>
              <a:rPr lang="ru-RU" sz="900" kern="0" dirty="0">
                <a:solidFill>
                  <a:srgbClr val="1E2340"/>
                </a:solidFill>
                <a:latin typeface="Inter SemiBold" panose="020B0502030000000004" pitchFamily="34" charset="0"/>
                <a:ea typeface="Inter SemiBold" panose="020B0502030000000004" pitchFamily="34" charset="0"/>
                <a:cs typeface="Calibri"/>
                <a:sym typeface="Calibri"/>
              </a:rPr>
              <a:t>ООО  «РТК-ИБ»</a:t>
            </a:r>
          </a:p>
          <a:p>
            <a:pPr hangingPunct="0"/>
            <a:r>
              <a:rPr lang="ru-RU" sz="900" kern="0" dirty="0">
                <a:solidFill>
                  <a:srgbClr val="1E2340"/>
                </a:solidFill>
                <a:latin typeface="Inter SemiBold" panose="020B0502030000000004" pitchFamily="34" charset="0"/>
                <a:ea typeface="Inter SemiBold" panose="020B0502030000000004" pitchFamily="34" charset="0"/>
                <a:cs typeface="Calibri"/>
                <a:sym typeface="Calibri"/>
              </a:rPr>
              <a:t>(ДЗО Ростелеком)</a:t>
            </a: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3321F7FC-8C05-42DB-AE57-5A162692746D}"/>
              </a:ext>
            </a:extLst>
          </p:cNvPr>
          <p:cNvSpPr/>
          <p:nvPr/>
        </p:nvSpPr>
        <p:spPr>
          <a:xfrm>
            <a:off x="11147284" y="5950216"/>
            <a:ext cx="556740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 hangingPunct="0">
              <a:spcAft>
                <a:spcPts val="429"/>
              </a:spcAft>
              <a:defRPr/>
            </a:pP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8 млн </a:t>
            </a:r>
            <a:r>
              <a:rPr lang="ru-RU" sz="900" kern="0" dirty="0">
                <a:solidFill>
                  <a:srgbClr val="4525FF"/>
                </a:solidFill>
                <a:latin typeface="Tilda Sans Bold" panose="020B0702020204020303" pitchFamily="34" charset="0"/>
                <a:ea typeface="Roboto Medium" panose="02000000000000000000" pitchFamily="2" charset="0"/>
                <a:cs typeface="Calibri"/>
                <a:sym typeface="Calibri"/>
              </a:rPr>
              <a:t>₽</a:t>
            </a: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 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89C31433-56DC-474D-9F79-15AEA4561F0A}"/>
              </a:ext>
            </a:extLst>
          </p:cNvPr>
          <p:cNvGrpSpPr/>
          <p:nvPr/>
        </p:nvGrpSpPr>
        <p:grpSpPr>
          <a:xfrm>
            <a:off x="986923" y="962327"/>
            <a:ext cx="2592000" cy="2088000"/>
            <a:chOff x="299726" y="973125"/>
            <a:chExt cx="2592000" cy="2088000"/>
          </a:xfrm>
        </p:grpSpPr>
        <p:sp>
          <p:nvSpPr>
            <p:cNvPr id="84" name="Прямоугольник с двумя скругленными противолежащими углами 303">
              <a:extLst>
                <a:ext uri="{FF2B5EF4-FFF2-40B4-BE49-F238E27FC236}">
                  <a16:creationId xmlns:a16="http://schemas.microsoft.com/office/drawing/2014/main" id="{39C27C45-A63F-4E1A-8855-274161268FAD}"/>
                </a:ext>
              </a:extLst>
            </p:cNvPr>
            <p:cNvSpPr/>
            <p:nvPr/>
          </p:nvSpPr>
          <p:spPr>
            <a:xfrm>
              <a:off x="299726" y="973125"/>
              <a:ext cx="2592000" cy="2088000"/>
            </a:xfrm>
            <a:prstGeom prst="roundRect">
              <a:avLst>
                <a:gd name="adj" fmla="val 9223"/>
              </a:avLst>
            </a:prstGeom>
            <a:solidFill>
              <a:srgbClr val="4525FF">
                <a:alpha val="3000"/>
              </a:srgbClr>
            </a:solidFill>
            <a:ln>
              <a:solidFill>
                <a:srgbClr val="4525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5" name="Прямоугольник 84">
              <a:extLst>
                <a:ext uri="{FF2B5EF4-FFF2-40B4-BE49-F238E27FC236}">
                  <a16:creationId xmlns:a16="http://schemas.microsoft.com/office/drawing/2014/main" id="{FB989C51-AE9C-403E-BD47-86AB91D60178}"/>
                </a:ext>
              </a:extLst>
            </p:cNvPr>
            <p:cNvSpPr/>
            <p:nvPr/>
          </p:nvSpPr>
          <p:spPr>
            <a:xfrm>
              <a:off x="455174" y="1618373"/>
              <a:ext cx="2153631" cy="98488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marL="144000" indent="-144000">
                <a:spcAft>
                  <a:spcPts val="400"/>
                </a:spcAft>
                <a:buClr>
                  <a:srgbClr val="7700FF"/>
                </a:buClr>
                <a:buFont typeface="Arial" panose="020B0604020202020204" pitchFamily="34" charset="0"/>
                <a:buChar char="•"/>
              </a:pPr>
              <a:r>
                <a:rPr lang="ru-RU" sz="900" dirty="0" err="1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Онбординг</a:t>
              </a:r>
              <a: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 и адаптация  25.1</a:t>
              </a:r>
            </a:p>
            <a:p>
              <a:pPr marL="144000" indent="-144000">
                <a:spcAft>
                  <a:spcPts val="400"/>
                </a:spcAft>
                <a:buClr>
                  <a:srgbClr val="7700FF"/>
                </a:buClr>
                <a:buFont typeface="Arial" panose="020B0604020202020204" pitchFamily="34" charset="0"/>
                <a:buChar char="•"/>
              </a:pPr>
              <a:r>
                <a:rPr lang="en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HR-</a:t>
              </a:r>
              <a: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помощник 25.1</a:t>
              </a:r>
            </a:p>
            <a:p>
              <a:pPr marL="144000" indent="-144000">
                <a:spcAft>
                  <a:spcPts val="400"/>
                </a:spcAft>
                <a:buClr>
                  <a:srgbClr val="7700FF"/>
                </a:buClr>
                <a:buFont typeface="Arial" panose="020B0604020202020204" pitchFamily="34" charset="0"/>
                <a:buChar char="•"/>
              </a:pPr>
              <a: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Вовлечение и удержание</a:t>
              </a:r>
              <a:br>
                <a:rPr lang="en-US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</a:br>
              <a: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(</a:t>
              </a:r>
              <a:r>
                <a:rPr lang="ru-RU" sz="900" dirty="0" err="1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корп</a:t>
              </a:r>
              <a: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 портал,</a:t>
              </a:r>
              <a:b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</a:br>
              <a: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обратная связь)  87.8</a:t>
              </a:r>
            </a:p>
            <a:p>
              <a:pPr marL="144000" indent="-144000">
                <a:spcAft>
                  <a:spcPts val="400"/>
                </a:spcAft>
                <a:buClr>
                  <a:srgbClr val="7700FF"/>
                </a:buClr>
                <a:buFont typeface="Arial" panose="020B0604020202020204" pitchFamily="34" charset="0"/>
                <a:buChar char="•"/>
              </a:pPr>
              <a: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Оценка и развитие 50.2</a:t>
              </a:r>
            </a:p>
          </p:txBody>
        </p:sp>
        <p:sp>
          <p:nvSpPr>
            <p:cNvPr id="86" name="TextBox 34">
              <a:extLst>
                <a:ext uri="{FF2B5EF4-FFF2-40B4-BE49-F238E27FC236}">
                  <a16:creationId xmlns:a16="http://schemas.microsoft.com/office/drawing/2014/main" id="{A0F908B4-D1AC-4AEF-8F32-227D92986FE9}"/>
                </a:ext>
              </a:extLst>
            </p:cNvPr>
            <p:cNvSpPr txBox="1"/>
            <p:nvPr/>
          </p:nvSpPr>
          <p:spPr>
            <a:xfrm>
              <a:off x="455174" y="2723766"/>
              <a:ext cx="1319034" cy="184666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defPPr>
                <a:defRPr lang="ru-RU"/>
              </a:defPPr>
              <a:lvl1pPr hangingPunct="0">
                <a:spcAft>
                  <a:spcPts val="429"/>
                </a:spcAft>
                <a:defRPr sz="1200" kern="0">
                  <a:solidFill>
                    <a:srgbClr val="7700FF"/>
                  </a:solidFill>
                  <a:latin typeface="Roboto Medium" panose="02000000000000000000" pitchFamily="2" charset="0"/>
                  <a:ea typeface="Roboto Medium" panose="02000000000000000000" pitchFamily="2" charset="0"/>
                  <a:cs typeface="Calibri"/>
                </a:defRPr>
              </a:lvl1pPr>
              <a:lvl2pPr marL="0" marR="0" indent="4572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2pPr>
              <a:lvl3pPr marL="0" marR="0" indent="9144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3pPr>
              <a:lvl4pPr marL="0" marR="0" indent="13716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4pPr>
              <a:lvl5pPr marL="0" marR="0" indent="18288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5pPr>
              <a:lvl6pPr marL="0" marR="0" indent="22860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6pPr>
              <a:lvl7pPr marL="0" marR="0" indent="27432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7pPr>
              <a:lvl8pPr marL="0" marR="0" indent="32004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8pPr>
              <a:lvl9pPr marL="0" marR="0" indent="36576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9pPr>
            </a:lstStyle>
            <a:p>
              <a:r>
                <a:rPr lang="ru-RU" dirty="0">
                  <a:solidFill>
                    <a:srgbClr val="4525FF"/>
                  </a:solidFill>
                </a:rPr>
                <a:t>188.2 млн </a:t>
              </a:r>
              <a:r>
                <a:rPr lang="ru-RU" dirty="0">
                  <a:solidFill>
                    <a:srgbClr val="4525FF"/>
                  </a:solidFill>
                  <a:latin typeface="Tilda Sans Bold" panose="020B0702020204020303" pitchFamily="34" charset="0"/>
                </a:rPr>
                <a:t>₽</a:t>
              </a:r>
              <a:r>
                <a:rPr lang="ru-RU" dirty="0">
                  <a:solidFill>
                    <a:srgbClr val="4525FF"/>
                  </a:solidFill>
                </a:rPr>
                <a:t> </a:t>
              </a:r>
            </a:p>
          </p:txBody>
        </p:sp>
        <p:sp>
          <p:nvSpPr>
            <p:cNvPr id="108" name="Прямоугольник с двумя скругленными противолежащими углами 303">
              <a:extLst>
                <a:ext uri="{FF2B5EF4-FFF2-40B4-BE49-F238E27FC236}">
                  <a16:creationId xmlns:a16="http://schemas.microsoft.com/office/drawing/2014/main" id="{59CC4059-07EF-4676-AD42-51C3FEE38BDB}"/>
                </a:ext>
              </a:extLst>
            </p:cNvPr>
            <p:cNvSpPr/>
            <p:nvPr/>
          </p:nvSpPr>
          <p:spPr>
            <a:xfrm>
              <a:off x="455174" y="1118051"/>
              <a:ext cx="385486" cy="370024"/>
            </a:xfrm>
            <a:prstGeom prst="roundRect">
              <a:avLst>
                <a:gd name="adj" fmla="val 17954"/>
              </a:avLst>
            </a:prstGeom>
            <a:solidFill>
              <a:srgbClr val="452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050" kern="0" dirty="0">
                  <a:solidFill>
                    <a:schemeClr val="bg1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Calibri"/>
                </a:rPr>
                <a:t>01</a:t>
              </a:r>
            </a:p>
          </p:txBody>
        </p:sp>
        <p:sp>
          <p:nvSpPr>
            <p:cNvPr id="109" name="Прямоугольник 108">
              <a:extLst>
                <a:ext uri="{FF2B5EF4-FFF2-40B4-BE49-F238E27FC236}">
                  <a16:creationId xmlns:a16="http://schemas.microsoft.com/office/drawing/2014/main" id="{F3A15A52-EB59-47B9-BD80-D25186CCF926}"/>
                </a:ext>
              </a:extLst>
            </p:cNvPr>
            <p:cNvSpPr/>
            <p:nvPr/>
          </p:nvSpPr>
          <p:spPr>
            <a:xfrm>
              <a:off x="940395" y="1118397"/>
              <a:ext cx="1299471" cy="369332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hangingPunct="0">
                <a:spcAft>
                  <a:spcPts val="429"/>
                </a:spcAft>
              </a:pPr>
              <a:r>
                <a:rPr lang="ru-RU" sz="1200" kern="0" dirty="0" err="1">
                  <a:solidFill>
                    <a:srgbClr val="4525FF"/>
                  </a:solidFill>
                  <a:latin typeface="Roboto Medium" panose="02000000000000000000" pitchFamily="2" charset="0"/>
                  <a:ea typeface="Roboto Medium" panose="02000000000000000000" pitchFamily="2" charset="0"/>
                  <a:cs typeface="Calibri"/>
                  <a:sym typeface="Calibri"/>
                </a:rPr>
                <a:t>Корп.портал</a:t>
              </a:r>
              <a:r>
                <a:rPr lang="ru-RU" sz="1200" kern="0" dirty="0">
                  <a:solidFill>
                    <a:srgbClr val="4525FF"/>
                  </a:solidFill>
                  <a:latin typeface="Roboto Medium" panose="02000000000000000000" pitchFamily="2" charset="0"/>
                  <a:ea typeface="Roboto Medium" panose="02000000000000000000" pitchFamily="2" charset="0"/>
                  <a:cs typeface="Calibri"/>
                  <a:sym typeface="Calibri"/>
                </a:rPr>
                <a:t> +</a:t>
              </a:r>
              <a:br>
                <a:rPr lang="ru-RU" sz="1200" kern="0" dirty="0">
                  <a:solidFill>
                    <a:srgbClr val="4525FF"/>
                  </a:solidFill>
                  <a:latin typeface="Roboto Medium" panose="02000000000000000000" pitchFamily="2" charset="0"/>
                  <a:ea typeface="Roboto Medium" panose="02000000000000000000" pitchFamily="2" charset="0"/>
                  <a:cs typeface="Calibri"/>
                  <a:sym typeface="Calibri"/>
                </a:rPr>
              </a:br>
              <a:r>
                <a:rPr lang="en" sz="1200" kern="0" dirty="0">
                  <a:solidFill>
                    <a:srgbClr val="4525FF"/>
                  </a:solidFill>
                  <a:latin typeface="Roboto Medium" panose="02000000000000000000" pitchFamily="2" charset="0"/>
                  <a:ea typeface="Roboto Medium" panose="02000000000000000000" pitchFamily="2" charset="0"/>
                  <a:cs typeface="Calibri"/>
                  <a:sym typeface="Calibri"/>
                </a:rPr>
                <a:t>HR </a:t>
              </a:r>
              <a:r>
                <a:rPr lang="ru-RU" sz="1200" kern="0" dirty="0">
                  <a:solidFill>
                    <a:srgbClr val="4525FF"/>
                  </a:solidFill>
                  <a:latin typeface="Roboto Medium" panose="02000000000000000000" pitchFamily="2" charset="0"/>
                  <a:ea typeface="Roboto Medium" panose="02000000000000000000" pitchFamily="2" charset="0"/>
                  <a:cs typeface="Calibri"/>
                  <a:sym typeface="Calibri"/>
                </a:rPr>
                <a:t>сервисы</a:t>
              </a:r>
            </a:p>
          </p:txBody>
        </p:sp>
      </p:grpSp>
      <p:grpSp>
        <p:nvGrpSpPr>
          <p:cNvPr id="27" name="Группа 26">
            <a:extLst>
              <a:ext uri="{FF2B5EF4-FFF2-40B4-BE49-F238E27FC236}">
                <a16:creationId xmlns:a16="http://schemas.microsoft.com/office/drawing/2014/main" id="{3F16701A-1E45-1647-B1B5-56835C2C693B}"/>
              </a:ext>
            </a:extLst>
          </p:cNvPr>
          <p:cNvGrpSpPr/>
          <p:nvPr/>
        </p:nvGrpSpPr>
        <p:grpSpPr>
          <a:xfrm>
            <a:off x="5570769" y="976294"/>
            <a:ext cx="2592000" cy="2088000"/>
            <a:chOff x="5296070" y="973125"/>
            <a:chExt cx="2592000" cy="2088000"/>
          </a:xfrm>
        </p:grpSpPr>
        <p:sp>
          <p:nvSpPr>
            <p:cNvPr id="88" name="Прямоугольник с двумя скругленными противолежащими углами 307">
              <a:extLst>
                <a:ext uri="{FF2B5EF4-FFF2-40B4-BE49-F238E27FC236}">
                  <a16:creationId xmlns:a16="http://schemas.microsoft.com/office/drawing/2014/main" id="{EA9CD1A8-15AA-4499-ACBD-F32DEE984712}"/>
                </a:ext>
              </a:extLst>
            </p:cNvPr>
            <p:cNvSpPr/>
            <p:nvPr/>
          </p:nvSpPr>
          <p:spPr>
            <a:xfrm>
              <a:off x="5296070" y="973125"/>
              <a:ext cx="2592000" cy="2088000"/>
            </a:xfrm>
            <a:prstGeom prst="roundRect">
              <a:avLst>
                <a:gd name="adj" fmla="val 7908"/>
              </a:avLst>
            </a:prstGeom>
            <a:solidFill>
              <a:srgbClr val="4525FF">
                <a:alpha val="3000"/>
              </a:srgbClr>
            </a:solidFill>
            <a:ln>
              <a:solidFill>
                <a:srgbClr val="4525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9" name="Прямоугольник 88">
              <a:extLst>
                <a:ext uri="{FF2B5EF4-FFF2-40B4-BE49-F238E27FC236}">
                  <a16:creationId xmlns:a16="http://schemas.microsoft.com/office/drawing/2014/main" id="{6073875E-D92E-4DAC-9EC7-AF074A6EF088}"/>
                </a:ext>
              </a:extLst>
            </p:cNvPr>
            <p:cNvSpPr/>
            <p:nvPr/>
          </p:nvSpPr>
          <p:spPr>
            <a:xfrm>
              <a:off x="5451518" y="1618373"/>
              <a:ext cx="2301412" cy="98488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marL="144000" indent="-144000">
                <a:spcAft>
                  <a:spcPts val="400"/>
                </a:spcAft>
                <a:buClr>
                  <a:srgbClr val="7700FF"/>
                </a:buClr>
                <a:buFont typeface="Arial" panose="020B0604020202020204" pitchFamily="34" charset="0"/>
                <a:buChar char="•"/>
              </a:pPr>
              <a: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2.1 Проектный учет 12.5</a:t>
              </a:r>
            </a:p>
            <a:p>
              <a:pPr marL="144000" indent="-144000">
                <a:spcAft>
                  <a:spcPts val="400"/>
                </a:spcAft>
                <a:buClr>
                  <a:srgbClr val="7700FF"/>
                </a:buClr>
                <a:buFont typeface="Arial" panose="020B0604020202020204" pitchFamily="34" charset="0"/>
                <a:buChar char="•"/>
              </a:pPr>
              <a: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2.2 Цифровой профиль</a:t>
              </a:r>
              <a:br>
                <a:rPr lang="en-US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</a:br>
              <a: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госслужащего 43.9</a:t>
              </a:r>
            </a:p>
            <a:p>
              <a:pPr marL="144000" indent="-144000">
                <a:spcAft>
                  <a:spcPts val="400"/>
                </a:spcAft>
                <a:buClr>
                  <a:srgbClr val="7700FF"/>
                </a:buClr>
                <a:buFont typeface="Arial" panose="020B0604020202020204" pitchFamily="34" charset="0"/>
                <a:buChar char="•"/>
              </a:pPr>
              <a: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2.3 Цифровой профиль ведомства,</a:t>
              </a:r>
              <a:br>
                <a:rPr lang="en-US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</a:br>
              <a: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ЛК Руководителя 37.6 </a:t>
              </a:r>
            </a:p>
            <a:p>
              <a:pPr marL="144000" indent="-144000">
                <a:spcAft>
                  <a:spcPts val="400"/>
                </a:spcAft>
                <a:buClr>
                  <a:srgbClr val="7700FF"/>
                </a:buClr>
                <a:buFont typeface="Arial" panose="020B0604020202020204" pitchFamily="34" charset="0"/>
                <a:buChar char="•"/>
              </a:pPr>
              <a:r>
                <a:rPr lang="ru-RU" sz="900" dirty="0">
                  <a:solidFill>
                    <a:srgbClr val="171F3E"/>
                  </a:solidFill>
                  <a:latin typeface="Roboto" panose="02000000000000000000" pitchFamily="2" charset="0"/>
                  <a:ea typeface="Roboto" panose="02000000000000000000" pitchFamily="2" charset="0"/>
                  <a:sym typeface="Calibri"/>
                </a:rPr>
                <a:t>2.4  Удержание сотрудников 12.5</a:t>
              </a:r>
            </a:p>
          </p:txBody>
        </p:sp>
        <p:sp>
          <p:nvSpPr>
            <p:cNvPr id="90" name="TextBox 34">
              <a:extLst>
                <a:ext uri="{FF2B5EF4-FFF2-40B4-BE49-F238E27FC236}">
                  <a16:creationId xmlns:a16="http://schemas.microsoft.com/office/drawing/2014/main" id="{7D89EB1B-1968-4009-8FA8-BB8E9575B6D5}"/>
                </a:ext>
              </a:extLst>
            </p:cNvPr>
            <p:cNvSpPr txBox="1"/>
            <p:nvPr/>
          </p:nvSpPr>
          <p:spPr>
            <a:xfrm>
              <a:off x="5451518" y="2723766"/>
              <a:ext cx="1319034" cy="184666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defPPr>
                <a:defRPr lang="ru-RU"/>
              </a:defPPr>
              <a:lvl1pPr hangingPunct="0">
                <a:spcAft>
                  <a:spcPts val="429"/>
                </a:spcAft>
                <a:defRPr sz="1200" kern="0">
                  <a:solidFill>
                    <a:srgbClr val="7700FF"/>
                  </a:solidFill>
                  <a:latin typeface="Roboto Medium" panose="02000000000000000000" pitchFamily="2" charset="0"/>
                  <a:ea typeface="Roboto Medium" panose="02000000000000000000" pitchFamily="2" charset="0"/>
                  <a:cs typeface="Calibri"/>
                </a:defRPr>
              </a:lvl1pPr>
              <a:lvl2pPr marL="0" marR="0" indent="4572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2pPr>
              <a:lvl3pPr marL="0" marR="0" indent="9144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3pPr>
              <a:lvl4pPr marL="0" marR="0" indent="13716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4pPr>
              <a:lvl5pPr marL="0" marR="0" indent="18288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5pPr>
              <a:lvl6pPr marL="0" marR="0" indent="22860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6pPr>
              <a:lvl7pPr marL="0" marR="0" indent="27432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7pPr>
              <a:lvl8pPr marL="0" marR="0" indent="32004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8pPr>
              <a:lvl9pPr marL="0" marR="0" indent="365760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8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Calibri"/>
                </a:defRPr>
              </a:lvl9pPr>
            </a:lstStyle>
            <a:p>
              <a:r>
                <a:rPr lang="ru-RU" dirty="0">
                  <a:solidFill>
                    <a:srgbClr val="4525FF"/>
                  </a:solidFill>
                </a:rPr>
                <a:t>106.6 млн </a:t>
              </a:r>
              <a:r>
                <a:rPr lang="ru-RU" dirty="0">
                  <a:solidFill>
                    <a:srgbClr val="4525FF"/>
                  </a:solidFill>
                  <a:latin typeface="Tilda Sans Bold" panose="020B0702020204020303" pitchFamily="34" charset="0"/>
                </a:rPr>
                <a:t>₽</a:t>
              </a:r>
              <a:r>
                <a:rPr lang="ru-RU" dirty="0">
                  <a:solidFill>
                    <a:srgbClr val="4525FF"/>
                  </a:solidFill>
                </a:rPr>
                <a:t> </a:t>
              </a:r>
            </a:p>
          </p:txBody>
        </p:sp>
        <p:sp>
          <p:nvSpPr>
            <p:cNvPr id="110" name="Прямоугольник с двумя скругленными противолежащими углами 303">
              <a:extLst>
                <a:ext uri="{FF2B5EF4-FFF2-40B4-BE49-F238E27FC236}">
                  <a16:creationId xmlns:a16="http://schemas.microsoft.com/office/drawing/2014/main" id="{ACF7CCE8-857E-4052-83B1-894F9964BEC4}"/>
                </a:ext>
              </a:extLst>
            </p:cNvPr>
            <p:cNvSpPr/>
            <p:nvPr/>
          </p:nvSpPr>
          <p:spPr>
            <a:xfrm>
              <a:off x="5451518" y="1118051"/>
              <a:ext cx="385486" cy="370024"/>
            </a:xfrm>
            <a:prstGeom prst="roundRect">
              <a:avLst>
                <a:gd name="adj" fmla="val 17954"/>
              </a:avLst>
            </a:prstGeom>
            <a:solidFill>
              <a:srgbClr val="4525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050" kern="0" dirty="0">
                  <a:solidFill>
                    <a:schemeClr val="bg1"/>
                  </a:solidFill>
                  <a:latin typeface="Roboto Black" panose="02000000000000000000" pitchFamily="2" charset="0"/>
                  <a:ea typeface="Roboto Black" panose="02000000000000000000" pitchFamily="2" charset="0"/>
                  <a:cs typeface="Calibri"/>
                </a:rPr>
                <a:t>02</a:t>
              </a:r>
            </a:p>
          </p:txBody>
        </p:sp>
        <p:sp>
          <p:nvSpPr>
            <p:cNvPr id="111" name="Прямоугольник 110">
              <a:extLst>
                <a:ext uri="{FF2B5EF4-FFF2-40B4-BE49-F238E27FC236}">
                  <a16:creationId xmlns:a16="http://schemas.microsoft.com/office/drawing/2014/main" id="{97BF3FFD-2186-4636-8C9B-FEB3621108B3}"/>
                </a:ext>
              </a:extLst>
            </p:cNvPr>
            <p:cNvSpPr/>
            <p:nvPr/>
          </p:nvSpPr>
          <p:spPr>
            <a:xfrm>
              <a:off x="5936739" y="1118397"/>
              <a:ext cx="1721361" cy="369332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hangingPunct="0">
                <a:spcAft>
                  <a:spcPts val="429"/>
                </a:spcAft>
              </a:pPr>
              <a:r>
                <a:rPr lang="ru-RU" sz="1200" kern="0" dirty="0">
                  <a:solidFill>
                    <a:srgbClr val="4525FF"/>
                  </a:solidFill>
                  <a:latin typeface="Roboto Medium" panose="02000000000000000000" pitchFamily="2" charset="0"/>
                  <a:ea typeface="Roboto Medium" panose="02000000000000000000" pitchFamily="2" charset="0"/>
                  <a:cs typeface="Calibri"/>
                  <a:sym typeface="Calibri"/>
                </a:rPr>
                <a:t>Кадровая аналитика</a:t>
              </a:r>
              <a:br>
                <a:rPr lang="ru-RU" sz="1200" kern="0" dirty="0">
                  <a:solidFill>
                    <a:srgbClr val="4525FF"/>
                  </a:solidFill>
                  <a:latin typeface="Roboto Medium" panose="02000000000000000000" pitchFamily="2" charset="0"/>
                  <a:ea typeface="Roboto Medium" panose="02000000000000000000" pitchFamily="2" charset="0"/>
                  <a:cs typeface="Calibri"/>
                  <a:sym typeface="Calibri"/>
                </a:rPr>
              </a:br>
              <a:r>
                <a:rPr lang="ru-RU" sz="1200" kern="0" dirty="0">
                  <a:solidFill>
                    <a:srgbClr val="4525FF"/>
                  </a:solidFill>
                  <a:latin typeface="Roboto Medium" panose="02000000000000000000" pitchFamily="2" charset="0"/>
                  <a:ea typeface="Roboto Medium" panose="02000000000000000000" pitchFamily="2" charset="0"/>
                  <a:cs typeface="Calibri"/>
                  <a:sym typeface="Calibri"/>
                </a:rPr>
                <a:t>и проектный учет</a:t>
              </a:r>
            </a:p>
          </p:txBody>
        </p:sp>
      </p:grpSp>
      <p:cxnSp>
        <p:nvCxnSpPr>
          <p:cNvPr id="13" name="Соединитель: уступ 12">
            <a:extLst>
              <a:ext uri="{FF2B5EF4-FFF2-40B4-BE49-F238E27FC236}">
                <a16:creationId xmlns:a16="http://schemas.microsoft.com/office/drawing/2014/main" id="{F8A757C1-895C-4BF2-A492-AE7106AE9464}"/>
              </a:ext>
            </a:extLst>
          </p:cNvPr>
          <p:cNvCxnSpPr>
            <a:cxnSpLocks/>
            <a:stCxn id="84" idx="2"/>
            <a:endCxn id="88" idx="2"/>
          </p:cNvCxnSpPr>
          <p:nvPr/>
        </p:nvCxnSpPr>
        <p:spPr>
          <a:xfrm rot="16200000" flipH="1">
            <a:off x="4567863" y="765387"/>
            <a:ext cx="13967" cy="4583846"/>
          </a:xfrm>
          <a:prstGeom prst="bentConnector3">
            <a:avLst>
              <a:gd name="adj1" fmla="val 1736715"/>
            </a:avLst>
          </a:prstGeom>
          <a:solidFill>
            <a:srgbClr val="7700FF">
              <a:alpha val="3000"/>
            </a:srgbClr>
          </a:solidFill>
          <a:ln w="12700"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45F00BE3-02D1-44D9-9C39-4B3EE13C137B}"/>
              </a:ext>
            </a:extLst>
          </p:cNvPr>
          <p:cNvSpPr/>
          <p:nvPr/>
        </p:nvSpPr>
        <p:spPr>
          <a:xfrm>
            <a:off x="3234518" y="3266957"/>
            <a:ext cx="2591999" cy="511788"/>
          </a:xfrm>
          <a:prstGeom prst="roundRect">
            <a:avLst/>
          </a:prstGeom>
          <a:solidFill>
            <a:srgbClr val="452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hangingPunct="0">
              <a:spcAft>
                <a:spcPts val="429"/>
              </a:spcAft>
            </a:pPr>
            <a:r>
              <a:rPr lang="ru-RU" sz="1600" kern="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Calibri"/>
              </a:rPr>
              <a:t>304</a:t>
            </a:r>
            <a:r>
              <a:rPr lang="en-US" sz="1600" kern="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Calibri"/>
              </a:rPr>
              <a:t>.8</a:t>
            </a:r>
            <a:r>
              <a:rPr lang="ru-RU" sz="1600" kern="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Calibri"/>
              </a:rPr>
              <a:t> млн </a:t>
            </a:r>
            <a:r>
              <a:rPr lang="ru-RU" kern="0" dirty="0">
                <a:solidFill>
                  <a:schemeClr val="bg1"/>
                </a:solidFill>
                <a:latin typeface="Tilda Sans Bold" panose="020B0702020204020303" pitchFamily="34" charset="0"/>
                <a:ea typeface="Roboto Black" panose="02000000000000000000" pitchFamily="2" charset="0"/>
                <a:cs typeface="Calibri"/>
              </a:rPr>
              <a:t>₽</a:t>
            </a:r>
            <a:r>
              <a:rPr lang="ru-RU" sz="1600" kern="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Calibri"/>
              </a:rPr>
              <a:t> </a:t>
            </a:r>
          </a:p>
        </p:txBody>
      </p:sp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C47B5DC6-9777-4C91-81CA-410552D9E1F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2160" y="5077772"/>
            <a:ext cx="219929" cy="317675"/>
          </a:xfrm>
          <a:prstGeom prst="rect">
            <a:avLst/>
          </a:prstGeom>
        </p:spPr>
      </p:pic>
      <p:sp>
        <p:nvSpPr>
          <p:cNvPr id="60" name="Прямоугольник: скругленные углы 56">
            <a:extLst>
              <a:ext uri="{FF2B5EF4-FFF2-40B4-BE49-F238E27FC236}">
                <a16:creationId xmlns:a16="http://schemas.microsoft.com/office/drawing/2014/main" id="{F8F3B6F8-A6FD-4425-B7A8-1FD09403515C}"/>
              </a:ext>
            </a:extLst>
          </p:cNvPr>
          <p:cNvSpPr/>
          <p:nvPr/>
        </p:nvSpPr>
        <p:spPr>
          <a:xfrm>
            <a:off x="5972636" y="4975609"/>
            <a:ext cx="2592000" cy="522000"/>
          </a:xfrm>
          <a:prstGeom prst="roundRect">
            <a:avLst>
              <a:gd name="adj" fmla="val 20972"/>
            </a:avLst>
          </a:prstGeom>
          <a:noFill/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24A7E48F-B19D-44B2-B963-D9B92F867984}"/>
              </a:ext>
            </a:extLst>
          </p:cNvPr>
          <p:cNvSpPr/>
          <p:nvPr/>
        </p:nvSpPr>
        <p:spPr>
          <a:xfrm>
            <a:off x="6537799" y="5098110"/>
            <a:ext cx="11222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hangingPunct="0">
              <a:spcAft>
                <a:spcPts val="429"/>
              </a:spcAft>
            </a:pPr>
            <a:r>
              <a:rPr lang="ru-RU" sz="900" kern="0" dirty="0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Исполнитель</a:t>
            </a:r>
            <a:br>
              <a:rPr lang="ru-RU" sz="900" kern="0" dirty="0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</a:br>
            <a:r>
              <a:rPr lang="ru-RU" sz="900" kern="0" dirty="0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ПАО «Ростелеком»</a:t>
            </a:r>
          </a:p>
        </p:txBody>
      </p:sp>
      <p:sp>
        <p:nvSpPr>
          <p:cNvPr id="128" name="Прямоугольник 127">
            <a:extLst>
              <a:ext uri="{FF2B5EF4-FFF2-40B4-BE49-F238E27FC236}">
                <a16:creationId xmlns:a16="http://schemas.microsoft.com/office/drawing/2014/main" id="{EF2DB17D-CE14-45F2-9791-B5BA1F16851C}"/>
              </a:ext>
            </a:extLst>
          </p:cNvPr>
          <p:cNvSpPr/>
          <p:nvPr/>
        </p:nvSpPr>
        <p:spPr>
          <a:xfrm>
            <a:off x="7683846" y="5167360"/>
            <a:ext cx="750617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ctr" hangingPunct="0">
              <a:spcAft>
                <a:spcPts val="429"/>
              </a:spcAft>
              <a:defRPr/>
            </a:pPr>
            <a:r>
              <a:rPr lang="en-US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304.8 </a:t>
            </a: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  <a:sym typeface="Calibri"/>
              </a:rPr>
              <a:t>млн </a:t>
            </a:r>
            <a:r>
              <a:rPr lang="ru-RU" sz="900" kern="0" dirty="0">
                <a:solidFill>
                  <a:srgbClr val="4525FF"/>
                </a:solidFill>
                <a:latin typeface="Tilda Sans Bold" panose="020B0702020204020303" pitchFamily="34" charset="0"/>
                <a:ea typeface="Roboto Medium" panose="02000000000000000000" pitchFamily="2" charset="0"/>
                <a:cs typeface="Calibri"/>
                <a:sym typeface="Calibri"/>
              </a:rPr>
              <a:t>₽</a:t>
            </a:r>
          </a:p>
        </p:txBody>
      </p:sp>
      <p:cxnSp>
        <p:nvCxnSpPr>
          <p:cNvPr id="133" name="Соединитель: уступ 132">
            <a:extLst>
              <a:ext uri="{FF2B5EF4-FFF2-40B4-BE49-F238E27FC236}">
                <a16:creationId xmlns:a16="http://schemas.microsoft.com/office/drawing/2014/main" id="{691D1F9B-D0B5-4E38-9040-8167A979C3C6}"/>
              </a:ext>
            </a:extLst>
          </p:cNvPr>
          <p:cNvCxnSpPr>
            <a:stCxn id="49" idx="3"/>
            <a:endCxn id="57" idx="0"/>
          </p:cNvCxnSpPr>
          <p:nvPr/>
        </p:nvCxnSpPr>
        <p:spPr>
          <a:xfrm>
            <a:off x="3578923" y="4533081"/>
            <a:ext cx="1182533" cy="442528"/>
          </a:xfrm>
          <a:prstGeom prst="bentConnector2">
            <a:avLst/>
          </a:prstGeom>
          <a:solidFill>
            <a:srgbClr val="7700FF">
              <a:alpha val="3000"/>
            </a:srgbClr>
          </a:solidFill>
          <a:ln w="12700">
            <a:solidFill>
              <a:srgbClr val="4525FF"/>
            </a:solidFill>
            <a:tailEnd type="arrow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Соединитель: уступ 134">
            <a:extLst>
              <a:ext uri="{FF2B5EF4-FFF2-40B4-BE49-F238E27FC236}">
                <a16:creationId xmlns:a16="http://schemas.microsoft.com/office/drawing/2014/main" id="{181A56BB-4492-4388-A641-C41265175A57}"/>
              </a:ext>
            </a:extLst>
          </p:cNvPr>
          <p:cNvCxnSpPr>
            <a:stCxn id="52" idx="3"/>
            <a:endCxn id="57" idx="2"/>
          </p:cNvCxnSpPr>
          <p:nvPr/>
        </p:nvCxnSpPr>
        <p:spPr>
          <a:xfrm flipV="1">
            <a:off x="3550277" y="5497609"/>
            <a:ext cx="1211179" cy="442638"/>
          </a:xfrm>
          <a:prstGeom prst="bentConnector2">
            <a:avLst/>
          </a:prstGeom>
          <a:solidFill>
            <a:srgbClr val="7700FF">
              <a:alpha val="3000"/>
            </a:srgbClr>
          </a:solidFill>
          <a:ln w="12700">
            <a:solidFill>
              <a:srgbClr val="4525FF"/>
            </a:solidFill>
            <a:tailEnd type="arrow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7" name="Прямая соединительная линия 136">
            <a:extLst>
              <a:ext uri="{FF2B5EF4-FFF2-40B4-BE49-F238E27FC236}">
                <a16:creationId xmlns:a16="http://schemas.microsoft.com/office/drawing/2014/main" id="{999E371A-85AF-4DC3-9DF0-F32EFFF35DEA}"/>
              </a:ext>
            </a:extLst>
          </p:cNvPr>
          <p:cNvCxnSpPr>
            <a:stCxn id="57" idx="3"/>
            <a:endCxn id="60" idx="1"/>
          </p:cNvCxnSpPr>
          <p:nvPr/>
        </p:nvCxnSpPr>
        <p:spPr>
          <a:xfrm>
            <a:off x="5715456" y="5236609"/>
            <a:ext cx="257180" cy="0"/>
          </a:xfrm>
          <a:prstGeom prst="line">
            <a:avLst/>
          </a:prstGeom>
          <a:solidFill>
            <a:srgbClr val="7700FF">
              <a:alpha val="3000"/>
            </a:srgbClr>
          </a:solidFill>
          <a:ln w="12700">
            <a:solidFill>
              <a:srgbClr val="4525FF"/>
            </a:solidFill>
            <a:tailEnd type="arrow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7" name="Соединитель: уступ 146">
            <a:extLst>
              <a:ext uri="{FF2B5EF4-FFF2-40B4-BE49-F238E27FC236}">
                <a16:creationId xmlns:a16="http://schemas.microsoft.com/office/drawing/2014/main" id="{58935EBF-5284-41C3-A990-D20C5D0606A9}"/>
              </a:ext>
            </a:extLst>
          </p:cNvPr>
          <p:cNvCxnSpPr>
            <a:stCxn id="60" idx="3"/>
            <a:endCxn id="104" idx="1"/>
          </p:cNvCxnSpPr>
          <p:nvPr/>
        </p:nvCxnSpPr>
        <p:spPr>
          <a:xfrm>
            <a:off x="8564636" y="5236609"/>
            <a:ext cx="539461" cy="782856"/>
          </a:xfrm>
          <a:prstGeom prst="bentConnector3">
            <a:avLst/>
          </a:prstGeom>
          <a:solidFill>
            <a:srgbClr val="7700FF">
              <a:alpha val="3000"/>
            </a:srgbClr>
          </a:solidFill>
          <a:ln w="12700">
            <a:solidFill>
              <a:srgbClr val="4525FF"/>
            </a:solidFill>
            <a:tailEnd type="arrow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Соединитель: уступ 148">
            <a:extLst>
              <a:ext uri="{FF2B5EF4-FFF2-40B4-BE49-F238E27FC236}">
                <a16:creationId xmlns:a16="http://schemas.microsoft.com/office/drawing/2014/main" id="{7CEDA6C7-4D80-4EFB-8C03-EB6DA1210D35}"/>
              </a:ext>
            </a:extLst>
          </p:cNvPr>
          <p:cNvCxnSpPr>
            <a:stCxn id="60" idx="3"/>
            <a:endCxn id="94" idx="1"/>
          </p:cNvCxnSpPr>
          <p:nvPr/>
        </p:nvCxnSpPr>
        <p:spPr>
          <a:xfrm flipV="1">
            <a:off x="8564636" y="4430345"/>
            <a:ext cx="539461" cy="806264"/>
          </a:xfrm>
          <a:prstGeom prst="bentConnector3">
            <a:avLst/>
          </a:prstGeom>
          <a:solidFill>
            <a:srgbClr val="7700FF">
              <a:alpha val="3000"/>
            </a:srgbClr>
          </a:solidFill>
          <a:ln w="12700">
            <a:solidFill>
              <a:srgbClr val="4525FF"/>
            </a:solidFill>
            <a:tailEnd type="arrow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1" name="Соединитель: уступ 150">
            <a:extLst>
              <a:ext uri="{FF2B5EF4-FFF2-40B4-BE49-F238E27FC236}">
                <a16:creationId xmlns:a16="http://schemas.microsoft.com/office/drawing/2014/main" id="{281C4014-0AB9-4948-AABA-57946946E7A8}"/>
              </a:ext>
            </a:extLst>
          </p:cNvPr>
          <p:cNvCxnSpPr>
            <a:cxnSpLocks/>
            <a:endCxn id="99" idx="1"/>
          </p:cNvCxnSpPr>
          <p:nvPr/>
        </p:nvCxnSpPr>
        <p:spPr>
          <a:xfrm flipV="1">
            <a:off x="8834366" y="5224905"/>
            <a:ext cx="269731" cy="11704"/>
          </a:xfrm>
          <a:prstGeom prst="bentConnector3">
            <a:avLst>
              <a:gd name="adj1" fmla="val 262"/>
            </a:avLst>
          </a:prstGeom>
          <a:solidFill>
            <a:srgbClr val="7700FF">
              <a:alpha val="3000"/>
            </a:srgbClr>
          </a:solidFill>
          <a:ln w="12700">
            <a:solidFill>
              <a:srgbClr val="4525FF"/>
            </a:solidFill>
            <a:tailEnd type="arrow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623463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9D06A-4883-0255-C7BD-3531478CD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Прямоугольник: скругленные углы 28">
            <a:extLst>
              <a:ext uri="{FF2B5EF4-FFF2-40B4-BE49-F238E27FC236}">
                <a16:creationId xmlns:a16="http://schemas.microsoft.com/office/drawing/2014/main" id="{4AC305B3-51E5-442E-B8C7-A2455CDCA8A1}"/>
              </a:ext>
            </a:extLst>
          </p:cNvPr>
          <p:cNvSpPr/>
          <p:nvPr/>
        </p:nvSpPr>
        <p:spPr>
          <a:xfrm>
            <a:off x="284369" y="842829"/>
            <a:ext cx="3708000" cy="5594627"/>
          </a:xfrm>
          <a:prstGeom prst="roundRect">
            <a:avLst>
              <a:gd name="adj" fmla="val 4319"/>
            </a:avLst>
          </a:prstGeom>
          <a:solidFill>
            <a:srgbClr val="4525FF">
              <a:alpha val="5000"/>
            </a:srgbClr>
          </a:solidFill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Прямоугольник: скругленные углы 30">
            <a:extLst>
              <a:ext uri="{FF2B5EF4-FFF2-40B4-BE49-F238E27FC236}">
                <a16:creationId xmlns:a16="http://schemas.microsoft.com/office/drawing/2014/main" id="{ECE09035-26E9-4CEE-BFBC-1691EAD27136}"/>
              </a:ext>
            </a:extLst>
          </p:cNvPr>
          <p:cNvSpPr/>
          <p:nvPr/>
        </p:nvSpPr>
        <p:spPr>
          <a:xfrm>
            <a:off x="4241310" y="842829"/>
            <a:ext cx="3708000" cy="5594627"/>
          </a:xfrm>
          <a:prstGeom prst="roundRect">
            <a:avLst>
              <a:gd name="adj" fmla="val 3805"/>
            </a:avLst>
          </a:prstGeom>
          <a:solidFill>
            <a:srgbClr val="4525FF">
              <a:alpha val="5000"/>
            </a:srgbClr>
          </a:solidFill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D0244779-934D-4C22-AA71-7A10BD579C3B}"/>
              </a:ext>
            </a:extLst>
          </p:cNvPr>
          <p:cNvSpPr/>
          <p:nvPr/>
        </p:nvSpPr>
        <p:spPr>
          <a:xfrm>
            <a:off x="8198251" y="842829"/>
            <a:ext cx="3708000" cy="5594627"/>
          </a:xfrm>
          <a:prstGeom prst="roundRect">
            <a:avLst>
              <a:gd name="adj" fmla="val 4576"/>
            </a:avLst>
          </a:prstGeom>
          <a:solidFill>
            <a:srgbClr val="4525FF">
              <a:alpha val="5000"/>
            </a:srgbClr>
          </a:solidFill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26B82AA9-FD36-71A2-FA88-83CC00E5B169}"/>
              </a:ext>
            </a:extLst>
          </p:cNvPr>
          <p:cNvCxnSpPr/>
          <p:nvPr/>
        </p:nvCxnSpPr>
        <p:spPr>
          <a:xfrm>
            <a:off x="0" y="562429"/>
            <a:ext cx="12192000" cy="0"/>
          </a:xfrm>
          <a:prstGeom prst="line">
            <a:avLst/>
          </a:prstGeom>
          <a:noFill/>
          <a:ln w="6350" cap="rnd">
            <a:solidFill>
              <a:srgbClr val="706F6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" name="Полилиния 29">
            <a:extLst>
              <a:ext uri="{FF2B5EF4-FFF2-40B4-BE49-F238E27FC236}">
                <a16:creationId xmlns:a16="http://schemas.microsoft.com/office/drawing/2014/main" id="{3E1A8F69-E5AA-A6F7-B5F3-AFBDBC1EBCD4}"/>
              </a:ext>
            </a:extLst>
          </p:cNvPr>
          <p:cNvSpPr/>
          <p:nvPr/>
        </p:nvSpPr>
        <p:spPr>
          <a:xfrm>
            <a:off x="11303001" y="0"/>
            <a:ext cx="889000" cy="562429"/>
          </a:xfrm>
          <a:custGeom>
            <a:avLst/>
            <a:gdLst>
              <a:gd name="connsiteX0" fmla="*/ 558263 w 1347538"/>
              <a:gd name="connsiteY0" fmla="*/ 0 h 1001027"/>
              <a:gd name="connsiteX1" fmla="*/ 1347538 w 1347538"/>
              <a:gd name="connsiteY1" fmla="*/ 0 h 1001027"/>
              <a:gd name="connsiteX2" fmla="*/ 1347538 w 1347538"/>
              <a:gd name="connsiteY2" fmla="*/ 1001027 h 1001027"/>
              <a:gd name="connsiteX3" fmla="*/ 0 w 1347538"/>
              <a:gd name="connsiteY3" fmla="*/ 1001027 h 1001027"/>
              <a:gd name="connsiteX4" fmla="*/ 558263 w 1347538"/>
              <a:gd name="connsiteY4" fmla="*/ 0 h 1001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47538" h="1001027">
                <a:moveTo>
                  <a:pt x="558263" y="0"/>
                </a:moveTo>
                <a:lnTo>
                  <a:pt x="1347538" y="0"/>
                </a:lnTo>
                <a:lnTo>
                  <a:pt x="1347538" y="1001027"/>
                </a:lnTo>
                <a:lnTo>
                  <a:pt x="0" y="1001027"/>
                </a:lnTo>
                <a:lnTo>
                  <a:pt x="558263" y="0"/>
                </a:lnTo>
                <a:close/>
              </a:path>
            </a:pathLst>
          </a:custGeom>
          <a:solidFill>
            <a:srgbClr val="706F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286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2909FF06-3980-6802-C366-2A957785B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1133" y="138210"/>
            <a:ext cx="551543" cy="365125"/>
          </a:xfrm>
        </p:spPr>
        <p:txBody>
          <a:bodyPr/>
          <a:lstStyle/>
          <a:p>
            <a:pPr algn="ctr"/>
            <a:r>
              <a:rPr lang="en-US" sz="1143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5</a:t>
            </a:r>
            <a:endParaRPr lang="ru-RU" sz="1143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Segoe UI Light" panose="020B0502040204020203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76248" y="1615225"/>
            <a:ext cx="3315600" cy="20364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hangingPunct="0">
              <a:spcAft>
                <a:spcPts val="400"/>
              </a:spcAft>
              <a:buClr>
                <a:srgbClr val="7700FF"/>
              </a:buClr>
            </a:pPr>
            <a:r>
              <a:rPr lang="ru-RU" sz="900" kern="0" dirty="0"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Функционал: </a:t>
            </a:r>
          </a:p>
          <a:p>
            <a:pPr marL="144000" lvl="1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solidFill>
                  <a:srgbClr val="003016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Корпоративный портал, </a:t>
            </a:r>
            <a:r>
              <a:rPr lang="en-US" sz="900" kern="0" dirty="0">
                <a:solidFill>
                  <a:srgbClr val="003016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HR-</a:t>
            </a:r>
            <a:r>
              <a:rPr lang="ru-RU" sz="900" kern="0" dirty="0">
                <a:solidFill>
                  <a:srgbClr val="003016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сервисы</a:t>
            </a:r>
          </a:p>
          <a:p>
            <a:pPr marL="288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 err="1">
                <a:solidFill>
                  <a:srgbClr val="003016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Оргструктура</a:t>
            </a:r>
            <a:endParaRPr lang="ru-RU" sz="900" kern="0" dirty="0">
              <a:solidFill>
                <a:srgbClr val="003016"/>
              </a:solidFill>
              <a:latin typeface="Roboto" panose="02000000000000000000" pitchFamily="2" charset="0"/>
              <a:ea typeface="Roboto" panose="02000000000000000000" pitchFamily="2" charset="0"/>
              <a:cs typeface="Segoe UI Light" panose="020B0502040204020203" pitchFamily="34" charset="0"/>
              <a:sym typeface="Calibri"/>
            </a:endParaRPr>
          </a:p>
          <a:p>
            <a:pPr marL="288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solidFill>
                  <a:srgbClr val="003016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Профили сотрудников</a:t>
            </a:r>
          </a:p>
          <a:p>
            <a:pPr marL="288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solidFill>
                  <a:srgbClr val="003016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Сообщества</a:t>
            </a:r>
            <a:endParaRPr lang="en-US" sz="900" kern="0" dirty="0">
              <a:solidFill>
                <a:srgbClr val="003016"/>
              </a:solidFill>
              <a:latin typeface="Roboto" panose="02000000000000000000" pitchFamily="2" charset="0"/>
              <a:ea typeface="Roboto" panose="02000000000000000000" pitchFamily="2" charset="0"/>
              <a:cs typeface="Segoe UI Light" panose="020B0502040204020203" pitchFamily="34" charset="0"/>
              <a:sym typeface="Calibri"/>
            </a:endParaRPr>
          </a:p>
          <a:p>
            <a:pPr marL="288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solidFill>
                  <a:srgbClr val="003016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Материалы для новых сотрудников</a:t>
            </a:r>
          </a:p>
          <a:p>
            <a:pPr marL="288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solidFill>
                  <a:srgbClr val="003016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Дни рождения</a:t>
            </a:r>
          </a:p>
          <a:p>
            <a:pPr marL="288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solidFill>
                  <a:srgbClr val="003016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Благодарности</a:t>
            </a:r>
          </a:p>
          <a:p>
            <a:pPr marL="288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solidFill>
                  <a:srgbClr val="003016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Витрина сервисов</a:t>
            </a:r>
          </a:p>
          <a:p>
            <a:pPr marL="288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solidFill>
                  <a:srgbClr val="003016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Обратная связь </a:t>
            </a:r>
          </a:p>
          <a:p>
            <a:pPr marL="288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en-US" sz="900" kern="0" dirty="0">
                <a:solidFill>
                  <a:srgbClr val="003016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CMS</a:t>
            </a:r>
            <a:endParaRPr lang="ru-RU" sz="900" kern="0" dirty="0">
              <a:solidFill>
                <a:srgbClr val="003016"/>
              </a:solidFill>
              <a:latin typeface="Roboto" panose="02000000000000000000" pitchFamily="2" charset="0"/>
              <a:ea typeface="Roboto" panose="02000000000000000000" pitchFamily="2" charset="0"/>
              <a:cs typeface="Segoe UI Light" panose="020B0502040204020203" pitchFamily="34" charset="0"/>
              <a:sym typeface="Calibri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4431809" y="1615225"/>
            <a:ext cx="3315600" cy="46679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Опрос 10к респондентов ФОИВ/РОИВ/ОМУ по теме «Использование </a:t>
            </a:r>
            <a:r>
              <a:rPr lang="en-US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HR-</a:t>
            </a: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инструментов и </a:t>
            </a:r>
            <a:r>
              <a:rPr lang="en-US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HR</a:t>
            </a: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-систем»</a:t>
            </a:r>
          </a:p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200+ часов пользовательских интервью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4FBD37B9-1192-4DC3-965E-C1D411CBD549}"/>
              </a:ext>
            </a:extLst>
          </p:cNvPr>
          <p:cNvSpPr/>
          <p:nvPr/>
        </p:nvSpPr>
        <p:spPr>
          <a:xfrm>
            <a:off x="8388751" y="1615225"/>
            <a:ext cx="3315600" cy="35855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lvl="2" hangingPunct="0">
              <a:spcAft>
                <a:spcPts val="400"/>
              </a:spcAft>
              <a:buClr>
                <a:srgbClr val="7700FF"/>
              </a:buClr>
            </a:pP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За 1 день заполнена инфо по сотрудникам и </a:t>
            </a:r>
            <a:r>
              <a:rPr lang="ru-RU" sz="900" kern="0" dirty="0" err="1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оргструктуре</a:t>
            </a:r>
            <a:endParaRPr lang="ru-RU" sz="900" kern="0" dirty="0">
              <a:solidFill>
                <a:srgbClr val="4525FF"/>
              </a:solidFill>
              <a:latin typeface="Roboto Medium" panose="02000000000000000000" pitchFamily="2" charset="0"/>
              <a:ea typeface="Roboto Medium" panose="02000000000000000000" pitchFamily="2" charset="0"/>
              <a:cs typeface="Segoe UI Light" panose="020B0502040204020203" pitchFamily="34" charset="0"/>
              <a:sym typeface="Calibri"/>
            </a:endParaRPr>
          </a:p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«Удобно систематизирована контактная инфо по департамента, могу быстро найти найти нужного коллегу для решения совместных вопросов. Также круто, что по каждому департаменту есть описание чем занимаются»</a:t>
            </a:r>
          </a:p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Понравилась гибкая настройка личного профиля и его содержание.</a:t>
            </a:r>
            <a:b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</a:br>
            <a: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Сам могу заполнить информацию, которой хочу поделиться, указать</a:t>
            </a:r>
            <a:b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</a:br>
            <a: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даты отпуска / командировки, чтобы все коллеги знали,</a:t>
            </a:r>
            <a:b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</a:br>
            <a: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что я недоступен в это время»</a:t>
            </a:r>
          </a:p>
          <a:p>
            <a:pPr marL="0" lvl="2" hangingPunct="0">
              <a:spcAft>
                <a:spcPts val="400"/>
              </a:spcAft>
              <a:buClr>
                <a:srgbClr val="7700FF"/>
              </a:buClr>
            </a:pP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За 5 минут запустили опрос лояльности сотрудников блока и получили 31 ответ за 5 часов</a:t>
            </a:r>
          </a:p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«Здорово, что я смог сам собрать и запустить опрос, понять настроения моих сотрудников и своевременно спланировать дальнейшие действия»</a:t>
            </a:r>
          </a:p>
          <a:p>
            <a:pPr marL="0" lvl="2" hangingPunct="0">
              <a:spcAft>
                <a:spcPts val="400"/>
              </a:spcAft>
              <a:buClr>
                <a:srgbClr val="7700FF"/>
              </a:buClr>
            </a:pP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За 5 минут добавлены </a:t>
            </a:r>
            <a:r>
              <a:rPr lang="en-US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11 </a:t>
            </a: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наиболее частотных </a:t>
            </a:r>
            <a:r>
              <a:rPr lang="ru-RU" sz="900" kern="0" dirty="0" err="1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инструмен-тов</a:t>
            </a: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 МЦ в раздел «Сервисы» для быстрого доступа </a:t>
            </a:r>
          </a:p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«Классно, что на платформе есть панель сервисов, которые нужны для работы каждый день (СЭД, Телемост </a:t>
            </a:r>
            <a:r>
              <a:rPr lang="ru-RU" sz="700" kern="0" dirty="0" err="1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и.т.д</a:t>
            </a:r>
            <a: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), не придется вечно закреплять и искать их в браузере – реально экономит время»</a:t>
            </a:r>
          </a:p>
          <a:p>
            <a:pPr marL="0" lvl="2" hangingPunct="0">
              <a:spcAft>
                <a:spcPts val="400"/>
              </a:spcAft>
              <a:buClr>
                <a:srgbClr val="7700FF"/>
              </a:buClr>
            </a:pP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Через </a:t>
            </a:r>
            <a:r>
              <a:rPr lang="en-US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CMS </a:t>
            </a: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созданы 5 разделов и 29 стр. с информацией</a:t>
            </a:r>
            <a:b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</a:b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о МЦ. Время: 2 часа, не прибегая к разработке </a:t>
            </a:r>
            <a:r>
              <a:rPr lang="en-US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VS 8-12</a:t>
            </a: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Segoe UI Light" panose="020B0502040204020203" pitchFamily="34" charset="0"/>
                <a:sym typeface="Calibri"/>
              </a:rPr>
              <a:t> часов</a:t>
            </a:r>
          </a:p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«Хорошо, что есть разделы, которые могут познакомить меня как новичка с действующими направлениями деятельности министерства,</a:t>
            </a:r>
            <a:b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</a:br>
            <a: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а то и так непросто погружаться – без быстрого доступа к этим материалам было бы совсем тяжко»</a:t>
            </a:r>
          </a:p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7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«Удобно, что вся контактная инфо связи с приемными подразделениями собрана в одном месте, колоссальная экономия времени нп поиск такой инфы, а делаю я это часто»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DC79D32-AC99-FE4B-8C1D-C08C3F99E808}"/>
              </a:ext>
            </a:extLst>
          </p:cNvPr>
          <p:cNvSpPr/>
          <p:nvPr/>
        </p:nvSpPr>
        <p:spPr>
          <a:xfrm>
            <a:off x="476248" y="4339534"/>
            <a:ext cx="3238456" cy="9335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«Сначала сомневалась, но после пары уроков поняла, что это прям находка для меня. И материал хороший,</a:t>
            </a:r>
            <a:b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</a:b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и подача приятная»</a:t>
            </a:r>
          </a:p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«Круто что все можно делать онлайн и самому выбирать, когда заниматься»</a:t>
            </a:r>
          </a:p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«Все круто, возможность отличная»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F7AA5B3A-3DB9-BF47-A1D3-2E3114A52400}"/>
              </a:ext>
            </a:extLst>
          </p:cNvPr>
          <p:cNvSpPr/>
          <p:nvPr/>
        </p:nvSpPr>
        <p:spPr>
          <a:xfrm>
            <a:off x="476249" y="3947748"/>
            <a:ext cx="2925320" cy="2878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07000"/>
              </a:lnSpc>
            </a:pP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sym typeface="Calibri"/>
              </a:rPr>
              <a:t>Образовательный контент от </a:t>
            </a:r>
            <a:r>
              <a:rPr lang="ru-RU" sz="900" kern="0" dirty="0" err="1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sym typeface="Calibri"/>
              </a:rPr>
              <a:t>Яндекс.Практикум</a:t>
            </a:r>
            <a:r>
              <a:rPr lang="ru-RU" sz="900" kern="0" dirty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sym typeface="Calibri"/>
              </a:rPr>
              <a:t> апробирован на юниорах МЦ (50 чел)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B51E41F2-FD52-284B-B840-47085CE05F20}"/>
              </a:ext>
            </a:extLst>
          </p:cNvPr>
          <p:cNvSpPr/>
          <p:nvPr/>
        </p:nvSpPr>
        <p:spPr>
          <a:xfrm>
            <a:off x="4431809" y="2496301"/>
            <a:ext cx="3140027" cy="933589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Понимаем боли, потребности и необходимый функционал для реализации</a:t>
            </a:r>
          </a:p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Запускать </a:t>
            </a:r>
            <a:r>
              <a:rPr lang="en-US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HR-</a:t>
            </a: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платформу нужно в 1 очередь через молодых специалистов (лояльны, заинтересованы)</a:t>
            </a:r>
          </a:p>
          <a:p>
            <a:pPr marL="144000" lvl="2" indent="-144000" hangingPunct="0">
              <a:spcAft>
                <a:spcPts val="400"/>
              </a:spcAft>
              <a:buClr>
                <a:srgbClr val="7700FF"/>
              </a:buClr>
              <a:buFont typeface="Arial" panose="020B0604020202020204" pitchFamily="34" charset="0"/>
              <a:buChar char="•"/>
            </a:pP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Модули </a:t>
            </a:r>
            <a:r>
              <a:rPr lang="en-US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HR-</a:t>
            </a:r>
            <a:r>
              <a:rPr lang="ru-RU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платформы должны быть гибко настраиваемыми под нужды организации</a:t>
            </a:r>
            <a:r>
              <a:rPr lang="en-US" sz="900" kern="0" dirty="0"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  <a:sym typeface="Calibri"/>
              </a:rPr>
              <a:t>,</a:t>
            </a:r>
            <a:endParaRPr lang="ru-RU" sz="900" kern="0" dirty="0">
              <a:latin typeface="Roboto" panose="02000000000000000000" pitchFamily="2" charset="0"/>
              <a:ea typeface="Roboto" panose="02000000000000000000" pitchFamily="2" charset="0"/>
              <a:cs typeface="Segoe UI Light" panose="020B0502040204020203" pitchFamily="34" charset="0"/>
              <a:sym typeface="Calibri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3925A29-0913-994F-9DDE-8703CB2ACCFC}"/>
              </a:ext>
            </a:extLst>
          </p:cNvPr>
          <p:cNvSpPr/>
          <p:nvPr/>
        </p:nvSpPr>
        <p:spPr>
          <a:xfrm>
            <a:off x="4431809" y="2285977"/>
            <a:ext cx="2276191" cy="1396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07000"/>
              </a:lnSpc>
              <a:spcAft>
                <a:spcPts val="429"/>
              </a:spcAft>
            </a:pPr>
            <a:r>
              <a:rPr lang="ru-RU" sz="9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  <a:sym typeface="Calibri"/>
              </a:rPr>
              <a:t>Общие выводы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BA62083-5AFA-424F-B038-4D0423E91B3F}"/>
              </a:ext>
            </a:extLst>
          </p:cNvPr>
          <p:cNvSpPr/>
          <p:nvPr/>
        </p:nvSpPr>
        <p:spPr>
          <a:xfrm>
            <a:off x="285750" y="105333"/>
            <a:ext cx="7058025" cy="3517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ru-RU" sz="2286" cap="all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РЕЗУЛЬТАТЫ 2024 (бесплатно для </a:t>
            </a:r>
            <a:r>
              <a:rPr lang="ru-RU" sz="2286" cap="all" dirty="0" err="1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мц</a:t>
            </a:r>
            <a:r>
              <a:rPr lang="ru-RU" sz="2286" cap="all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)</a:t>
            </a:r>
          </a:p>
        </p:txBody>
      </p:sp>
      <p:pic>
        <p:nvPicPr>
          <p:cNvPr id="28" name="Picture 8" descr="Фирменный стиль. Официальный информационный сайт Ростелеком.">
            <a:extLst>
              <a:ext uri="{FF2B5EF4-FFF2-40B4-BE49-F238E27FC236}">
                <a16:creationId xmlns:a16="http://schemas.microsoft.com/office/drawing/2014/main" id="{4B24ED93-33C2-4DB6-BB64-7397AC56D8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9" b="15526"/>
          <a:stretch/>
        </p:blipFill>
        <p:spPr bwMode="auto">
          <a:xfrm>
            <a:off x="9620110" y="91071"/>
            <a:ext cx="1605351" cy="380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39FA2103-EDF6-46E8-98A7-3ED14ED10B96}"/>
              </a:ext>
            </a:extLst>
          </p:cNvPr>
          <p:cNvSpPr/>
          <p:nvPr/>
        </p:nvSpPr>
        <p:spPr>
          <a:xfrm>
            <a:off x="1054342" y="1039675"/>
            <a:ext cx="2660362" cy="3837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07000"/>
              </a:lnSpc>
            </a:pPr>
            <a:r>
              <a:rPr lang="ru-RU" sz="12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Запущено на блок</a:t>
            </a:r>
          </a:p>
          <a:p>
            <a:pPr>
              <a:lnSpc>
                <a:spcPct val="107000"/>
              </a:lnSpc>
            </a:pPr>
            <a:r>
              <a:rPr lang="ru-RU" sz="12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Филатова (50 чел)</a:t>
            </a: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09BB7EF-98E6-4D82-952B-9999AF5925CF}"/>
              </a:ext>
            </a:extLst>
          </p:cNvPr>
          <p:cNvSpPr/>
          <p:nvPr/>
        </p:nvSpPr>
        <p:spPr>
          <a:xfrm>
            <a:off x="5011293" y="1039675"/>
            <a:ext cx="2560543" cy="3837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07000"/>
              </a:lnSpc>
            </a:pPr>
            <a:r>
              <a:rPr lang="ru-RU" sz="12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Проведена ревизия HR/кадров</a:t>
            </a:r>
            <a:br>
              <a:rPr lang="ru-RU" sz="12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12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в госсекторе</a:t>
            </a:r>
            <a:endParaRPr lang="ru-RU" sz="1200" b="1" kern="0" dirty="0">
              <a:solidFill>
                <a:srgbClr val="4525FF"/>
              </a:solidFill>
              <a:latin typeface="Roboto" panose="02000000000000000000" pitchFamily="2" charset="0"/>
              <a:ea typeface="Roboto" panose="02000000000000000000" pitchFamily="2" charset="0"/>
              <a:sym typeface="Calibri"/>
            </a:endParaRP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669AAB1-67F7-4A5C-888A-9E357085C268}"/>
              </a:ext>
            </a:extLst>
          </p:cNvPr>
          <p:cNvSpPr/>
          <p:nvPr/>
        </p:nvSpPr>
        <p:spPr>
          <a:xfrm>
            <a:off x="8936068" y="1039675"/>
            <a:ext cx="2779684" cy="3837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07000"/>
              </a:lnSpc>
            </a:pPr>
            <a:r>
              <a:rPr lang="ru-RU" sz="12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Обратная связь от сотрудников</a:t>
            </a:r>
            <a:br>
              <a:rPr lang="ru-RU" sz="12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1200" b="1" kern="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про пилот HR-платформы</a:t>
            </a:r>
          </a:p>
        </p:txBody>
      </p:sp>
      <p:grpSp>
        <p:nvGrpSpPr>
          <p:cNvPr id="3" name="Рисунок 45">
            <a:extLst>
              <a:ext uri="{FF2B5EF4-FFF2-40B4-BE49-F238E27FC236}">
                <a16:creationId xmlns:a16="http://schemas.microsoft.com/office/drawing/2014/main" id="{090CED84-04F6-4226-8EE4-69FDE9B21EA7}"/>
              </a:ext>
            </a:extLst>
          </p:cNvPr>
          <p:cNvGrpSpPr/>
          <p:nvPr/>
        </p:nvGrpSpPr>
        <p:grpSpPr>
          <a:xfrm>
            <a:off x="476248" y="1004754"/>
            <a:ext cx="453600" cy="453600"/>
            <a:chOff x="476248" y="1004754"/>
            <a:chExt cx="453600" cy="453600"/>
          </a:xfrm>
        </p:grpSpPr>
        <p:sp>
          <p:nvSpPr>
            <p:cNvPr id="4" name="Полилиния: фигура 3">
              <a:extLst>
                <a:ext uri="{FF2B5EF4-FFF2-40B4-BE49-F238E27FC236}">
                  <a16:creationId xmlns:a16="http://schemas.microsoft.com/office/drawing/2014/main" id="{1DB705F5-B6C5-4D1A-853D-5944AADCB267}"/>
                </a:ext>
              </a:extLst>
            </p:cNvPr>
            <p:cNvSpPr/>
            <p:nvPr/>
          </p:nvSpPr>
          <p:spPr>
            <a:xfrm>
              <a:off x="497767" y="1307182"/>
              <a:ext cx="388962" cy="129653"/>
            </a:xfrm>
            <a:custGeom>
              <a:avLst/>
              <a:gdLst>
                <a:gd name="connsiteX0" fmla="*/ 32414 w 388962"/>
                <a:gd name="connsiteY0" fmla="*/ 129654 h 129653"/>
                <a:gd name="connsiteX1" fmla="*/ 356548 w 388962"/>
                <a:gd name="connsiteY1" fmla="*/ 129654 h 129653"/>
                <a:gd name="connsiteX2" fmla="*/ 388963 w 388962"/>
                <a:gd name="connsiteY2" fmla="*/ 97239 h 129653"/>
                <a:gd name="connsiteX3" fmla="*/ 388963 w 388962"/>
                <a:gd name="connsiteY3" fmla="*/ 32413 h 129653"/>
                <a:gd name="connsiteX4" fmla="*/ 356548 w 388962"/>
                <a:gd name="connsiteY4" fmla="*/ 0 h 129653"/>
                <a:gd name="connsiteX5" fmla="*/ 32414 w 388962"/>
                <a:gd name="connsiteY5" fmla="*/ 0 h 129653"/>
                <a:gd name="connsiteX6" fmla="*/ 0 w 388962"/>
                <a:gd name="connsiteY6" fmla="*/ 32413 h 129653"/>
                <a:gd name="connsiteX7" fmla="*/ 0 w 388962"/>
                <a:gd name="connsiteY7" fmla="*/ 97239 h 129653"/>
                <a:gd name="connsiteX8" fmla="*/ 32414 w 388962"/>
                <a:gd name="connsiteY8" fmla="*/ 129654 h 129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8962" h="129653">
                  <a:moveTo>
                    <a:pt x="32414" y="129654"/>
                  </a:moveTo>
                  <a:lnTo>
                    <a:pt x="356548" y="129654"/>
                  </a:lnTo>
                  <a:cubicBezTo>
                    <a:pt x="374450" y="129654"/>
                    <a:pt x="388963" y="115141"/>
                    <a:pt x="388963" y="97239"/>
                  </a:cubicBezTo>
                  <a:lnTo>
                    <a:pt x="388963" y="32413"/>
                  </a:lnTo>
                  <a:cubicBezTo>
                    <a:pt x="388963" y="14511"/>
                    <a:pt x="374450" y="0"/>
                    <a:pt x="356548" y="0"/>
                  </a:cubicBezTo>
                  <a:lnTo>
                    <a:pt x="32414" y="0"/>
                  </a:lnTo>
                  <a:cubicBezTo>
                    <a:pt x="14512" y="0"/>
                    <a:pt x="0" y="14511"/>
                    <a:pt x="0" y="32413"/>
                  </a:cubicBezTo>
                  <a:lnTo>
                    <a:pt x="0" y="97239"/>
                  </a:lnTo>
                  <a:cubicBezTo>
                    <a:pt x="0" y="115141"/>
                    <a:pt x="14512" y="129654"/>
                    <a:pt x="32414" y="129654"/>
                  </a:cubicBez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" name="Полилиния: фигура 4">
              <a:extLst>
                <a:ext uri="{FF2B5EF4-FFF2-40B4-BE49-F238E27FC236}">
                  <a16:creationId xmlns:a16="http://schemas.microsoft.com/office/drawing/2014/main" id="{CA6C24C8-53F6-406A-92F2-FB7528E3E8A7}"/>
                </a:ext>
              </a:extLst>
            </p:cNvPr>
            <p:cNvSpPr/>
            <p:nvPr/>
          </p:nvSpPr>
          <p:spPr>
            <a:xfrm>
              <a:off x="778010" y="1113926"/>
              <a:ext cx="66173" cy="41327"/>
            </a:xfrm>
            <a:custGeom>
              <a:avLst/>
              <a:gdLst>
                <a:gd name="connsiteX0" fmla="*/ 66174 w 66173"/>
                <a:gd name="connsiteY0" fmla="*/ 0 h 41327"/>
                <a:gd name="connsiteX1" fmla="*/ 24846 w 66173"/>
                <a:gd name="connsiteY1" fmla="*/ 41327 h 41327"/>
                <a:gd name="connsiteX2" fmla="*/ 0 w 66173"/>
                <a:gd name="connsiteY2" fmla="*/ 16555 h 4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173" h="41327">
                  <a:moveTo>
                    <a:pt x="66174" y="0"/>
                  </a:moveTo>
                  <a:lnTo>
                    <a:pt x="24846" y="41327"/>
                  </a:lnTo>
                  <a:lnTo>
                    <a:pt x="0" y="16555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6" name="Полилиния: фигура 5">
              <a:extLst>
                <a:ext uri="{FF2B5EF4-FFF2-40B4-BE49-F238E27FC236}">
                  <a16:creationId xmlns:a16="http://schemas.microsoft.com/office/drawing/2014/main" id="{AA022C11-9ADB-45D0-9F71-3682C6A7A4F5}"/>
                </a:ext>
              </a:extLst>
            </p:cNvPr>
            <p:cNvSpPr/>
            <p:nvPr/>
          </p:nvSpPr>
          <p:spPr>
            <a:xfrm>
              <a:off x="497767" y="1069481"/>
              <a:ext cx="172872" cy="129653"/>
            </a:xfrm>
            <a:custGeom>
              <a:avLst/>
              <a:gdLst>
                <a:gd name="connsiteX0" fmla="*/ 172872 w 172872"/>
                <a:gd name="connsiteY0" fmla="*/ 0 h 129653"/>
                <a:gd name="connsiteX1" fmla="*/ 32414 w 172872"/>
                <a:gd name="connsiteY1" fmla="*/ 0 h 129653"/>
                <a:gd name="connsiteX2" fmla="*/ 0 w 172872"/>
                <a:gd name="connsiteY2" fmla="*/ 32413 h 129653"/>
                <a:gd name="connsiteX3" fmla="*/ 0 w 172872"/>
                <a:gd name="connsiteY3" fmla="*/ 97240 h 129653"/>
                <a:gd name="connsiteX4" fmla="*/ 32414 w 172872"/>
                <a:gd name="connsiteY4" fmla="*/ 129654 h 129653"/>
                <a:gd name="connsiteX5" fmla="*/ 172872 w 172872"/>
                <a:gd name="connsiteY5" fmla="*/ 129654 h 129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2872" h="129653">
                  <a:moveTo>
                    <a:pt x="172872" y="0"/>
                  </a:moveTo>
                  <a:lnTo>
                    <a:pt x="32414" y="0"/>
                  </a:lnTo>
                  <a:cubicBezTo>
                    <a:pt x="14512" y="0"/>
                    <a:pt x="0" y="14512"/>
                    <a:pt x="0" y="32413"/>
                  </a:cubicBezTo>
                  <a:lnTo>
                    <a:pt x="0" y="97240"/>
                  </a:lnTo>
                  <a:cubicBezTo>
                    <a:pt x="0" y="115142"/>
                    <a:pt x="14512" y="129654"/>
                    <a:pt x="32414" y="129654"/>
                  </a:cubicBezTo>
                  <a:lnTo>
                    <a:pt x="172872" y="129654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" name="Полилиния: фигура 6">
              <a:extLst>
                <a:ext uri="{FF2B5EF4-FFF2-40B4-BE49-F238E27FC236}">
                  <a16:creationId xmlns:a16="http://schemas.microsoft.com/office/drawing/2014/main" id="{24C6FC84-A8D8-4720-AEA0-1C6EAAB1D85F}"/>
                </a:ext>
              </a:extLst>
            </p:cNvPr>
            <p:cNvSpPr/>
            <p:nvPr/>
          </p:nvSpPr>
          <p:spPr>
            <a:xfrm>
              <a:off x="713857" y="1037068"/>
              <a:ext cx="194480" cy="194480"/>
            </a:xfrm>
            <a:custGeom>
              <a:avLst/>
              <a:gdLst>
                <a:gd name="connsiteX0" fmla="*/ 194481 w 194480"/>
                <a:gd name="connsiteY0" fmla="*/ 97240 h 194480"/>
                <a:gd name="connsiteX1" fmla="*/ 97240 w 194480"/>
                <a:gd name="connsiteY1" fmla="*/ 194481 h 194480"/>
                <a:gd name="connsiteX2" fmla="*/ 0 w 194480"/>
                <a:gd name="connsiteY2" fmla="*/ 97240 h 194480"/>
                <a:gd name="connsiteX3" fmla="*/ 97240 w 194480"/>
                <a:gd name="connsiteY3" fmla="*/ 0 h 194480"/>
                <a:gd name="connsiteX4" fmla="*/ 194481 w 194480"/>
                <a:gd name="connsiteY4" fmla="*/ 97240 h 194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480" h="194480">
                  <a:moveTo>
                    <a:pt x="194481" y="97240"/>
                  </a:moveTo>
                  <a:cubicBezTo>
                    <a:pt x="194481" y="150945"/>
                    <a:pt x="150945" y="194481"/>
                    <a:pt x="97240" y="194481"/>
                  </a:cubicBezTo>
                  <a:cubicBezTo>
                    <a:pt x="43536" y="194481"/>
                    <a:pt x="0" y="150945"/>
                    <a:pt x="0" y="97240"/>
                  </a:cubicBezTo>
                  <a:cubicBezTo>
                    <a:pt x="0" y="43536"/>
                    <a:pt x="43536" y="0"/>
                    <a:pt x="97240" y="0"/>
                  </a:cubicBezTo>
                  <a:cubicBezTo>
                    <a:pt x="150945" y="0"/>
                    <a:pt x="194481" y="43536"/>
                    <a:pt x="194481" y="97240"/>
                  </a:cubicBez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7" name="Рисунок 45">
            <a:extLst>
              <a:ext uri="{FF2B5EF4-FFF2-40B4-BE49-F238E27FC236}">
                <a16:creationId xmlns:a16="http://schemas.microsoft.com/office/drawing/2014/main" id="{04234B3E-FF2C-4490-BD3A-5BC44B58A002}"/>
              </a:ext>
            </a:extLst>
          </p:cNvPr>
          <p:cNvGrpSpPr/>
          <p:nvPr/>
        </p:nvGrpSpPr>
        <p:grpSpPr>
          <a:xfrm>
            <a:off x="4431810" y="1004754"/>
            <a:ext cx="453600" cy="453600"/>
            <a:chOff x="476248" y="1004754"/>
            <a:chExt cx="453600" cy="453600"/>
          </a:xfrm>
        </p:grpSpPr>
        <p:sp>
          <p:nvSpPr>
            <p:cNvPr id="48" name="Полилиния: фигура 47">
              <a:extLst>
                <a:ext uri="{FF2B5EF4-FFF2-40B4-BE49-F238E27FC236}">
                  <a16:creationId xmlns:a16="http://schemas.microsoft.com/office/drawing/2014/main" id="{7115B895-BC7B-441A-9E06-1DCE8A720DC1}"/>
                </a:ext>
              </a:extLst>
            </p:cNvPr>
            <p:cNvSpPr/>
            <p:nvPr/>
          </p:nvSpPr>
          <p:spPr>
            <a:xfrm>
              <a:off x="497767" y="1307182"/>
              <a:ext cx="388962" cy="129653"/>
            </a:xfrm>
            <a:custGeom>
              <a:avLst/>
              <a:gdLst>
                <a:gd name="connsiteX0" fmla="*/ 32414 w 388962"/>
                <a:gd name="connsiteY0" fmla="*/ 129654 h 129653"/>
                <a:gd name="connsiteX1" fmla="*/ 356548 w 388962"/>
                <a:gd name="connsiteY1" fmla="*/ 129654 h 129653"/>
                <a:gd name="connsiteX2" fmla="*/ 388963 w 388962"/>
                <a:gd name="connsiteY2" fmla="*/ 97239 h 129653"/>
                <a:gd name="connsiteX3" fmla="*/ 388963 w 388962"/>
                <a:gd name="connsiteY3" fmla="*/ 32413 h 129653"/>
                <a:gd name="connsiteX4" fmla="*/ 356548 w 388962"/>
                <a:gd name="connsiteY4" fmla="*/ 0 h 129653"/>
                <a:gd name="connsiteX5" fmla="*/ 32414 w 388962"/>
                <a:gd name="connsiteY5" fmla="*/ 0 h 129653"/>
                <a:gd name="connsiteX6" fmla="*/ 0 w 388962"/>
                <a:gd name="connsiteY6" fmla="*/ 32413 h 129653"/>
                <a:gd name="connsiteX7" fmla="*/ 0 w 388962"/>
                <a:gd name="connsiteY7" fmla="*/ 97239 h 129653"/>
                <a:gd name="connsiteX8" fmla="*/ 32414 w 388962"/>
                <a:gd name="connsiteY8" fmla="*/ 129654 h 129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8962" h="129653">
                  <a:moveTo>
                    <a:pt x="32414" y="129654"/>
                  </a:moveTo>
                  <a:lnTo>
                    <a:pt x="356548" y="129654"/>
                  </a:lnTo>
                  <a:cubicBezTo>
                    <a:pt x="374450" y="129654"/>
                    <a:pt x="388963" y="115141"/>
                    <a:pt x="388963" y="97239"/>
                  </a:cubicBezTo>
                  <a:lnTo>
                    <a:pt x="388963" y="32413"/>
                  </a:lnTo>
                  <a:cubicBezTo>
                    <a:pt x="388963" y="14511"/>
                    <a:pt x="374450" y="0"/>
                    <a:pt x="356548" y="0"/>
                  </a:cubicBezTo>
                  <a:lnTo>
                    <a:pt x="32414" y="0"/>
                  </a:lnTo>
                  <a:cubicBezTo>
                    <a:pt x="14512" y="0"/>
                    <a:pt x="0" y="14511"/>
                    <a:pt x="0" y="32413"/>
                  </a:cubicBezTo>
                  <a:lnTo>
                    <a:pt x="0" y="97239"/>
                  </a:lnTo>
                  <a:cubicBezTo>
                    <a:pt x="0" y="115141"/>
                    <a:pt x="14512" y="129654"/>
                    <a:pt x="32414" y="129654"/>
                  </a:cubicBez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9" name="Полилиния: фигура 48">
              <a:extLst>
                <a:ext uri="{FF2B5EF4-FFF2-40B4-BE49-F238E27FC236}">
                  <a16:creationId xmlns:a16="http://schemas.microsoft.com/office/drawing/2014/main" id="{45A100D9-50EC-4FE9-B9B8-C252E4C33CDC}"/>
                </a:ext>
              </a:extLst>
            </p:cNvPr>
            <p:cNvSpPr/>
            <p:nvPr/>
          </p:nvSpPr>
          <p:spPr>
            <a:xfrm>
              <a:off x="778010" y="1113926"/>
              <a:ext cx="66173" cy="41327"/>
            </a:xfrm>
            <a:custGeom>
              <a:avLst/>
              <a:gdLst>
                <a:gd name="connsiteX0" fmla="*/ 66174 w 66173"/>
                <a:gd name="connsiteY0" fmla="*/ 0 h 41327"/>
                <a:gd name="connsiteX1" fmla="*/ 24846 w 66173"/>
                <a:gd name="connsiteY1" fmla="*/ 41327 h 41327"/>
                <a:gd name="connsiteX2" fmla="*/ 0 w 66173"/>
                <a:gd name="connsiteY2" fmla="*/ 16555 h 4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173" h="41327">
                  <a:moveTo>
                    <a:pt x="66174" y="0"/>
                  </a:moveTo>
                  <a:lnTo>
                    <a:pt x="24846" y="41327"/>
                  </a:lnTo>
                  <a:lnTo>
                    <a:pt x="0" y="16555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0" name="Полилиния: фигура 49">
              <a:extLst>
                <a:ext uri="{FF2B5EF4-FFF2-40B4-BE49-F238E27FC236}">
                  <a16:creationId xmlns:a16="http://schemas.microsoft.com/office/drawing/2014/main" id="{53F11660-73C9-4A94-A707-4506A59D6DDC}"/>
                </a:ext>
              </a:extLst>
            </p:cNvPr>
            <p:cNvSpPr/>
            <p:nvPr/>
          </p:nvSpPr>
          <p:spPr>
            <a:xfrm>
              <a:off x="497767" y="1069481"/>
              <a:ext cx="172872" cy="129653"/>
            </a:xfrm>
            <a:custGeom>
              <a:avLst/>
              <a:gdLst>
                <a:gd name="connsiteX0" fmla="*/ 172872 w 172872"/>
                <a:gd name="connsiteY0" fmla="*/ 0 h 129653"/>
                <a:gd name="connsiteX1" fmla="*/ 32414 w 172872"/>
                <a:gd name="connsiteY1" fmla="*/ 0 h 129653"/>
                <a:gd name="connsiteX2" fmla="*/ 0 w 172872"/>
                <a:gd name="connsiteY2" fmla="*/ 32413 h 129653"/>
                <a:gd name="connsiteX3" fmla="*/ 0 w 172872"/>
                <a:gd name="connsiteY3" fmla="*/ 97240 h 129653"/>
                <a:gd name="connsiteX4" fmla="*/ 32414 w 172872"/>
                <a:gd name="connsiteY4" fmla="*/ 129654 h 129653"/>
                <a:gd name="connsiteX5" fmla="*/ 172872 w 172872"/>
                <a:gd name="connsiteY5" fmla="*/ 129654 h 129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2872" h="129653">
                  <a:moveTo>
                    <a:pt x="172872" y="0"/>
                  </a:moveTo>
                  <a:lnTo>
                    <a:pt x="32414" y="0"/>
                  </a:lnTo>
                  <a:cubicBezTo>
                    <a:pt x="14512" y="0"/>
                    <a:pt x="0" y="14512"/>
                    <a:pt x="0" y="32413"/>
                  </a:cubicBezTo>
                  <a:lnTo>
                    <a:pt x="0" y="97240"/>
                  </a:lnTo>
                  <a:cubicBezTo>
                    <a:pt x="0" y="115142"/>
                    <a:pt x="14512" y="129654"/>
                    <a:pt x="32414" y="129654"/>
                  </a:cubicBezTo>
                  <a:lnTo>
                    <a:pt x="172872" y="129654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1" name="Полилиния: фигура 50">
              <a:extLst>
                <a:ext uri="{FF2B5EF4-FFF2-40B4-BE49-F238E27FC236}">
                  <a16:creationId xmlns:a16="http://schemas.microsoft.com/office/drawing/2014/main" id="{D4DC521D-6796-47EA-85FF-C8264980F196}"/>
                </a:ext>
              </a:extLst>
            </p:cNvPr>
            <p:cNvSpPr/>
            <p:nvPr/>
          </p:nvSpPr>
          <p:spPr>
            <a:xfrm>
              <a:off x="713857" y="1037068"/>
              <a:ext cx="194480" cy="194480"/>
            </a:xfrm>
            <a:custGeom>
              <a:avLst/>
              <a:gdLst>
                <a:gd name="connsiteX0" fmla="*/ 194481 w 194480"/>
                <a:gd name="connsiteY0" fmla="*/ 97240 h 194480"/>
                <a:gd name="connsiteX1" fmla="*/ 97240 w 194480"/>
                <a:gd name="connsiteY1" fmla="*/ 194481 h 194480"/>
                <a:gd name="connsiteX2" fmla="*/ 0 w 194480"/>
                <a:gd name="connsiteY2" fmla="*/ 97240 h 194480"/>
                <a:gd name="connsiteX3" fmla="*/ 97240 w 194480"/>
                <a:gd name="connsiteY3" fmla="*/ 0 h 194480"/>
                <a:gd name="connsiteX4" fmla="*/ 194481 w 194480"/>
                <a:gd name="connsiteY4" fmla="*/ 97240 h 194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480" h="194480">
                  <a:moveTo>
                    <a:pt x="194481" y="97240"/>
                  </a:moveTo>
                  <a:cubicBezTo>
                    <a:pt x="194481" y="150945"/>
                    <a:pt x="150945" y="194481"/>
                    <a:pt x="97240" y="194481"/>
                  </a:cubicBezTo>
                  <a:cubicBezTo>
                    <a:pt x="43536" y="194481"/>
                    <a:pt x="0" y="150945"/>
                    <a:pt x="0" y="97240"/>
                  </a:cubicBezTo>
                  <a:cubicBezTo>
                    <a:pt x="0" y="43536"/>
                    <a:pt x="43536" y="0"/>
                    <a:pt x="97240" y="0"/>
                  </a:cubicBezTo>
                  <a:cubicBezTo>
                    <a:pt x="150945" y="0"/>
                    <a:pt x="194481" y="43536"/>
                    <a:pt x="194481" y="97240"/>
                  </a:cubicBez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52" name="Рисунок 45">
            <a:extLst>
              <a:ext uri="{FF2B5EF4-FFF2-40B4-BE49-F238E27FC236}">
                <a16:creationId xmlns:a16="http://schemas.microsoft.com/office/drawing/2014/main" id="{3BBAAEE7-CACC-4B79-92A1-2A082E164A12}"/>
              </a:ext>
            </a:extLst>
          </p:cNvPr>
          <p:cNvGrpSpPr/>
          <p:nvPr/>
        </p:nvGrpSpPr>
        <p:grpSpPr>
          <a:xfrm>
            <a:off x="8388751" y="1004754"/>
            <a:ext cx="453600" cy="453600"/>
            <a:chOff x="476248" y="1004754"/>
            <a:chExt cx="453600" cy="453600"/>
          </a:xfrm>
        </p:grpSpPr>
        <p:sp>
          <p:nvSpPr>
            <p:cNvPr id="53" name="Полилиния: фигура 52">
              <a:extLst>
                <a:ext uri="{FF2B5EF4-FFF2-40B4-BE49-F238E27FC236}">
                  <a16:creationId xmlns:a16="http://schemas.microsoft.com/office/drawing/2014/main" id="{7A8764EE-F353-4867-B57D-FD9668AC0735}"/>
                </a:ext>
              </a:extLst>
            </p:cNvPr>
            <p:cNvSpPr/>
            <p:nvPr/>
          </p:nvSpPr>
          <p:spPr>
            <a:xfrm>
              <a:off x="497767" y="1307182"/>
              <a:ext cx="388962" cy="129653"/>
            </a:xfrm>
            <a:custGeom>
              <a:avLst/>
              <a:gdLst>
                <a:gd name="connsiteX0" fmla="*/ 32414 w 388962"/>
                <a:gd name="connsiteY0" fmla="*/ 129654 h 129653"/>
                <a:gd name="connsiteX1" fmla="*/ 356548 w 388962"/>
                <a:gd name="connsiteY1" fmla="*/ 129654 h 129653"/>
                <a:gd name="connsiteX2" fmla="*/ 388963 w 388962"/>
                <a:gd name="connsiteY2" fmla="*/ 97239 h 129653"/>
                <a:gd name="connsiteX3" fmla="*/ 388963 w 388962"/>
                <a:gd name="connsiteY3" fmla="*/ 32413 h 129653"/>
                <a:gd name="connsiteX4" fmla="*/ 356548 w 388962"/>
                <a:gd name="connsiteY4" fmla="*/ 0 h 129653"/>
                <a:gd name="connsiteX5" fmla="*/ 32414 w 388962"/>
                <a:gd name="connsiteY5" fmla="*/ 0 h 129653"/>
                <a:gd name="connsiteX6" fmla="*/ 0 w 388962"/>
                <a:gd name="connsiteY6" fmla="*/ 32413 h 129653"/>
                <a:gd name="connsiteX7" fmla="*/ 0 w 388962"/>
                <a:gd name="connsiteY7" fmla="*/ 97239 h 129653"/>
                <a:gd name="connsiteX8" fmla="*/ 32414 w 388962"/>
                <a:gd name="connsiteY8" fmla="*/ 129654 h 129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8962" h="129653">
                  <a:moveTo>
                    <a:pt x="32414" y="129654"/>
                  </a:moveTo>
                  <a:lnTo>
                    <a:pt x="356548" y="129654"/>
                  </a:lnTo>
                  <a:cubicBezTo>
                    <a:pt x="374450" y="129654"/>
                    <a:pt x="388963" y="115141"/>
                    <a:pt x="388963" y="97239"/>
                  </a:cubicBezTo>
                  <a:lnTo>
                    <a:pt x="388963" y="32413"/>
                  </a:lnTo>
                  <a:cubicBezTo>
                    <a:pt x="388963" y="14511"/>
                    <a:pt x="374450" y="0"/>
                    <a:pt x="356548" y="0"/>
                  </a:cubicBezTo>
                  <a:lnTo>
                    <a:pt x="32414" y="0"/>
                  </a:lnTo>
                  <a:cubicBezTo>
                    <a:pt x="14512" y="0"/>
                    <a:pt x="0" y="14511"/>
                    <a:pt x="0" y="32413"/>
                  </a:cubicBezTo>
                  <a:lnTo>
                    <a:pt x="0" y="97239"/>
                  </a:lnTo>
                  <a:cubicBezTo>
                    <a:pt x="0" y="115141"/>
                    <a:pt x="14512" y="129654"/>
                    <a:pt x="32414" y="129654"/>
                  </a:cubicBez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4" name="Полилиния: фигура 53">
              <a:extLst>
                <a:ext uri="{FF2B5EF4-FFF2-40B4-BE49-F238E27FC236}">
                  <a16:creationId xmlns:a16="http://schemas.microsoft.com/office/drawing/2014/main" id="{76D0FADE-6F5C-45AA-BF64-14D456538C69}"/>
                </a:ext>
              </a:extLst>
            </p:cNvPr>
            <p:cNvSpPr/>
            <p:nvPr/>
          </p:nvSpPr>
          <p:spPr>
            <a:xfrm>
              <a:off x="778010" y="1113926"/>
              <a:ext cx="66173" cy="41327"/>
            </a:xfrm>
            <a:custGeom>
              <a:avLst/>
              <a:gdLst>
                <a:gd name="connsiteX0" fmla="*/ 66174 w 66173"/>
                <a:gd name="connsiteY0" fmla="*/ 0 h 41327"/>
                <a:gd name="connsiteX1" fmla="*/ 24846 w 66173"/>
                <a:gd name="connsiteY1" fmla="*/ 41327 h 41327"/>
                <a:gd name="connsiteX2" fmla="*/ 0 w 66173"/>
                <a:gd name="connsiteY2" fmla="*/ 16555 h 4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173" h="41327">
                  <a:moveTo>
                    <a:pt x="66174" y="0"/>
                  </a:moveTo>
                  <a:lnTo>
                    <a:pt x="24846" y="41327"/>
                  </a:lnTo>
                  <a:lnTo>
                    <a:pt x="0" y="16555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5" name="Полилиния: фигура 54">
              <a:extLst>
                <a:ext uri="{FF2B5EF4-FFF2-40B4-BE49-F238E27FC236}">
                  <a16:creationId xmlns:a16="http://schemas.microsoft.com/office/drawing/2014/main" id="{145A00BC-370E-4FC2-8308-3A173894C6DC}"/>
                </a:ext>
              </a:extLst>
            </p:cNvPr>
            <p:cNvSpPr/>
            <p:nvPr/>
          </p:nvSpPr>
          <p:spPr>
            <a:xfrm>
              <a:off x="497767" y="1069481"/>
              <a:ext cx="172872" cy="129653"/>
            </a:xfrm>
            <a:custGeom>
              <a:avLst/>
              <a:gdLst>
                <a:gd name="connsiteX0" fmla="*/ 172872 w 172872"/>
                <a:gd name="connsiteY0" fmla="*/ 0 h 129653"/>
                <a:gd name="connsiteX1" fmla="*/ 32414 w 172872"/>
                <a:gd name="connsiteY1" fmla="*/ 0 h 129653"/>
                <a:gd name="connsiteX2" fmla="*/ 0 w 172872"/>
                <a:gd name="connsiteY2" fmla="*/ 32413 h 129653"/>
                <a:gd name="connsiteX3" fmla="*/ 0 w 172872"/>
                <a:gd name="connsiteY3" fmla="*/ 97240 h 129653"/>
                <a:gd name="connsiteX4" fmla="*/ 32414 w 172872"/>
                <a:gd name="connsiteY4" fmla="*/ 129654 h 129653"/>
                <a:gd name="connsiteX5" fmla="*/ 172872 w 172872"/>
                <a:gd name="connsiteY5" fmla="*/ 129654 h 129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2872" h="129653">
                  <a:moveTo>
                    <a:pt x="172872" y="0"/>
                  </a:moveTo>
                  <a:lnTo>
                    <a:pt x="32414" y="0"/>
                  </a:lnTo>
                  <a:cubicBezTo>
                    <a:pt x="14512" y="0"/>
                    <a:pt x="0" y="14512"/>
                    <a:pt x="0" y="32413"/>
                  </a:cubicBezTo>
                  <a:lnTo>
                    <a:pt x="0" y="97240"/>
                  </a:lnTo>
                  <a:cubicBezTo>
                    <a:pt x="0" y="115142"/>
                    <a:pt x="14512" y="129654"/>
                    <a:pt x="32414" y="129654"/>
                  </a:cubicBezTo>
                  <a:lnTo>
                    <a:pt x="172872" y="129654"/>
                  </a:lnTo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6" name="Полилиния: фигура 55">
              <a:extLst>
                <a:ext uri="{FF2B5EF4-FFF2-40B4-BE49-F238E27FC236}">
                  <a16:creationId xmlns:a16="http://schemas.microsoft.com/office/drawing/2014/main" id="{0EB164F8-270D-4B86-B774-D71578B2ACD9}"/>
                </a:ext>
              </a:extLst>
            </p:cNvPr>
            <p:cNvSpPr/>
            <p:nvPr/>
          </p:nvSpPr>
          <p:spPr>
            <a:xfrm>
              <a:off x="713857" y="1037068"/>
              <a:ext cx="194480" cy="194480"/>
            </a:xfrm>
            <a:custGeom>
              <a:avLst/>
              <a:gdLst>
                <a:gd name="connsiteX0" fmla="*/ 194481 w 194480"/>
                <a:gd name="connsiteY0" fmla="*/ 97240 h 194480"/>
                <a:gd name="connsiteX1" fmla="*/ 97240 w 194480"/>
                <a:gd name="connsiteY1" fmla="*/ 194481 h 194480"/>
                <a:gd name="connsiteX2" fmla="*/ 0 w 194480"/>
                <a:gd name="connsiteY2" fmla="*/ 97240 h 194480"/>
                <a:gd name="connsiteX3" fmla="*/ 97240 w 194480"/>
                <a:gd name="connsiteY3" fmla="*/ 0 h 194480"/>
                <a:gd name="connsiteX4" fmla="*/ 194481 w 194480"/>
                <a:gd name="connsiteY4" fmla="*/ 97240 h 194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480" h="194480">
                  <a:moveTo>
                    <a:pt x="194481" y="97240"/>
                  </a:moveTo>
                  <a:cubicBezTo>
                    <a:pt x="194481" y="150945"/>
                    <a:pt x="150945" y="194481"/>
                    <a:pt x="97240" y="194481"/>
                  </a:cubicBezTo>
                  <a:cubicBezTo>
                    <a:pt x="43536" y="194481"/>
                    <a:pt x="0" y="150945"/>
                    <a:pt x="0" y="97240"/>
                  </a:cubicBezTo>
                  <a:cubicBezTo>
                    <a:pt x="0" y="43536"/>
                    <a:pt x="43536" y="0"/>
                    <a:pt x="97240" y="0"/>
                  </a:cubicBezTo>
                  <a:cubicBezTo>
                    <a:pt x="150945" y="0"/>
                    <a:pt x="194481" y="43536"/>
                    <a:pt x="194481" y="97240"/>
                  </a:cubicBezTo>
                  <a:close/>
                </a:path>
              </a:pathLst>
            </a:custGeom>
            <a:noFill/>
            <a:ln w="19050" cap="rnd">
              <a:solidFill>
                <a:srgbClr val="4525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81909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9D06A-4883-0255-C7BD-3531478CD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26B82AA9-FD36-71A2-FA88-83CC00E5B169}"/>
              </a:ext>
            </a:extLst>
          </p:cNvPr>
          <p:cNvCxnSpPr/>
          <p:nvPr/>
        </p:nvCxnSpPr>
        <p:spPr>
          <a:xfrm>
            <a:off x="0" y="562429"/>
            <a:ext cx="12192000" cy="0"/>
          </a:xfrm>
          <a:prstGeom prst="line">
            <a:avLst/>
          </a:prstGeom>
          <a:noFill/>
          <a:ln w="6350" cap="rnd">
            <a:solidFill>
              <a:srgbClr val="706F6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" name="Полилиния 29">
            <a:extLst>
              <a:ext uri="{FF2B5EF4-FFF2-40B4-BE49-F238E27FC236}">
                <a16:creationId xmlns:a16="http://schemas.microsoft.com/office/drawing/2014/main" id="{3E1A8F69-E5AA-A6F7-B5F3-AFBDBC1EBCD4}"/>
              </a:ext>
            </a:extLst>
          </p:cNvPr>
          <p:cNvSpPr/>
          <p:nvPr/>
        </p:nvSpPr>
        <p:spPr>
          <a:xfrm>
            <a:off x="11303001" y="0"/>
            <a:ext cx="889000" cy="562429"/>
          </a:xfrm>
          <a:custGeom>
            <a:avLst/>
            <a:gdLst>
              <a:gd name="connsiteX0" fmla="*/ 558263 w 1347538"/>
              <a:gd name="connsiteY0" fmla="*/ 0 h 1001027"/>
              <a:gd name="connsiteX1" fmla="*/ 1347538 w 1347538"/>
              <a:gd name="connsiteY1" fmla="*/ 0 h 1001027"/>
              <a:gd name="connsiteX2" fmla="*/ 1347538 w 1347538"/>
              <a:gd name="connsiteY2" fmla="*/ 1001027 h 1001027"/>
              <a:gd name="connsiteX3" fmla="*/ 0 w 1347538"/>
              <a:gd name="connsiteY3" fmla="*/ 1001027 h 1001027"/>
              <a:gd name="connsiteX4" fmla="*/ 558263 w 1347538"/>
              <a:gd name="connsiteY4" fmla="*/ 0 h 1001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47538" h="1001027">
                <a:moveTo>
                  <a:pt x="558263" y="0"/>
                </a:moveTo>
                <a:lnTo>
                  <a:pt x="1347538" y="0"/>
                </a:lnTo>
                <a:lnTo>
                  <a:pt x="1347538" y="1001027"/>
                </a:lnTo>
                <a:lnTo>
                  <a:pt x="0" y="1001027"/>
                </a:lnTo>
                <a:lnTo>
                  <a:pt x="558263" y="0"/>
                </a:lnTo>
                <a:close/>
              </a:path>
            </a:pathLst>
          </a:custGeom>
          <a:solidFill>
            <a:srgbClr val="706F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286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2909FF06-3980-6802-C366-2A957785B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1133" y="138210"/>
            <a:ext cx="551543" cy="365125"/>
          </a:xfrm>
        </p:spPr>
        <p:txBody>
          <a:bodyPr/>
          <a:lstStyle/>
          <a:p>
            <a:pPr algn="ctr"/>
            <a:r>
              <a:rPr lang="ru-RU" sz="1143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6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BA62083-5AFA-424F-B038-4D0423E91B3F}"/>
              </a:ext>
            </a:extLst>
          </p:cNvPr>
          <p:cNvSpPr/>
          <p:nvPr/>
        </p:nvSpPr>
        <p:spPr>
          <a:xfrm>
            <a:off x="285750" y="105333"/>
            <a:ext cx="7058025" cy="3517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ru-RU" sz="2286" cap="all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2 варианта запуска </a:t>
            </a:r>
            <a:r>
              <a:rPr lang="en-US" sz="2286" cap="all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HR-</a:t>
            </a:r>
            <a:r>
              <a:rPr lang="ru-RU" sz="2286" cap="all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платформы</a:t>
            </a:r>
          </a:p>
        </p:txBody>
      </p:sp>
      <p:pic>
        <p:nvPicPr>
          <p:cNvPr id="28" name="Picture 8" descr="Фирменный стиль. Официальный информационный сайт Ростелеком.">
            <a:extLst>
              <a:ext uri="{FF2B5EF4-FFF2-40B4-BE49-F238E27FC236}">
                <a16:creationId xmlns:a16="http://schemas.microsoft.com/office/drawing/2014/main" id="{4B24ED93-33C2-4DB6-BB64-7397AC56D8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9" b="15526"/>
          <a:stretch/>
        </p:blipFill>
        <p:spPr bwMode="auto">
          <a:xfrm>
            <a:off x="9620110" y="91071"/>
            <a:ext cx="1605351" cy="380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5" name="Таблица 24">
            <a:extLst>
              <a:ext uri="{FF2B5EF4-FFF2-40B4-BE49-F238E27FC236}">
                <a16:creationId xmlns:a16="http://schemas.microsoft.com/office/drawing/2014/main" id="{6A9E63E0-A58C-4A55-B475-1DC0E6CB2B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4001816"/>
              </p:ext>
            </p:extLst>
          </p:nvPr>
        </p:nvGraphicFramePr>
        <p:xfrm>
          <a:off x="284370" y="842828"/>
          <a:ext cx="11552032" cy="565956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648088">
                  <a:extLst>
                    <a:ext uri="{9D8B030D-6E8A-4147-A177-3AD203B41FA5}">
                      <a16:colId xmlns:a16="http://schemas.microsoft.com/office/drawing/2014/main" val="2481885326"/>
                    </a:ext>
                  </a:extLst>
                </a:gridCol>
                <a:gridCol w="1721336">
                  <a:extLst>
                    <a:ext uri="{9D8B030D-6E8A-4147-A177-3AD203B41FA5}">
                      <a16:colId xmlns:a16="http://schemas.microsoft.com/office/drawing/2014/main" val="1387900005"/>
                    </a:ext>
                  </a:extLst>
                </a:gridCol>
                <a:gridCol w="2045652">
                  <a:extLst>
                    <a:ext uri="{9D8B030D-6E8A-4147-A177-3AD203B41FA5}">
                      <a16:colId xmlns:a16="http://schemas.microsoft.com/office/drawing/2014/main" val="1783484103"/>
                    </a:ext>
                  </a:extLst>
                </a:gridCol>
                <a:gridCol w="2045652">
                  <a:extLst>
                    <a:ext uri="{9D8B030D-6E8A-4147-A177-3AD203B41FA5}">
                      <a16:colId xmlns:a16="http://schemas.microsoft.com/office/drawing/2014/main" val="2910373343"/>
                    </a:ext>
                  </a:extLst>
                </a:gridCol>
                <a:gridCol w="2045652">
                  <a:extLst>
                    <a:ext uri="{9D8B030D-6E8A-4147-A177-3AD203B41FA5}">
                      <a16:colId xmlns:a16="http://schemas.microsoft.com/office/drawing/2014/main" val="2641250499"/>
                    </a:ext>
                  </a:extLst>
                </a:gridCol>
                <a:gridCol w="2045652">
                  <a:extLst>
                    <a:ext uri="{9D8B030D-6E8A-4147-A177-3AD203B41FA5}">
                      <a16:colId xmlns:a16="http://schemas.microsoft.com/office/drawing/2014/main" val="1531075942"/>
                    </a:ext>
                  </a:extLst>
                </a:gridCol>
              </a:tblGrid>
              <a:tr h="7074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" panose="020B0604020202020204" charset="0"/>
                        </a:rPr>
                        <a:t>Что такое</a:t>
                      </a:r>
                      <a:b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" panose="020B0604020202020204" charset="0"/>
                        </a:rPr>
                      </a:br>
                      <a:r>
                        <a:rPr lang="en-US" sz="1200" b="0" dirty="0">
                          <a:solidFill>
                            <a:schemeClr val="bg1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" panose="020B0604020202020204" charset="0"/>
                        </a:rPr>
                        <a:t>HR-</a:t>
                      </a: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" panose="020B0604020202020204" charset="0"/>
                        </a:rPr>
                        <a:t>платформа?</a:t>
                      </a:r>
                    </a:p>
                  </a:txBody>
                  <a:tcPr marL="108000" marR="72000" marT="36000" marB="36000" anchor="ctr">
                    <a:lnL w="12700" cap="flat" cmpd="sng" algn="ctr">
                      <a:solidFill>
                        <a:srgbClr val="452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2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" panose="020B0604020202020204" charset="0"/>
                        </a:rPr>
                        <a:t>Сроки</a:t>
                      </a:r>
                    </a:p>
                  </a:txBody>
                  <a:tcPr marL="108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2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" panose="020B0604020202020204" charset="0"/>
                        </a:rPr>
                        <a:t>Стоимость</a:t>
                      </a:r>
                    </a:p>
                  </a:txBody>
                  <a:tcPr marL="108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2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200" dirty="0">
                          <a:solidFill>
                            <a:schemeClr val="bg1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" panose="020B0604020202020204" charset="0"/>
                        </a:rPr>
                        <a:t>Нормативная база</a:t>
                      </a:r>
                    </a:p>
                  </a:txBody>
                  <a:tcPr marL="108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2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kern="1200" dirty="0">
                          <a:solidFill>
                            <a:schemeClr val="bg1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" panose="020B0604020202020204" charset="0"/>
                        </a:rPr>
                        <a:t>Поддержка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kern="1200" dirty="0">
                          <a:solidFill>
                            <a:schemeClr val="bg1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" panose="020B0604020202020204" charset="0"/>
                        </a:rPr>
                        <a:t>координатора системы</a:t>
                      </a:r>
                    </a:p>
                  </a:txBody>
                  <a:tcPr marL="108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2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kern="1200" dirty="0">
                          <a:solidFill>
                            <a:schemeClr val="bg1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" panose="020B0604020202020204" charset="0"/>
                        </a:rPr>
                        <a:t>Гибкость управления</a:t>
                      </a:r>
                    </a:p>
                  </a:txBody>
                  <a:tcPr marL="108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2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2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0839231"/>
                  </a:ext>
                </a:extLst>
              </a:tr>
              <a:tr h="247606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ru-RU" sz="1200" b="0" kern="1200" dirty="0">
                          <a:solidFill>
                            <a:srgbClr val="4525FF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+mn-cs"/>
                        </a:rPr>
                        <a:t>1 вариант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200" dirty="0">
                          <a:solidFill>
                            <a:srgbClr val="1E2340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+mn-cs"/>
                        </a:rPr>
                        <a:t>Сегмент </a:t>
                      </a:r>
                      <a:br>
                        <a:rPr lang="ru-RU" sz="1200" b="0" kern="1200" dirty="0">
                          <a:solidFill>
                            <a:srgbClr val="1E2340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+mn-cs"/>
                        </a:rPr>
                      </a:br>
                      <a:r>
                        <a:rPr lang="ru-RU" sz="1200" b="0" kern="1200" dirty="0">
                          <a:solidFill>
                            <a:srgbClr val="1E2340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+mn-cs"/>
                        </a:rPr>
                        <a:t>ФГИС ЕИСУКС, размещенный </a:t>
                      </a:r>
                      <a:br>
                        <a:rPr lang="ru-RU" sz="1200" b="0" kern="1200" dirty="0">
                          <a:solidFill>
                            <a:srgbClr val="1E2340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+mn-cs"/>
                        </a:rPr>
                      </a:br>
                      <a:r>
                        <a:rPr lang="ru-RU" sz="1200" b="0" kern="1200" dirty="0">
                          <a:solidFill>
                            <a:srgbClr val="1E2340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+mn-cs"/>
                        </a:rPr>
                        <a:t>на Гостех2.0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ru-RU" sz="1200" b="0" kern="1200" dirty="0">
                        <a:solidFill>
                          <a:srgbClr val="1E2340"/>
                        </a:solidFill>
                        <a:effectLst/>
                        <a:latin typeface="Roboto Medium" panose="02000000000000000000" pitchFamily="2" charset="0"/>
                        <a:ea typeface="Roboto Medium" panose="02000000000000000000" pitchFamily="2" charset="0"/>
                        <a:cs typeface="+mn-cs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9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+mn-cs"/>
                        </a:rPr>
                        <a:t>Предпочтительный вариант</a:t>
                      </a:r>
                    </a:p>
                  </a:txBody>
                  <a:tcPr marL="108000" marR="72000" marT="180000" marB="0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rtl="0" fontAlgn="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7E293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ru-RU" sz="1200" b="0" kern="120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Быстрый вариант </a:t>
                      </a:r>
                    </a:p>
                  </a:txBody>
                  <a:tcPr marL="108000" marR="72000" marT="180000" marB="0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fontAlgn="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7E293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ru-RU" sz="1200" b="0" kern="120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Самый дешевый вариант (снижаем накладные расходы за счет запуска нового ГИС, доступны ядровые функции ЕИСУКС)</a:t>
                      </a:r>
                    </a:p>
                  </a:txBody>
                  <a:tcPr marL="108000" marR="72000" marT="180000" marB="0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fontAlgn="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7E293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ru-RU" sz="1200" b="0" kern="120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Нормативная база существует </a:t>
                      </a:r>
                      <a:br>
                        <a:rPr lang="ru-RU" sz="1200" b="0" kern="120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</a:br>
                      <a:r>
                        <a:rPr lang="ru-RU" sz="1200" b="0" kern="120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и достаточно, нужно только внести изменения в 256 ППРФ</a:t>
                      </a:r>
                    </a:p>
                  </a:txBody>
                  <a:tcPr marL="108000" marR="72000" marT="180000" marB="0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fontAlgn="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7E293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ru-RU" sz="1200" b="0" kern="120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Административная поддержка АПРФ</a:t>
                      </a:r>
                    </a:p>
                  </a:txBody>
                  <a:tcPr marL="108000" marR="72000" marT="180000" marB="0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>
                        <a:alpha val="7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fontAlgn="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7E293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ru-RU" sz="1200" b="0" kern="120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Меньше самостоятельности, требуется согласование с АПРФ, Администрацией, Минтрудом</a:t>
                      </a:r>
                    </a:p>
                  </a:txBody>
                  <a:tcPr marL="108000" marR="72000" marT="180000" marB="0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  <a:alpha val="9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673602"/>
                  </a:ext>
                </a:extLst>
              </a:tr>
              <a:tr h="247606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ru-RU" sz="1200" b="0" kern="1200" dirty="0">
                          <a:solidFill>
                            <a:srgbClr val="4525FF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+mn-cs"/>
                        </a:rPr>
                        <a:t>2 вариант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200" dirty="0">
                          <a:solidFill>
                            <a:srgbClr val="1E2340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+mn-cs"/>
                        </a:rPr>
                        <a:t>Отдельный ГИС, размещенный </a:t>
                      </a:r>
                      <a:br>
                        <a:rPr lang="ru-RU" sz="1200" b="0" kern="1200" dirty="0">
                          <a:solidFill>
                            <a:srgbClr val="1E2340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+mn-cs"/>
                        </a:rPr>
                      </a:br>
                      <a:r>
                        <a:rPr lang="ru-RU" sz="1200" b="0" kern="1200" dirty="0">
                          <a:solidFill>
                            <a:srgbClr val="1E2340"/>
                          </a:solidFill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+mn-cs"/>
                        </a:rPr>
                        <a:t>на Гостех2.0</a:t>
                      </a:r>
                    </a:p>
                  </a:txBody>
                  <a:tcPr marL="144000" marR="72000" marT="180000" marB="0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rtl="0" fontAlgn="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7E293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ru-RU" sz="1200" b="0" kern="120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Долгий вариант</a:t>
                      </a:r>
                    </a:p>
                  </a:txBody>
                  <a:tcPr marL="144000" marR="72000" marT="180000" marB="0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  <a:alpha val="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fontAlgn="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7E293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ru-RU" sz="1200" b="0" kern="120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Дорогой вариант (издержки по созданию нового ГИС)</a:t>
                      </a:r>
                    </a:p>
                  </a:txBody>
                  <a:tcPr marL="144000" marR="72000" marT="180000" marB="0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  <a:alpha val="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fontAlgn="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7E293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ru-RU" sz="1200" b="0" kern="120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Создание ГИС с «0»</a:t>
                      </a:r>
                    </a:p>
                  </a:txBody>
                  <a:tcPr marL="144000" marR="72000" marT="180000" marB="0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  <a:alpha val="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fontAlgn="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7E293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ru-RU" sz="1200" b="0" kern="120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Явное сопротивление АПРФ</a:t>
                      </a:r>
                    </a:p>
                  </a:txBody>
                  <a:tcPr marL="144000" marR="72000" marT="180000" marB="0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  <a:alpha val="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fontAlgn="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7E293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ru-RU" sz="1200" b="0" kern="120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Больше самостоятельности</a:t>
                      </a:r>
                    </a:p>
                  </a:txBody>
                  <a:tcPr marL="144000" marR="72000" marT="180000" marB="0"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>
                        <a:alpha val="7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29137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7894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/>
          <p:nvPr/>
        </p:nvSpPr>
        <p:spPr>
          <a:xfrm>
            <a:off x="279081" y="2008550"/>
            <a:ext cx="4793897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ru-RU"/>
            </a:defPPr>
            <a:lvl1pPr hangingPunct="0">
              <a:spcAft>
                <a:spcPts val="429"/>
              </a:spcAft>
              <a:defRPr sz="1200" kern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</a:defRPr>
            </a:lvl1pPr>
          </a:lstStyle>
          <a:p>
            <a:r>
              <a:rPr lang="en" sz="2200" dirty="0"/>
              <a:t>Собственные продукты</a:t>
            </a:r>
            <a:br>
              <a:rPr lang="ru-RU" sz="2200" dirty="0"/>
            </a:br>
            <a:r>
              <a:rPr lang="en" sz="2200" dirty="0"/>
              <a:t>в реестре</a:t>
            </a:r>
            <a:r>
              <a:rPr lang="ru-RU" sz="2200" dirty="0"/>
              <a:t> </a:t>
            </a:r>
            <a:r>
              <a:rPr lang="en" sz="2200" dirty="0"/>
              <a:t>отечественного ПО</a:t>
            </a: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81AFF54E-DE1D-4781-BABB-DE863BA48A55}"/>
              </a:ext>
            </a:extLst>
          </p:cNvPr>
          <p:cNvCxnSpPr/>
          <p:nvPr/>
        </p:nvCxnSpPr>
        <p:spPr>
          <a:xfrm>
            <a:off x="0" y="562429"/>
            <a:ext cx="12192000" cy="0"/>
          </a:xfrm>
          <a:prstGeom prst="line">
            <a:avLst/>
          </a:prstGeom>
          <a:noFill/>
          <a:ln w="6350" cap="rnd">
            <a:solidFill>
              <a:srgbClr val="706F6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Полилиния 29">
            <a:extLst>
              <a:ext uri="{FF2B5EF4-FFF2-40B4-BE49-F238E27FC236}">
                <a16:creationId xmlns:a16="http://schemas.microsoft.com/office/drawing/2014/main" id="{23D0D997-D97D-419F-BF4F-D9157965DD2D}"/>
              </a:ext>
            </a:extLst>
          </p:cNvPr>
          <p:cNvSpPr/>
          <p:nvPr/>
        </p:nvSpPr>
        <p:spPr>
          <a:xfrm>
            <a:off x="11303001" y="0"/>
            <a:ext cx="889000" cy="562429"/>
          </a:xfrm>
          <a:custGeom>
            <a:avLst/>
            <a:gdLst>
              <a:gd name="connsiteX0" fmla="*/ 558263 w 1347538"/>
              <a:gd name="connsiteY0" fmla="*/ 0 h 1001027"/>
              <a:gd name="connsiteX1" fmla="*/ 1347538 w 1347538"/>
              <a:gd name="connsiteY1" fmla="*/ 0 h 1001027"/>
              <a:gd name="connsiteX2" fmla="*/ 1347538 w 1347538"/>
              <a:gd name="connsiteY2" fmla="*/ 1001027 h 1001027"/>
              <a:gd name="connsiteX3" fmla="*/ 0 w 1347538"/>
              <a:gd name="connsiteY3" fmla="*/ 1001027 h 1001027"/>
              <a:gd name="connsiteX4" fmla="*/ 558263 w 1347538"/>
              <a:gd name="connsiteY4" fmla="*/ 0 h 1001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47538" h="1001027">
                <a:moveTo>
                  <a:pt x="558263" y="0"/>
                </a:moveTo>
                <a:lnTo>
                  <a:pt x="1347538" y="0"/>
                </a:lnTo>
                <a:lnTo>
                  <a:pt x="1347538" y="1001027"/>
                </a:lnTo>
                <a:lnTo>
                  <a:pt x="0" y="1001027"/>
                </a:lnTo>
                <a:lnTo>
                  <a:pt x="558263" y="0"/>
                </a:lnTo>
                <a:close/>
              </a:path>
            </a:pathLst>
          </a:custGeom>
          <a:solidFill>
            <a:srgbClr val="706F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286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Номер слайда 13">
            <a:extLst>
              <a:ext uri="{FF2B5EF4-FFF2-40B4-BE49-F238E27FC236}">
                <a16:creationId xmlns:a16="http://schemas.microsoft.com/office/drawing/2014/main" id="{42016134-26B2-4900-B67D-2F3094977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1133" y="138210"/>
            <a:ext cx="551543" cy="365125"/>
          </a:xfrm>
        </p:spPr>
        <p:txBody>
          <a:bodyPr/>
          <a:lstStyle/>
          <a:p>
            <a:pPr algn="ctr"/>
            <a:r>
              <a:rPr lang="en-US" sz="1143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7</a:t>
            </a:r>
            <a:endParaRPr lang="ru-RU" sz="1143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Segoe UI Light" panose="020B0502040204020203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E17B951-7019-40EC-80BA-4B4239ABEFA6}"/>
              </a:ext>
            </a:extLst>
          </p:cNvPr>
          <p:cNvSpPr/>
          <p:nvPr/>
        </p:nvSpPr>
        <p:spPr>
          <a:xfrm>
            <a:off x="285750" y="105333"/>
            <a:ext cx="7058025" cy="3517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en-US" sz="2286" cap="all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PROSCOM </a:t>
            </a:r>
          </a:p>
        </p:txBody>
      </p:sp>
      <p:pic>
        <p:nvPicPr>
          <p:cNvPr id="10" name="Picture 8" descr="Фирменный стиль. Официальный информационный сайт Ростелеком.">
            <a:extLst>
              <a:ext uri="{FF2B5EF4-FFF2-40B4-BE49-F238E27FC236}">
                <a16:creationId xmlns:a16="http://schemas.microsoft.com/office/drawing/2014/main" id="{E7C287A5-E958-4CE4-99CB-8351327004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9" b="15526"/>
          <a:stretch/>
        </p:blipFill>
        <p:spPr bwMode="auto">
          <a:xfrm>
            <a:off x="9620110" y="91071"/>
            <a:ext cx="1605351" cy="380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227B07-FC3B-4850-9441-5BFDF0321887}"/>
              </a:ext>
            </a:extLst>
          </p:cNvPr>
          <p:cNvSpPr txBox="1"/>
          <p:nvPr/>
        </p:nvSpPr>
        <p:spPr>
          <a:xfrm>
            <a:off x="285750" y="860572"/>
            <a:ext cx="40855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hangingPunct="0"/>
            <a:r>
              <a:rPr lang="ru-RU" sz="1200" kern="0" dirty="0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</a:rPr>
              <a:t>С 2013 года создают </a:t>
            </a:r>
            <a:r>
              <a:rPr lang="ru-RU" sz="1200" kern="0" dirty="0" err="1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</a:rPr>
              <a:t>on-prem</a:t>
            </a:r>
            <a:r>
              <a:rPr lang="ru-RU" sz="1200" kern="0" dirty="0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</a:rPr>
              <a:t> HR-</a:t>
            </a:r>
            <a:r>
              <a:rPr lang="ru-RU" sz="1200" kern="0" dirty="0" err="1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</a:rPr>
              <a:t>tech</a:t>
            </a:r>
            <a:r>
              <a:rPr lang="ru-RU" sz="1200" kern="0" dirty="0">
                <a:solidFill>
                  <a:srgbClr val="1E234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</a:rPr>
              <a:t>  и аналитические решения для государства и крупного бизнеса</a:t>
            </a:r>
          </a:p>
        </p:txBody>
      </p:sp>
      <p:sp>
        <p:nvSpPr>
          <p:cNvPr id="17" name="Скругленный прямоугольник 296">
            <a:extLst>
              <a:ext uri="{FF2B5EF4-FFF2-40B4-BE49-F238E27FC236}">
                <a16:creationId xmlns:a16="http://schemas.microsoft.com/office/drawing/2014/main" id="{6EBA823D-2335-471C-AD0E-BE3839DF1084}"/>
              </a:ext>
            </a:extLst>
          </p:cNvPr>
          <p:cNvSpPr/>
          <p:nvPr/>
        </p:nvSpPr>
        <p:spPr>
          <a:xfrm>
            <a:off x="5308224" y="866500"/>
            <a:ext cx="3257847" cy="5590791"/>
          </a:xfrm>
          <a:prstGeom prst="roundRect">
            <a:avLst>
              <a:gd name="adj" fmla="val 4895"/>
            </a:avLst>
          </a:prstGeom>
          <a:noFill/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7A70B605-8B93-4868-BAC2-2E879050E6EF}"/>
              </a:ext>
            </a:extLst>
          </p:cNvPr>
          <p:cNvGrpSpPr/>
          <p:nvPr/>
        </p:nvGrpSpPr>
        <p:grpSpPr>
          <a:xfrm>
            <a:off x="285750" y="3074981"/>
            <a:ext cx="4349437" cy="570417"/>
            <a:chOff x="285750" y="3397174"/>
            <a:chExt cx="4349437" cy="570417"/>
          </a:xfrm>
        </p:grpSpPr>
        <p:sp>
          <p:nvSpPr>
            <p:cNvPr id="18" name="Google Shape;55;p13">
              <a:extLst>
                <a:ext uri="{FF2B5EF4-FFF2-40B4-BE49-F238E27FC236}">
                  <a16:creationId xmlns:a16="http://schemas.microsoft.com/office/drawing/2014/main" id="{21477DD2-2CDF-448B-B481-6EA4EF87472C}"/>
                </a:ext>
              </a:extLst>
            </p:cNvPr>
            <p:cNvSpPr txBox="1"/>
            <p:nvPr/>
          </p:nvSpPr>
          <p:spPr>
            <a:xfrm>
              <a:off x="285750" y="3436161"/>
              <a:ext cx="2208362" cy="4924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r>
                <a:rPr lang="ru-RU" sz="1600" b="1" dirty="0" err="1">
                  <a:solidFill>
                    <a:srgbClr val="4525F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Tada</a:t>
              </a:r>
              <a:r>
                <a:rPr lang="ru-RU" sz="1600" b="1" dirty="0">
                  <a:solidFill>
                    <a:srgbClr val="4525F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:</a:t>
              </a:r>
              <a:r>
                <a:rPr lang="ru-RU" sz="1600" dirty="0">
                  <a:solidFill>
                    <a:srgbClr val="4525F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ru-RU" sz="1600" dirty="0">
                  <a:solidFill>
                    <a:schemeClr val="dk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корпоративный портал </a:t>
              </a:r>
              <a:r>
                <a:rPr lang="en-US" sz="1600" dirty="0">
                  <a:solidFill>
                    <a:schemeClr val="dk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+ HR-</a:t>
              </a:r>
              <a:r>
                <a:rPr lang="ru-RU" sz="1600" dirty="0">
                  <a:solidFill>
                    <a:schemeClr val="dk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сервисы</a:t>
              </a:r>
            </a:p>
          </p:txBody>
        </p:sp>
        <p:cxnSp>
          <p:nvCxnSpPr>
            <p:cNvPr id="33" name="Прямая соединительная линия 32">
              <a:extLst>
                <a:ext uri="{FF2B5EF4-FFF2-40B4-BE49-F238E27FC236}">
                  <a16:creationId xmlns:a16="http://schemas.microsoft.com/office/drawing/2014/main" id="{A1CF9F53-03D9-42BD-BE80-FB14692581D2}"/>
                </a:ext>
              </a:extLst>
            </p:cNvPr>
            <p:cNvCxnSpPr>
              <a:cxnSpLocks/>
            </p:cNvCxnSpPr>
            <p:nvPr/>
          </p:nvCxnSpPr>
          <p:spPr>
            <a:xfrm>
              <a:off x="2760351" y="3397174"/>
              <a:ext cx="0" cy="570417"/>
            </a:xfrm>
            <a:prstGeom prst="line">
              <a:avLst/>
            </a:prstGeom>
            <a:ln w="12700">
              <a:solidFill>
                <a:srgbClr val="4525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Группа 15">
              <a:extLst>
                <a:ext uri="{FF2B5EF4-FFF2-40B4-BE49-F238E27FC236}">
                  <a16:creationId xmlns:a16="http://schemas.microsoft.com/office/drawing/2014/main" id="{6BFFA02B-ADBB-4750-AAA6-8D4796B60B2E}"/>
                </a:ext>
              </a:extLst>
            </p:cNvPr>
            <p:cNvGrpSpPr/>
            <p:nvPr/>
          </p:nvGrpSpPr>
          <p:grpSpPr>
            <a:xfrm>
              <a:off x="2901825" y="3399424"/>
              <a:ext cx="1733362" cy="565917"/>
              <a:chOff x="2901825" y="3395595"/>
              <a:chExt cx="1733362" cy="565917"/>
            </a:xfrm>
          </p:grpSpPr>
          <p:pic>
            <p:nvPicPr>
              <p:cNvPr id="21" name="Рисунок 20">
                <a:extLst>
                  <a:ext uri="{FF2B5EF4-FFF2-40B4-BE49-F238E27FC236}">
                    <a16:creationId xmlns:a16="http://schemas.microsoft.com/office/drawing/2014/main" id="{273B85F3-F087-4325-A024-9CBA851D0D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01825" y="3395595"/>
                <a:ext cx="939910" cy="263176"/>
              </a:xfrm>
              <a:prstGeom prst="rect">
                <a:avLst/>
              </a:prstGeom>
            </p:spPr>
          </p:pic>
          <p:grpSp>
            <p:nvGrpSpPr>
              <p:cNvPr id="12" name="Группа 11">
                <a:extLst>
                  <a:ext uri="{FF2B5EF4-FFF2-40B4-BE49-F238E27FC236}">
                    <a16:creationId xmlns:a16="http://schemas.microsoft.com/office/drawing/2014/main" id="{5ABE8E03-949D-49F1-A226-B8B94C15E529}"/>
                  </a:ext>
                </a:extLst>
              </p:cNvPr>
              <p:cNvGrpSpPr/>
              <p:nvPr/>
            </p:nvGrpSpPr>
            <p:grpSpPr>
              <a:xfrm>
                <a:off x="2904585" y="3678988"/>
                <a:ext cx="1730602" cy="282524"/>
                <a:chOff x="2904585" y="3678988"/>
                <a:chExt cx="1730602" cy="282524"/>
              </a:xfrm>
            </p:grpSpPr>
            <p:pic>
              <p:nvPicPr>
                <p:cNvPr id="27" name="Рисунок 26">
                  <a:extLst>
                    <a:ext uri="{FF2B5EF4-FFF2-40B4-BE49-F238E27FC236}">
                      <a16:creationId xmlns:a16="http://schemas.microsoft.com/office/drawing/2014/main" id="{E370AA09-C25B-4821-A5DF-5864407D53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904585" y="3755355"/>
                  <a:ext cx="1533803" cy="206157"/>
                </a:xfrm>
                <a:prstGeom prst="rect">
                  <a:avLst/>
                </a:prstGeom>
              </p:spPr>
            </p:pic>
            <p:sp>
              <p:nvSpPr>
                <p:cNvPr id="2" name="Google Shape;55;p13">
                  <a:extLst>
                    <a:ext uri="{FF2B5EF4-FFF2-40B4-BE49-F238E27FC236}">
                      <a16:creationId xmlns:a16="http://schemas.microsoft.com/office/drawing/2014/main" id="{D21E842F-3E45-0C38-F2D0-05A77C7E9C60}"/>
                    </a:ext>
                  </a:extLst>
                </p:cNvPr>
                <p:cNvSpPr txBox="1"/>
                <p:nvPr/>
              </p:nvSpPr>
              <p:spPr>
                <a:xfrm>
                  <a:off x="4507826" y="3678988"/>
                  <a:ext cx="127361" cy="24622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spAutoFit/>
                </a:bodyPr>
                <a:lstStyle/>
                <a:p>
                  <a:r>
                    <a:rPr lang="ru-RU" sz="16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</a:rPr>
                    <a:t>*</a:t>
                  </a:r>
                  <a:endParaRPr lang="ru-RU" sz="16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endParaRPr>
                </a:p>
              </p:txBody>
            </p:sp>
          </p:grpSp>
        </p:grpSp>
      </p:grpSp>
      <p:sp>
        <p:nvSpPr>
          <p:cNvPr id="62" name="Google Shape;57;p13">
            <a:extLst>
              <a:ext uri="{FF2B5EF4-FFF2-40B4-BE49-F238E27FC236}">
                <a16:creationId xmlns:a16="http://schemas.microsoft.com/office/drawing/2014/main" id="{19A607BB-4784-444A-9CC4-FE250B399D29}"/>
              </a:ext>
            </a:extLst>
          </p:cNvPr>
          <p:cNvSpPr txBox="1"/>
          <p:nvPr/>
        </p:nvSpPr>
        <p:spPr>
          <a:xfrm>
            <a:off x="5482318" y="994501"/>
            <a:ext cx="2287250" cy="3773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ru-RU"/>
            </a:defPPr>
            <a:lvl1pPr hangingPunct="0">
              <a:spcAft>
                <a:spcPts val="429"/>
              </a:spcAft>
              <a:defRPr sz="1200" kern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</a:defRPr>
            </a:lvl1pPr>
          </a:lstStyle>
          <a:p>
            <a:r>
              <a:rPr lang="ru-RU" dirty="0"/>
              <a:t>Крупнейшие кейсы </a:t>
            </a:r>
            <a:br>
              <a:rPr lang="ru-RU" dirty="0"/>
            </a:br>
            <a:r>
              <a:rPr lang="ru-RU" dirty="0"/>
              <a:t>в гос. секторе</a:t>
            </a:r>
          </a:p>
        </p:txBody>
      </p:sp>
      <p:grpSp>
        <p:nvGrpSpPr>
          <p:cNvPr id="432" name="Группа 431">
            <a:extLst>
              <a:ext uri="{FF2B5EF4-FFF2-40B4-BE49-F238E27FC236}">
                <a16:creationId xmlns:a16="http://schemas.microsoft.com/office/drawing/2014/main" id="{3D2EC773-9214-2A51-7FC3-2679B0055E03}"/>
              </a:ext>
            </a:extLst>
          </p:cNvPr>
          <p:cNvGrpSpPr/>
          <p:nvPr/>
        </p:nvGrpSpPr>
        <p:grpSpPr>
          <a:xfrm>
            <a:off x="5482317" y="1675875"/>
            <a:ext cx="2752209" cy="392795"/>
            <a:chOff x="5482317" y="1675875"/>
            <a:chExt cx="2752209" cy="392795"/>
          </a:xfrm>
        </p:grpSpPr>
        <p:pic>
          <p:nvPicPr>
            <p:cNvPr id="60" name="Рисунок 59">
              <a:extLst>
                <a:ext uri="{FF2B5EF4-FFF2-40B4-BE49-F238E27FC236}">
                  <a16:creationId xmlns:a16="http://schemas.microsoft.com/office/drawing/2014/main" id="{39DF9437-87FF-4B82-ACE5-3749BDB9F21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alphaModFix amt="50000"/>
              <a:lum bright="-4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680819" y="1924352"/>
              <a:ext cx="1073727" cy="144318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BA066A40-2CBD-483A-97C0-EBDAF3EB7D2A}"/>
                </a:ext>
              </a:extLst>
            </p:cNvPr>
            <p:cNvSpPr txBox="1"/>
            <p:nvPr/>
          </p:nvSpPr>
          <p:spPr>
            <a:xfrm>
              <a:off x="5482317" y="1675875"/>
              <a:ext cx="2258516" cy="18466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180000" indent="-180000">
                <a:buClr>
                  <a:srgbClr val="4525FF"/>
                </a:buClr>
                <a:buFont typeface="Arial" panose="020B0604020202020204" pitchFamily="34" charset="0"/>
                <a:buChar char="•"/>
              </a:pP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РЦТ – дашборды (ФГИС КИ)  </a:t>
              </a:r>
            </a:p>
          </p:txBody>
        </p:sp>
        <p:sp>
          <p:nvSpPr>
            <p:cNvPr id="67" name="Прямоугольник: скругленные углы 66">
              <a:extLst>
                <a:ext uri="{FF2B5EF4-FFF2-40B4-BE49-F238E27FC236}">
                  <a16:creationId xmlns:a16="http://schemas.microsoft.com/office/drawing/2014/main" id="{039412DD-1471-4771-880F-7D75E9A007CC}"/>
                </a:ext>
              </a:extLst>
            </p:cNvPr>
            <p:cNvSpPr/>
            <p:nvPr/>
          </p:nvSpPr>
          <p:spPr>
            <a:xfrm>
              <a:off x="7752401" y="1681650"/>
              <a:ext cx="482125" cy="173117"/>
            </a:xfrm>
            <a:prstGeom prst="roundRect">
              <a:avLst>
                <a:gd name="adj" fmla="val 50000"/>
              </a:avLst>
            </a:prstGeom>
            <a:solidFill>
              <a:srgbClr val="F2F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0" rIns="36000" bIns="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rgbClr val="4525F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#</a:t>
              </a:r>
              <a:r>
                <a:rPr lang="ru-RU" sz="800" dirty="0">
                  <a:solidFill>
                    <a:srgbClr val="4525F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ГЕОП</a:t>
              </a:r>
            </a:p>
          </p:txBody>
        </p:sp>
      </p:grpSp>
      <p:grpSp>
        <p:nvGrpSpPr>
          <p:cNvPr id="431" name="Группа 430">
            <a:extLst>
              <a:ext uri="{FF2B5EF4-FFF2-40B4-BE49-F238E27FC236}">
                <a16:creationId xmlns:a16="http://schemas.microsoft.com/office/drawing/2014/main" id="{C19719F4-5798-A634-20C4-A7D70F83AD64}"/>
              </a:ext>
            </a:extLst>
          </p:cNvPr>
          <p:cNvGrpSpPr/>
          <p:nvPr/>
        </p:nvGrpSpPr>
        <p:grpSpPr>
          <a:xfrm>
            <a:off x="5482317" y="2186082"/>
            <a:ext cx="2345964" cy="475659"/>
            <a:chOff x="5482317" y="2199373"/>
            <a:chExt cx="2345964" cy="475659"/>
          </a:xfrm>
        </p:grpSpPr>
        <p:sp>
          <p:nvSpPr>
            <p:cNvPr id="70" name="Прямоугольник: скругленные углы 69">
              <a:extLst>
                <a:ext uri="{FF2B5EF4-FFF2-40B4-BE49-F238E27FC236}">
                  <a16:creationId xmlns:a16="http://schemas.microsoft.com/office/drawing/2014/main" id="{D06D42E5-C781-42EF-A1A3-75BD904F20D0}"/>
                </a:ext>
              </a:extLst>
            </p:cNvPr>
            <p:cNvSpPr/>
            <p:nvPr/>
          </p:nvSpPr>
          <p:spPr>
            <a:xfrm>
              <a:off x="7504668" y="2205148"/>
              <a:ext cx="323613" cy="173117"/>
            </a:xfrm>
            <a:prstGeom prst="roundRect">
              <a:avLst>
                <a:gd name="adj" fmla="val 50000"/>
              </a:avLst>
            </a:prstGeom>
            <a:solidFill>
              <a:srgbClr val="F2F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0" rIns="36000" bIns="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rgbClr val="4525F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#BI</a:t>
              </a:r>
              <a:endParaRPr lang="ru-RU" sz="800" dirty="0">
                <a:solidFill>
                  <a:srgbClr val="4525FF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grpSp>
          <p:nvGrpSpPr>
            <p:cNvPr id="430" name="Группа 429">
              <a:extLst>
                <a:ext uri="{FF2B5EF4-FFF2-40B4-BE49-F238E27FC236}">
                  <a16:creationId xmlns:a16="http://schemas.microsoft.com/office/drawing/2014/main" id="{B91334EC-87F2-7F29-F18E-634C219D4A63}"/>
                </a:ext>
              </a:extLst>
            </p:cNvPr>
            <p:cNvGrpSpPr/>
            <p:nvPr/>
          </p:nvGrpSpPr>
          <p:grpSpPr>
            <a:xfrm>
              <a:off x="5482317" y="2199373"/>
              <a:ext cx="2145201" cy="475659"/>
              <a:chOff x="5482317" y="2199373"/>
              <a:chExt cx="2145201" cy="475659"/>
            </a:xfrm>
          </p:grpSpPr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BFBC35D-B82B-46E6-B67E-379983DFCB82}"/>
                  </a:ext>
                </a:extLst>
              </p:cNvPr>
              <p:cNvSpPr txBox="1"/>
              <p:nvPr/>
            </p:nvSpPr>
            <p:spPr>
              <a:xfrm>
                <a:off x="5482317" y="2199373"/>
                <a:ext cx="2145201" cy="184666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180000" indent="-180000">
                  <a:buClr>
                    <a:srgbClr val="4525FF"/>
                  </a:buClr>
                  <a:buFont typeface="Arial" panose="020B0604020202020204" pitchFamily="34" charset="0"/>
                  <a:buChar char="•"/>
                </a:pPr>
                <a:r>
                  <a:rPr lang="ru-RU" sz="1200" dirty="0">
                    <a:latin typeface="Roboto" panose="02000000000000000000" pitchFamily="2" charset="0"/>
                    <a:ea typeface="Roboto" panose="02000000000000000000" pitchFamily="2" charset="0"/>
                  </a:rPr>
                  <a:t>Нацпроект Образование</a:t>
                </a:r>
              </a:p>
            </p:txBody>
          </p:sp>
          <p:pic>
            <p:nvPicPr>
              <p:cNvPr id="76" name="Рисунок 75">
                <a:extLst>
                  <a:ext uri="{FF2B5EF4-FFF2-40B4-BE49-F238E27FC236}">
                    <a16:creationId xmlns:a16="http://schemas.microsoft.com/office/drawing/2014/main" id="{4D1FA6DF-3F3D-432C-9C6A-8C1C1B551A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  <a:alphaModFix amt="70000"/>
              </a:blip>
              <a:srcRect l="19052" t="63357" r="12233" b="23714"/>
              <a:stretch/>
            </p:blipFill>
            <p:spPr>
              <a:xfrm>
                <a:off x="5640259" y="2370150"/>
                <a:ext cx="1155414" cy="304882"/>
              </a:xfrm>
              <a:prstGeom prst="rect">
                <a:avLst/>
              </a:prstGeom>
            </p:spPr>
          </p:pic>
        </p:grpSp>
      </p:grpSp>
      <p:grpSp>
        <p:nvGrpSpPr>
          <p:cNvPr id="433" name="Группа 432">
            <a:extLst>
              <a:ext uri="{FF2B5EF4-FFF2-40B4-BE49-F238E27FC236}">
                <a16:creationId xmlns:a16="http://schemas.microsoft.com/office/drawing/2014/main" id="{83471B10-4814-15E2-A09A-9C282EC863BD}"/>
              </a:ext>
            </a:extLst>
          </p:cNvPr>
          <p:cNvGrpSpPr/>
          <p:nvPr/>
        </p:nvGrpSpPr>
        <p:grpSpPr>
          <a:xfrm>
            <a:off x="5482317" y="2779153"/>
            <a:ext cx="2173245" cy="614430"/>
            <a:chOff x="5482317" y="2791594"/>
            <a:chExt cx="2173245" cy="614430"/>
          </a:xfrm>
        </p:grpSpPr>
        <p:grpSp>
          <p:nvGrpSpPr>
            <p:cNvPr id="81" name="Группа 80">
              <a:extLst>
                <a:ext uri="{FF2B5EF4-FFF2-40B4-BE49-F238E27FC236}">
                  <a16:creationId xmlns:a16="http://schemas.microsoft.com/office/drawing/2014/main" id="{01484936-BA1B-446C-9B48-AB57A03BB3BD}"/>
                </a:ext>
              </a:extLst>
            </p:cNvPr>
            <p:cNvGrpSpPr/>
            <p:nvPr/>
          </p:nvGrpSpPr>
          <p:grpSpPr>
            <a:xfrm>
              <a:off x="5482317" y="2791594"/>
              <a:ext cx="2173245" cy="369332"/>
              <a:chOff x="5596909" y="2968237"/>
              <a:chExt cx="2173245" cy="369332"/>
            </a:xfrm>
          </p:grpSpPr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6893040-26B2-48CF-B6D9-1CFFC25028C1}"/>
                  </a:ext>
                </a:extLst>
              </p:cNvPr>
              <p:cNvSpPr txBox="1"/>
              <p:nvPr/>
            </p:nvSpPr>
            <p:spPr>
              <a:xfrm>
                <a:off x="5596909" y="2968237"/>
                <a:ext cx="1710963" cy="369332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180000" indent="-180000">
                  <a:buClr>
                    <a:srgbClr val="4525FF"/>
                  </a:buClr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Roboto" panose="02000000000000000000" pitchFamily="2" charset="0"/>
                    <a:ea typeface="Roboto" panose="02000000000000000000" pitchFamily="2" charset="0"/>
                  </a:rPr>
                  <a:t>LMS </a:t>
                </a:r>
                <a:r>
                  <a:rPr lang="ru-RU" sz="1200" dirty="0">
                    <a:latin typeface="Roboto" panose="02000000000000000000" pitchFamily="2" charset="0"/>
                    <a:ea typeface="Roboto" panose="02000000000000000000" pitchFamily="2" charset="0"/>
                  </a:rPr>
                  <a:t>для ЕПГУ (обучение СЭД, ВКУ)</a:t>
                </a:r>
              </a:p>
            </p:txBody>
          </p:sp>
          <p:sp>
            <p:nvSpPr>
              <p:cNvPr id="74" name="Прямоугольник: скругленные углы 73">
                <a:extLst>
                  <a:ext uri="{FF2B5EF4-FFF2-40B4-BE49-F238E27FC236}">
                    <a16:creationId xmlns:a16="http://schemas.microsoft.com/office/drawing/2014/main" id="{7D83ADDC-00CC-45D4-8023-E1D46421798B}"/>
                  </a:ext>
                </a:extLst>
              </p:cNvPr>
              <p:cNvSpPr/>
              <p:nvPr/>
            </p:nvSpPr>
            <p:spPr>
              <a:xfrm>
                <a:off x="7316081" y="3162769"/>
                <a:ext cx="454073" cy="173117"/>
              </a:xfrm>
              <a:prstGeom prst="roundRect">
                <a:avLst>
                  <a:gd name="adj" fmla="val 50000"/>
                </a:avLst>
              </a:prstGeom>
              <a:solidFill>
                <a:srgbClr val="F2F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ctr">
                <a:spAutoFit/>
              </a:bodyPr>
              <a:lstStyle/>
              <a:p>
                <a:pPr algn="ctr"/>
                <a:r>
                  <a:rPr lang="en-US" sz="800">
                    <a:solidFill>
                      <a:srgbClr val="4525FF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#</a:t>
                </a:r>
                <a:r>
                  <a:rPr lang="ru-RU" sz="800">
                    <a:solidFill>
                      <a:srgbClr val="4525FF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ИЭП</a:t>
                </a:r>
                <a:endParaRPr lang="ru-RU" sz="800" dirty="0">
                  <a:solidFill>
                    <a:srgbClr val="4525FF"/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p:grpSp>
        <p:pic>
          <p:nvPicPr>
            <p:cNvPr id="82" name="Рисунок 81">
              <a:extLst>
                <a:ext uri="{FF2B5EF4-FFF2-40B4-BE49-F238E27FC236}">
                  <a16:creationId xmlns:a16="http://schemas.microsoft.com/office/drawing/2014/main" id="{3C521D32-8402-4BA0-8557-9EADD7C16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alphaModFix amt="50000"/>
            </a:blip>
            <a:stretch>
              <a:fillRect/>
            </a:stretch>
          </p:blipFill>
          <p:spPr>
            <a:xfrm>
              <a:off x="5680819" y="3237436"/>
              <a:ext cx="503789" cy="168588"/>
            </a:xfrm>
            <a:prstGeom prst="rect">
              <a:avLst/>
            </a:prstGeom>
          </p:spPr>
        </p:pic>
      </p:grpSp>
      <p:sp>
        <p:nvSpPr>
          <p:cNvPr id="84" name="Скругленный прямоугольник 296">
            <a:extLst>
              <a:ext uri="{FF2B5EF4-FFF2-40B4-BE49-F238E27FC236}">
                <a16:creationId xmlns:a16="http://schemas.microsoft.com/office/drawing/2014/main" id="{B23E4372-9DAF-4A42-9179-4A53CBAE5F56}"/>
              </a:ext>
            </a:extLst>
          </p:cNvPr>
          <p:cNvSpPr/>
          <p:nvPr/>
        </p:nvSpPr>
        <p:spPr>
          <a:xfrm>
            <a:off x="8741136" y="866500"/>
            <a:ext cx="3195055" cy="5590791"/>
          </a:xfrm>
          <a:prstGeom prst="roundRect">
            <a:avLst>
              <a:gd name="adj" fmla="val 4895"/>
            </a:avLst>
          </a:prstGeom>
          <a:noFill/>
          <a:ln>
            <a:solidFill>
              <a:srgbClr val="4525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5" name="Google Shape;57;p13">
            <a:extLst>
              <a:ext uri="{FF2B5EF4-FFF2-40B4-BE49-F238E27FC236}">
                <a16:creationId xmlns:a16="http://schemas.microsoft.com/office/drawing/2014/main" id="{1FF95FB3-2BC7-4E02-BC99-75A5A8F96414}"/>
              </a:ext>
            </a:extLst>
          </p:cNvPr>
          <p:cNvSpPr txBox="1"/>
          <p:nvPr/>
        </p:nvSpPr>
        <p:spPr>
          <a:xfrm>
            <a:off x="8915230" y="994501"/>
            <a:ext cx="1950795" cy="3773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ru-RU"/>
            </a:defPPr>
            <a:lvl1pPr hangingPunct="0">
              <a:spcAft>
                <a:spcPts val="429"/>
              </a:spcAft>
              <a:defRPr sz="1200" kern="0">
                <a:solidFill>
                  <a:srgbClr val="4525FF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Calibri"/>
              </a:defRPr>
            </a:lvl1pPr>
          </a:lstStyle>
          <a:p>
            <a:r>
              <a:rPr lang="ru-RU" dirty="0"/>
              <a:t>Крупнейшие кейсы </a:t>
            </a:r>
            <a:r>
              <a:rPr lang="ru-RU"/>
              <a:t>в </a:t>
            </a:r>
            <a:r>
              <a:rPr lang="en-US" dirty="0"/>
              <a:t>HR </a:t>
            </a:r>
          </a:p>
        </p:txBody>
      </p:sp>
      <p:grpSp>
        <p:nvGrpSpPr>
          <p:cNvPr id="448" name="Группа 447">
            <a:extLst>
              <a:ext uri="{FF2B5EF4-FFF2-40B4-BE49-F238E27FC236}">
                <a16:creationId xmlns:a16="http://schemas.microsoft.com/office/drawing/2014/main" id="{A21E493D-31C4-68EF-B1D1-81C00763014F}"/>
              </a:ext>
            </a:extLst>
          </p:cNvPr>
          <p:cNvGrpSpPr/>
          <p:nvPr/>
        </p:nvGrpSpPr>
        <p:grpSpPr>
          <a:xfrm>
            <a:off x="8915229" y="1675875"/>
            <a:ext cx="2198713" cy="392795"/>
            <a:chOff x="8915229" y="1675875"/>
            <a:chExt cx="2198713" cy="392795"/>
          </a:xfrm>
        </p:grpSpPr>
        <p:pic>
          <p:nvPicPr>
            <p:cNvPr id="14" name="Рисунок 13">
              <a:extLst>
                <a:ext uri="{FF2B5EF4-FFF2-40B4-BE49-F238E27FC236}">
                  <a16:creationId xmlns:a16="http://schemas.microsoft.com/office/drawing/2014/main" id="{96F1CBB9-EF76-4FCB-9E24-84E4D9C2FF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069880" y="1919154"/>
              <a:ext cx="612600" cy="149516"/>
            </a:xfrm>
            <a:prstGeom prst="rect">
              <a:avLst/>
            </a:prstGeom>
          </p:spPr>
        </p:pic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5EF96982-60B5-4D5D-9D7F-3D24BCE47ADC}"/>
                </a:ext>
              </a:extLst>
            </p:cNvPr>
            <p:cNvSpPr txBox="1"/>
            <p:nvPr/>
          </p:nvSpPr>
          <p:spPr>
            <a:xfrm>
              <a:off x="8915229" y="1675875"/>
              <a:ext cx="2198713" cy="18466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180000" indent="-180000">
                <a:buClr>
                  <a:srgbClr val="4525FF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Roboto" panose="02000000000000000000" pitchFamily="2" charset="0"/>
                  <a:ea typeface="Roboto" panose="02000000000000000000" pitchFamily="2" charset="0"/>
                </a:rPr>
                <a:t>SK Connect </a:t>
              </a: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для Сколково</a:t>
              </a:r>
            </a:p>
          </p:txBody>
        </p:sp>
        <p:pic>
          <p:nvPicPr>
            <p:cNvPr id="93" name="Рисунок 92">
              <a:extLst>
                <a:ext uri="{FF2B5EF4-FFF2-40B4-BE49-F238E27FC236}">
                  <a16:creationId xmlns:a16="http://schemas.microsoft.com/office/drawing/2014/main" id="{66B87108-7279-4D85-A089-68F685C74B1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824452" y="1937306"/>
              <a:ext cx="416216" cy="124642"/>
            </a:xfrm>
            <a:prstGeom prst="rect">
              <a:avLst/>
            </a:prstGeom>
          </p:spPr>
        </p:pic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361ED1B4-87A1-4640-8F6D-556C633C251C}"/>
              </a:ext>
            </a:extLst>
          </p:cNvPr>
          <p:cNvSpPr txBox="1"/>
          <p:nvPr/>
        </p:nvSpPr>
        <p:spPr>
          <a:xfrm>
            <a:off x="8915229" y="2258848"/>
            <a:ext cx="2145201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80000" indent="-180000"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latin typeface="Roboto" panose="02000000000000000000" pitchFamily="2" charset="0"/>
                <a:ea typeface="Roboto" panose="02000000000000000000" pitchFamily="2" charset="0"/>
              </a:rPr>
              <a:t>Clue WFM </a:t>
            </a:r>
            <a:r>
              <a:rPr lang="ru-RU" sz="1200" dirty="0">
                <a:latin typeface="Roboto" panose="02000000000000000000" pitchFamily="2" charset="0"/>
                <a:ea typeface="Roboto" panose="02000000000000000000" pitchFamily="2" charset="0"/>
              </a:rPr>
              <a:t>для </a:t>
            </a:r>
            <a:r>
              <a:rPr lang="en-US" sz="1200" dirty="0">
                <a:latin typeface="Roboto" panose="02000000000000000000" pitchFamily="2" charset="0"/>
                <a:ea typeface="Roboto" panose="02000000000000000000" pitchFamily="2" charset="0"/>
              </a:rPr>
              <a:t>X5</a:t>
            </a:r>
          </a:p>
        </p:txBody>
      </p:sp>
      <p:grpSp>
        <p:nvGrpSpPr>
          <p:cNvPr id="447" name="Группа 446">
            <a:extLst>
              <a:ext uri="{FF2B5EF4-FFF2-40B4-BE49-F238E27FC236}">
                <a16:creationId xmlns:a16="http://schemas.microsoft.com/office/drawing/2014/main" id="{46DE9BB6-0473-172B-DDD6-E75B53AF83AB}"/>
              </a:ext>
            </a:extLst>
          </p:cNvPr>
          <p:cNvGrpSpPr/>
          <p:nvPr/>
        </p:nvGrpSpPr>
        <p:grpSpPr>
          <a:xfrm>
            <a:off x="8915229" y="2633692"/>
            <a:ext cx="2145201" cy="410317"/>
            <a:chOff x="8915229" y="2504173"/>
            <a:chExt cx="2145201" cy="410317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5C1708F6-C2BA-4DEB-A9B8-050C2C31F752}"/>
                </a:ext>
              </a:extLst>
            </p:cNvPr>
            <p:cNvSpPr txBox="1"/>
            <p:nvPr/>
          </p:nvSpPr>
          <p:spPr>
            <a:xfrm>
              <a:off x="8915229" y="2504173"/>
              <a:ext cx="2145201" cy="18466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180000" indent="-180000">
                <a:buClr>
                  <a:srgbClr val="4525FF"/>
                </a:buClr>
                <a:buFont typeface="Arial" panose="020B0604020202020204" pitchFamily="34" charset="0"/>
                <a:buChar char="•"/>
              </a:pP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AI помощник HR для МИК</a:t>
              </a:r>
            </a:p>
          </p:txBody>
        </p:sp>
        <p:pic>
          <p:nvPicPr>
            <p:cNvPr id="96" name="Рисунок 95">
              <a:extLst>
                <a:ext uri="{FF2B5EF4-FFF2-40B4-BE49-F238E27FC236}">
                  <a16:creationId xmlns:a16="http://schemas.microsoft.com/office/drawing/2014/main" id="{8B671AFD-D84F-441D-9005-3968AA56E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069880" y="2764974"/>
              <a:ext cx="612600" cy="149516"/>
            </a:xfrm>
            <a:prstGeom prst="rect">
              <a:avLst/>
            </a:prstGeom>
          </p:spPr>
        </p:pic>
      </p:grpSp>
      <p:cxnSp>
        <p:nvCxnSpPr>
          <p:cNvPr id="105" name="Прямая соединительная линия 104">
            <a:extLst>
              <a:ext uri="{FF2B5EF4-FFF2-40B4-BE49-F238E27FC236}">
                <a16:creationId xmlns:a16="http://schemas.microsoft.com/office/drawing/2014/main" id="{4D2A8DBC-2CD0-4B12-A3F9-F76D455761D0}"/>
              </a:ext>
            </a:extLst>
          </p:cNvPr>
          <p:cNvCxnSpPr>
            <a:cxnSpLocks/>
          </p:cNvCxnSpPr>
          <p:nvPr/>
        </p:nvCxnSpPr>
        <p:spPr>
          <a:xfrm>
            <a:off x="285750" y="1619227"/>
            <a:ext cx="4712970" cy="0"/>
          </a:xfrm>
          <a:prstGeom prst="line">
            <a:avLst/>
          </a:prstGeom>
          <a:ln w="12700">
            <a:solidFill>
              <a:srgbClr val="4525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341734C-1D17-2D3C-6359-1BEE3EC7A77C}"/>
              </a:ext>
            </a:extLst>
          </p:cNvPr>
          <p:cNvSpPr txBox="1"/>
          <p:nvPr/>
        </p:nvSpPr>
        <p:spPr>
          <a:xfrm>
            <a:off x="279081" y="6303403"/>
            <a:ext cx="1557175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000" dirty="0">
                <a:solidFill>
                  <a:schemeClr val="bg1">
                    <a:lumMod val="6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*бесплатный пилот</a:t>
            </a:r>
          </a:p>
        </p:txBody>
      </p:sp>
      <p:grpSp>
        <p:nvGrpSpPr>
          <p:cNvPr id="440" name="Группа 439">
            <a:extLst>
              <a:ext uri="{FF2B5EF4-FFF2-40B4-BE49-F238E27FC236}">
                <a16:creationId xmlns:a16="http://schemas.microsoft.com/office/drawing/2014/main" id="{1090DEC8-2812-92A3-E40B-F305BD0BB84F}"/>
              </a:ext>
            </a:extLst>
          </p:cNvPr>
          <p:cNvGrpSpPr/>
          <p:nvPr/>
        </p:nvGrpSpPr>
        <p:grpSpPr>
          <a:xfrm>
            <a:off x="5482317" y="3510995"/>
            <a:ext cx="2817517" cy="296802"/>
            <a:chOff x="5482317" y="3184502"/>
            <a:chExt cx="2817517" cy="296802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7A094B9-9012-411D-9B97-E81EBF1F49B3}"/>
                </a:ext>
              </a:extLst>
            </p:cNvPr>
            <p:cNvSpPr txBox="1"/>
            <p:nvPr/>
          </p:nvSpPr>
          <p:spPr>
            <a:xfrm>
              <a:off x="5482317" y="3240570"/>
              <a:ext cx="2817517" cy="18466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180000" indent="-180000">
                <a:spcAft>
                  <a:spcPts val="600"/>
                </a:spcAft>
                <a:buClr>
                  <a:srgbClr val="4525FF"/>
                </a:buClr>
                <a:buFont typeface="Arial" panose="020B0604020202020204" pitchFamily="34" charset="0"/>
                <a:buChar char="•"/>
              </a:pP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Цифровая трансформация</a:t>
              </a:r>
            </a:p>
          </p:txBody>
        </p:sp>
        <p:sp>
          <p:nvSpPr>
            <p:cNvPr id="13" name="Рисунок 11">
              <a:extLst>
                <a:ext uri="{FF2B5EF4-FFF2-40B4-BE49-F238E27FC236}">
                  <a16:creationId xmlns:a16="http://schemas.microsoft.com/office/drawing/2014/main" id="{EF0683F5-7063-9832-4E0D-F753B091892E}"/>
                </a:ext>
              </a:extLst>
            </p:cNvPr>
            <p:cNvSpPr/>
            <p:nvPr/>
          </p:nvSpPr>
          <p:spPr>
            <a:xfrm>
              <a:off x="7696662" y="3184502"/>
              <a:ext cx="296802" cy="296802"/>
            </a:xfrm>
            <a:custGeom>
              <a:avLst/>
              <a:gdLst>
                <a:gd name="connsiteX0" fmla="*/ 49866 w 623322"/>
                <a:gd name="connsiteY0" fmla="*/ 296535 h 623322"/>
                <a:gd name="connsiteX1" fmla="*/ 58250 w 623322"/>
                <a:gd name="connsiteY1" fmla="*/ 287704 h 623322"/>
                <a:gd name="connsiteX2" fmla="*/ 58706 w 623322"/>
                <a:gd name="connsiteY2" fmla="*/ 282063 h 623322"/>
                <a:gd name="connsiteX3" fmla="*/ 44038 w 623322"/>
                <a:gd name="connsiteY3" fmla="*/ 280869 h 623322"/>
                <a:gd name="connsiteX4" fmla="*/ 43414 w 623322"/>
                <a:gd name="connsiteY4" fmla="*/ 286780 h 623322"/>
                <a:gd name="connsiteX5" fmla="*/ 49866 w 623322"/>
                <a:gd name="connsiteY5" fmla="*/ 296535 h 623322"/>
                <a:gd name="connsiteX6" fmla="*/ 533199 w 623322"/>
                <a:gd name="connsiteY6" fmla="*/ 229819 h 623322"/>
                <a:gd name="connsiteX7" fmla="*/ 555535 w 623322"/>
                <a:gd name="connsiteY7" fmla="*/ 239346 h 623322"/>
                <a:gd name="connsiteX8" fmla="*/ 566193 w 623322"/>
                <a:gd name="connsiteY8" fmla="*/ 217414 h 623322"/>
                <a:gd name="connsiteX9" fmla="*/ 543858 w 623322"/>
                <a:gd name="connsiteY9" fmla="*/ 207899 h 623322"/>
                <a:gd name="connsiteX10" fmla="*/ 533199 w 623322"/>
                <a:gd name="connsiteY10" fmla="*/ 229819 h 623322"/>
                <a:gd name="connsiteX11" fmla="*/ 234473 w 623322"/>
                <a:gd name="connsiteY11" fmla="*/ 542414 h 623322"/>
                <a:gd name="connsiteX12" fmla="*/ 242399 w 623322"/>
                <a:gd name="connsiteY12" fmla="*/ 551651 h 623322"/>
                <a:gd name="connsiteX13" fmla="*/ 252259 w 623322"/>
                <a:gd name="connsiteY13" fmla="*/ 554509 h 623322"/>
                <a:gd name="connsiteX14" fmla="*/ 256040 w 623322"/>
                <a:gd name="connsiteY14" fmla="*/ 541469 h 623322"/>
                <a:gd name="connsiteX15" fmla="*/ 245579 w 623322"/>
                <a:gd name="connsiteY15" fmla="*/ 538426 h 623322"/>
                <a:gd name="connsiteX16" fmla="*/ 234473 w 623322"/>
                <a:gd name="connsiteY16" fmla="*/ 542414 h 623322"/>
                <a:gd name="connsiteX17" fmla="*/ 231356 w 623322"/>
                <a:gd name="connsiteY17" fmla="*/ 563193 h 623322"/>
                <a:gd name="connsiteX18" fmla="*/ 237953 w 623322"/>
                <a:gd name="connsiteY18" fmla="*/ 571667 h 623322"/>
                <a:gd name="connsiteX19" fmla="*/ 246586 w 623322"/>
                <a:gd name="connsiteY19" fmla="*/ 574172 h 623322"/>
                <a:gd name="connsiteX20" fmla="*/ 250254 w 623322"/>
                <a:gd name="connsiteY20" fmla="*/ 561539 h 623322"/>
                <a:gd name="connsiteX21" fmla="*/ 242234 w 623322"/>
                <a:gd name="connsiteY21" fmla="*/ 559201 h 623322"/>
                <a:gd name="connsiteX22" fmla="*/ 231305 w 623322"/>
                <a:gd name="connsiteY22" fmla="*/ 563235 h 623322"/>
                <a:gd name="connsiteX23" fmla="*/ 231356 w 623322"/>
                <a:gd name="connsiteY23" fmla="*/ 563193 h 623322"/>
                <a:gd name="connsiteX24" fmla="*/ 365744 w 623322"/>
                <a:gd name="connsiteY24" fmla="*/ 69677 h 623322"/>
                <a:gd name="connsiteX25" fmla="*/ 361027 w 623322"/>
                <a:gd name="connsiteY25" fmla="*/ 48827 h 623322"/>
                <a:gd name="connsiteX26" fmla="*/ 349133 w 623322"/>
                <a:gd name="connsiteY26" fmla="*/ 66571 h 623322"/>
                <a:gd name="connsiteX27" fmla="*/ 357443 w 623322"/>
                <a:gd name="connsiteY27" fmla="*/ 67983 h 623322"/>
                <a:gd name="connsiteX28" fmla="*/ 365744 w 623322"/>
                <a:gd name="connsiteY28" fmla="*/ 69677 h 623322"/>
                <a:gd name="connsiteX29" fmla="*/ 65730 w 623322"/>
                <a:gd name="connsiteY29" fmla="*/ 342640 h 623322"/>
                <a:gd name="connsiteX30" fmla="*/ 47684 w 623322"/>
                <a:gd name="connsiteY30" fmla="*/ 354130 h 623322"/>
                <a:gd name="connsiteX31" fmla="*/ 68462 w 623322"/>
                <a:gd name="connsiteY31" fmla="*/ 359324 h 623322"/>
                <a:gd name="connsiteX32" fmla="*/ 66976 w 623322"/>
                <a:gd name="connsiteY32" fmla="*/ 351014 h 623322"/>
                <a:gd name="connsiteX33" fmla="*/ 65730 w 623322"/>
                <a:gd name="connsiteY33" fmla="*/ 342640 h 623322"/>
                <a:gd name="connsiteX34" fmla="*/ 238940 w 623322"/>
                <a:gd name="connsiteY34" fmla="*/ 87421 h 623322"/>
                <a:gd name="connsiteX35" fmla="*/ 249329 w 623322"/>
                <a:gd name="connsiteY35" fmla="*/ 65511 h 623322"/>
                <a:gd name="connsiteX36" fmla="*/ 227865 w 623322"/>
                <a:gd name="connsiteY36" fmla="*/ 53959 h 623322"/>
                <a:gd name="connsiteX37" fmla="*/ 217477 w 623322"/>
                <a:gd name="connsiteY37" fmla="*/ 75869 h 623322"/>
                <a:gd name="connsiteX38" fmla="*/ 238940 w 623322"/>
                <a:gd name="connsiteY38" fmla="*/ 87421 h 623322"/>
                <a:gd name="connsiteX39" fmla="*/ 186769 w 623322"/>
                <a:gd name="connsiteY39" fmla="*/ 522084 h 623322"/>
                <a:gd name="connsiteX40" fmla="*/ 191692 w 623322"/>
                <a:gd name="connsiteY40" fmla="*/ 534094 h 623322"/>
                <a:gd name="connsiteX41" fmla="*/ 198154 w 623322"/>
                <a:gd name="connsiteY41" fmla="*/ 537895 h 623322"/>
                <a:gd name="connsiteX42" fmla="*/ 206465 w 623322"/>
                <a:gd name="connsiteY42" fmla="*/ 523807 h 623322"/>
                <a:gd name="connsiteX43" fmla="*/ 199879 w 623322"/>
                <a:gd name="connsiteY43" fmla="*/ 519932 h 623322"/>
                <a:gd name="connsiteX44" fmla="*/ 186810 w 623322"/>
                <a:gd name="connsiteY44" fmla="*/ 522084 h 623322"/>
                <a:gd name="connsiteX45" fmla="*/ 186769 w 623322"/>
                <a:gd name="connsiteY45" fmla="*/ 522084 h 623322"/>
                <a:gd name="connsiteX46" fmla="*/ 564625 w 623322"/>
                <a:gd name="connsiteY46" fmla="*/ 339513 h 623322"/>
                <a:gd name="connsiteX47" fmla="*/ 544346 w 623322"/>
                <a:gd name="connsiteY47" fmla="*/ 353019 h 623322"/>
                <a:gd name="connsiteX48" fmla="*/ 558798 w 623322"/>
                <a:gd name="connsiteY48" fmla="*/ 372529 h 623322"/>
                <a:gd name="connsiteX49" fmla="*/ 579078 w 623322"/>
                <a:gd name="connsiteY49" fmla="*/ 359022 h 623322"/>
                <a:gd name="connsiteX50" fmla="*/ 564625 w 623322"/>
                <a:gd name="connsiteY50" fmla="*/ 339513 h 623322"/>
                <a:gd name="connsiteX51" fmla="*/ 302706 w 623322"/>
                <a:gd name="connsiteY51" fmla="*/ 219970 h 623322"/>
                <a:gd name="connsiteX52" fmla="*/ 353361 w 623322"/>
                <a:gd name="connsiteY52" fmla="*/ 219970 h 623322"/>
                <a:gd name="connsiteX53" fmla="*/ 342307 w 623322"/>
                <a:gd name="connsiteY53" fmla="*/ 193229 h 623322"/>
                <a:gd name="connsiteX54" fmla="*/ 303454 w 623322"/>
                <a:gd name="connsiteY54" fmla="*/ 176410 h 623322"/>
                <a:gd name="connsiteX55" fmla="*/ 274542 w 623322"/>
                <a:gd name="connsiteY55" fmla="*/ 176410 h 623322"/>
                <a:gd name="connsiteX56" fmla="*/ 274542 w 623322"/>
                <a:gd name="connsiteY56" fmla="*/ 437936 h 623322"/>
                <a:gd name="connsiteX57" fmla="*/ 302706 w 623322"/>
                <a:gd name="connsiteY57" fmla="*/ 437936 h 623322"/>
                <a:gd name="connsiteX58" fmla="*/ 302706 w 623322"/>
                <a:gd name="connsiteY58" fmla="*/ 340333 h 623322"/>
                <a:gd name="connsiteX59" fmla="*/ 339461 w 623322"/>
                <a:gd name="connsiteY59" fmla="*/ 340333 h 623322"/>
                <a:gd name="connsiteX60" fmla="*/ 339461 w 623322"/>
                <a:gd name="connsiteY60" fmla="*/ 437831 h 623322"/>
                <a:gd name="connsiteX61" fmla="*/ 371313 w 623322"/>
                <a:gd name="connsiteY61" fmla="*/ 437831 h 623322"/>
                <a:gd name="connsiteX62" fmla="*/ 371313 w 623322"/>
                <a:gd name="connsiteY62" fmla="*/ 392403 h 623322"/>
                <a:gd name="connsiteX63" fmla="*/ 302342 w 623322"/>
                <a:gd name="connsiteY63" fmla="*/ 299028 h 623322"/>
                <a:gd name="connsiteX64" fmla="*/ 302342 w 623322"/>
                <a:gd name="connsiteY64" fmla="*/ 284432 h 623322"/>
                <a:gd name="connsiteX65" fmla="*/ 302664 w 623322"/>
                <a:gd name="connsiteY65" fmla="*/ 284432 h 623322"/>
                <a:gd name="connsiteX66" fmla="*/ 342412 w 623322"/>
                <a:gd name="connsiteY66" fmla="*/ 265119 h 623322"/>
                <a:gd name="connsiteX67" fmla="*/ 353839 w 623322"/>
                <a:gd name="connsiteY67" fmla="*/ 234379 h 623322"/>
                <a:gd name="connsiteX68" fmla="*/ 302727 w 623322"/>
                <a:gd name="connsiteY68" fmla="*/ 234379 h 623322"/>
                <a:gd name="connsiteX69" fmla="*/ 302706 w 623322"/>
                <a:gd name="connsiteY69" fmla="*/ 219970 h 623322"/>
                <a:gd name="connsiteX70" fmla="*/ 311661 w 623322"/>
                <a:gd name="connsiteY70" fmla="*/ 0 h 623322"/>
                <a:gd name="connsiteX71" fmla="*/ 0 w 623322"/>
                <a:gd name="connsiteY71" fmla="*/ 311661 h 623322"/>
                <a:gd name="connsiteX72" fmla="*/ 311661 w 623322"/>
                <a:gd name="connsiteY72" fmla="*/ 623322 h 623322"/>
                <a:gd name="connsiteX73" fmla="*/ 623322 w 623322"/>
                <a:gd name="connsiteY73" fmla="*/ 311661 h 623322"/>
                <a:gd name="connsiteX74" fmla="*/ 311661 w 623322"/>
                <a:gd name="connsiteY74" fmla="*/ 0 h 623322"/>
                <a:gd name="connsiteX75" fmla="*/ 586662 w 623322"/>
                <a:gd name="connsiteY75" fmla="*/ 271675 h 623322"/>
                <a:gd name="connsiteX76" fmla="*/ 566007 w 623322"/>
                <a:gd name="connsiteY76" fmla="*/ 273607 h 623322"/>
                <a:gd name="connsiteX77" fmla="*/ 565895 w 623322"/>
                <a:gd name="connsiteY77" fmla="*/ 273607 h 623322"/>
                <a:gd name="connsiteX78" fmla="*/ 567598 w 623322"/>
                <a:gd name="connsiteY78" fmla="*/ 287694 h 623322"/>
                <a:gd name="connsiteX79" fmla="*/ 568532 w 623322"/>
                <a:gd name="connsiteY79" fmla="*/ 301843 h 623322"/>
                <a:gd name="connsiteX80" fmla="*/ 568655 w 623322"/>
                <a:gd name="connsiteY80" fmla="*/ 301843 h 623322"/>
                <a:gd name="connsiteX81" fmla="*/ 589155 w 623322"/>
                <a:gd name="connsiteY81" fmla="*/ 299922 h 623322"/>
                <a:gd name="connsiteX82" fmla="*/ 589569 w 623322"/>
                <a:gd name="connsiteY82" fmla="*/ 308617 h 623322"/>
                <a:gd name="connsiteX83" fmla="*/ 540648 w 623322"/>
                <a:gd name="connsiteY83" fmla="*/ 313209 h 623322"/>
                <a:gd name="connsiteX84" fmla="*/ 540432 w 623322"/>
                <a:gd name="connsiteY84" fmla="*/ 304482 h 623322"/>
                <a:gd name="connsiteX85" fmla="*/ 560626 w 623322"/>
                <a:gd name="connsiteY85" fmla="*/ 302592 h 623322"/>
                <a:gd name="connsiteX86" fmla="*/ 560823 w 623322"/>
                <a:gd name="connsiteY86" fmla="*/ 302592 h 623322"/>
                <a:gd name="connsiteX87" fmla="*/ 559898 w 623322"/>
                <a:gd name="connsiteY87" fmla="*/ 288442 h 623322"/>
                <a:gd name="connsiteX88" fmla="*/ 558175 w 623322"/>
                <a:gd name="connsiteY88" fmla="*/ 274365 h 623322"/>
                <a:gd name="connsiteX89" fmla="*/ 557978 w 623322"/>
                <a:gd name="connsiteY89" fmla="*/ 274365 h 623322"/>
                <a:gd name="connsiteX90" fmla="*/ 537771 w 623322"/>
                <a:gd name="connsiteY90" fmla="*/ 276256 h 623322"/>
                <a:gd name="connsiteX91" fmla="*/ 536378 w 623322"/>
                <a:gd name="connsiteY91" fmla="*/ 267644 h 623322"/>
                <a:gd name="connsiteX92" fmla="*/ 585268 w 623322"/>
                <a:gd name="connsiteY92" fmla="*/ 263063 h 623322"/>
                <a:gd name="connsiteX93" fmla="*/ 586662 w 623322"/>
                <a:gd name="connsiteY93" fmla="*/ 271675 h 623322"/>
                <a:gd name="connsiteX94" fmla="*/ 573735 w 623322"/>
                <a:gd name="connsiteY94" fmla="*/ 214765 h 623322"/>
                <a:gd name="connsiteX95" fmla="*/ 558713 w 623322"/>
                <a:gd name="connsiteY95" fmla="*/ 247895 h 623322"/>
                <a:gd name="connsiteX96" fmla="*/ 525658 w 623322"/>
                <a:gd name="connsiteY96" fmla="*/ 232468 h 623322"/>
                <a:gd name="connsiteX97" fmla="*/ 540679 w 623322"/>
                <a:gd name="connsiteY97" fmla="*/ 199339 h 623322"/>
                <a:gd name="connsiteX98" fmla="*/ 573735 w 623322"/>
                <a:gd name="connsiteY98" fmla="*/ 214765 h 623322"/>
                <a:gd name="connsiteX99" fmla="*/ 537094 w 623322"/>
                <a:gd name="connsiteY99" fmla="*/ 149099 h 623322"/>
                <a:gd name="connsiteX100" fmla="*/ 519882 w 623322"/>
                <a:gd name="connsiteY100" fmla="*/ 160401 h 623322"/>
                <a:gd name="connsiteX101" fmla="*/ 522634 w 623322"/>
                <a:gd name="connsiteY101" fmla="*/ 164557 h 623322"/>
                <a:gd name="connsiteX102" fmla="*/ 549065 w 623322"/>
                <a:gd name="connsiteY102" fmla="*/ 167549 h 623322"/>
                <a:gd name="connsiteX103" fmla="*/ 554393 w 623322"/>
                <a:gd name="connsiteY103" fmla="*/ 176192 h 623322"/>
                <a:gd name="connsiteX104" fmla="*/ 524337 w 623322"/>
                <a:gd name="connsiteY104" fmla="*/ 171923 h 623322"/>
                <a:gd name="connsiteX105" fmla="*/ 519145 w 623322"/>
                <a:gd name="connsiteY105" fmla="*/ 188014 h 623322"/>
                <a:gd name="connsiteX106" fmla="*/ 520098 w 623322"/>
                <a:gd name="connsiteY106" fmla="*/ 199921 h 623322"/>
                <a:gd name="connsiteX107" fmla="*/ 513772 w 623322"/>
                <a:gd name="connsiteY107" fmla="*/ 204075 h 623322"/>
                <a:gd name="connsiteX108" fmla="*/ 511302 w 623322"/>
                <a:gd name="connsiteY108" fmla="*/ 184451 h 623322"/>
                <a:gd name="connsiteX109" fmla="*/ 516401 w 623322"/>
                <a:gd name="connsiteY109" fmla="*/ 169772 h 623322"/>
                <a:gd name="connsiteX110" fmla="*/ 513129 w 623322"/>
                <a:gd name="connsiteY110" fmla="*/ 164775 h 623322"/>
                <a:gd name="connsiteX111" fmla="*/ 496009 w 623322"/>
                <a:gd name="connsiteY111" fmla="*/ 176005 h 623322"/>
                <a:gd name="connsiteX112" fmla="*/ 490899 w 623322"/>
                <a:gd name="connsiteY112" fmla="*/ 168952 h 623322"/>
                <a:gd name="connsiteX113" fmla="*/ 531829 w 623322"/>
                <a:gd name="connsiteY113" fmla="*/ 142076 h 623322"/>
                <a:gd name="connsiteX114" fmla="*/ 537094 w 623322"/>
                <a:gd name="connsiteY114" fmla="*/ 149099 h 623322"/>
                <a:gd name="connsiteX115" fmla="*/ 456240 w 623322"/>
                <a:gd name="connsiteY115" fmla="*/ 119823 h 623322"/>
                <a:gd name="connsiteX116" fmla="*/ 464924 w 623322"/>
                <a:gd name="connsiteY116" fmla="*/ 121018 h 623322"/>
                <a:gd name="connsiteX117" fmla="*/ 465404 w 623322"/>
                <a:gd name="connsiteY117" fmla="*/ 129388 h 623322"/>
                <a:gd name="connsiteX118" fmla="*/ 470027 w 623322"/>
                <a:gd name="connsiteY118" fmla="*/ 136383 h 623322"/>
                <a:gd name="connsiteX119" fmla="*/ 491510 w 623322"/>
                <a:gd name="connsiteY119" fmla="*/ 137224 h 623322"/>
                <a:gd name="connsiteX120" fmla="*/ 480198 w 623322"/>
                <a:gd name="connsiteY120" fmla="*/ 126295 h 623322"/>
                <a:gd name="connsiteX121" fmla="*/ 475447 w 623322"/>
                <a:gd name="connsiteY121" fmla="*/ 122078 h 623322"/>
                <a:gd name="connsiteX122" fmla="*/ 480507 w 623322"/>
                <a:gd name="connsiteY122" fmla="*/ 116228 h 623322"/>
                <a:gd name="connsiteX123" fmla="*/ 485401 w 623322"/>
                <a:gd name="connsiteY123" fmla="*/ 120561 h 623322"/>
                <a:gd name="connsiteX124" fmla="*/ 496706 w 623322"/>
                <a:gd name="connsiteY124" fmla="*/ 131480 h 623322"/>
                <a:gd name="connsiteX125" fmla="*/ 493826 w 623322"/>
                <a:gd name="connsiteY125" fmla="*/ 110401 h 623322"/>
                <a:gd name="connsiteX126" fmla="*/ 486617 w 623322"/>
                <a:gd name="connsiteY126" fmla="*/ 106520 h 623322"/>
                <a:gd name="connsiteX127" fmla="*/ 478433 w 623322"/>
                <a:gd name="connsiteY127" fmla="*/ 106630 h 623322"/>
                <a:gd name="connsiteX128" fmla="*/ 476509 w 623322"/>
                <a:gd name="connsiteY128" fmla="*/ 97945 h 623322"/>
                <a:gd name="connsiteX129" fmla="*/ 488595 w 623322"/>
                <a:gd name="connsiteY129" fmla="*/ 98395 h 623322"/>
                <a:gd name="connsiteX130" fmla="*/ 499103 w 623322"/>
                <a:gd name="connsiteY130" fmla="*/ 104386 h 623322"/>
                <a:gd name="connsiteX131" fmla="*/ 501100 w 623322"/>
                <a:gd name="connsiteY131" fmla="*/ 140808 h 623322"/>
                <a:gd name="connsiteX132" fmla="*/ 464739 w 623322"/>
                <a:gd name="connsiteY132" fmla="*/ 142398 h 623322"/>
                <a:gd name="connsiteX133" fmla="*/ 457654 w 623322"/>
                <a:gd name="connsiteY133" fmla="*/ 132178 h 623322"/>
                <a:gd name="connsiteX134" fmla="*/ 456229 w 623322"/>
                <a:gd name="connsiteY134" fmla="*/ 119823 h 623322"/>
                <a:gd name="connsiteX135" fmla="*/ 456240 w 623322"/>
                <a:gd name="connsiteY135" fmla="*/ 119823 h 623322"/>
                <a:gd name="connsiteX136" fmla="*/ 417274 w 623322"/>
                <a:gd name="connsiteY136" fmla="*/ 81250 h 623322"/>
                <a:gd name="connsiteX137" fmla="*/ 421245 w 623322"/>
                <a:gd name="connsiteY137" fmla="*/ 77068 h 623322"/>
                <a:gd name="connsiteX138" fmla="*/ 426871 w 623322"/>
                <a:gd name="connsiteY138" fmla="*/ 75804 h 623322"/>
                <a:gd name="connsiteX139" fmla="*/ 432253 w 623322"/>
                <a:gd name="connsiteY139" fmla="*/ 77882 h 623322"/>
                <a:gd name="connsiteX140" fmla="*/ 435566 w 623322"/>
                <a:gd name="connsiteY140" fmla="*/ 82603 h 623322"/>
                <a:gd name="connsiteX141" fmla="*/ 435694 w 623322"/>
                <a:gd name="connsiteY141" fmla="*/ 88369 h 623322"/>
                <a:gd name="connsiteX142" fmla="*/ 432596 w 623322"/>
                <a:gd name="connsiteY142" fmla="*/ 93232 h 623322"/>
                <a:gd name="connsiteX143" fmla="*/ 427312 w 623322"/>
                <a:gd name="connsiteY143" fmla="*/ 95549 h 623322"/>
                <a:gd name="connsiteX144" fmla="*/ 421636 w 623322"/>
                <a:gd name="connsiteY144" fmla="*/ 94537 h 623322"/>
                <a:gd name="connsiteX145" fmla="*/ 416704 w 623322"/>
                <a:gd name="connsiteY145" fmla="*/ 88797 h 623322"/>
                <a:gd name="connsiteX146" fmla="*/ 417261 w 623322"/>
                <a:gd name="connsiteY146" fmla="*/ 81250 h 623322"/>
                <a:gd name="connsiteX147" fmla="*/ 417274 w 623322"/>
                <a:gd name="connsiteY147" fmla="*/ 81250 h 623322"/>
                <a:gd name="connsiteX148" fmla="*/ 411311 w 623322"/>
                <a:gd name="connsiteY148" fmla="*/ 397888 h 623322"/>
                <a:gd name="connsiteX149" fmla="*/ 411311 w 623322"/>
                <a:gd name="connsiteY149" fmla="*/ 453988 h 623322"/>
                <a:gd name="connsiteX150" fmla="*/ 234701 w 623322"/>
                <a:gd name="connsiteY150" fmla="*/ 453988 h 623322"/>
                <a:gd name="connsiteX151" fmla="*/ 234701 w 623322"/>
                <a:gd name="connsiteY151" fmla="*/ 161824 h 623322"/>
                <a:gd name="connsiteX152" fmla="*/ 296566 w 623322"/>
                <a:gd name="connsiteY152" fmla="*/ 161824 h 623322"/>
                <a:gd name="connsiteX153" fmla="*/ 298062 w 623322"/>
                <a:gd name="connsiteY153" fmla="*/ 161824 h 623322"/>
                <a:gd name="connsiteX154" fmla="*/ 313053 w 623322"/>
                <a:gd name="connsiteY154" fmla="*/ 161824 h 623322"/>
                <a:gd name="connsiteX155" fmla="*/ 369152 w 623322"/>
                <a:gd name="connsiteY155" fmla="*/ 177855 h 623322"/>
                <a:gd name="connsiteX156" fmla="*/ 392774 w 623322"/>
                <a:gd name="connsiteY156" fmla="*/ 228697 h 623322"/>
                <a:gd name="connsiteX157" fmla="*/ 377556 w 623322"/>
                <a:gd name="connsiteY157" fmla="*/ 270740 h 623322"/>
                <a:gd name="connsiteX158" fmla="*/ 349122 w 623322"/>
                <a:gd name="connsiteY158" fmla="*/ 292265 h 623322"/>
                <a:gd name="connsiteX159" fmla="*/ 411311 w 623322"/>
                <a:gd name="connsiteY159" fmla="*/ 397888 h 623322"/>
                <a:gd name="connsiteX160" fmla="*/ 359117 w 623322"/>
                <a:gd name="connsiteY160" fmla="*/ 37877 h 623322"/>
                <a:gd name="connsiteX161" fmla="*/ 367043 w 623322"/>
                <a:gd name="connsiteY161" fmla="*/ 39363 h 623322"/>
                <a:gd name="connsiteX162" fmla="*/ 379312 w 623322"/>
                <a:gd name="connsiteY162" fmla="*/ 93062 h 623322"/>
                <a:gd name="connsiteX163" fmla="*/ 370118 w 623322"/>
                <a:gd name="connsiteY163" fmla="*/ 90444 h 623322"/>
                <a:gd name="connsiteX164" fmla="*/ 367489 w 623322"/>
                <a:gd name="connsiteY164" fmla="*/ 78040 h 623322"/>
                <a:gd name="connsiteX165" fmla="*/ 356062 w 623322"/>
                <a:gd name="connsiteY165" fmla="*/ 75598 h 623322"/>
                <a:gd name="connsiteX166" fmla="*/ 344531 w 623322"/>
                <a:gd name="connsiteY166" fmla="*/ 73718 h 623322"/>
                <a:gd name="connsiteX167" fmla="*/ 337466 w 623322"/>
                <a:gd name="connsiteY167" fmla="*/ 84335 h 623322"/>
                <a:gd name="connsiteX168" fmla="*/ 328210 w 623322"/>
                <a:gd name="connsiteY168" fmla="*/ 83473 h 623322"/>
                <a:gd name="connsiteX169" fmla="*/ 359117 w 623322"/>
                <a:gd name="connsiteY169" fmla="*/ 37877 h 623322"/>
                <a:gd name="connsiteX170" fmla="*/ 270812 w 623322"/>
                <a:gd name="connsiteY170" fmla="*/ 78539 h 623322"/>
                <a:gd name="connsiteX171" fmla="*/ 273670 w 623322"/>
                <a:gd name="connsiteY171" fmla="*/ 78746 h 623322"/>
                <a:gd name="connsiteX172" fmla="*/ 280848 w 623322"/>
                <a:gd name="connsiteY172" fmla="*/ 45274 h 623322"/>
                <a:gd name="connsiteX173" fmla="*/ 280693 w 623322"/>
                <a:gd name="connsiteY173" fmla="*/ 43300 h 623322"/>
                <a:gd name="connsiteX174" fmla="*/ 280111 w 623322"/>
                <a:gd name="connsiteY174" fmla="*/ 35592 h 623322"/>
                <a:gd name="connsiteX175" fmla="*/ 281346 w 623322"/>
                <a:gd name="connsiteY175" fmla="*/ 35446 h 623322"/>
                <a:gd name="connsiteX176" fmla="*/ 300047 w 623322"/>
                <a:gd name="connsiteY176" fmla="*/ 34023 h 623322"/>
                <a:gd name="connsiteX177" fmla="*/ 314082 w 623322"/>
                <a:gd name="connsiteY177" fmla="*/ 33774 h 623322"/>
                <a:gd name="connsiteX178" fmla="*/ 314674 w 623322"/>
                <a:gd name="connsiteY178" fmla="*/ 41513 h 623322"/>
                <a:gd name="connsiteX179" fmla="*/ 317791 w 623322"/>
                <a:gd name="connsiteY179" fmla="*/ 82351 h 623322"/>
                <a:gd name="connsiteX180" fmla="*/ 309115 w 623322"/>
                <a:gd name="connsiteY180" fmla="*/ 83016 h 623322"/>
                <a:gd name="connsiteX181" fmla="*/ 305999 w 623322"/>
                <a:gd name="connsiteY181" fmla="*/ 41565 h 623322"/>
                <a:gd name="connsiteX182" fmla="*/ 291371 w 623322"/>
                <a:gd name="connsiteY182" fmla="*/ 42293 h 623322"/>
                <a:gd name="connsiteX183" fmla="*/ 288878 w 623322"/>
                <a:gd name="connsiteY183" fmla="*/ 42500 h 623322"/>
                <a:gd name="connsiteX184" fmla="*/ 289253 w 623322"/>
                <a:gd name="connsiteY184" fmla="*/ 47196 h 623322"/>
                <a:gd name="connsiteX185" fmla="*/ 276671 w 623322"/>
                <a:gd name="connsiteY185" fmla="*/ 86050 h 623322"/>
                <a:gd name="connsiteX186" fmla="*/ 270615 w 623322"/>
                <a:gd name="connsiteY186" fmla="*/ 85738 h 623322"/>
                <a:gd name="connsiteX187" fmla="*/ 270812 w 623322"/>
                <a:gd name="connsiteY187" fmla="*/ 78539 h 623322"/>
                <a:gd name="connsiteX188" fmla="*/ 225643 w 623322"/>
                <a:gd name="connsiteY188" fmla="*/ 46334 h 623322"/>
                <a:gd name="connsiteX189" fmla="*/ 258128 w 623322"/>
                <a:gd name="connsiteY189" fmla="*/ 62717 h 623322"/>
                <a:gd name="connsiteX190" fmla="*/ 241340 w 623322"/>
                <a:gd name="connsiteY190" fmla="*/ 95108 h 623322"/>
                <a:gd name="connsiteX191" fmla="*/ 208865 w 623322"/>
                <a:gd name="connsiteY191" fmla="*/ 78726 h 623322"/>
                <a:gd name="connsiteX192" fmla="*/ 225612 w 623322"/>
                <a:gd name="connsiteY192" fmla="*/ 46302 h 623322"/>
                <a:gd name="connsiteX193" fmla="*/ 225643 w 623322"/>
                <a:gd name="connsiteY193" fmla="*/ 46334 h 623322"/>
                <a:gd name="connsiteX194" fmla="*/ 156578 w 623322"/>
                <a:gd name="connsiteY194" fmla="*/ 81229 h 623322"/>
                <a:gd name="connsiteX195" fmla="*/ 167258 w 623322"/>
                <a:gd name="connsiteY195" fmla="*/ 98765 h 623322"/>
                <a:gd name="connsiteX196" fmla="*/ 171559 w 623322"/>
                <a:gd name="connsiteY196" fmla="*/ 96137 h 623322"/>
                <a:gd name="connsiteX197" fmla="*/ 175402 w 623322"/>
                <a:gd name="connsiteY197" fmla="*/ 69833 h 623322"/>
                <a:gd name="connsiteX198" fmla="*/ 184212 w 623322"/>
                <a:gd name="connsiteY198" fmla="*/ 64784 h 623322"/>
                <a:gd name="connsiteX199" fmla="*/ 179018 w 623322"/>
                <a:gd name="connsiteY199" fmla="*/ 94683 h 623322"/>
                <a:gd name="connsiteX200" fmla="*/ 194933 w 623322"/>
                <a:gd name="connsiteY200" fmla="*/ 100376 h 623322"/>
                <a:gd name="connsiteX201" fmla="*/ 206860 w 623322"/>
                <a:gd name="connsiteY201" fmla="*/ 99804 h 623322"/>
                <a:gd name="connsiteX202" fmla="*/ 210808 w 623322"/>
                <a:gd name="connsiteY202" fmla="*/ 106266 h 623322"/>
                <a:gd name="connsiteX203" fmla="*/ 191069 w 623322"/>
                <a:gd name="connsiteY203" fmla="*/ 108105 h 623322"/>
                <a:gd name="connsiteX204" fmla="*/ 176524 w 623322"/>
                <a:gd name="connsiteY204" fmla="*/ 102536 h 623322"/>
                <a:gd name="connsiteX205" fmla="*/ 171424 w 623322"/>
                <a:gd name="connsiteY205" fmla="*/ 105653 h 623322"/>
                <a:gd name="connsiteX206" fmla="*/ 182093 w 623322"/>
                <a:gd name="connsiteY206" fmla="*/ 123117 h 623322"/>
                <a:gd name="connsiteX207" fmla="*/ 174883 w 623322"/>
                <a:gd name="connsiteY207" fmla="*/ 127999 h 623322"/>
                <a:gd name="connsiteX208" fmla="*/ 149411 w 623322"/>
                <a:gd name="connsiteY208" fmla="*/ 86226 h 623322"/>
                <a:gd name="connsiteX209" fmla="*/ 156578 w 623322"/>
                <a:gd name="connsiteY209" fmla="*/ 81229 h 623322"/>
                <a:gd name="connsiteX210" fmla="*/ 86715 w 623322"/>
                <a:gd name="connsiteY210" fmla="*/ 148756 h 623322"/>
                <a:gd name="connsiteX211" fmla="*/ 118203 w 623322"/>
                <a:gd name="connsiteY211" fmla="*/ 175766 h 623322"/>
                <a:gd name="connsiteX212" fmla="*/ 129962 w 623322"/>
                <a:gd name="connsiteY212" fmla="*/ 160422 h 623322"/>
                <a:gd name="connsiteX213" fmla="*/ 98693 w 623322"/>
                <a:gd name="connsiteY213" fmla="*/ 133411 h 623322"/>
                <a:gd name="connsiteX214" fmla="*/ 104386 w 623322"/>
                <a:gd name="connsiteY214" fmla="*/ 126825 h 623322"/>
                <a:gd name="connsiteX215" fmla="*/ 135645 w 623322"/>
                <a:gd name="connsiteY215" fmla="*/ 153836 h 623322"/>
                <a:gd name="connsiteX216" fmla="*/ 149337 w 623322"/>
                <a:gd name="connsiteY216" fmla="*/ 139790 h 623322"/>
                <a:gd name="connsiteX217" fmla="*/ 117849 w 623322"/>
                <a:gd name="connsiteY217" fmla="*/ 112780 h 623322"/>
                <a:gd name="connsiteX218" fmla="*/ 124155 w 623322"/>
                <a:gd name="connsiteY218" fmla="*/ 106817 h 623322"/>
                <a:gd name="connsiteX219" fmla="*/ 155654 w 623322"/>
                <a:gd name="connsiteY219" fmla="*/ 134014 h 623322"/>
                <a:gd name="connsiteX220" fmla="*/ 161814 w 623322"/>
                <a:gd name="connsiteY220" fmla="*/ 139344 h 623322"/>
                <a:gd name="connsiteX221" fmla="*/ 119355 w 623322"/>
                <a:gd name="connsiteY221" fmla="*/ 188451 h 623322"/>
                <a:gd name="connsiteX222" fmla="*/ 113237 w 623322"/>
                <a:gd name="connsiteY222" fmla="*/ 183153 h 623322"/>
                <a:gd name="connsiteX223" fmla="*/ 81697 w 623322"/>
                <a:gd name="connsiteY223" fmla="*/ 155830 h 623322"/>
                <a:gd name="connsiteX224" fmla="*/ 86683 w 623322"/>
                <a:gd name="connsiteY224" fmla="*/ 148766 h 623322"/>
                <a:gd name="connsiteX225" fmla="*/ 86715 w 623322"/>
                <a:gd name="connsiteY225" fmla="*/ 148756 h 623322"/>
                <a:gd name="connsiteX226" fmla="*/ 67392 w 623322"/>
                <a:gd name="connsiteY226" fmla="*/ 213779 h 623322"/>
                <a:gd name="connsiteX227" fmla="*/ 70998 w 623322"/>
                <a:gd name="connsiteY227" fmla="*/ 209287 h 623322"/>
                <a:gd name="connsiteX228" fmla="*/ 76492 w 623322"/>
                <a:gd name="connsiteY228" fmla="*/ 207555 h 623322"/>
                <a:gd name="connsiteX229" fmla="*/ 82021 w 623322"/>
                <a:gd name="connsiteY229" fmla="*/ 209168 h 623322"/>
                <a:gd name="connsiteX230" fmla="*/ 85723 w 623322"/>
                <a:gd name="connsiteY230" fmla="*/ 213582 h 623322"/>
                <a:gd name="connsiteX231" fmla="*/ 86349 w 623322"/>
                <a:gd name="connsiteY231" fmla="*/ 219309 h 623322"/>
                <a:gd name="connsiteX232" fmla="*/ 83687 w 623322"/>
                <a:gd name="connsiteY232" fmla="*/ 224417 h 623322"/>
                <a:gd name="connsiteX233" fmla="*/ 78636 w 623322"/>
                <a:gd name="connsiteY233" fmla="*/ 227186 h 623322"/>
                <a:gd name="connsiteX234" fmla="*/ 72897 w 623322"/>
                <a:gd name="connsiteY234" fmla="*/ 226681 h 623322"/>
                <a:gd name="connsiteX235" fmla="*/ 67463 w 623322"/>
                <a:gd name="connsiteY235" fmla="*/ 221380 h 623322"/>
                <a:gd name="connsiteX236" fmla="*/ 67360 w 623322"/>
                <a:gd name="connsiteY236" fmla="*/ 213789 h 623322"/>
                <a:gd name="connsiteX237" fmla="*/ 67392 w 623322"/>
                <a:gd name="connsiteY237" fmla="*/ 213779 h 623322"/>
                <a:gd name="connsiteX238" fmla="*/ 35083 w 623322"/>
                <a:gd name="connsiteY238" fmla="*/ 286603 h 623322"/>
                <a:gd name="connsiteX239" fmla="*/ 36838 w 623322"/>
                <a:gd name="connsiteY239" fmla="*/ 271612 h 623322"/>
                <a:gd name="connsiteX240" fmla="*/ 85831 w 623322"/>
                <a:gd name="connsiteY240" fmla="*/ 275540 h 623322"/>
                <a:gd name="connsiteX241" fmla="*/ 84616 w 623322"/>
                <a:gd name="connsiteY241" fmla="*/ 284307 h 623322"/>
                <a:gd name="connsiteX242" fmla="*/ 66851 w 623322"/>
                <a:gd name="connsiteY242" fmla="*/ 282708 h 623322"/>
                <a:gd name="connsiteX243" fmla="*/ 66352 w 623322"/>
                <a:gd name="connsiteY243" fmla="*/ 288775 h 623322"/>
                <a:gd name="connsiteX244" fmla="*/ 77988 w 623322"/>
                <a:gd name="connsiteY244" fmla="*/ 298530 h 623322"/>
                <a:gd name="connsiteX245" fmla="*/ 82964 w 623322"/>
                <a:gd name="connsiteY245" fmla="*/ 313271 h 623322"/>
                <a:gd name="connsiteX246" fmla="*/ 75463 w 623322"/>
                <a:gd name="connsiteY246" fmla="*/ 313417 h 623322"/>
                <a:gd name="connsiteX247" fmla="*/ 72576 w 623322"/>
                <a:gd name="connsiteY247" fmla="*/ 304763 h 623322"/>
                <a:gd name="connsiteX248" fmla="*/ 63953 w 623322"/>
                <a:gd name="connsiteY248" fmla="*/ 297314 h 623322"/>
                <a:gd name="connsiteX249" fmla="*/ 49076 w 623322"/>
                <a:gd name="connsiteY249" fmla="*/ 305687 h 623322"/>
                <a:gd name="connsiteX250" fmla="*/ 35051 w 623322"/>
                <a:gd name="connsiteY250" fmla="*/ 286613 h 623322"/>
                <a:gd name="connsiteX251" fmla="*/ 35083 w 623322"/>
                <a:gd name="connsiteY251" fmla="*/ 286603 h 623322"/>
                <a:gd name="connsiteX252" fmla="*/ 36786 w 623322"/>
                <a:gd name="connsiteY252" fmla="*/ 351647 h 623322"/>
                <a:gd name="connsiteX253" fmla="*/ 83110 w 623322"/>
                <a:gd name="connsiteY253" fmla="*/ 321966 h 623322"/>
                <a:gd name="connsiteX254" fmla="*/ 83764 w 623322"/>
                <a:gd name="connsiteY254" fmla="*/ 331493 h 623322"/>
                <a:gd name="connsiteX255" fmla="*/ 72970 w 623322"/>
                <a:gd name="connsiteY255" fmla="*/ 338163 h 623322"/>
                <a:gd name="connsiteX256" fmla="*/ 74560 w 623322"/>
                <a:gd name="connsiteY256" fmla="*/ 349777 h 623322"/>
                <a:gd name="connsiteX257" fmla="*/ 76689 w 623322"/>
                <a:gd name="connsiteY257" fmla="*/ 361277 h 623322"/>
                <a:gd name="connsiteX258" fmla="*/ 89062 w 623322"/>
                <a:gd name="connsiteY258" fmla="*/ 364394 h 623322"/>
                <a:gd name="connsiteX259" fmla="*/ 91379 w 623322"/>
                <a:gd name="connsiteY259" fmla="*/ 373391 h 623322"/>
                <a:gd name="connsiteX260" fmla="*/ 38002 w 623322"/>
                <a:gd name="connsiteY260" fmla="*/ 359667 h 623322"/>
                <a:gd name="connsiteX261" fmla="*/ 36786 w 623322"/>
                <a:gd name="connsiteY261" fmla="*/ 351647 h 623322"/>
                <a:gd name="connsiteX262" fmla="*/ 78341 w 623322"/>
                <a:gd name="connsiteY262" fmla="*/ 462912 h 623322"/>
                <a:gd name="connsiteX263" fmla="*/ 73739 w 623322"/>
                <a:gd name="connsiteY263" fmla="*/ 455544 h 623322"/>
                <a:gd name="connsiteX264" fmla="*/ 110920 w 623322"/>
                <a:gd name="connsiteY264" fmla="*/ 437104 h 623322"/>
                <a:gd name="connsiteX265" fmla="*/ 101373 w 623322"/>
                <a:gd name="connsiteY265" fmla="*/ 420285 h 623322"/>
                <a:gd name="connsiteX266" fmla="*/ 64285 w 623322"/>
                <a:gd name="connsiteY266" fmla="*/ 438516 h 623322"/>
                <a:gd name="connsiteX267" fmla="*/ 60441 w 623322"/>
                <a:gd name="connsiteY267" fmla="*/ 430704 h 623322"/>
                <a:gd name="connsiteX268" fmla="*/ 97539 w 623322"/>
                <a:gd name="connsiteY268" fmla="*/ 412473 h 623322"/>
                <a:gd name="connsiteX269" fmla="*/ 89956 w 623322"/>
                <a:gd name="connsiteY269" fmla="*/ 394385 h 623322"/>
                <a:gd name="connsiteX270" fmla="*/ 52744 w 623322"/>
                <a:gd name="connsiteY270" fmla="*/ 412805 h 623322"/>
                <a:gd name="connsiteX271" fmla="*/ 49720 w 623322"/>
                <a:gd name="connsiteY271" fmla="*/ 404683 h 623322"/>
                <a:gd name="connsiteX272" fmla="*/ 87119 w 623322"/>
                <a:gd name="connsiteY272" fmla="*/ 386304 h 623322"/>
                <a:gd name="connsiteX273" fmla="*/ 94392 w 623322"/>
                <a:gd name="connsiteY273" fmla="*/ 382709 h 623322"/>
                <a:gd name="connsiteX274" fmla="*/ 123033 w 623322"/>
                <a:gd name="connsiteY274" fmla="*/ 440967 h 623322"/>
                <a:gd name="connsiteX275" fmla="*/ 115762 w 623322"/>
                <a:gd name="connsiteY275" fmla="*/ 444552 h 623322"/>
                <a:gd name="connsiteX276" fmla="*/ 78341 w 623322"/>
                <a:gd name="connsiteY276" fmla="*/ 462912 h 623322"/>
                <a:gd name="connsiteX277" fmla="*/ 106681 w 623322"/>
                <a:gd name="connsiteY277" fmla="*/ 500736 h 623322"/>
                <a:gd name="connsiteX278" fmla="*/ 100592 w 623322"/>
                <a:gd name="connsiteY278" fmla="*/ 490284 h 623322"/>
                <a:gd name="connsiteX279" fmla="*/ 100033 w 623322"/>
                <a:gd name="connsiteY279" fmla="*/ 478204 h 623322"/>
                <a:gd name="connsiteX280" fmla="*/ 108728 w 623322"/>
                <a:gd name="connsiteY280" fmla="*/ 480039 h 623322"/>
                <a:gd name="connsiteX281" fmla="*/ 108700 w 623322"/>
                <a:gd name="connsiteY281" fmla="*/ 488231 h 623322"/>
                <a:gd name="connsiteX282" fmla="*/ 112645 w 623322"/>
                <a:gd name="connsiteY282" fmla="*/ 495405 h 623322"/>
                <a:gd name="connsiteX283" fmla="*/ 136923 w 623322"/>
                <a:gd name="connsiteY283" fmla="*/ 495688 h 623322"/>
                <a:gd name="connsiteX284" fmla="*/ 138408 w 623322"/>
                <a:gd name="connsiteY284" fmla="*/ 471367 h 623322"/>
                <a:gd name="connsiteX285" fmla="*/ 131363 w 623322"/>
                <a:gd name="connsiteY285" fmla="*/ 466829 h 623322"/>
                <a:gd name="connsiteX286" fmla="*/ 122992 w 623322"/>
                <a:gd name="connsiteY286" fmla="*/ 466454 h 623322"/>
                <a:gd name="connsiteX287" fmla="*/ 121714 w 623322"/>
                <a:gd name="connsiteY287" fmla="*/ 457778 h 623322"/>
                <a:gd name="connsiteX288" fmla="*/ 134086 w 623322"/>
                <a:gd name="connsiteY288" fmla="*/ 459090 h 623322"/>
                <a:gd name="connsiteX289" fmla="*/ 144372 w 623322"/>
                <a:gd name="connsiteY289" fmla="*/ 466090 h 623322"/>
                <a:gd name="connsiteX290" fmla="*/ 143125 w 623322"/>
                <a:gd name="connsiteY290" fmla="*/ 502448 h 623322"/>
                <a:gd name="connsiteX291" fmla="*/ 106681 w 623322"/>
                <a:gd name="connsiteY291" fmla="*/ 500736 h 623322"/>
                <a:gd name="connsiteX292" fmla="*/ 143915 w 623322"/>
                <a:gd name="connsiteY292" fmla="*/ 534302 h 623322"/>
                <a:gd name="connsiteX293" fmla="*/ 172411 w 623322"/>
                <a:gd name="connsiteY293" fmla="*/ 493787 h 623322"/>
                <a:gd name="connsiteX294" fmla="*/ 179465 w 623322"/>
                <a:gd name="connsiteY294" fmla="*/ 498750 h 623322"/>
                <a:gd name="connsiteX295" fmla="*/ 150979 w 623322"/>
                <a:gd name="connsiteY295" fmla="*/ 539266 h 623322"/>
                <a:gd name="connsiteX296" fmla="*/ 143915 w 623322"/>
                <a:gd name="connsiteY296" fmla="*/ 534302 h 623322"/>
                <a:gd name="connsiteX297" fmla="*/ 192742 w 623322"/>
                <a:gd name="connsiteY297" fmla="*/ 564125 h 623322"/>
                <a:gd name="connsiteX298" fmla="*/ 185303 w 623322"/>
                <a:gd name="connsiteY298" fmla="*/ 559743 h 623322"/>
                <a:gd name="connsiteX299" fmla="*/ 194341 w 623322"/>
                <a:gd name="connsiteY299" fmla="*/ 544377 h 623322"/>
                <a:gd name="connsiteX300" fmla="*/ 187578 w 623322"/>
                <a:gd name="connsiteY300" fmla="*/ 540400 h 623322"/>
                <a:gd name="connsiteX301" fmla="*/ 179403 w 623322"/>
                <a:gd name="connsiteY301" fmla="*/ 517605 h 623322"/>
                <a:gd name="connsiteX302" fmla="*/ 203712 w 623322"/>
                <a:gd name="connsiteY302" fmla="*/ 513110 h 623322"/>
                <a:gd name="connsiteX303" fmla="*/ 217861 w 623322"/>
                <a:gd name="connsiteY303" fmla="*/ 521418 h 623322"/>
                <a:gd name="connsiteX304" fmla="*/ 192742 w 623322"/>
                <a:gd name="connsiteY304" fmla="*/ 564125 h 623322"/>
                <a:gd name="connsiteX305" fmla="*/ 252684 w 623322"/>
                <a:gd name="connsiteY305" fmla="*/ 583670 h 623322"/>
                <a:gd name="connsiteX306" fmla="*/ 234566 w 623322"/>
                <a:gd name="connsiteY306" fmla="*/ 579066 h 623322"/>
                <a:gd name="connsiteX307" fmla="*/ 223440 w 623322"/>
                <a:gd name="connsiteY307" fmla="*/ 570932 h 623322"/>
                <a:gd name="connsiteX308" fmla="*/ 222070 w 623322"/>
                <a:gd name="connsiteY308" fmla="*/ 566549 h 623322"/>
                <a:gd name="connsiteX309" fmla="*/ 222578 w 623322"/>
                <a:gd name="connsiteY309" fmla="*/ 561989 h 623322"/>
                <a:gd name="connsiteX310" fmla="*/ 232447 w 623322"/>
                <a:gd name="connsiteY310" fmla="*/ 553363 h 623322"/>
                <a:gd name="connsiteX311" fmla="*/ 226401 w 623322"/>
                <a:gd name="connsiteY311" fmla="*/ 538933 h 623322"/>
                <a:gd name="connsiteX312" fmla="*/ 247791 w 623322"/>
                <a:gd name="connsiteY312" fmla="*/ 530996 h 623322"/>
                <a:gd name="connsiteX313" fmla="*/ 266408 w 623322"/>
                <a:gd name="connsiteY313" fmla="*/ 536409 h 623322"/>
                <a:gd name="connsiteX314" fmla="*/ 252684 w 623322"/>
                <a:gd name="connsiteY314" fmla="*/ 583670 h 623322"/>
                <a:gd name="connsiteX315" fmla="*/ 311764 w 623322"/>
                <a:gd name="connsiteY315" fmla="*/ 575307 h 623322"/>
                <a:gd name="connsiteX316" fmla="*/ 306253 w 623322"/>
                <a:gd name="connsiteY316" fmla="*/ 573634 h 623322"/>
                <a:gd name="connsiteX317" fmla="*/ 302598 w 623322"/>
                <a:gd name="connsiteY317" fmla="*/ 569182 h 623322"/>
                <a:gd name="connsiteX318" fmla="*/ 302034 w 623322"/>
                <a:gd name="connsiteY318" fmla="*/ 563448 h 623322"/>
                <a:gd name="connsiteX319" fmla="*/ 304749 w 623322"/>
                <a:gd name="connsiteY319" fmla="*/ 558368 h 623322"/>
                <a:gd name="connsiteX320" fmla="*/ 309830 w 623322"/>
                <a:gd name="connsiteY320" fmla="*/ 555655 h 623322"/>
                <a:gd name="connsiteX321" fmla="*/ 315562 w 623322"/>
                <a:gd name="connsiteY321" fmla="*/ 556219 h 623322"/>
                <a:gd name="connsiteX322" fmla="*/ 320014 w 623322"/>
                <a:gd name="connsiteY322" fmla="*/ 559870 h 623322"/>
                <a:gd name="connsiteX323" fmla="*/ 321685 w 623322"/>
                <a:gd name="connsiteY323" fmla="*/ 565383 h 623322"/>
                <a:gd name="connsiteX324" fmla="*/ 320946 w 623322"/>
                <a:gd name="connsiteY324" fmla="*/ 569193 h 623322"/>
                <a:gd name="connsiteX325" fmla="*/ 318801 w 623322"/>
                <a:gd name="connsiteY325" fmla="*/ 572426 h 623322"/>
                <a:gd name="connsiteX326" fmla="*/ 315580 w 623322"/>
                <a:gd name="connsiteY326" fmla="*/ 574587 h 623322"/>
                <a:gd name="connsiteX327" fmla="*/ 311775 w 623322"/>
                <a:gd name="connsiteY327" fmla="*/ 575346 h 623322"/>
                <a:gd name="connsiteX328" fmla="*/ 311764 w 623322"/>
                <a:gd name="connsiteY328" fmla="*/ 575307 h 623322"/>
                <a:gd name="connsiteX329" fmla="*/ 409480 w 623322"/>
                <a:gd name="connsiteY329" fmla="*/ 571667 h 623322"/>
                <a:gd name="connsiteX330" fmla="*/ 398543 w 623322"/>
                <a:gd name="connsiteY330" fmla="*/ 537625 h 623322"/>
                <a:gd name="connsiteX331" fmla="*/ 383696 w 623322"/>
                <a:gd name="connsiteY331" fmla="*/ 579961 h 623322"/>
                <a:gd name="connsiteX332" fmla="*/ 375479 w 623322"/>
                <a:gd name="connsiteY332" fmla="*/ 582035 h 623322"/>
                <a:gd name="connsiteX333" fmla="*/ 360487 w 623322"/>
                <a:gd name="connsiteY333" fmla="*/ 535255 h 623322"/>
                <a:gd name="connsiteX334" fmla="*/ 368799 w 623322"/>
                <a:gd name="connsiteY334" fmla="*/ 533180 h 623322"/>
                <a:gd name="connsiteX335" fmla="*/ 379842 w 623322"/>
                <a:gd name="connsiteY335" fmla="*/ 567544 h 623322"/>
                <a:gd name="connsiteX336" fmla="*/ 394772 w 623322"/>
                <a:gd name="connsiteY336" fmla="*/ 524825 h 623322"/>
                <a:gd name="connsiteX337" fmla="*/ 402395 w 623322"/>
                <a:gd name="connsiteY337" fmla="*/ 521708 h 623322"/>
                <a:gd name="connsiteX338" fmla="*/ 417459 w 623322"/>
                <a:gd name="connsiteY338" fmla="*/ 568574 h 623322"/>
                <a:gd name="connsiteX339" fmla="*/ 409480 w 623322"/>
                <a:gd name="connsiteY339" fmla="*/ 571667 h 623322"/>
                <a:gd name="connsiteX340" fmla="*/ 468281 w 623322"/>
                <a:gd name="connsiteY340" fmla="*/ 541190 h 623322"/>
                <a:gd name="connsiteX341" fmla="*/ 457444 w 623322"/>
                <a:gd name="connsiteY341" fmla="*/ 523683 h 623322"/>
                <a:gd name="connsiteX342" fmla="*/ 453167 w 623322"/>
                <a:gd name="connsiteY342" fmla="*/ 526331 h 623322"/>
                <a:gd name="connsiteX343" fmla="*/ 449488 w 623322"/>
                <a:gd name="connsiteY343" fmla="*/ 552677 h 623322"/>
                <a:gd name="connsiteX344" fmla="*/ 440700 w 623322"/>
                <a:gd name="connsiteY344" fmla="*/ 557780 h 623322"/>
                <a:gd name="connsiteX345" fmla="*/ 445768 w 623322"/>
                <a:gd name="connsiteY345" fmla="*/ 527861 h 623322"/>
                <a:gd name="connsiteX346" fmla="*/ 429813 w 623322"/>
                <a:gd name="connsiteY346" fmla="*/ 522250 h 623322"/>
                <a:gd name="connsiteX347" fmla="*/ 417885 w 623322"/>
                <a:gd name="connsiteY347" fmla="*/ 522893 h 623322"/>
                <a:gd name="connsiteX348" fmla="*/ 413905 w 623322"/>
                <a:gd name="connsiteY348" fmla="*/ 516454 h 623322"/>
                <a:gd name="connsiteX349" fmla="*/ 433584 w 623322"/>
                <a:gd name="connsiteY349" fmla="*/ 514511 h 623322"/>
                <a:gd name="connsiteX350" fmla="*/ 448126 w 623322"/>
                <a:gd name="connsiteY350" fmla="*/ 519998 h 623322"/>
                <a:gd name="connsiteX351" fmla="*/ 453206 w 623322"/>
                <a:gd name="connsiteY351" fmla="*/ 516881 h 623322"/>
                <a:gd name="connsiteX352" fmla="*/ 442435 w 623322"/>
                <a:gd name="connsiteY352" fmla="*/ 499467 h 623322"/>
                <a:gd name="connsiteX353" fmla="*/ 449613 w 623322"/>
                <a:gd name="connsiteY353" fmla="*/ 494542 h 623322"/>
                <a:gd name="connsiteX354" fmla="*/ 475397 w 623322"/>
                <a:gd name="connsiteY354" fmla="*/ 536181 h 623322"/>
                <a:gd name="connsiteX355" fmla="*/ 468281 w 623322"/>
                <a:gd name="connsiteY355" fmla="*/ 541190 h 623322"/>
                <a:gd name="connsiteX356" fmla="*/ 525243 w 623322"/>
                <a:gd name="connsiteY356" fmla="*/ 489369 h 623322"/>
                <a:gd name="connsiteX357" fmla="*/ 498897 w 623322"/>
                <a:gd name="connsiteY357" fmla="*/ 465184 h 623322"/>
                <a:gd name="connsiteX358" fmla="*/ 506970 w 623322"/>
                <a:gd name="connsiteY358" fmla="*/ 509358 h 623322"/>
                <a:gd name="connsiteX359" fmla="*/ 500860 w 623322"/>
                <a:gd name="connsiteY359" fmla="*/ 515247 h 623322"/>
                <a:gd name="connsiteX360" fmla="*/ 464622 w 623322"/>
                <a:gd name="connsiteY360" fmla="*/ 482005 h 623322"/>
                <a:gd name="connsiteX361" fmla="*/ 470856 w 623322"/>
                <a:gd name="connsiteY361" fmla="*/ 476082 h 623322"/>
                <a:gd name="connsiteX362" fmla="*/ 497442 w 623322"/>
                <a:gd name="connsiteY362" fmla="*/ 500496 h 623322"/>
                <a:gd name="connsiteX363" fmla="*/ 489307 w 623322"/>
                <a:gd name="connsiteY363" fmla="*/ 455919 h 623322"/>
                <a:gd name="connsiteX364" fmla="*/ 494398 w 623322"/>
                <a:gd name="connsiteY364" fmla="*/ 449446 h 623322"/>
                <a:gd name="connsiteX365" fmla="*/ 530655 w 623322"/>
                <a:gd name="connsiteY365" fmla="*/ 482742 h 623322"/>
                <a:gd name="connsiteX366" fmla="*/ 525243 w 623322"/>
                <a:gd name="connsiteY366" fmla="*/ 489369 h 623322"/>
                <a:gd name="connsiteX367" fmla="*/ 566402 w 623322"/>
                <a:gd name="connsiteY367" fmla="*/ 422821 h 623322"/>
                <a:gd name="connsiteX368" fmla="*/ 527311 w 623322"/>
                <a:gd name="connsiteY368" fmla="*/ 417904 h 623322"/>
                <a:gd name="connsiteX369" fmla="*/ 527206 w 623322"/>
                <a:gd name="connsiteY369" fmla="*/ 418114 h 623322"/>
                <a:gd name="connsiteX370" fmla="*/ 554528 w 623322"/>
                <a:gd name="connsiteY370" fmla="*/ 446860 h 623322"/>
                <a:gd name="connsiteX371" fmla="*/ 548295 w 623322"/>
                <a:gd name="connsiteY371" fmla="*/ 457506 h 623322"/>
                <a:gd name="connsiteX372" fmla="*/ 502417 w 623322"/>
                <a:gd name="connsiteY372" fmla="*/ 438276 h 623322"/>
                <a:gd name="connsiteX373" fmla="*/ 507279 w 623322"/>
                <a:gd name="connsiteY373" fmla="*/ 430406 h 623322"/>
                <a:gd name="connsiteX374" fmla="*/ 525898 w 623322"/>
                <a:gd name="connsiteY374" fmla="*/ 438467 h 623322"/>
                <a:gd name="connsiteX375" fmla="*/ 544888 w 623322"/>
                <a:gd name="connsiteY375" fmla="*/ 447138 h 623322"/>
                <a:gd name="connsiteX376" fmla="*/ 544992 w 623322"/>
                <a:gd name="connsiteY376" fmla="*/ 446933 h 623322"/>
                <a:gd name="connsiteX377" fmla="*/ 515352 w 623322"/>
                <a:gd name="connsiteY377" fmla="*/ 415380 h 623322"/>
                <a:gd name="connsiteX378" fmla="*/ 518603 w 623322"/>
                <a:gd name="connsiteY378" fmla="*/ 408794 h 623322"/>
                <a:gd name="connsiteX379" fmla="*/ 560939 w 623322"/>
                <a:gd name="connsiteY379" fmla="*/ 414626 h 623322"/>
                <a:gd name="connsiteX380" fmla="*/ 561009 w 623322"/>
                <a:gd name="connsiteY380" fmla="*/ 414478 h 623322"/>
                <a:gd name="connsiteX381" fmla="*/ 542457 w 623322"/>
                <a:gd name="connsiteY381" fmla="*/ 404277 h 623322"/>
                <a:gd name="connsiteX382" fmla="*/ 525065 w 623322"/>
                <a:gd name="connsiteY382" fmla="*/ 394376 h 623322"/>
                <a:gd name="connsiteX383" fmla="*/ 528182 w 623322"/>
                <a:gd name="connsiteY383" fmla="*/ 385982 h 623322"/>
                <a:gd name="connsiteX384" fmla="*/ 571160 w 623322"/>
                <a:gd name="connsiteY384" fmla="*/ 411226 h 623322"/>
                <a:gd name="connsiteX385" fmla="*/ 566402 w 623322"/>
                <a:gd name="connsiteY385" fmla="*/ 422821 h 623322"/>
                <a:gd name="connsiteX386" fmla="*/ 586960 w 623322"/>
                <a:gd name="connsiteY386" fmla="*/ 360550 h 623322"/>
                <a:gd name="connsiteX387" fmla="*/ 557249 w 623322"/>
                <a:gd name="connsiteY387" fmla="*/ 381536 h 623322"/>
                <a:gd name="connsiteX388" fmla="*/ 536533 w 623322"/>
                <a:gd name="connsiteY388" fmla="*/ 351512 h 623322"/>
                <a:gd name="connsiteX389" fmla="*/ 566247 w 623322"/>
                <a:gd name="connsiteY389" fmla="*/ 330526 h 623322"/>
                <a:gd name="connsiteX390" fmla="*/ 586960 w 623322"/>
                <a:gd name="connsiteY390" fmla="*/ 360550 h 623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</a:cxnLst>
              <a:rect l="l" t="t" r="r" b="b"/>
              <a:pathLst>
                <a:path w="623322" h="623322">
                  <a:moveTo>
                    <a:pt x="49866" y="296535"/>
                  </a:moveTo>
                  <a:cubicBezTo>
                    <a:pt x="54935" y="296951"/>
                    <a:pt x="57844" y="292712"/>
                    <a:pt x="58250" y="287704"/>
                  </a:cubicBezTo>
                  <a:lnTo>
                    <a:pt x="58706" y="282063"/>
                  </a:lnTo>
                  <a:lnTo>
                    <a:pt x="44038" y="280869"/>
                  </a:lnTo>
                  <a:cubicBezTo>
                    <a:pt x="43778" y="283185"/>
                    <a:pt x="43549" y="285159"/>
                    <a:pt x="43414" y="286780"/>
                  </a:cubicBezTo>
                  <a:cubicBezTo>
                    <a:pt x="42843" y="293834"/>
                    <a:pt x="45980" y="296223"/>
                    <a:pt x="49866" y="296535"/>
                  </a:cubicBezTo>
                  <a:close/>
                  <a:moveTo>
                    <a:pt x="533199" y="229819"/>
                  </a:moveTo>
                  <a:cubicBezTo>
                    <a:pt x="536629" y="239044"/>
                    <a:pt x="546382" y="242742"/>
                    <a:pt x="555535" y="239346"/>
                  </a:cubicBezTo>
                  <a:cubicBezTo>
                    <a:pt x="564687" y="235948"/>
                    <a:pt x="569612" y="226640"/>
                    <a:pt x="566193" y="217414"/>
                  </a:cubicBezTo>
                  <a:cubicBezTo>
                    <a:pt x="562778" y="208189"/>
                    <a:pt x="553011" y="204501"/>
                    <a:pt x="543858" y="207899"/>
                  </a:cubicBezTo>
                  <a:cubicBezTo>
                    <a:pt x="534705" y="211295"/>
                    <a:pt x="529824" y="220604"/>
                    <a:pt x="533199" y="229819"/>
                  </a:cubicBezTo>
                  <a:close/>
                  <a:moveTo>
                    <a:pt x="234473" y="542414"/>
                  </a:moveTo>
                  <a:cubicBezTo>
                    <a:pt x="233310" y="546425"/>
                    <a:pt x="235813" y="549739"/>
                    <a:pt x="242399" y="551651"/>
                  </a:cubicBezTo>
                  <a:lnTo>
                    <a:pt x="252259" y="554509"/>
                  </a:lnTo>
                  <a:lnTo>
                    <a:pt x="256040" y="541469"/>
                  </a:lnTo>
                  <a:lnTo>
                    <a:pt x="245579" y="538426"/>
                  </a:lnTo>
                  <a:cubicBezTo>
                    <a:pt x="239875" y="536762"/>
                    <a:pt x="235761" y="538000"/>
                    <a:pt x="234473" y="542414"/>
                  </a:cubicBezTo>
                  <a:close/>
                  <a:moveTo>
                    <a:pt x="231356" y="563193"/>
                  </a:moveTo>
                  <a:cubicBezTo>
                    <a:pt x="230265" y="566932"/>
                    <a:pt x="232582" y="570111"/>
                    <a:pt x="237953" y="571667"/>
                  </a:cubicBezTo>
                  <a:lnTo>
                    <a:pt x="246586" y="574172"/>
                  </a:lnTo>
                  <a:lnTo>
                    <a:pt x="250254" y="561539"/>
                  </a:lnTo>
                  <a:lnTo>
                    <a:pt x="242234" y="559201"/>
                  </a:lnTo>
                  <a:cubicBezTo>
                    <a:pt x="236862" y="557687"/>
                    <a:pt x="232603" y="558744"/>
                    <a:pt x="231305" y="563235"/>
                  </a:cubicBezTo>
                  <a:lnTo>
                    <a:pt x="231356" y="563193"/>
                  </a:lnTo>
                  <a:close/>
                  <a:moveTo>
                    <a:pt x="365744" y="69677"/>
                  </a:moveTo>
                  <a:lnTo>
                    <a:pt x="361027" y="48827"/>
                  </a:lnTo>
                  <a:lnTo>
                    <a:pt x="349133" y="66571"/>
                  </a:lnTo>
                  <a:cubicBezTo>
                    <a:pt x="351917" y="66997"/>
                    <a:pt x="354701" y="67464"/>
                    <a:pt x="357443" y="67983"/>
                  </a:cubicBezTo>
                  <a:cubicBezTo>
                    <a:pt x="360186" y="68503"/>
                    <a:pt x="362981" y="69064"/>
                    <a:pt x="365744" y="69677"/>
                  </a:cubicBezTo>
                  <a:close/>
                  <a:moveTo>
                    <a:pt x="65730" y="342640"/>
                  </a:moveTo>
                  <a:lnTo>
                    <a:pt x="47684" y="354130"/>
                  </a:lnTo>
                  <a:lnTo>
                    <a:pt x="68462" y="359324"/>
                  </a:lnTo>
                  <a:cubicBezTo>
                    <a:pt x="67921" y="356554"/>
                    <a:pt x="67426" y="353784"/>
                    <a:pt x="66976" y="351014"/>
                  </a:cubicBezTo>
                  <a:cubicBezTo>
                    <a:pt x="66488" y="348239"/>
                    <a:pt x="66083" y="345434"/>
                    <a:pt x="65730" y="342640"/>
                  </a:cubicBezTo>
                  <a:close/>
                  <a:moveTo>
                    <a:pt x="238940" y="87421"/>
                  </a:moveTo>
                  <a:cubicBezTo>
                    <a:pt x="248290" y="84387"/>
                    <a:pt x="252445" y="74788"/>
                    <a:pt x="249329" y="65511"/>
                  </a:cubicBezTo>
                  <a:cubicBezTo>
                    <a:pt x="246212" y="56234"/>
                    <a:pt x="237225" y="50967"/>
                    <a:pt x="227865" y="53959"/>
                  </a:cubicBezTo>
                  <a:cubicBezTo>
                    <a:pt x="218505" y="56951"/>
                    <a:pt x="214361" y="66581"/>
                    <a:pt x="217477" y="75869"/>
                  </a:cubicBezTo>
                  <a:cubicBezTo>
                    <a:pt x="220594" y="85156"/>
                    <a:pt x="229590" y="90465"/>
                    <a:pt x="238940" y="87421"/>
                  </a:cubicBezTo>
                  <a:close/>
                  <a:moveTo>
                    <a:pt x="186769" y="522084"/>
                  </a:moveTo>
                  <a:cubicBezTo>
                    <a:pt x="184191" y="526479"/>
                    <a:pt x="186020" y="530760"/>
                    <a:pt x="191692" y="534094"/>
                  </a:cubicBezTo>
                  <a:lnTo>
                    <a:pt x="198154" y="537895"/>
                  </a:lnTo>
                  <a:lnTo>
                    <a:pt x="206465" y="523807"/>
                  </a:lnTo>
                  <a:lnTo>
                    <a:pt x="199879" y="519932"/>
                  </a:lnTo>
                  <a:cubicBezTo>
                    <a:pt x="194351" y="516672"/>
                    <a:pt x="189645" y="517264"/>
                    <a:pt x="186810" y="522084"/>
                  </a:cubicBezTo>
                  <a:lnTo>
                    <a:pt x="186769" y="522084"/>
                  </a:lnTo>
                  <a:close/>
                  <a:moveTo>
                    <a:pt x="564625" y="339513"/>
                  </a:moveTo>
                  <a:cubicBezTo>
                    <a:pt x="555151" y="337841"/>
                    <a:pt x="546061" y="343357"/>
                    <a:pt x="544346" y="353019"/>
                  </a:cubicBezTo>
                  <a:cubicBezTo>
                    <a:pt x="542634" y="362680"/>
                    <a:pt x="549189" y="370825"/>
                    <a:pt x="558798" y="372529"/>
                  </a:cubicBezTo>
                  <a:cubicBezTo>
                    <a:pt x="568408" y="374232"/>
                    <a:pt x="577374" y="368685"/>
                    <a:pt x="579078" y="359022"/>
                  </a:cubicBezTo>
                  <a:cubicBezTo>
                    <a:pt x="580781" y="349361"/>
                    <a:pt x="574246" y="341206"/>
                    <a:pt x="564625" y="339513"/>
                  </a:cubicBezTo>
                  <a:close/>
                  <a:moveTo>
                    <a:pt x="302706" y="219970"/>
                  </a:moveTo>
                  <a:lnTo>
                    <a:pt x="353361" y="219970"/>
                  </a:lnTo>
                  <a:cubicBezTo>
                    <a:pt x="352073" y="210236"/>
                    <a:pt x="348344" y="200533"/>
                    <a:pt x="342307" y="193229"/>
                  </a:cubicBezTo>
                  <a:cubicBezTo>
                    <a:pt x="330693" y="178810"/>
                    <a:pt x="314258" y="176410"/>
                    <a:pt x="303454" y="176410"/>
                  </a:cubicBezTo>
                  <a:lnTo>
                    <a:pt x="274542" y="176410"/>
                  </a:lnTo>
                  <a:lnTo>
                    <a:pt x="274542" y="437936"/>
                  </a:lnTo>
                  <a:lnTo>
                    <a:pt x="302706" y="437936"/>
                  </a:lnTo>
                  <a:lnTo>
                    <a:pt x="302706" y="340333"/>
                  </a:lnTo>
                  <a:lnTo>
                    <a:pt x="339461" y="340333"/>
                  </a:lnTo>
                  <a:lnTo>
                    <a:pt x="339461" y="437831"/>
                  </a:lnTo>
                  <a:lnTo>
                    <a:pt x="371313" y="437831"/>
                  </a:lnTo>
                  <a:lnTo>
                    <a:pt x="371313" y="392403"/>
                  </a:lnTo>
                  <a:cubicBezTo>
                    <a:pt x="371313" y="332002"/>
                    <a:pt x="351990" y="299028"/>
                    <a:pt x="302342" y="299028"/>
                  </a:cubicBezTo>
                  <a:lnTo>
                    <a:pt x="302342" y="284432"/>
                  </a:lnTo>
                  <a:lnTo>
                    <a:pt x="302664" y="284432"/>
                  </a:lnTo>
                  <a:cubicBezTo>
                    <a:pt x="321249" y="284432"/>
                    <a:pt x="334412" y="275134"/>
                    <a:pt x="342412" y="265119"/>
                  </a:cubicBezTo>
                  <a:cubicBezTo>
                    <a:pt x="351512" y="254076"/>
                    <a:pt x="353424" y="243667"/>
                    <a:pt x="353839" y="234379"/>
                  </a:cubicBezTo>
                  <a:lnTo>
                    <a:pt x="302727" y="234379"/>
                  </a:lnTo>
                  <a:lnTo>
                    <a:pt x="302706" y="219970"/>
                  </a:lnTo>
                  <a:close/>
                  <a:moveTo>
                    <a:pt x="311661" y="0"/>
                  </a:moveTo>
                  <a:cubicBezTo>
                    <a:pt x="139531" y="0"/>
                    <a:pt x="0" y="139531"/>
                    <a:pt x="0" y="311661"/>
                  </a:cubicBezTo>
                  <a:cubicBezTo>
                    <a:pt x="0" y="483790"/>
                    <a:pt x="139531" y="623322"/>
                    <a:pt x="311661" y="623322"/>
                  </a:cubicBezTo>
                  <a:cubicBezTo>
                    <a:pt x="483790" y="623322"/>
                    <a:pt x="623322" y="483790"/>
                    <a:pt x="623322" y="311661"/>
                  </a:cubicBezTo>
                  <a:cubicBezTo>
                    <a:pt x="623322" y="139531"/>
                    <a:pt x="483790" y="0"/>
                    <a:pt x="311661" y="0"/>
                  </a:cubicBezTo>
                  <a:close/>
                  <a:moveTo>
                    <a:pt x="586662" y="271675"/>
                  </a:moveTo>
                  <a:lnTo>
                    <a:pt x="566007" y="273607"/>
                  </a:lnTo>
                  <a:lnTo>
                    <a:pt x="565895" y="273607"/>
                  </a:lnTo>
                  <a:cubicBezTo>
                    <a:pt x="566580" y="278282"/>
                    <a:pt x="567161" y="282957"/>
                    <a:pt x="567598" y="287694"/>
                  </a:cubicBezTo>
                  <a:cubicBezTo>
                    <a:pt x="568031" y="292431"/>
                    <a:pt x="568346" y="297117"/>
                    <a:pt x="568532" y="301843"/>
                  </a:cubicBezTo>
                  <a:lnTo>
                    <a:pt x="568655" y="301843"/>
                  </a:lnTo>
                  <a:lnTo>
                    <a:pt x="589155" y="299922"/>
                  </a:lnTo>
                  <a:lnTo>
                    <a:pt x="589569" y="308617"/>
                  </a:lnTo>
                  <a:lnTo>
                    <a:pt x="540648" y="313209"/>
                  </a:lnTo>
                  <a:lnTo>
                    <a:pt x="540432" y="304482"/>
                  </a:lnTo>
                  <a:lnTo>
                    <a:pt x="560626" y="302592"/>
                  </a:lnTo>
                  <a:lnTo>
                    <a:pt x="560823" y="302592"/>
                  </a:lnTo>
                  <a:cubicBezTo>
                    <a:pt x="560645" y="297875"/>
                    <a:pt x="560335" y="293138"/>
                    <a:pt x="559898" y="288442"/>
                  </a:cubicBezTo>
                  <a:cubicBezTo>
                    <a:pt x="559464" y="283746"/>
                    <a:pt x="558860" y="279031"/>
                    <a:pt x="558175" y="274365"/>
                  </a:cubicBezTo>
                  <a:lnTo>
                    <a:pt x="557978" y="274365"/>
                  </a:lnTo>
                  <a:lnTo>
                    <a:pt x="537771" y="276256"/>
                  </a:lnTo>
                  <a:lnTo>
                    <a:pt x="536378" y="267644"/>
                  </a:lnTo>
                  <a:lnTo>
                    <a:pt x="585268" y="263063"/>
                  </a:lnTo>
                  <a:lnTo>
                    <a:pt x="586662" y="271675"/>
                  </a:lnTo>
                  <a:close/>
                  <a:moveTo>
                    <a:pt x="573735" y="214765"/>
                  </a:moveTo>
                  <a:cubicBezTo>
                    <a:pt x="579035" y="229029"/>
                    <a:pt x="571919" y="242992"/>
                    <a:pt x="558713" y="247895"/>
                  </a:cubicBezTo>
                  <a:cubicBezTo>
                    <a:pt x="545511" y="252799"/>
                    <a:pt x="530953" y="246731"/>
                    <a:pt x="525658" y="232468"/>
                  </a:cubicBezTo>
                  <a:cubicBezTo>
                    <a:pt x="520358" y="218204"/>
                    <a:pt x="527477" y="204241"/>
                    <a:pt x="540679" y="199339"/>
                  </a:cubicBezTo>
                  <a:cubicBezTo>
                    <a:pt x="553885" y="194435"/>
                    <a:pt x="568438" y="200502"/>
                    <a:pt x="573735" y="214765"/>
                  </a:cubicBezTo>
                  <a:close/>
                  <a:moveTo>
                    <a:pt x="537094" y="149099"/>
                  </a:moveTo>
                  <a:lnTo>
                    <a:pt x="519882" y="160401"/>
                  </a:lnTo>
                  <a:lnTo>
                    <a:pt x="522634" y="164557"/>
                  </a:lnTo>
                  <a:lnTo>
                    <a:pt x="549065" y="167549"/>
                  </a:lnTo>
                  <a:lnTo>
                    <a:pt x="554393" y="176192"/>
                  </a:lnTo>
                  <a:lnTo>
                    <a:pt x="524337" y="171923"/>
                  </a:lnTo>
                  <a:lnTo>
                    <a:pt x="519145" y="188014"/>
                  </a:lnTo>
                  <a:cubicBezTo>
                    <a:pt x="517369" y="193677"/>
                    <a:pt x="517377" y="197562"/>
                    <a:pt x="520098" y="199921"/>
                  </a:cubicBezTo>
                  <a:lnTo>
                    <a:pt x="513772" y="204075"/>
                  </a:lnTo>
                  <a:cubicBezTo>
                    <a:pt x="507903" y="199120"/>
                    <a:pt x="508580" y="191910"/>
                    <a:pt x="511302" y="184451"/>
                  </a:cubicBezTo>
                  <a:lnTo>
                    <a:pt x="516401" y="169772"/>
                  </a:lnTo>
                  <a:lnTo>
                    <a:pt x="513129" y="164775"/>
                  </a:lnTo>
                  <a:lnTo>
                    <a:pt x="496009" y="176005"/>
                  </a:lnTo>
                  <a:lnTo>
                    <a:pt x="490899" y="168952"/>
                  </a:lnTo>
                  <a:lnTo>
                    <a:pt x="531829" y="142076"/>
                  </a:lnTo>
                  <a:lnTo>
                    <a:pt x="537094" y="149099"/>
                  </a:lnTo>
                  <a:close/>
                  <a:moveTo>
                    <a:pt x="456240" y="119823"/>
                  </a:moveTo>
                  <a:lnTo>
                    <a:pt x="464924" y="121018"/>
                  </a:lnTo>
                  <a:cubicBezTo>
                    <a:pt x="464343" y="123802"/>
                    <a:pt x="464510" y="126690"/>
                    <a:pt x="465404" y="129388"/>
                  </a:cubicBezTo>
                  <a:cubicBezTo>
                    <a:pt x="466299" y="132087"/>
                    <a:pt x="467894" y="134500"/>
                    <a:pt x="470027" y="136383"/>
                  </a:cubicBezTo>
                  <a:cubicBezTo>
                    <a:pt x="476322" y="142107"/>
                    <a:pt x="485068" y="141971"/>
                    <a:pt x="491510" y="137224"/>
                  </a:cubicBezTo>
                  <a:cubicBezTo>
                    <a:pt x="487852" y="133474"/>
                    <a:pt x="484073" y="129807"/>
                    <a:pt x="480198" y="126295"/>
                  </a:cubicBezTo>
                  <a:cubicBezTo>
                    <a:pt x="478637" y="124872"/>
                    <a:pt x="477081" y="123459"/>
                    <a:pt x="475447" y="122078"/>
                  </a:cubicBezTo>
                  <a:lnTo>
                    <a:pt x="480507" y="116228"/>
                  </a:lnTo>
                  <a:cubicBezTo>
                    <a:pt x="482142" y="117642"/>
                    <a:pt x="483790" y="119107"/>
                    <a:pt x="485401" y="120561"/>
                  </a:cubicBezTo>
                  <a:cubicBezTo>
                    <a:pt x="489265" y="124083"/>
                    <a:pt x="493048" y="127729"/>
                    <a:pt x="496706" y="131480"/>
                  </a:cubicBezTo>
                  <a:cubicBezTo>
                    <a:pt x="500860" y="124602"/>
                    <a:pt x="500090" y="116094"/>
                    <a:pt x="493826" y="110401"/>
                  </a:cubicBezTo>
                  <a:cubicBezTo>
                    <a:pt x="491793" y="108516"/>
                    <a:pt x="489311" y="107180"/>
                    <a:pt x="486617" y="106520"/>
                  </a:cubicBezTo>
                  <a:cubicBezTo>
                    <a:pt x="483922" y="105860"/>
                    <a:pt x="481107" y="105898"/>
                    <a:pt x="478433" y="106630"/>
                  </a:cubicBezTo>
                  <a:lnTo>
                    <a:pt x="476509" y="97945"/>
                  </a:lnTo>
                  <a:cubicBezTo>
                    <a:pt x="480515" y="97118"/>
                    <a:pt x="484662" y="97273"/>
                    <a:pt x="488595" y="98395"/>
                  </a:cubicBezTo>
                  <a:cubicBezTo>
                    <a:pt x="492529" y="99516"/>
                    <a:pt x="496137" y="101571"/>
                    <a:pt x="499103" y="104386"/>
                  </a:cubicBezTo>
                  <a:cubicBezTo>
                    <a:pt x="510365" y="114619"/>
                    <a:pt x="510469" y="130493"/>
                    <a:pt x="501100" y="140808"/>
                  </a:cubicBezTo>
                  <a:cubicBezTo>
                    <a:pt x="491728" y="151125"/>
                    <a:pt x="476020" y="152631"/>
                    <a:pt x="464739" y="142398"/>
                  </a:cubicBezTo>
                  <a:cubicBezTo>
                    <a:pt x="461571" y="139626"/>
                    <a:pt x="459137" y="136116"/>
                    <a:pt x="457654" y="132178"/>
                  </a:cubicBezTo>
                  <a:cubicBezTo>
                    <a:pt x="456167" y="128239"/>
                    <a:pt x="455679" y="123996"/>
                    <a:pt x="456229" y="119823"/>
                  </a:cubicBezTo>
                  <a:lnTo>
                    <a:pt x="456240" y="119823"/>
                  </a:lnTo>
                  <a:close/>
                  <a:moveTo>
                    <a:pt x="417274" y="81250"/>
                  </a:moveTo>
                  <a:cubicBezTo>
                    <a:pt x="418152" y="79494"/>
                    <a:pt x="419534" y="78038"/>
                    <a:pt x="421245" y="77068"/>
                  </a:cubicBezTo>
                  <a:cubicBezTo>
                    <a:pt x="422952" y="76099"/>
                    <a:pt x="424912" y="75659"/>
                    <a:pt x="426871" y="75804"/>
                  </a:cubicBezTo>
                  <a:cubicBezTo>
                    <a:pt x="428830" y="75948"/>
                    <a:pt x="430704" y="76672"/>
                    <a:pt x="432253" y="77882"/>
                  </a:cubicBezTo>
                  <a:cubicBezTo>
                    <a:pt x="433801" y="79093"/>
                    <a:pt x="434955" y="80736"/>
                    <a:pt x="435566" y="82603"/>
                  </a:cubicBezTo>
                  <a:cubicBezTo>
                    <a:pt x="436178" y="84469"/>
                    <a:pt x="436225" y="86476"/>
                    <a:pt x="435694" y="88369"/>
                  </a:cubicBezTo>
                  <a:cubicBezTo>
                    <a:pt x="435167" y="90261"/>
                    <a:pt x="434087" y="91954"/>
                    <a:pt x="432596" y="93232"/>
                  </a:cubicBezTo>
                  <a:cubicBezTo>
                    <a:pt x="431103" y="94510"/>
                    <a:pt x="429264" y="95317"/>
                    <a:pt x="427312" y="95549"/>
                  </a:cubicBezTo>
                  <a:cubicBezTo>
                    <a:pt x="425361" y="95782"/>
                    <a:pt x="423387" y="95429"/>
                    <a:pt x="421636" y="94537"/>
                  </a:cubicBezTo>
                  <a:cubicBezTo>
                    <a:pt x="419298" y="93351"/>
                    <a:pt x="417525" y="91287"/>
                    <a:pt x="416704" y="88797"/>
                  </a:cubicBezTo>
                  <a:cubicBezTo>
                    <a:pt x="415883" y="86306"/>
                    <a:pt x="416085" y="83593"/>
                    <a:pt x="417261" y="81250"/>
                  </a:cubicBezTo>
                  <a:lnTo>
                    <a:pt x="417274" y="81250"/>
                  </a:lnTo>
                  <a:close/>
                  <a:moveTo>
                    <a:pt x="411311" y="397888"/>
                  </a:moveTo>
                  <a:lnTo>
                    <a:pt x="411311" y="453988"/>
                  </a:lnTo>
                  <a:lnTo>
                    <a:pt x="234701" y="453988"/>
                  </a:lnTo>
                  <a:lnTo>
                    <a:pt x="234701" y="161824"/>
                  </a:lnTo>
                  <a:lnTo>
                    <a:pt x="296566" y="161824"/>
                  </a:lnTo>
                  <a:cubicBezTo>
                    <a:pt x="297148" y="161824"/>
                    <a:pt x="297605" y="161824"/>
                    <a:pt x="298062" y="161824"/>
                  </a:cubicBezTo>
                  <a:lnTo>
                    <a:pt x="313053" y="161824"/>
                  </a:lnTo>
                  <a:cubicBezTo>
                    <a:pt x="342681" y="161824"/>
                    <a:pt x="355075" y="167018"/>
                    <a:pt x="369152" y="177855"/>
                  </a:cubicBezTo>
                  <a:cubicBezTo>
                    <a:pt x="389557" y="193853"/>
                    <a:pt x="392774" y="217072"/>
                    <a:pt x="392774" y="228697"/>
                  </a:cubicBezTo>
                  <a:cubicBezTo>
                    <a:pt x="392774" y="243116"/>
                    <a:pt x="388372" y="258336"/>
                    <a:pt x="377556" y="270740"/>
                  </a:cubicBezTo>
                  <a:cubicBezTo>
                    <a:pt x="371905" y="277513"/>
                    <a:pt x="363282" y="286437"/>
                    <a:pt x="349122" y="292265"/>
                  </a:cubicBezTo>
                  <a:cubicBezTo>
                    <a:pt x="394001" y="308160"/>
                    <a:pt x="411311" y="344220"/>
                    <a:pt x="411311" y="397888"/>
                  </a:cubicBezTo>
                  <a:close/>
                  <a:moveTo>
                    <a:pt x="359117" y="37877"/>
                  </a:moveTo>
                  <a:lnTo>
                    <a:pt x="367043" y="39363"/>
                  </a:lnTo>
                  <a:lnTo>
                    <a:pt x="379312" y="93062"/>
                  </a:lnTo>
                  <a:lnTo>
                    <a:pt x="370118" y="90444"/>
                  </a:lnTo>
                  <a:lnTo>
                    <a:pt x="367489" y="78040"/>
                  </a:lnTo>
                  <a:cubicBezTo>
                    <a:pt x="363697" y="77136"/>
                    <a:pt x="359854" y="76315"/>
                    <a:pt x="356062" y="75598"/>
                  </a:cubicBezTo>
                  <a:cubicBezTo>
                    <a:pt x="352270" y="74882"/>
                    <a:pt x="348385" y="74259"/>
                    <a:pt x="344531" y="73718"/>
                  </a:cubicBezTo>
                  <a:lnTo>
                    <a:pt x="337466" y="84335"/>
                  </a:lnTo>
                  <a:lnTo>
                    <a:pt x="328210" y="83473"/>
                  </a:lnTo>
                  <a:lnTo>
                    <a:pt x="359117" y="37877"/>
                  </a:lnTo>
                  <a:close/>
                  <a:moveTo>
                    <a:pt x="270812" y="78539"/>
                  </a:moveTo>
                  <a:cubicBezTo>
                    <a:pt x="271750" y="78748"/>
                    <a:pt x="272713" y="78818"/>
                    <a:pt x="273670" y="78746"/>
                  </a:cubicBezTo>
                  <a:cubicBezTo>
                    <a:pt x="278676" y="78372"/>
                    <a:pt x="283092" y="74840"/>
                    <a:pt x="280848" y="45274"/>
                  </a:cubicBezTo>
                  <a:lnTo>
                    <a:pt x="280693" y="43300"/>
                  </a:lnTo>
                  <a:lnTo>
                    <a:pt x="280111" y="35592"/>
                  </a:lnTo>
                  <a:lnTo>
                    <a:pt x="281346" y="35446"/>
                  </a:lnTo>
                  <a:lnTo>
                    <a:pt x="300047" y="34023"/>
                  </a:lnTo>
                  <a:cubicBezTo>
                    <a:pt x="304721" y="33826"/>
                    <a:pt x="309396" y="33742"/>
                    <a:pt x="314082" y="33774"/>
                  </a:cubicBezTo>
                  <a:lnTo>
                    <a:pt x="314674" y="41513"/>
                  </a:lnTo>
                  <a:lnTo>
                    <a:pt x="317791" y="82351"/>
                  </a:lnTo>
                  <a:lnTo>
                    <a:pt x="309115" y="83016"/>
                  </a:lnTo>
                  <a:lnTo>
                    <a:pt x="305999" y="41565"/>
                  </a:lnTo>
                  <a:cubicBezTo>
                    <a:pt x="301116" y="41679"/>
                    <a:pt x="296223" y="41919"/>
                    <a:pt x="291371" y="42293"/>
                  </a:cubicBezTo>
                  <a:lnTo>
                    <a:pt x="288878" y="42500"/>
                  </a:lnTo>
                  <a:lnTo>
                    <a:pt x="289253" y="47196"/>
                  </a:lnTo>
                  <a:cubicBezTo>
                    <a:pt x="291642" y="78601"/>
                    <a:pt x="286406" y="85312"/>
                    <a:pt x="276671" y="86050"/>
                  </a:cubicBezTo>
                  <a:cubicBezTo>
                    <a:pt x="274647" y="86157"/>
                    <a:pt x="272617" y="86053"/>
                    <a:pt x="270615" y="85738"/>
                  </a:cubicBezTo>
                  <a:lnTo>
                    <a:pt x="270812" y="78539"/>
                  </a:lnTo>
                  <a:close/>
                  <a:moveTo>
                    <a:pt x="225643" y="46334"/>
                  </a:moveTo>
                  <a:cubicBezTo>
                    <a:pt x="240114" y="41638"/>
                    <a:pt x="253775" y="49326"/>
                    <a:pt x="258128" y="62717"/>
                  </a:cubicBezTo>
                  <a:cubicBezTo>
                    <a:pt x="262481" y="76108"/>
                    <a:pt x="255811" y="90403"/>
                    <a:pt x="241340" y="95108"/>
                  </a:cubicBezTo>
                  <a:cubicBezTo>
                    <a:pt x="226869" y="99815"/>
                    <a:pt x="213218" y="92117"/>
                    <a:pt x="208865" y="78726"/>
                  </a:cubicBezTo>
                  <a:cubicBezTo>
                    <a:pt x="204512" y="65335"/>
                    <a:pt x="211151" y="51009"/>
                    <a:pt x="225612" y="46302"/>
                  </a:cubicBezTo>
                  <a:lnTo>
                    <a:pt x="225643" y="46334"/>
                  </a:lnTo>
                  <a:close/>
                  <a:moveTo>
                    <a:pt x="156578" y="81229"/>
                  </a:moveTo>
                  <a:lnTo>
                    <a:pt x="167258" y="98765"/>
                  </a:lnTo>
                  <a:lnTo>
                    <a:pt x="171559" y="96137"/>
                  </a:lnTo>
                  <a:lnTo>
                    <a:pt x="175402" y="69833"/>
                  </a:lnTo>
                  <a:lnTo>
                    <a:pt x="184212" y="64784"/>
                  </a:lnTo>
                  <a:lnTo>
                    <a:pt x="179018" y="94683"/>
                  </a:lnTo>
                  <a:lnTo>
                    <a:pt x="194933" y="100376"/>
                  </a:lnTo>
                  <a:cubicBezTo>
                    <a:pt x="200533" y="102349"/>
                    <a:pt x="204418" y="102453"/>
                    <a:pt x="206860" y="99804"/>
                  </a:cubicBezTo>
                  <a:lnTo>
                    <a:pt x="210808" y="106266"/>
                  </a:lnTo>
                  <a:cubicBezTo>
                    <a:pt x="205676" y="111980"/>
                    <a:pt x="198476" y="111066"/>
                    <a:pt x="191069" y="108105"/>
                  </a:cubicBezTo>
                  <a:lnTo>
                    <a:pt x="176524" y="102536"/>
                  </a:lnTo>
                  <a:lnTo>
                    <a:pt x="171424" y="105653"/>
                  </a:lnTo>
                  <a:lnTo>
                    <a:pt x="182093" y="123117"/>
                  </a:lnTo>
                  <a:lnTo>
                    <a:pt x="174883" y="127999"/>
                  </a:lnTo>
                  <a:lnTo>
                    <a:pt x="149411" y="86226"/>
                  </a:lnTo>
                  <a:lnTo>
                    <a:pt x="156578" y="81229"/>
                  </a:lnTo>
                  <a:close/>
                  <a:moveTo>
                    <a:pt x="86715" y="148756"/>
                  </a:moveTo>
                  <a:lnTo>
                    <a:pt x="118203" y="175766"/>
                  </a:lnTo>
                  <a:cubicBezTo>
                    <a:pt x="121921" y="170489"/>
                    <a:pt x="125842" y="165374"/>
                    <a:pt x="129962" y="160422"/>
                  </a:cubicBezTo>
                  <a:lnTo>
                    <a:pt x="98693" y="133411"/>
                  </a:lnTo>
                  <a:cubicBezTo>
                    <a:pt x="100549" y="131188"/>
                    <a:pt x="102447" y="128993"/>
                    <a:pt x="104386" y="126825"/>
                  </a:cubicBezTo>
                  <a:lnTo>
                    <a:pt x="135645" y="153836"/>
                  </a:lnTo>
                  <a:cubicBezTo>
                    <a:pt x="140008" y="148988"/>
                    <a:pt x="144573" y="144306"/>
                    <a:pt x="149337" y="139790"/>
                  </a:cubicBezTo>
                  <a:lnTo>
                    <a:pt x="117849" y="112780"/>
                  </a:lnTo>
                  <a:cubicBezTo>
                    <a:pt x="119927" y="110750"/>
                    <a:pt x="122029" y="108763"/>
                    <a:pt x="124155" y="106817"/>
                  </a:cubicBezTo>
                  <a:lnTo>
                    <a:pt x="155654" y="134014"/>
                  </a:lnTo>
                  <a:lnTo>
                    <a:pt x="161814" y="139344"/>
                  </a:lnTo>
                  <a:cubicBezTo>
                    <a:pt x="145401" y="153612"/>
                    <a:pt x="131104" y="170147"/>
                    <a:pt x="119355" y="188451"/>
                  </a:cubicBezTo>
                  <a:lnTo>
                    <a:pt x="113237" y="183153"/>
                  </a:lnTo>
                  <a:lnTo>
                    <a:pt x="81697" y="155830"/>
                  </a:lnTo>
                  <a:cubicBezTo>
                    <a:pt x="83331" y="153469"/>
                    <a:pt x="84993" y="151115"/>
                    <a:pt x="86683" y="148766"/>
                  </a:cubicBezTo>
                  <a:lnTo>
                    <a:pt x="86715" y="148756"/>
                  </a:lnTo>
                  <a:close/>
                  <a:moveTo>
                    <a:pt x="67392" y="213779"/>
                  </a:moveTo>
                  <a:cubicBezTo>
                    <a:pt x="68123" y="211957"/>
                    <a:pt x="69378" y="210394"/>
                    <a:pt x="70998" y="209287"/>
                  </a:cubicBezTo>
                  <a:cubicBezTo>
                    <a:pt x="72617" y="208179"/>
                    <a:pt x="74530" y="207577"/>
                    <a:pt x="76492" y="207555"/>
                  </a:cubicBezTo>
                  <a:cubicBezTo>
                    <a:pt x="78454" y="207534"/>
                    <a:pt x="80378" y="208096"/>
                    <a:pt x="82021" y="209168"/>
                  </a:cubicBezTo>
                  <a:cubicBezTo>
                    <a:pt x="83665" y="210241"/>
                    <a:pt x="84953" y="211777"/>
                    <a:pt x="85723" y="213582"/>
                  </a:cubicBezTo>
                  <a:cubicBezTo>
                    <a:pt x="86493" y="215387"/>
                    <a:pt x="86711" y="217380"/>
                    <a:pt x="86349" y="219309"/>
                  </a:cubicBezTo>
                  <a:cubicBezTo>
                    <a:pt x="85986" y="221237"/>
                    <a:pt x="85060" y="223015"/>
                    <a:pt x="83687" y="224417"/>
                  </a:cubicBezTo>
                  <a:cubicBezTo>
                    <a:pt x="82314" y="225819"/>
                    <a:pt x="80556" y="226783"/>
                    <a:pt x="78636" y="227186"/>
                  </a:cubicBezTo>
                  <a:cubicBezTo>
                    <a:pt x="76715" y="227589"/>
                    <a:pt x="74718" y="227414"/>
                    <a:pt x="72897" y="226681"/>
                  </a:cubicBezTo>
                  <a:cubicBezTo>
                    <a:pt x="70455" y="225704"/>
                    <a:pt x="68501" y="223797"/>
                    <a:pt x="67463" y="221380"/>
                  </a:cubicBezTo>
                  <a:cubicBezTo>
                    <a:pt x="66424" y="218963"/>
                    <a:pt x="66388" y="216233"/>
                    <a:pt x="67360" y="213789"/>
                  </a:cubicBezTo>
                  <a:lnTo>
                    <a:pt x="67392" y="213779"/>
                  </a:lnTo>
                  <a:close/>
                  <a:moveTo>
                    <a:pt x="35083" y="286603"/>
                  </a:moveTo>
                  <a:cubicBezTo>
                    <a:pt x="35197" y="285201"/>
                    <a:pt x="36360" y="274356"/>
                    <a:pt x="36838" y="271612"/>
                  </a:cubicBezTo>
                  <a:lnTo>
                    <a:pt x="85831" y="275540"/>
                  </a:lnTo>
                  <a:lnTo>
                    <a:pt x="84616" y="284307"/>
                  </a:lnTo>
                  <a:lnTo>
                    <a:pt x="66851" y="282708"/>
                  </a:lnTo>
                  <a:lnTo>
                    <a:pt x="66352" y="288775"/>
                  </a:lnTo>
                  <a:lnTo>
                    <a:pt x="77988" y="298530"/>
                  </a:lnTo>
                  <a:cubicBezTo>
                    <a:pt x="83764" y="303402"/>
                    <a:pt x="84855" y="309240"/>
                    <a:pt x="82964" y="313271"/>
                  </a:cubicBezTo>
                  <a:lnTo>
                    <a:pt x="75463" y="313417"/>
                  </a:lnTo>
                  <a:cubicBezTo>
                    <a:pt x="76502" y="310726"/>
                    <a:pt x="74902" y="306799"/>
                    <a:pt x="72576" y="304763"/>
                  </a:cubicBezTo>
                  <a:lnTo>
                    <a:pt x="63953" y="297314"/>
                  </a:lnTo>
                  <a:cubicBezTo>
                    <a:pt x="62208" y="301292"/>
                    <a:pt x="57543" y="306373"/>
                    <a:pt x="49076" y="305687"/>
                  </a:cubicBezTo>
                  <a:cubicBezTo>
                    <a:pt x="40609" y="305001"/>
                    <a:pt x="33961" y="300088"/>
                    <a:pt x="35051" y="286613"/>
                  </a:cubicBezTo>
                  <a:lnTo>
                    <a:pt x="35083" y="286603"/>
                  </a:lnTo>
                  <a:close/>
                  <a:moveTo>
                    <a:pt x="36786" y="351647"/>
                  </a:moveTo>
                  <a:lnTo>
                    <a:pt x="83110" y="321966"/>
                  </a:lnTo>
                  <a:lnTo>
                    <a:pt x="83764" y="331493"/>
                  </a:lnTo>
                  <a:lnTo>
                    <a:pt x="72970" y="338163"/>
                  </a:lnTo>
                  <a:cubicBezTo>
                    <a:pt x="73406" y="342037"/>
                    <a:pt x="73936" y="345933"/>
                    <a:pt x="74560" y="349777"/>
                  </a:cubicBezTo>
                  <a:cubicBezTo>
                    <a:pt x="75183" y="353621"/>
                    <a:pt x="75890" y="357464"/>
                    <a:pt x="76689" y="361277"/>
                  </a:cubicBezTo>
                  <a:lnTo>
                    <a:pt x="89062" y="364394"/>
                  </a:lnTo>
                  <a:lnTo>
                    <a:pt x="91379" y="373391"/>
                  </a:lnTo>
                  <a:lnTo>
                    <a:pt x="38002" y="359667"/>
                  </a:lnTo>
                  <a:lnTo>
                    <a:pt x="36786" y="351647"/>
                  </a:lnTo>
                  <a:close/>
                  <a:moveTo>
                    <a:pt x="78341" y="462912"/>
                  </a:moveTo>
                  <a:cubicBezTo>
                    <a:pt x="76776" y="460480"/>
                    <a:pt x="75242" y="458025"/>
                    <a:pt x="73739" y="455544"/>
                  </a:cubicBezTo>
                  <a:lnTo>
                    <a:pt x="110920" y="437104"/>
                  </a:lnTo>
                  <a:cubicBezTo>
                    <a:pt x="107505" y="431617"/>
                    <a:pt x="104323" y="426012"/>
                    <a:pt x="101373" y="420285"/>
                  </a:cubicBezTo>
                  <a:lnTo>
                    <a:pt x="64285" y="438516"/>
                  </a:lnTo>
                  <a:cubicBezTo>
                    <a:pt x="62969" y="435942"/>
                    <a:pt x="61688" y="433336"/>
                    <a:pt x="60441" y="430704"/>
                  </a:cubicBezTo>
                  <a:lnTo>
                    <a:pt x="97539" y="412473"/>
                  </a:lnTo>
                  <a:cubicBezTo>
                    <a:pt x="94769" y="406557"/>
                    <a:pt x="92241" y="400529"/>
                    <a:pt x="89956" y="394385"/>
                  </a:cubicBezTo>
                  <a:lnTo>
                    <a:pt x="52744" y="412805"/>
                  </a:lnTo>
                  <a:cubicBezTo>
                    <a:pt x="51698" y="410111"/>
                    <a:pt x="50690" y="407405"/>
                    <a:pt x="49720" y="404683"/>
                  </a:cubicBezTo>
                  <a:lnTo>
                    <a:pt x="87119" y="386304"/>
                  </a:lnTo>
                  <a:lnTo>
                    <a:pt x="94392" y="382709"/>
                  </a:lnTo>
                  <a:cubicBezTo>
                    <a:pt x="101125" y="403390"/>
                    <a:pt x="110769" y="423007"/>
                    <a:pt x="123033" y="440967"/>
                  </a:cubicBezTo>
                  <a:lnTo>
                    <a:pt x="115762" y="444552"/>
                  </a:lnTo>
                  <a:lnTo>
                    <a:pt x="78341" y="462912"/>
                  </a:lnTo>
                  <a:close/>
                  <a:moveTo>
                    <a:pt x="106681" y="500736"/>
                  </a:moveTo>
                  <a:cubicBezTo>
                    <a:pt x="103839" y="497794"/>
                    <a:pt x="101749" y="494209"/>
                    <a:pt x="100592" y="490284"/>
                  </a:cubicBezTo>
                  <a:cubicBezTo>
                    <a:pt x="99434" y="486361"/>
                    <a:pt x="99242" y="482215"/>
                    <a:pt x="100033" y="478204"/>
                  </a:cubicBezTo>
                  <a:lnTo>
                    <a:pt x="108728" y="480039"/>
                  </a:lnTo>
                  <a:cubicBezTo>
                    <a:pt x="108024" y="482722"/>
                    <a:pt x="108014" y="485540"/>
                    <a:pt x="108700" y="488231"/>
                  </a:cubicBezTo>
                  <a:cubicBezTo>
                    <a:pt x="109385" y="490918"/>
                    <a:pt x="110742" y="493388"/>
                    <a:pt x="112645" y="495405"/>
                  </a:cubicBezTo>
                  <a:cubicBezTo>
                    <a:pt x="119325" y="502614"/>
                    <a:pt x="129755" y="502324"/>
                    <a:pt x="136923" y="495688"/>
                  </a:cubicBezTo>
                  <a:cubicBezTo>
                    <a:pt x="144091" y="489048"/>
                    <a:pt x="145088" y="478575"/>
                    <a:pt x="138408" y="471367"/>
                  </a:cubicBezTo>
                  <a:cubicBezTo>
                    <a:pt x="136501" y="469261"/>
                    <a:pt x="134071" y="467692"/>
                    <a:pt x="131363" y="466829"/>
                  </a:cubicBezTo>
                  <a:cubicBezTo>
                    <a:pt x="128655" y="465966"/>
                    <a:pt x="125767" y="465838"/>
                    <a:pt x="122992" y="466454"/>
                  </a:cubicBezTo>
                  <a:lnTo>
                    <a:pt x="121714" y="457778"/>
                  </a:lnTo>
                  <a:cubicBezTo>
                    <a:pt x="125883" y="457189"/>
                    <a:pt x="130133" y="457639"/>
                    <a:pt x="134086" y="459090"/>
                  </a:cubicBezTo>
                  <a:cubicBezTo>
                    <a:pt x="138039" y="460538"/>
                    <a:pt x="141572" y="462942"/>
                    <a:pt x="144372" y="466090"/>
                  </a:cubicBezTo>
                  <a:cubicBezTo>
                    <a:pt x="154708" y="477255"/>
                    <a:pt x="153451" y="492870"/>
                    <a:pt x="143125" y="502448"/>
                  </a:cubicBezTo>
                  <a:cubicBezTo>
                    <a:pt x="132799" y="512026"/>
                    <a:pt x="117018" y="511933"/>
                    <a:pt x="106681" y="500736"/>
                  </a:cubicBezTo>
                  <a:close/>
                  <a:moveTo>
                    <a:pt x="143915" y="534302"/>
                  </a:moveTo>
                  <a:lnTo>
                    <a:pt x="172411" y="493787"/>
                  </a:lnTo>
                  <a:lnTo>
                    <a:pt x="179465" y="498750"/>
                  </a:lnTo>
                  <a:lnTo>
                    <a:pt x="150979" y="539266"/>
                  </a:lnTo>
                  <a:lnTo>
                    <a:pt x="143915" y="534302"/>
                  </a:lnTo>
                  <a:close/>
                  <a:moveTo>
                    <a:pt x="192742" y="564125"/>
                  </a:moveTo>
                  <a:lnTo>
                    <a:pt x="185303" y="559743"/>
                  </a:lnTo>
                  <a:lnTo>
                    <a:pt x="194341" y="544377"/>
                  </a:lnTo>
                  <a:lnTo>
                    <a:pt x="187578" y="540400"/>
                  </a:lnTo>
                  <a:cubicBezTo>
                    <a:pt x="178000" y="534760"/>
                    <a:pt x="174333" y="526199"/>
                    <a:pt x="179403" y="517605"/>
                  </a:cubicBezTo>
                  <a:cubicBezTo>
                    <a:pt x="184472" y="509014"/>
                    <a:pt x="193832" y="507303"/>
                    <a:pt x="203712" y="513110"/>
                  </a:cubicBezTo>
                  <a:lnTo>
                    <a:pt x="217861" y="521418"/>
                  </a:lnTo>
                  <a:lnTo>
                    <a:pt x="192742" y="564125"/>
                  </a:lnTo>
                  <a:close/>
                  <a:moveTo>
                    <a:pt x="252684" y="583670"/>
                  </a:moveTo>
                  <a:lnTo>
                    <a:pt x="234566" y="579066"/>
                  </a:lnTo>
                  <a:cubicBezTo>
                    <a:pt x="229122" y="577486"/>
                    <a:pt x="225372" y="574444"/>
                    <a:pt x="223440" y="570932"/>
                  </a:cubicBezTo>
                  <a:cubicBezTo>
                    <a:pt x="222685" y="569580"/>
                    <a:pt x="222219" y="568090"/>
                    <a:pt x="222070" y="566549"/>
                  </a:cubicBezTo>
                  <a:cubicBezTo>
                    <a:pt x="221922" y="565008"/>
                    <a:pt x="222095" y="563456"/>
                    <a:pt x="222578" y="561989"/>
                  </a:cubicBezTo>
                  <a:cubicBezTo>
                    <a:pt x="224229" y="556281"/>
                    <a:pt x="228385" y="554175"/>
                    <a:pt x="232447" y="553363"/>
                  </a:cubicBezTo>
                  <a:cubicBezTo>
                    <a:pt x="227429" y="549843"/>
                    <a:pt x="224489" y="545523"/>
                    <a:pt x="226401" y="538933"/>
                  </a:cubicBezTo>
                  <a:cubicBezTo>
                    <a:pt x="228862" y="530435"/>
                    <a:pt x="237184" y="527911"/>
                    <a:pt x="247791" y="530996"/>
                  </a:cubicBezTo>
                  <a:lnTo>
                    <a:pt x="266408" y="536409"/>
                  </a:lnTo>
                  <a:lnTo>
                    <a:pt x="252684" y="583670"/>
                  </a:lnTo>
                  <a:close/>
                  <a:moveTo>
                    <a:pt x="311764" y="575307"/>
                  </a:moveTo>
                  <a:cubicBezTo>
                    <a:pt x="309802" y="575307"/>
                    <a:pt x="307885" y="574722"/>
                    <a:pt x="306253" y="573634"/>
                  </a:cubicBezTo>
                  <a:cubicBezTo>
                    <a:pt x="304621" y="572542"/>
                    <a:pt x="303350" y="570994"/>
                    <a:pt x="302598" y="569182"/>
                  </a:cubicBezTo>
                  <a:cubicBezTo>
                    <a:pt x="301848" y="567366"/>
                    <a:pt x="301651" y="565372"/>
                    <a:pt x="302034" y="563448"/>
                  </a:cubicBezTo>
                  <a:cubicBezTo>
                    <a:pt x="302417" y="561524"/>
                    <a:pt x="303362" y="559754"/>
                    <a:pt x="304749" y="558368"/>
                  </a:cubicBezTo>
                  <a:cubicBezTo>
                    <a:pt x="306137" y="556982"/>
                    <a:pt x="307905" y="556038"/>
                    <a:pt x="309830" y="555655"/>
                  </a:cubicBezTo>
                  <a:cubicBezTo>
                    <a:pt x="311754" y="555272"/>
                    <a:pt x="313748" y="555469"/>
                    <a:pt x="315562" y="556219"/>
                  </a:cubicBezTo>
                  <a:cubicBezTo>
                    <a:pt x="317374" y="556967"/>
                    <a:pt x="318924" y="558241"/>
                    <a:pt x="320014" y="559870"/>
                  </a:cubicBezTo>
                  <a:cubicBezTo>
                    <a:pt x="321104" y="561505"/>
                    <a:pt x="321685" y="563421"/>
                    <a:pt x="321685" y="565383"/>
                  </a:cubicBezTo>
                  <a:cubicBezTo>
                    <a:pt x="321693" y="566688"/>
                    <a:pt x="321442" y="567986"/>
                    <a:pt x="320946" y="569193"/>
                  </a:cubicBezTo>
                  <a:cubicBezTo>
                    <a:pt x="320452" y="570401"/>
                    <a:pt x="319722" y="571500"/>
                    <a:pt x="318801" y="572426"/>
                  </a:cubicBezTo>
                  <a:cubicBezTo>
                    <a:pt x="317880" y="573351"/>
                    <a:pt x="316786" y="574087"/>
                    <a:pt x="315580" y="574587"/>
                  </a:cubicBezTo>
                  <a:cubicBezTo>
                    <a:pt x="314374" y="575089"/>
                    <a:pt x="313081" y="575346"/>
                    <a:pt x="311775" y="575346"/>
                  </a:cubicBezTo>
                  <a:lnTo>
                    <a:pt x="311764" y="575307"/>
                  </a:lnTo>
                  <a:close/>
                  <a:moveTo>
                    <a:pt x="409480" y="571667"/>
                  </a:moveTo>
                  <a:lnTo>
                    <a:pt x="398543" y="537625"/>
                  </a:lnTo>
                  <a:lnTo>
                    <a:pt x="383696" y="579961"/>
                  </a:lnTo>
                  <a:lnTo>
                    <a:pt x="375479" y="582035"/>
                  </a:lnTo>
                  <a:lnTo>
                    <a:pt x="360487" y="535255"/>
                  </a:lnTo>
                  <a:lnTo>
                    <a:pt x="368799" y="533180"/>
                  </a:lnTo>
                  <a:lnTo>
                    <a:pt x="379842" y="567544"/>
                  </a:lnTo>
                  <a:lnTo>
                    <a:pt x="394772" y="524825"/>
                  </a:lnTo>
                  <a:lnTo>
                    <a:pt x="402395" y="521708"/>
                  </a:lnTo>
                  <a:lnTo>
                    <a:pt x="417459" y="568574"/>
                  </a:lnTo>
                  <a:lnTo>
                    <a:pt x="409480" y="571667"/>
                  </a:lnTo>
                  <a:close/>
                  <a:moveTo>
                    <a:pt x="468281" y="541190"/>
                  </a:moveTo>
                  <a:lnTo>
                    <a:pt x="457444" y="523683"/>
                  </a:lnTo>
                  <a:lnTo>
                    <a:pt x="453167" y="526331"/>
                  </a:lnTo>
                  <a:lnTo>
                    <a:pt x="449488" y="552677"/>
                  </a:lnTo>
                  <a:lnTo>
                    <a:pt x="440700" y="557780"/>
                  </a:lnTo>
                  <a:lnTo>
                    <a:pt x="445768" y="527861"/>
                  </a:lnTo>
                  <a:lnTo>
                    <a:pt x="429813" y="522250"/>
                  </a:lnTo>
                  <a:cubicBezTo>
                    <a:pt x="424203" y="520319"/>
                    <a:pt x="420316" y="520172"/>
                    <a:pt x="417885" y="522893"/>
                  </a:cubicBezTo>
                  <a:lnTo>
                    <a:pt x="413905" y="516454"/>
                  </a:lnTo>
                  <a:cubicBezTo>
                    <a:pt x="419008" y="510718"/>
                    <a:pt x="426205" y="511592"/>
                    <a:pt x="433584" y="514511"/>
                  </a:cubicBezTo>
                  <a:lnTo>
                    <a:pt x="448126" y="519998"/>
                  </a:lnTo>
                  <a:lnTo>
                    <a:pt x="453206" y="516881"/>
                  </a:lnTo>
                  <a:lnTo>
                    <a:pt x="442435" y="499467"/>
                  </a:lnTo>
                  <a:lnTo>
                    <a:pt x="449613" y="494542"/>
                  </a:lnTo>
                  <a:lnTo>
                    <a:pt x="475397" y="536181"/>
                  </a:lnTo>
                  <a:lnTo>
                    <a:pt x="468281" y="541190"/>
                  </a:lnTo>
                  <a:close/>
                  <a:moveTo>
                    <a:pt x="525243" y="489369"/>
                  </a:moveTo>
                  <a:lnTo>
                    <a:pt x="498897" y="465184"/>
                  </a:lnTo>
                  <a:lnTo>
                    <a:pt x="506970" y="509358"/>
                  </a:lnTo>
                  <a:lnTo>
                    <a:pt x="500860" y="515247"/>
                  </a:lnTo>
                  <a:lnTo>
                    <a:pt x="464622" y="482005"/>
                  </a:lnTo>
                  <a:lnTo>
                    <a:pt x="470856" y="476082"/>
                  </a:lnTo>
                  <a:lnTo>
                    <a:pt x="497442" y="500496"/>
                  </a:lnTo>
                  <a:lnTo>
                    <a:pt x="489307" y="455919"/>
                  </a:lnTo>
                  <a:lnTo>
                    <a:pt x="494398" y="449446"/>
                  </a:lnTo>
                  <a:lnTo>
                    <a:pt x="530655" y="482742"/>
                  </a:lnTo>
                  <a:lnTo>
                    <a:pt x="525243" y="489369"/>
                  </a:lnTo>
                  <a:close/>
                  <a:moveTo>
                    <a:pt x="566402" y="422821"/>
                  </a:moveTo>
                  <a:cubicBezTo>
                    <a:pt x="566402" y="422821"/>
                    <a:pt x="532858" y="419162"/>
                    <a:pt x="527311" y="417904"/>
                  </a:cubicBezTo>
                  <a:lnTo>
                    <a:pt x="527206" y="418114"/>
                  </a:lnTo>
                  <a:cubicBezTo>
                    <a:pt x="531360" y="421761"/>
                    <a:pt x="554528" y="446860"/>
                    <a:pt x="554528" y="446860"/>
                  </a:cubicBezTo>
                  <a:lnTo>
                    <a:pt x="548295" y="457506"/>
                  </a:lnTo>
                  <a:lnTo>
                    <a:pt x="502417" y="438276"/>
                  </a:lnTo>
                  <a:lnTo>
                    <a:pt x="507279" y="430406"/>
                  </a:lnTo>
                  <a:lnTo>
                    <a:pt x="525898" y="438467"/>
                  </a:lnTo>
                  <a:cubicBezTo>
                    <a:pt x="531786" y="441021"/>
                    <a:pt x="538840" y="444064"/>
                    <a:pt x="544888" y="447138"/>
                  </a:cubicBezTo>
                  <a:lnTo>
                    <a:pt x="544992" y="446933"/>
                  </a:lnTo>
                  <a:cubicBezTo>
                    <a:pt x="540327" y="442713"/>
                    <a:pt x="515352" y="415380"/>
                    <a:pt x="515352" y="415380"/>
                  </a:cubicBezTo>
                  <a:lnTo>
                    <a:pt x="518603" y="408794"/>
                  </a:lnTo>
                  <a:cubicBezTo>
                    <a:pt x="518603" y="408794"/>
                    <a:pt x="554768" y="413139"/>
                    <a:pt x="560939" y="414626"/>
                  </a:cubicBezTo>
                  <a:lnTo>
                    <a:pt x="561009" y="414478"/>
                  </a:lnTo>
                  <a:cubicBezTo>
                    <a:pt x="555298" y="411361"/>
                    <a:pt x="548368" y="407622"/>
                    <a:pt x="542457" y="404277"/>
                  </a:cubicBezTo>
                  <a:lnTo>
                    <a:pt x="525065" y="394376"/>
                  </a:lnTo>
                  <a:lnTo>
                    <a:pt x="528182" y="385982"/>
                  </a:lnTo>
                  <a:lnTo>
                    <a:pt x="571160" y="411226"/>
                  </a:lnTo>
                  <a:lnTo>
                    <a:pt x="566402" y="422821"/>
                  </a:lnTo>
                  <a:close/>
                  <a:moveTo>
                    <a:pt x="586960" y="360550"/>
                  </a:moveTo>
                  <a:cubicBezTo>
                    <a:pt x="584323" y="375530"/>
                    <a:pt x="571118" y="383977"/>
                    <a:pt x="557249" y="381536"/>
                  </a:cubicBezTo>
                  <a:cubicBezTo>
                    <a:pt x="543382" y="379093"/>
                    <a:pt x="533884" y="366492"/>
                    <a:pt x="536533" y="351512"/>
                  </a:cubicBezTo>
                  <a:cubicBezTo>
                    <a:pt x="539185" y="336531"/>
                    <a:pt x="552379" y="328075"/>
                    <a:pt x="566247" y="330526"/>
                  </a:cubicBezTo>
                  <a:cubicBezTo>
                    <a:pt x="580115" y="332978"/>
                    <a:pt x="589569" y="345569"/>
                    <a:pt x="586960" y="360550"/>
                  </a:cubicBezTo>
                  <a:close/>
                </a:path>
              </a:pathLst>
            </a:custGeom>
            <a:solidFill>
              <a:srgbClr val="9B9B9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39" name="Группа 438">
            <a:extLst>
              <a:ext uri="{FF2B5EF4-FFF2-40B4-BE49-F238E27FC236}">
                <a16:creationId xmlns:a16="http://schemas.microsoft.com/office/drawing/2014/main" id="{6FF1B427-7AF3-AAA8-3A7E-F8146FC08B51}"/>
              </a:ext>
            </a:extLst>
          </p:cNvPr>
          <p:cNvGrpSpPr/>
          <p:nvPr/>
        </p:nvGrpSpPr>
        <p:grpSpPr>
          <a:xfrm>
            <a:off x="5482317" y="3925209"/>
            <a:ext cx="2817517" cy="306806"/>
            <a:chOff x="5482317" y="3633166"/>
            <a:chExt cx="2817517" cy="306806"/>
          </a:xfrm>
        </p:grpSpPr>
        <p:sp>
          <p:nvSpPr>
            <p:cNvPr id="422" name="TextBox 421">
              <a:extLst>
                <a:ext uri="{FF2B5EF4-FFF2-40B4-BE49-F238E27FC236}">
                  <a16:creationId xmlns:a16="http://schemas.microsoft.com/office/drawing/2014/main" id="{046B99D5-0EF7-9046-A800-88B489F7B7EB}"/>
                </a:ext>
              </a:extLst>
            </p:cNvPr>
            <p:cNvSpPr txBox="1"/>
            <p:nvPr/>
          </p:nvSpPr>
          <p:spPr>
            <a:xfrm>
              <a:off x="5482317" y="3694236"/>
              <a:ext cx="2817517" cy="18466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180000" indent="-180000">
                <a:spcAft>
                  <a:spcPts val="600"/>
                </a:spcAft>
                <a:buClr>
                  <a:srgbClr val="4525FF"/>
                </a:buClr>
                <a:buFont typeface="Arial" panose="020B0604020202020204" pitchFamily="34" charset="0"/>
                <a:buChar char="•"/>
              </a:pP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Единый регистр населения</a:t>
              </a:r>
            </a:p>
          </p:txBody>
        </p:sp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A1546182-0429-9B48-FB28-2A5FC9177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17">
                      <a14:imgEffect>
                        <a14:brightnessContrast bright="-20000" contrast="40000"/>
                      </a14:imgEffect>
                    </a14:imgLayer>
                  </a14:imgProps>
                </a:ext>
              </a:extLst>
            </a:blip>
            <a:srcRect/>
            <a:stretch/>
          </p:blipFill>
          <p:spPr>
            <a:xfrm>
              <a:off x="7696662" y="3633166"/>
              <a:ext cx="296802" cy="306806"/>
            </a:xfrm>
            <a:prstGeom prst="rect">
              <a:avLst/>
            </a:prstGeom>
          </p:spPr>
        </p:pic>
      </p:grpSp>
      <p:sp>
        <p:nvSpPr>
          <p:cNvPr id="97" name="TextBox 96">
            <a:extLst>
              <a:ext uri="{FF2B5EF4-FFF2-40B4-BE49-F238E27FC236}">
                <a16:creationId xmlns:a16="http://schemas.microsoft.com/office/drawing/2014/main" id="{A76A5E41-46BC-4048-A2FD-3AEC635A887D}"/>
              </a:ext>
            </a:extLst>
          </p:cNvPr>
          <p:cNvSpPr txBox="1"/>
          <p:nvPr/>
        </p:nvSpPr>
        <p:spPr>
          <a:xfrm>
            <a:off x="8915230" y="3234187"/>
            <a:ext cx="251477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80000" indent="-180000">
              <a:spcAft>
                <a:spcPts val="600"/>
              </a:spcAft>
              <a:buClr>
                <a:srgbClr val="4525FF"/>
              </a:buClr>
              <a:buFont typeface="Arial" panose="020B0604020202020204" pitchFamily="34" charset="0"/>
              <a:buChar char="•"/>
            </a:pPr>
            <a:r>
              <a:rPr lang="ru-RU" sz="1200" dirty="0">
                <a:latin typeface="Roboto" panose="02000000000000000000" pitchFamily="2" charset="0"/>
                <a:ea typeface="Roboto" panose="02000000000000000000" pitchFamily="2" charset="0"/>
              </a:rPr>
              <a:t>Продуктовый консалтинг </a:t>
            </a:r>
            <a:br>
              <a:rPr lang="ru-RU" sz="12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1200" dirty="0">
                <a:latin typeface="Roboto" panose="02000000000000000000" pitchFamily="2" charset="0"/>
                <a:ea typeface="Roboto" panose="02000000000000000000" pitchFamily="2" charset="0"/>
              </a:rPr>
              <a:t>и исследования в HR-Tech</a:t>
            </a:r>
          </a:p>
        </p:txBody>
      </p:sp>
      <p:grpSp>
        <p:nvGrpSpPr>
          <p:cNvPr id="438" name="Группа 437">
            <a:extLst>
              <a:ext uri="{FF2B5EF4-FFF2-40B4-BE49-F238E27FC236}">
                <a16:creationId xmlns:a16="http://schemas.microsoft.com/office/drawing/2014/main" id="{DE54D641-FD21-CEEB-E394-E9DDA71982D7}"/>
              </a:ext>
            </a:extLst>
          </p:cNvPr>
          <p:cNvGrpSpPr/>
          <p:nvPr/>
        </p:nvGrpSpPr>
        <p:grpSpPr>
          <a:xfrm>
            <a:off x="5482318" y="4349427"/>
            <a:ext cx="2351952" cy="369332"/>
            <a:chOff x="5482318" y="4079616"/>
            <a:chExt cx="2351952" cy="369332"/>
          </a:xfrm>
        </p:grpSpPr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F8E3E084-A15F-7ED4-5414-C373193FF2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6975069" y="4122070"/>
              <a:ext cx="859201" cy="284425"/>
            </a:xfrm>
            <a:prstGeom prst="rect">
              <a:avLst/>
            </a:prstGeom>
          </p:spPr>
        </p:pic>
        <p:sp>
          <p:nvSpPr>
            <p:cNvPr id="423" name="TextBox 422">
              <a:extLst>
                <a:ext uri="{FF2B5EF4-FFF2-40B4-BE49-F238E27FC236}">
                  <a16:creationId xmlns:a16="http://schemas.microsoft.com/office/drawing/2014/main" id="{0078C112-CB09-12A8-189E-1D8407E6FEFF}"/>
                </a:ext>
              </a:extLst>
            </p:cNvPr>
            <p:cNvSpPr txBox="1"/>
            <p:nvPr/>
          </p:nvSpPr>
          <p:spPr>
            <a:xfrm>
              <a:off x="5482318" y="4079616"/>
              <a:ext cx="1470730" cy="3693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180000" indent="-180000">
                <a:spcAft>
                  <a:spcPts val="600"/>
                </a:spcAft>
                <a:buClr>
                  <a:srgbClr val="4525FF"/>
                </a:buClr>
                <a:buFont typeface="Arial" panose="020B0604020202020204" pitchFamily="34" charset="0"/>
                <a:buChar char="•"/>
              </a:pP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Социальная </a:t>
              </a:r>
              <a:b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</a:b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карта Москвича</a:t>
              </a:r>
            </a:p>
          </p:txBody>
        </p:sp>
      </p:grpSp>
      <p:grpSp>
        <p:nvGrpSpPr>
          <p:cNvPr id="436" name="Группа 435">
            <a:extLst>
              <a:ext uri="{FF2B5EF4-FFF2-40B4-BE49-F238E27FC236}">
                <a16:creationId xmlns:a16="http://schemas.microsoft.com/office/drawing/2014/main" id="{66BAC835-C683-C4F4-0EE0-1B5F42040D2D}"/>
              </a:ext>
            </a:extLst>
          </p:cNvPr>
          <p:cNvGrpSpPr/>
          <p:nvPr/>
        </p:nvGrpSpPr>
        <p:grpSpPr>
          <a:xfrm>
            <a:off x="5482317" y="5258465"/>
            <a:ext cx="2817517" cy="270590"/>
            <a:chOff x="5482317" y="4997388"/>
            <a:chExt cx="2817517" cy="270590"/>
          </a:xfrm>
        </p:grpSpPr>
        <p:pic>
          <p:nvPicPr>
            <p:cNvPr id="410" name="Рисунок 409">
              <a:extLst>
                <a:ext uri="{FF2B5EF4-FFF2-40B4-BE49-F238E27FC236}">
                  <a16:creationId xmlns:a16="http://schemas.microsoft.com/office/drawing/2014/main" id="{B53AA8AC-094A-6C00-8E0C-A58ECF624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821713" y="4997388"/>
              <a:ext cx="927171" cy="270590"/>
            </a:xfrm>
            <a:prstGeom prst="rect">
              <a:avLst/>
            </a:prstGeom>
          </p:spPr>
        </p:pic>
        <p:sp>
          <p:nvSpPr>
            <p:cNvPr id="425" name="TextBox 424">
              <a:extLst>
                <a:ext uri="{FF2B5EF4-FFF2-40B4-BE49-F238E27FC236}">
                  <a16:creationId xmlns:a16="http://schemas.microsoft.com/office/drawing/2014/main" id="{4368F4C6-8D1C-2968-E581-72F0E2922E26}"/>
                </a:ext>
              </a:extLst>
            </p:cNvPr>
            <p:cNvSpPr txBox="1"/>
            <p:nvPr/>
          </p:nvSpPr>
          <p:spPr>
            <a:xfrm>
              <a:off x="5482317" y="5040350"/>
              <a:ext cx="2817517" cy="18466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180000" indent="-180000">
                <a:spcAft>
                  <a:spcPts val="600"/>
                </a:spcAft>
                <a:buClr>
                  <a:srgbClr val="4525FF"/>
                </a:buClr>
                <a:buFont typeface="Arial" panose="020B0604020202020204" pitchFamily="34" charset="0"/>
                <a:buChar char="•"/>
              </a:pP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Цифровизация</a:t>
              </a:r>
            </a:p>
          </p:txBody>
        </p:sp>
      </p:grpSp>
      <p:grpSp>
        <p:nvGrpSpPr>
          <p:cNvPr id="435" name="Группа 434">
            <a:extLst>
              <a:ext uri="{FF2B5EF4-FFF2-40B4-BE49-F238E27FC236}">
                <a16:creationId xmlns:a16="http://schemas.microsoft.com/office/drawing/2014/main" id="{CF56C614-44F8-B5E8-4EDA-A69BFEE9E259}"/>
              </a:ext>
            </a:extLst>
          </p:cNvPr>
          <p:cNvGrpSpPr/>
          <p:nvPr/>
        </p:nvGrpSpPr>
        <p:grpSpPr>
          <a:xfrm>
            <a:off x="5482317" y="5646467"/>
            <a:ext cx="2699100" cy="184666"/>
            <a:chOff x="5482317" y="5475359"/>
            <a:chExt cx="2699100" cy="184666"/>
          </a:xfrm>
        </p:grpSpPr>
        <p:pic>
          <p:nvPicPr>
            <p:cNvPr id="412" name="Рисунок 411">
              <a:extLst>
                <a:ext uri="{FF2B5EF4-FFF2-40B4-BE49-F238E27FC236}">
                  <a16:creationId xmlns:a16="http://schemas.microsoft.com/office/drawing/2014/main" id="{8FDD54AC-1909-3E06-E273-5A67B0D11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6879665" y="5483774"/>
              <a:ext cx="1301752" cy="167836"/>
            </a:xfrm>
            <a:prstGeom prst="rect">
              <a:avLst/>
            </a:prstGeom>
          </p:spPr>
        </p:pic>
        <p:sp>
          <p:nvSpPr>
            <p:cNvPr id="426" name="TextBox 425">
              <a:extLst>
                <a:ext uri="{FF2B5EF4-FFF2-40B4-BE49-F238E27FC236}">
                  <a16:creationId xmlns:a16="http://schemas.microsoft.com/office/drawing/2014/main" id="{1814D53D-678C-EA84-3D24-BEF177F670F2}"/>
                </a:ext>
              </a:extLst>
            </p:cNvPr>
            <p:cNvSpPr txBox="1"/>
            <p:nvPr/>
          </p:nvSpPr>
          <p:spPr>
            <a:xfrm>
              <a:off x="5482317" y="5475359"/>
              <a:ext cx="1355363" cy="18466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marL="180000" indent="-180000">
                <a:spcAft>
                  <a:spcPts val="600"/>
                </a:spcAft>
                <a:buClr>
                  <a:srgbClr val="4525FF"/>
                </a:buClr>
                <a:buFont typeface="Arial" panose="020B0604020202020204" pitchFamily="34" charset="0"/>
                <a:buChar char="•"/>
              </a:pP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Цифровизация</a:t>
              </a:r>
            </a:p>
          </p:txBody>
        </p:sp>
      </p:grpSp>
      <p:grpSp>
        <p:nvGrpSpPr>
          <p:cNvPr id="437" name="Группа 436">
            <a:extLst>
              <a:ext uri="{FF2B5EF4-FFF2-40B4-BE49-F238E27FC236}">
                <a16:creationId xmlns:a16="http://schemas.microsoft.com/office/drawing/2014/main" id="{ED064823-16FF-7945-9735-F137E71872DF}"/>
              </a:ext>
            </a:extLst>
          </p:cNvPr>
          <p:cNvGrpSpPr/>
          <p:nvPr/>
        </p:nvGrpSpPr>
        <p:grpSpPr>
          <a:xfrm>
            <a:off x="5482317" y="4836171"/>
            <a:ext cx="2817517" cy="304882"/>
            <a:chOff x="5482317" y="4522417"/>
            <a:chExt cx="2817517" cy="304882"/>
          </a:xfrm>
        </p:grpSpPr>
        <p:sp>
          <p:nvSpPr>
            <p:cNvPr id="424" name="TextBox 423">
              <a:extLst>
                <a:ext uri="{FF2B5EF4-FFF2-40B4-BE49-F238E27FC236}">
                  <a16:creationId xmlns:a16="http://schemas.microsoft.com/office/drawing/2014/main" id="{938464C1-624F-F874-5DFD-2EB651AB893E}"/>
                </a:ext>
              </a:extLst>
            </p:cNvPr>
            <p:cNvSpPr txBox="1"/>
            <p:nvPr/>
          </p:nvSpPr>
          <p:spPr>
            <a:xfrm>
              <a:off x="5482317" y="4582525"/>
              <a:ext cx="2817517" cy="18466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180000" indent="-180000">
                <a:spcAft>
                  <a:spcPts val="600"/>
                </a:spcAft>
                <a:buClr>
                  <a:srgbClr val="4525FF"/>
                </a:buClr>
                <a:buFont typeface="Arial" panose="020B0604020202020204" pitchFamily="34" charset="0"/>
                <a:buChar char="•"/>
              </a:pP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Моя Школа</a:t>
              </a:r>
            </a:p>
          </p:txBody>
        </p:sp>
        <p:pic>
          <p:nvPicPr>
            <p:cNvPr id="428" name="Рисунок 427">
              <a:extLst>
                <a:ext uri="{FF2B5EF4-FFF2-40B4-BE49-F238E27FC236}">
                  <a16:creationId xmlns:a16="http://schemas.microsoft.com/office/drawing/2014/main" id="{D005EE2B-14A0-8B9C-DF83-C121BCA946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duotone>
                <a:prstClr val="black"/>
                <a:schemeClr val="accent3">
                  <a:tint val="45000"/>
                  <a:satMod val="400000"/>
                </a:schemeClr>
              </a:duotone>
              <a:alphaModFix amt="70000"/>
            </a:blip>
            <a:srcRect l="19052" t="63357" r="12233" b="23714"/>
            <a:stretch/>
          </p:blipFill>
          <p:spPr>
            <a:xfrm>
              <a:off x="6585419" y="4522417"/>
              <a:ext cx="1155414" cy="304882"/>
            </a:xfrm>
            <a:prstGeom prst="rect">
              <a:avLst/>
            </a:prstGeom>
          </p:spPr>
        </p:pic>
      </p:grpSp>
      <p:grpSp>
        <p:nvGrpSpPr>
          <p:cNvPr id="434" name="Группа 433">
            <a:extLst>
              <a:ext uri="{FF2B5EF4-FFF2-40B4-BE49-F238E27FC236}">
                <a16:creationId xmlns:a16="http://schemas.microsoft.com/office/drawing/2014/main" id="{4F107731-6254-7896-F5A7-25D4B54EBCBB}"/>
              </a:ext>
            </a:extLst>
          </p:cNvPr>
          <p:cNvGrpSpPr/>
          <p:nvPr/>
        </p:nvGrpSpPr>
        <p:grpSpPr>
          <a:xfrm>
            <a:off x="5482317" y="5948546"/>
            <a:ext cx="2817517" cy="304882"/>
            <a:chOff x="5482317" y="5849722"/>
            <a:chExt cx="2817517" cy="304882"/>
          </a:xfrm>
        </p:grpSpPr>
        <p:sp>
          <p:nvSpPr>
            <p:cNvPr id="427" name="TextBox 426">
              <a:extLst>
                <a:ext uri="{FF2B5EF4-FFF2-40B4-BE49-F238E27FC236}">
                  <a16:creationId xmlns:a16="http://schemas.microsoft.com/office/drawing/2014/main" id="{719A499C-27EE-4106-B42F-DC4FFB42338C}"/>
                </a:ext>
              </a:extLst>
            </p:cNvPr>
            <p:cNvSpPr txBox="1"/>
            <p:nvPr/>
          </p:nvSpPr>
          <p:spPr>
            <a:xfrm>
              <a:off x="5482317" y="5909830"/>
              <a:ext cx="2817517" cy="18466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180000" indent="-180000">
                <a:spcAft>
                  <a:spcPts val="600"/>
                </a:spcAft>
                <a:buClr>
                  <a:srgbClr val="4525FF"/>
                </a:buClr>
                <a:buFont typeface="Arial" panose="020B0604020202020204" pitchFamily="34" charset="0"/>
                <a:buChar char="•"/>
              </a:pP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Конструктор ЭОМ </a:t>
              </a:r>
            </a:p>
          </p:txBody>
        </p:sp>
        <p:pic>
          <p:nvPicPr>
            <p:cNvPr id="429" name="Рисунок 428">
              <a:extLst>
                <a:ext uri="{FF2B5EF4-FFF2-40B4-BE49-F238E27FC236}">
                  <a16:creationId xmlns:a16="http://schemas.microsoft.com/office/drawing/2014/main" id="{1130B354-B092-9DC5-743B-E50DC1C479F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duotone>
                <a:prstClr val="black"/>
                <a:schemeClr val="accent3">
                  <a:tint val="45000"/>
                  <a:satMod val="400000"/>
                </a:schemeClr>
              </a:duotone>
              <a:alphaModFix amt="70000"/>
            </a:blip>
            <a:srcRect l="19052" t="63357" r="12233" b="23714"/>
            <a:stretch/>
          </p:blipFill>
          <p:spPr>
            <a:xfrm>
              <a:off x="7049811" y="5849722"/>
              <a:ext cx="1155414" cy="304882"/>
            </a:xfrm>
            <a:prstGeom prst="rect">
              <a:avLst/>
            </a:prstGeom>
          </p:spPr>
        </p:pic>
      </p:grpSp>
      <p:grpSp>
        <p:nvGrpSpPr>
          <p:cNvPr id="444" name="Группа 443">
            <a:extLst>
              <a:ext uri="{FF2B5EF4-FFF2-40B4-BE49-F238E27FC236}">
                <a16:creationId xmlns:a16="http://schemas.microsoft.com/office/drawing/2014/main" id="{02DD430B-4799-07AF-4929-480CE03D7A2D}"/>
              </a:ext>
            </a:extLst>
          </p:cNvPr>
          <p:cNvGrpSpPr/>
          <p:nvPr/>
        </p:nvGrpSpPr>
        <p:grpSpPr>
          <a:xfrm>
            <a:off x="8915230" y="3793697"/>
            <a:ext cx="2119362" cy="369332"/>
            <a:chOff x="8915230" y="3610175"/>
            <a:chExt cx="2119362" cy="369332"/>
          </a:xfrm>
        </p:grpSpPr>
        <p:sp>
          <p:nvSpPr>
            <p:cNvPr id="442" name="TextBox 441">
              <a:extLst>
                <a:ext uri="{FF2B5EF4-FFF2-40B4-BE49-F238E27FC236}">
                  <a16:creationId xmlns:a16="http://schemas.microsoft.com/office/drawing/2014/main" id="{554B2936-D2BE-0634-925B-C8EB8ADBC9DD}"/>
                </a:ext>
              </a:extLst>
            </p:cNvPr>
            <p:cNvSpPr txBox="1"/>
            <p:nvPr/>
          </p:nvSpPr>
          <p:spPr>
            <a:xfrm>
              <a:off x="8915230" y="3610175"/>
              <a:ext cx="1186492" cy="3693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180000" indent="-180000">
                <a:spcAft>
                  <a:spcPts val="600"/>
                </a:spcAft>
                <a:buClr>
                  <a:srgbClr val="4525FF"/>
                </a:buClr>
                <a:buFont typeface="Arial" panose="020B0604020202020204" pitchFamily="34" charset="0"/>
                <a:buChar char="•"/>
              </a:pP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Корппортал </a:t>
              </a:r>
              <a:b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</a:br>
              <a:r>
                <a:rPr lang="en-US" sz="1200" dirty="0">
                  <a:latin typeface="Roboto" panose="02000000000000000000" pitchFamily="2" charset="0"/>
                  <a:ea typeface="Roboto" panose="02000000000000000000" pitchFamily="2" charset="0"/>
                </a:rPr>
                <a:t>+ HR-</a:t>
              </a: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сервисы </a:t>
              </a:r>
            </a:p>
          </p:txBody>
        </p:sp>
        <p:pic>
          <p:nvPicPr>
            <p:cNvPr id="443" name="Рисунок 442">
              <a:extLst>
                <a:ext uri="{FF2B5EF4-FFF2-40B4-BE49-F238E27FC236}">
                  <a16:creationId xmlns:a16="http://schemas.microsoft.com/office/drawing/2014/main" id="{02625B3E-041F-243D-2D94-034CC9F66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10175391" y="3658001"/>
              <a:ext cx="859201" cy="284425"/>
            </a:xfrm>
            <a:prstGeom prst="rect">
              <a:avLst/>
            </a:prstGeom>
          </p:spPr>
        </p:pic>
      </p:grpSp>
      <p:grpSp>
        <p:nvGrpSpPr>
          <p:cNvPr id="446" name="Группа 445">
            <a:extLst>
              <a:ext uri="{FF2B5EF4-FFF2-40B4-BE49-F238E27FC236}">
                <a16:creationId xmlns:a16="http://schemas.microsoft.com/office/drawing/2014/main" id="{61B0AA10-C443-35A2-CBFF-78AD7CC87701}"/>
              </a:ext>
            </a:extLst>
          </p:cNvPr>
          <p:cNvGrpSpPr/>
          <p:nvPr/>
        </p:nvGrpSpPr>
        <p:grpSpPr>
          <a:xfrm>
            <a:off x="8915229" y="4353205"/>
            <a:ext cx="2011408" cy="246144"/>
            <a:chOff x="8915229" y="3958443"/>
            <a:chExt cx="2011408" cy="246144"/>
          </a:xfrm>
        </p:grpSpPr>
        <p:pic>
          <p:nvPicPr>
            <p:cNvPr id="421" name="Рисунок 420">
              <a:extLst>
                <a:ext uri="{FF2B5EF4-FFF2-40B4-BE49-F238E27FC236}">
                  <a16:creationId xmlns:a16="http://schemas.microsoft.com/office/drawing/2014/main" id="{E184C0EE-83D7-C3E5-4100-75EA404B28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10101721" y="3958443"/>
              <a:ext cx="824916" cy="246144"/>
            </a:xfrm>
            <a:prstGeom prst="rect">
              <a:avLst/>
            </a:prstGeom>
          </p:spPr>
        </p:pic>
        <p:sp>
          <p:nvSpPr>
            <p:cNvPr id="445" name="TextBox 444">
              <a:extLst>
                <a:ext uri="{FF2B5EF4-FFF2-40B4-BE49-F238E27FC236}">
                  <a16:creationId xmlns:a16="http://schemas.microsoft.com/office/drawing/2014/main" id="{32327D34-018C-A3C1-CCC4-9DF565D9E3FC}"/>
                </a:ext>
              </a:extLst>
            </p:cNvPr>
            <p:cNvSpPr txBox="1"/>
            <p:nvPr/>
          </p:nvSpPr>
          <p:spPr>
            <a:xfrm>
              <a:off x="8915229" y="3996583"/>
              <a:ext cx="1598950" cy="18466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180000" indent="-180000">
                <a:spcAft>
                  <a:spcPts val="600"/>
                </a:spcAft>
                <a:buClr>
                  <a:srgbClr val="4525FF"/>
                </a:buClr>
                <a:buFont typeface="Arial" panose="020B0604020202020204" pitchFamily="34" charset="0"/>
                <a:buChar char="•"/>
              </a:pPr>
              <a:r>
                <a:rPr lang="ru-RU" sz="1200" dirty="0">
                  <a:latin typeface="Roboto" panose="02000000000000000000" pitchFamily="2" charset="0"/>
                  <a:ea typeface="Roboto" panose="02000000000000000000" pitchFamily="2" charset="0"/>
                </a:rPr>
                <a:t>HR-сервисы</a:t>
              </a:r>
            </a:p>
          </p:txBody>
        </p:sp>
      </p:grp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DBE26A55-4DCB-44C5-86AE-8D1836043C1D}"/>
              </a:ext>
            </a:extLst>
          </p:cNvPr>
          <p:cNvGrpSpPr/>
          <p:nvPr/>
        </p:nvGrpSpPr>
        <p:grpSpPr>
          <a:xfrm>
            <a:off x="285750" y="4034721"/>
            <a:ext cx="4085595" cy="794117"/>
            <a:chOff x="285750" y="4170051"/>
            <a:chExt cx="4085595" cy="794117"/>
          </a:xfrm>
        </p:grpSpPr>
        <p:sp>
          <p:nvSpPr>
            <p:cNvPr id="23" name="Google Shape;55;p13">
              <a:extLst>
                <a:ext uri="{FF2B5EF4-FFF2-40B4-BE49-F238E27FC236}">
                  <a16:creationId xmlns:a16="http://schemas.microsoft.com/office/drawing/2014/main" id="{157342DB-8119-412D-AC31-50CE657260B3}"/>
                </a:ext>
              </a:extLst>
            </p:cNvPr>
            <p:cNvSpPr txBox="1"/>
            <p:nvPr/>
          </p:nvSpPr>
          <p:spPr>
            <a:xfrm>
              <a:off x="285750" y="4197777"/>
              <a:ext cx="2094144" cy="738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r>
                <a:rPr lang="ru-RU" sz="1600" b="1" dirty="0" err="1">
                  <a:solidFill>
                    <a:srgbClr val="4525F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Violet</a:t>
              </a:r>
              <a:r>
                <a:rPr lang="ru-RU" sz="1600" b="1" dirty="0">
                  <a:solidFill>
                    <a:srgbClr val="4525F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: </a:t>
              </a:r>
              <a:r>
                <a:rPr lang="ru-RU" sz="1600" dirty="0">
                  <a:solidFill>
                    <a:schemeClr val="dk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платформа </a:t>
              </a:r>
              <a:br>
                <a:rPr lang="ru-RU" sz="1600" dirty="0">
                  <a:solidFill>
                    <a:schemeClr val="dk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</a:br>
              <a:r>
                <a:rPr lang="ru-RU" sz="1600" dirty="0">
                  <a:solidFill>
                    <a:schemeClr val="dk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для автоматизации </a:t>
              </a:r>
              <a:br>
                <a:rPr lang="ru-RU" sz="1600" dirty="0">
                  <a:solidFill>
                    <a:schemeClr val="dk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</a:br>
              <a:r>
                <a:rPr lang="ru-RU" sz="1600" dirty="0">
                  <a:solidFill>
                    <a:schemeClr val="dk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и аналитики в HR</a:t>
              </a:r>
            </a:p>
          </p:txBody>
        </p:sp>
        <p:cxnSp>
          <p:nvCxnSpPr>
            <p:cNvPr id="46" name="Прямая соединительная линия 45">
              <a:extLst>
                <a:ext uri="{FF2B5EF4-FFF2-40B4-BE49-F238E27FC236}">
                  <a16:creationId xmlns:a16="http://schemas.microsoft.com/office/drawing/2014/main" id="{10B60EE8-4551-44DC-BED4-1080E6DA75C7}"/>
                </a:ext>
              </a:extLst>
            </p:cNvPr>
            <p:cNvCxnSpPr>
              <a:cxnSpLocks/>
            </p:cNvCxnSpPr>
            <p:nvPr/>
          </p:nvCxnSpPr>
          <p:spPr>
            <a:xfrm>
              <a:off x="2760351" y="4189318"/>
              <a:ext cx="0" cy="755583"/>
            </a:xfrm>
            <a:prstGeom prst="line">
              <a:avLst/>
            </a:prstGeom>
            <a:ln w="12700">
              <a:solidFill>
                <a:srgbClr val="4525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Группа 19">
              <a:extLst>
                <a:ext uri="{FF2B5EF4-FFF2-40B4-BE49-F238E27FC236}">
                  <a16:creationId xmlns:a16="http://schemas.microsoft.com/office/drawing/2014/main" id="{8B605A78-EE0A-4B69-B17B-DC45FED80F57}"/>
                </a:ext>
              </a:extLst>
            </p:cNvPr>
            <p:cNvGrpSpPr/>
            <p:nvPr/>
          </p:nvGrpSpPr>
          <p:grpSpPr>
            <a:xfrm>
              <a:off x="2868235" y="4170051"/>
              <a:ext cx="1503110" cy="794117"/>
              <a:chOff x="2868235" y="4170051"/>
              <a:chExt cx="1503110" cy="794117"/>
            </a:xfrm>
          </p:grpSpPr>
          <p:pic>
            <p:nvPicPr>
              <p:cNvPr id="31" name="Рисунок 30">
                <a:extLst>
                  <a:ext uri="{FF2B5EF4-FFF2-40B4-BE49-F238E27FC236}">
                    <a16:creationId xmlns:a16="http://schemas.microsoft.com/office/drawing/2014/main" id="{B334F6B3-765B-4DC0-B167-460CDF38EE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7">
                <a:grayscl/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p:blipFill>
            <p:spPr>
              <a:xfrm>
                <a:off x="4016800" y="4170051"/>
                <a:ext cx="354545" cy="354545"/>
              </a:xfrm>
              <a:prstGeom prst="rect">
                <a:avLst/>
              </a:prstGeom>
            </p:spPr>
          </p:pic>
          <p:pic>
            <p:nvPicPr>
              <p:cNvPr id="44" name="Рисунок 43">
                <a:extLst>
                  <a:ext uri="{FF2B5EF4-FFF2-40B4-BE49-F238E27FC236}">
                    <a16:creationId xmlns:a16="http://schemas.microsoft.com/office/drawing/2014/main" id="{113900A9-AF99-4DFA-9A23-8D1C8AD4A4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9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saturation sat="399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2868235" y="4574787"/>
                <a:ext cx="389381" cy="389381"/>
              </a:xfrm>
              <a:prstGeom prst="rect">
                <a:avLst/>
              </a:prstGeom>
            </p:spPr>
          </p:pic>
          <p:pic>
            <p:nvPicPr>
              <p:cNvPr id="47" name="Рисунок 46">
                <a:extLst>
                  <a:ext uri="{FF2B5EF4-FFF2-40B4-BE49-F238E27FC236}">
                    <a16:creationId xmlns:a16="http://schemas.microsoft.com/office/drawing/2014/main" id="{207AA0EC-FED7-4E05-9439-28B30C7B8B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1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3328571" y="4650864"/>
                <a:ext cx="954723" cy="228403"/>
              </a:xfrm>
              <a:prstGeom prst="rect">
                <a:avLst/>
              </a:prstGeom>
            </p:spPr>
          </p:pic>
          <p:pic>
            <p:nvPicPr>
              <p:cNvPr id="5" name="Рисунок 4">
                <a:extLst>
                  <a:ext uri="{FF2B5EF4-FFF2-40B4-BE49-F238E27FC236}">
                    <a16:creationId xmlns:a16="http://schemas.microsoft.com/office/drawing/2014/main" id="{68A7989E-9612-EF0A-4F30-7CEB01F3FD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rcRect/>
              <a:stretch/>
            </p:blipFill>
            <p:spPr>
              <a:xfrm>
                <a:off x="2938895" y="4192827"/>
                <a:ext cx="885824" cy="304800"/>
              </a:xfrm>
              <a:prstGeom prst="rect">
                <a:avLst/>
              </a:prstGeom>
            </p:spPr>
          </p:pic>
        </p:grpSp>
      </p:grp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43B24EA2-8893-4DB4-AB0C-E649B41DCDAA}"/>
              </a:ext>
            </a:extLst>
          </p:cNvPr>
          <p:cNvGrpSpPr/>
          <p:nvPr/>
        </p:nvGrpSpPr>
        <p:grpSpPr>
          <a:xfrm>
            <a:off x="285750" y="5218161"/>
            <a:ext cx="4027538" cy="730385"/>
            <a:chOff x="285750" y="5218161"/>
            <a:chExt cx="4027538" cy="730385"/>
          </a:xfrm>
        </p:grpSpPr>
        <p:sp>
          <p:nvSpPr>
            <p:cNvPr id="24" name="Google Shape;55;p13">
              <a:extLst>
                <a:ext uri="{FF2B5EF4-FFF2-40B4-BE49-F238E27FC236}">
                  <a16:creationId xmlns:a16="http://schemas.microsoft.com/office/drawing/2014/main" id="{C00D3DD7-C099-4A3F-B082-354799C63C39}"/>
                </a:ext>
              </a:extLst>
            </p:cNvPr>
            <p:cNvSpPr txBox="1"/>
            <p:nvPr/>
          </p:nvSpPr>
          <p:spPr>
            <a:xfrm>
              <a:off x="285750" y="5460243"/>
              <a:ext cx="2208357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r>
                <a:rPr lang="ru-RU" sz="1600" b="1" dirty="0" err="1">
                  <a:solidFill>
                    <a:srgbClr val="4525F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Vector</a:t>
              </a:r>
              <a:r>
                <a:rPr lang="ru-RU" sz="1600" b="1" dirty="0">
                  <a:solidFill>
                    <a:srgbClr val="4525F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: </a:t>
              </a:r>
              <a:r>
                <a:rPr lang="ru-RU" sz="1600" dirty="0">
                  <a:solidFill>
                    <a:schemeClr val="dk2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LMS-система</a:t>
              </a:r>
            </a:p>
          </p:txBody>
        </p:sp>
        <p:cxnSp>
          <p:nvCxnSpPr>
            <p:cNvPr id="52" name="Прямая соединительная линия 51">
              <a:extLst>
                <a:ext uri="{FF2B5EF4-FFF2-40B4-BE49-F238E27FC236}">
                  <a16:creationId xmlns:a16="http://schemas.microsoft.com/office/drawing/2014/main" id="{C1CEED05-94BE-4EC0-98E7-B792C54AF95B}"/>
                </a:ext>
              </a:extLst>
            </p:cNvPr>
            <p:cNvCxnSpPr>
              <a:cxnSpLocks/>
            </p:cNvCxnSpPr>
            <p:nvPr/>
          </p:nvCxnSpPr>
          <p:spPr>
            <a:xfrm>
              <a:off x="2760351" y="5218161"/>
              <a:ext cx="0" cy="730385"/>
            </a:xfrm>
            <a:prstGeom prst="line">
              <a:avLst/>
            </a:prstGeom>
            <a:ln w="12700">
              <a:solidFill>
                <a:srgbClr val="4525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Группа 25">
              <a:extLst>
                <a:ext uri="{FF2B5EF4-FFF2-40B4-BE49-F238E27FC236}">
                  <a16:creationId xmlns:a16="http://schemas.microsoft.com/office/drawing/2014/main" id="{FFEED547-0D57-4CFC-98CD-514B536535EC}"/>
                </a:ext>
              </a:extLst>
            </p:cNvPr>
            <p:cNvGrpSpPr/>
            <p:nvPr/>
          </p:nvGrpSpPr>
          <p:grpSpPr>
            <a:xfrm>
              <a:off x="2938895" y="5249329"/>
              <a:ext cx="1374393" cy="668048"/>
              <a:chOff x="2938895" y="5251266"/>
              <a:chExt cx="1374393" cy="668048"/>
            </a:xfrm>
          </p:grpSpPr>
          <p:pic>
            <p:nvPicPr>
              <p:cNvPr id="58" name="Рисунок 57">
                <a:extLst>
                  <a:ext uri="{FF2B5EF4-FFF2-40B4-BE49-F238E27FC236}">
                    <a16:creationId xmlns:a16="http://schemas.microsoft.com/office/drawing/2014/main" id="{5C0893F6-D669-4301-8231-CA95331D66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7">
                <a:grayscl/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p:blipFill>
            <p:spPr>
              <a:xfrm>
                <a:off x="3963157" y="5251266"/>
                <a:ext cx="350131" cy="350131"/>
              </a:xfrm>
              <a:prstGeom prst="rect">
                <a:avLst/>
              </a:prstGeom>
            </p:spPr>
          </p:pic>
          <p:pic>
            <p:nvPicPr>
              <p:cNvPr id="49" name="Рисунок 48">
                <a:extLst>
                  <a:ext uri="{FF2B5EF4-FFF2-40B4-BE49-F238E27FC236}">
                    <a16:creationId xmlns:a16="http://schemas.microsoft.com/office/drawing/2014/main" id="{642AEC12-167A-4CEF-BB36-51F55DC020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2938895" y="5710290"/>
                <a:ext cx="624622" cy="209024"/>
              </a:xfrm>
              <a:prstGeom prst="rect">
                <a:avLst/>
              </a:prstGeom>
            </p:spPr>
          </p:pic>
          <p:pic>
            <p:nvPicPr>
              <p:cNvPr id="11" name="Рисунок 10">
                <a:extLst>
                  <a:ext uri="{FF2B5EF4-FFF2-40B4-BE49-F238E27FC236}">
                    <a16:creationId xmlns:a16="http://schemas.microsoft.com/office/drawing/2014/main" id="{124EC96E-19BE-17A9-E8DE-816D577E04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3"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rcRect/>
              <a:stretch/>
            </p:blipFill>
            <p:spPr>
              <a:xfrm>
                <a:off x="2938895" y="5291023"/>
                <a:ext cx="885824" cy="3048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240585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81AFF54E-DE1D-4781-BABB-DE863BA48A55}"/>
              </a:ext>
            </a:extLst>
          </p:cNvPr>
          <p:cNvCxnSpPr/>
          <p:nvPr/>
        </p:nvCxnSpPr>
        <p:spPr>
          <a:xfrm>
            <a:off x="0" y="562429"/>
            <a:ext cx="12192000" cy="0"/>
          </a:xfrm>
          <a:prstGeom prst="line">
            <a:avLst/>
          </a:prstGeom>
          <a:noFill/>
          <a:ln w="6350" cap="rnd">
            <a:solidFill>
              <a:srgbClr val="706F6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Полилиния 29">
            <a:extLst>
              <a:ext uri="{FF2B5EF4-FFF2-40B4-BE49-F238E27FC236}">
                <a16:creationId xmlns:a16="http://schemas.microsoft.com/office/drawing/2014/main" id="{23D0D997-D97D-419F-BF4F-D9157965DD2D}"/>
              </a:ext>
            </a:extLst>
          </p:cNvPr>
          <p:cNvSpPr/>
          <p:nvPr/>
        </p:nvSpPr>
        <p:spPr>
          <a:xfrm>
            <a:off x="11303001" y="0"/>
            <a:ext cx="889000" cy="562429"/>
          </a:xfrm>
          <a:custGeom>
            <a:avLst/>
            <a:gdLst>
              <a:gd name="connsiteX0" fmla="*/ 558263 w 1347538"/>
              <a:gd name="connsiteY0" fmla="*/ 0 h 1001027"/>
              <a:gd name="connsiteX1" fmla="*/ 1347538 w 1347538"/>
              <a:gd name="connsiteY1" fmla="*/ 0 h 1001027"/>
              <a:gd name="connsiteX2" fmla="*/ 1347538 w 1347538"/>
              <a:gd name="connsiteY2" fmla="*/ 1001027 h 1001027"/>
              <a:gd name="connsiteX3" fmla="*/ 0 w 1347538"/>
              <a:gd name="connsiteY3" fmla="*/ 1001027 h 1001027"/>
              <a:gd name="connsiteX4" fmla="*/ 558263 w 1347538"/>
              <a:gd name="connsiteY4" fmla="*/ 0 h 1001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47538" h="1001027">
                <a:moveTo>
                  <a:pt x="558263" y="0"/>
                </a:moveTo>
                <a:lnTo>
                  <a:pt x="1347538" y="0"/>
                </a:lnTo>
                <a:lnTo>
                  <a:pt x="1347538" y="1001027"/>
                </a:lnTo>
                <a:lnTo>
                  <a:pt x="0" y="1001027"/>
                </a:lnTo>
                <a:lnTo>
                  <a:pt x="558263" y="0"/>
                </a:lnTo>
                <a:close/>
              </a:path>
            </a:pathLst>
          </a:custGeom>
          <a:solidFill>
            <a:srgbClr val="706F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286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Номер слайда 13">
            <a:extLst>
              <a:ext uri="{FF2B5EF4-FFF2-40B4-BE49-F238E27FC236}">
                <a16:creationId xmlns:a16="http://schemas.microsoft.com/office/drawing/2014/main" id="{42016134-26B2-4900-B67D-2F3094977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1133" y="138210"/>
            <a:ext cx="551543" cy="365125"/>
          </a:xfrm>
        </p:spPr>
        <p:txBody>
          <a:bodyPr/>
          <a:lstStyle/>
          <a:p>
            <a:pPr algn="ctr"/>
            <a:r>
              <a:rPr lang="ru-RU" sz="1143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8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E17B951-7019-40EC-80BA-4B4239ABEFA6}"/>
              </a:ext>
            </a:extLst>
          </p:cNvPr>
          <p:cNvSpPr/>
          <p:nvPr/>
        </p:nvSpPr>
        <p:spPr>
          <a:xfrm>
            <a:off x="285750" y="105333"/>
            <a:ext cx="7058025" cy="3517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ru-RU" sz="2286" cap="all" dirty="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Segoe UI Light" panose="020B0502040204020203" pitchFamily="34" charset="0"/>
              </a:rPr>
              <a:t>Сравнение С РЫНКОМ</a:t>
            </a:r>
            <a:endParaRPr lang="en-US" sz="2286" cap="all" dirty="0">
              <a:solidFill>
                <a:schemeClr val="bg2">
                  <a:lumMod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Segoe UI Light" panose="020B0502040204020203" pitchFamily="34" charset="0"/>
            </a:endParaRPr>
          </a:p>
        </p:txBody>
      </p:sp>
      <p:pic>
        <p:nvPicPr>
          <p:cNvPr id="10" name="Picture 8" descr="Фирменный стиль. Официальный информационный сайт Ростелеком.">
            <a:extLst>
              <a:ext uri="{FF2B5EF4-FFF2-40B4-BE49-F238E27FC236}">
                <a16:creationId xmlns:a16="http://schemas.microsoft.com/office/drawing/2014/main" id="{E7C287A5-E958-4CE4-99CB-8351327004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59" b="15526"/>
          <a:stretch/>
        </p:blipFill>
        <p:spPr bwMode="auto">
          <a:xfrm>
            <a:off x="9620110" y="91071"/>
            <a:ext cx="1605351" cy="380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6" name="Объект 3">
            <a:extLst>
              <a:ext uri="{FF2B5EF4-FFF2-40B4-BE49-F238E27FC236}">
                <a16:creationId xmlns:a16="http://schemas.microsoft.com/office/drawing/2014/main" id="{D27C841B-75C3-9D4F-8833-B28D0CA147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41598884"/>
              </p:ext>
            </p:extLst>
          </p:nvPr>
        </p:nvGraphicFramePr>
        <p:xfrm>
          <a:off x="284371" y="842828"/>
          <a:ext cx="11552029" cy="5663084"/>
        </p:xfrm>
        <a:graphic>
          <a:graphicData uri="http://schemas.openxmlformats.org/drawingml/2006/table">
            <a:tbl>
              <a:tblPr/>
              <a:tblGrid>
                <a:gridCol w="1124084">
                  <a:extLst>
                    <a:ext uri="{9D8B030D-6E8A-4147-A177-3AD203B41FA5}">
                      <a16:colId xmlns:a16="http://schemas.microsoft.com/office/drawing/2014/main" val="398182387"/>
                    </a:ext>
                  </a:extLst>
                </a:gridCol>
                <a:gridCol w="961508">
                  <a:extLst>
                    <a:ext uri="{9D8B030D-6E8A-4147-A177-3AD203B41FA5}">
                      <a16:colId xmlns:a16="http://schemas.microsoft.com/office/drawing/2014/main" val="1873114526"/>
                    </a:ext>
                  </a:extLst>
                </a:gridCol>
                <a:gridCol w="1003313">
                  <a:extLst>
                    <a:ext uri="{9D8B030D-6E8A-4147-A177-3AD203B41FA5}">
                      <a16:colId xmlns:a16="http://schemas.microsoft.com/office/drawing/2014/main" val="1425406636"/>
                    </a:ext>
                  </a:extLst>
                </a:gridCol>
                <a:gridCol w="873253">
                  <a:extLst>
                    <a:ext uri="{9D8B030D-6E8A-4147-A177-3AD203B41FA5}">
                      <a16:colId xmlns:a16="http://schemas.microsoft.com/office/drawing/2014/main" val="2854092610"/>
                    </a:ext>
                  </a:extLst>
                </a:gridCol>
                <a:gridCol w="873253">
                  <a:extLst>
                    <a:ext uri="{9D8B030D-6E8A-4147-A177-3AD203B41FA5}">
                      <a16:colId xmlns:a16="http://schemas.microsoft.com/office/drawing/2014/main" val="2907185741"/>
                    </a:ext>
                  </a:extLst>
                </a:gridCol>
                <a:gridCol w="873253">
                  <a:extLst>
                    <a:ext uri="{9D8B030D-6E8A-4147-A177-3AD203B41FA5}">
                      <a16:colId xmlns:a16="http://schemas.microsoft.com/office/drawing/2014/main" val="1859273521"/>
                    </a:ext>
                  </a:extLst>
                </a:gridCol>
                <a:gridCol w="873253">
                  <a:extLst>
                    <a:ext uri="{9D8B030D-6E8A-4147-A177-3AD203B41FA5}">
                      <a16:colId xmlns:a16="http://schemas.microsoft.com/office/drawing/2014/main" val="1514059104"/>
                    </a:ext>
                  </a:extLst>
                </a:gridCol>
                <a:gridCol w="873253">
                  <a:extLst>
                    <a:ext uri="{9D8B030D-6E8A-4147-A177-3AD203B41FA5}">
                      <a16:colId xmlns:a16="http://schemas.microsoft.com/office/drawing/2014/main" val="3921345121"/>
                    </a:ext>
                  </a:extLst>
                </a:gridCol>
                <a:gridCol w="873253">
                  <a:extLst>
                    <a:ext uri="{9D8B030D-6E8A-4147-A177-3AD203B41FA5}">
                      <a16:colId xmlns:a16="http://schemas.microsoft.com/office/drawing/2014/main" val="1744525575"/>
                    </a:ext>
                  </a:extLst>
                </a:gridCol>
                <a:gridCol w="873253">
                  <a:extLst>
                    <a:ext uri="{9D8B030D-6E8A-4147-A177-3AD203B41FA5}">
                      <a16:colId xmlns:a16="http://schemas.microsoft.com/office/drawing/2014/main" val="645191776"/>
                    </a:ext>
                  </a:extLst>
                </a:gridCol>
                <a:gridCol w="775710">
                  <a:extLst>
                    <a:ext uri="{9D8B030D-6E8A-4147-A177-3AD203B41FA5}">
                      <a16:colId xmlns:a16="http://schemas.microsoft.com/office/drawing/2014/main" val="2158719013"/>
                    </a:ext>
                  </a:extLst>
                </a:gridCol>
                <a:gridCol w="775710">
                  <a:extLst>
                    <a:ext uri="{9D8B030D-6E8A-4147-A177-3AD203B41FA5}">
                      <a16:colId xmlns:a16="http://schemas.microsoft.com/office/drawing/2014/main" val="3934779632"/>
                    </a:ext>
                  </a:extLst>
                </a:gridCol>
                <a:gridCol w="798933">
                  <a:extLst>
                    <a:ext uri="{9D8B030D-6E8A-4147-A177-3AD203B41FA5}">
                      <a16:colId xmlns:a16="http://schemas.microsoft.com/office/drawing/2014/main" val="3959402539"/>
                    </a:ext>
                  </a:extLst>
                </a:gridCol>
              </a:tblGrid>
              <a:tr h="434548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Функционал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Простые коммуникации (</a:t>
                      </a:r>
                      <a:r>
                        <a:rPr lang="ru-RU" sz="700" b="1" dirty="0" err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Тада</a:t>
                      </a:r>
                      <a:r>
                        <a:rPr lang="ru-RU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+</a:t>
                      </a:r>
                      <a:r>
                        <a:rPr lang="en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Violet+</a:t>
                      </a:r>
                      <a:r>
                        <a:rPr lang="ru-RU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Вектор)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Яндекс (</a:t>
                      </a:r>
                      <a:r>
                        <a:rPr lang="ru-RU" sz="700" b="1" dirty="0" err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Стафф</a:t>
                      </a:r>
                      <a:r>
                        <a:rPr lang="ru-RU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 + </a:t>
                      </a:r>
                      <a:r>
                        <a:rPr lang="ru-RU" sz="700" b="1" dirty="0" err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Грейд</a:t>
                      </a:r>
                      <a:r>
                        <a:rPr lang="ru-RU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 + Кадровые </a:t>
                      </a:r>
                      <a:r>
                        <a:rPr lang="ru-RU" sz="700" b="1" dirty="0" err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дашборды</a:t>
                      </a:r>
                      <a:r>
                        <a:rPr lang="ru-RU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)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Мираполис/1С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1" dirty="0" err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Сбер</a:t>
                      </a:r>
                      <a:r>
                        <a:rPr lang="ru-RU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 Пульс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VK People Hub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HH (Skilaz+Edstein)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Поток/</a:t>
                      </a:r>
                      <a:r>
                        <a:rPr lang="ru-RU" sz="700" b="1" dirty="0" err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Свевергупп</a:t>
                      </a:r>
                      <a:endParaRPr lang="ru-RU" sz="700" b="1" dirty="0">
                        <a:solidFill>
                          <a:srgbClr val="FFFFFF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Websoft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Пряники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WSS Portal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Neon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" sz="700" b="1" dirty="0" err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Incomand</a:t>
                      </a:r>
                      <a:endParaRPr lang="en" sz="700" b="1" dirty="0">
                        <a:solidFill>
                          <a:srgbClr val="FFFFFF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52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047547"/>
                  </a:ext>
                </a:extLst>
              </a:tr>
              <a:tr h="224161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Готовность</a:t>
                      </a:r>
                      <a:b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</a:br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к внедрению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2725585"/>
                  </a:ext>
                </a:extLst>
              </a:tr>
              <a:tr h="129319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Гибкость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7246195"/>
                  </a:ext>
                </a:extLst>
              </a:tr>
              <a:tr h="224161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Пользовательский опыт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153034"/>
                  </a:ext>
                </a:extLst>
              </a:tr>
              <a:tr h="129319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Адаптация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609819"/>
                  </a:ext>
                </a:extLst>
              </a:tr>
              <a:tr h="245587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База знаний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Да, с гибкой структурой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9821419"/>
                  </a:ext>
                </a:extLst>
              </a:tr>
              <a:tr h="434548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Боты и автоматизации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Автоматизация некоторых процессов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Автоматизация некоторых процессов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Автоматизация некоторых процессов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750850"/>
                  </a:ext>
                </a:extLst>
              </a:tr>
              <a:tr h="539741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Единое окно сервисов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Да, с возможностью встраивания любых инструментов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455120"/>
                  </a:ext>
                </a:extLst>
              </a:tr>
              <a:tr h="434548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Интеграция с внешними системами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Да, гибкое </a:t>
                      </a:r>
                      <a:r>
                        <a:rPr lang="en" sz="700" b="0" dirty="0">
                          <a:effectLst/>
                          <a:latin typeface="Roboto" panose="02000000000000000000" pitchFamily="2" charset="0"/>
                        </a:rPr>
                        <a:t>API</a:t>
                      </a:r>
                      <a:b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</a:br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для интеграций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 (внутренние системы Сбера)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Да, ограничено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071317"/>
                  </a:ext>
                </a:extLst>
              </a:tr>
              <a:tr h="224161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Кадровая </a:t>
                      </a:r>
                      <a:r>
                        <a:rPr lang="en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HR </a:t>
                      </a:r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аналитика 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7443609"/>
                  </a:ext>
                </a:extLst>
              </a:tr>
              <a:tr h="245587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Вовлечение и коммуникации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042850"/>
                  </a:ext>
                </a:extLst>
              </a:tr>
              <a:tr h="129319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Обратная связь 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2135460"/>
                  </a:ext>
                </a:extLst>
              </a:tr>
              <a:tr h="245587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Обучение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Да, передали права в МЦ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810045"/>
                  </a:ext>
                </a:extLst>
              </a:tr>
              <a:tr h="329354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 err="1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Оргструктура</a:t>
                      </a:r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, справочник контактов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4018027"/>
                  </a:ext>
                </a:extLst>
              </a:tr>
              <a:tr h="129319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Оценка 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531925"/>
                  </a:ext>
                </a:extLst>
              </a:tr>
              <a:tr h="434548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Проектный учет 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Частично, через внешние системы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3059815"/>
                  </a:ext>
                </a:extLst>
              </a:tr>
              <a:tr h="329354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Профиль сотрудника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Да, расширенный</a:t>
                      </a:r>
                      <a:b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</a:br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с кастомизацией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Да, расширенный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Да, базовый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Да, базовый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Да, базовый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Да, базовый профиль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9130226"/>
                  </a:ext>
                </a:extLst>
              </a:tr>
              <a:tr h="434548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ИИ-</a:t>
                      </a:r>
                      <a:r>
                        <a:rPr lang="en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HR </a:t>
                      </a:r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помощники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Есть ИИ-решения,</a:t>
                      </a:r>
                      <a:b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</a:br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но не заточенные</a:t>
                      </a:r>
                      <a:b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</a:br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под </a:t>
                      </a:r>
                      <a:r>
                        <a:rPr lang="en" sz="700" b="0" dirty="0">
                          <a:effectLst/>
                          <a:latin typeface="Roboto" panose="02000000000000000000" pitchFamily="2" charset="0"/>
                        </a:rPr>
                        <a:t>HR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Частично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757750"/>
                  </a:ext>
                </a:extLst>
              </a:tr>
              <a:tr h="361856">
                <a:tc>
                  <a:txBody>
                    <a:bodyPr/>
                    <a:lstStyle/>
                    <a:p>
                      <a:pPr rtl="0" fontAlgn="ctr"/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Мобильное приложение для </a:t>
                      </a:r>
                      <a:r>
                        <a:rPr lang="en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iOS </a:t>
                      </a:r>
                      <a:r>
                        <a:rPr lang="ru-RU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и </a:t>
                      </a:r>
                      <a:r>
                        <a:rPr lang="en" sz="700" b="0" i="0" dirty="0">
                          <a:effectLst/>
                          <a:latin typeface="Roboto Medium" panose="02000000000000000000" pitchFamily="2" charset="0"/>
                          <a:ea typeface="Roboto Medium" panose="02000000000000000000" pitchFamily="2" charset="0"/>
                        </a:rPr>
                        <a:t>Android</a:t>
                      </a:r>
                    </a:p>
                  </a:txBody>
                  <a:tcPr marL="72000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Нет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4E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700" b="0" dirty="0">
                          <a:effectLst/>
                          <a:latin typeface="Roboto" panose="02000000000000000000" pitchFamily="2" charset="0"/>
                        </a:rPr>
                        <a:t>Да</a:t>
                      </a:r>
                    </a:p>
                  </a:txBody>
                  <a:tcPr marL="23948" marR="23948" marT="5987" marB="5987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614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164067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29331</TotalTime>
  <Words>1056</Words>
  <Application>Microsoft Office PowerPoint</Application>
  <PresentationFormat>Широкоэкранный</PresentationFormat>
  <Paragraphs>450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8" baseType="lpstr">
      <vt:lpstr>Calibri Light</vt:lpstr>
      <vt:lpstr>Tilda Sans Bold</vt:lpstr>
      <vt:lpstr>Roboto Medium</vt:lpstr>
      <vt:lpstr>Roboto</vt:lpstr>
      <vt:lpstr>Inter SemiBold</vt:lpstr>
      <vt:lpstr>Calibri</vt:lpstr>
      <vt:lpstr>Arial</vt:lpstr>
      <vt:lpstr>Roboto Black</vt:lpstr>
      <vt:lpstr>Inter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Хадиев Рузаль Рафилович</dc:creator>
  <cp:lastModifiedBy>Вероника Айвазова</cp:lastModifiedBy>
  <cp:revision>629</cp:revision>
  <cp:lastPrinted>2025-04-02T16:19:46Z</cp:lastPrinted>
  <dcterms:created xsi:type="dcterms:W3CDTF">2025-02-26T13:06:44Z</dcterms:created>
  <dcterms:modified xsi:type="dcterms:W3CDTF">2025-04-23T12:23:38Z</dcterms:modified>
</cp:coreProperties>
</file>