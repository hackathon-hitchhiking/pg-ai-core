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8.svg" ContentType="image/svg"/>
  <Override PartName="/ppt/media/image9.png" ContentType="image/png"/>
  <Override PartName="/ppt/media/image27.png" ContentType="image/png"/>
  <Override PartName="/ppt/media/image25.png" ContentType="image/png"/>
  <Override PartName="/ppt/media/hdphoto1.wdp" ContentType="image/vnd.ms-photo"/>
  <Override PartName="/ppt/media/image23.png" ContentType="image/png"/>
  <Override PartName="/ppt/media/image13.png" ContentType="image/png"/>
  <Override PartName="/ppt/media/image24.svg" ContentType="image/svg"/>
  <Override PartName="/ppt/media/hdphoto2.wdp" ContentType="image/vnd.ms-photo"/>
  <Override PartName="/ppt/media/image4.png" ContentType="image/png"/>
  <Override PartName="/ppt/media/image5.jpeg" ContentType="image/jpeg"/>
  <Override PartName="/ppt/media/image11.svg" ContentType="image/svg"/>
  <Override PartName="/ppt/media/image12.png" ContentType="image/png"/>
  <Override PartName="/ppt/media/image29.png" ContentType="image/png"/>
  <Override PartName="/ppt/media/image31.png" ContentType="image/png"/>
  <Override PartName="/ppt/media/image30.svg" ContentType="image/svg"/>
  <Override PartName="/ppt/media/image18.png" ContentType="image/png"/>
  <Override PartName="/ppt/media/image32.png" ContentType="image/png"/>
  <Override PartName="/ppt/media/image34.svg" ContentType="image/svg"/>
  <Override PartName="/ppt/media/image10.png" ContentType="image/png"/>
  <Override PartName="/ppt/media/image6.png" ContentType="image/png"/>
  <Override PartName="/ppt/media/image26.svg" ContentType="image/svg"/>
  <Override PartName="/ppt/media/image7.png" ContentType="image/png"/>
  <Override PartName="/ppt/media/image16.png" ContentType="image/png"/>
  <Override PartName="/ppt/media/image8.svg" ContentType="image/svg"/>
  <Override PartName="/ppt/media/image17.svg" ContentType="image/svg"/>
  <Override PartName="/ppt/media/image2.png" ContentType="image/png"/>
  <Override PartName="/ppt/media/image35.png" ContentType="image/png"/>
  <Override PartName="/ppt/media/image3.png" ContentType="image/png"/>
  <Override PartName="/ppt/media/image22.svg" ContentType="image/svg"/>
  <Override PartName="/ppt/media/image14.png" ContentType="image/png"/>
  <Override PartName="/ppt/media/image15.svg" ContentType="image/svg"/>
  <Override PartName="/ppt/media/image19.png" ContentType="image/png"/>
  <Override PartName="/ppt/media/image21.png" ContentType="image/png"/>
  <Override PartName="/ppt/media/image20.svg" ContentType="image/svg"/>
  <Override PartName="/ppt/media/image1.png" ContentType="image/png"/>
  <Override PartName="/ppt/media/image33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</p:sldIdLst>
  <p:sldSz cx="12192000" cy="6858000"/>
  <p:notesSz cx="6797675" cy="99282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Click to move the slide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31ECE6C-325A-40DF-A410-9B59F5A3D079}" type="slidenum"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600" cy="334944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7800" cy="39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44"/>
          </p:nvPr>
        </p:nvSpPr>
        <p:spPr>
          <a:xfrm>
            <a:off x="3850560" y="9430200"/>
            <a:ext cx="2945160" cy="49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07ECD8-98F2-4C82-B3A0-051016B6304E}" type="slidenum">
              <a:rPr b="0" lang="ru-RU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600" cy="334944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7800" cy="39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45"/>
          </p:nvPr>
        </p:nvSpPr>
        <p:spPr>
          <a:xfrm>
            <a:off x="3850560" y="9430200"/>
            <a:ext cx="2945160" cy="49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5EF037-1827-4BA8-9CB5-0236D5F87D52}" type="slidenum">
              <a:rPr b="0" lang="ru-RU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600" cy="334944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7800" cy="39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46"/>
          </p:nvPr>
        </p:nvSpPr>
        <p:spPr>
          <a:xfrm>
            <a:off x="3850560" y="9430200"/>
            <a:ext cx="2945160" cy="49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8C801C-F6F0-4C24-AF66-61EC5C4B3ECC}" type="slidenum">
              <a:rPr b="0" lang="ru-RU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600" cy="334944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7800" cy="39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47"/>
          </p:nvPr>
        </p:nvSpPr>
        <p:spPr>
          <a:xfrm>
            <a:off x="3850560" y="9430200"/>
            <a:ext cx="2945160" cy="49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6D5551-0E01-4A2B-9CD1-E23683E54D53}" type="slidenum">
              <a:rPr b="0" lang="ru-RU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600" cy="334944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7800" cy="39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48"/>
          </p:nvPr>
        </p:nvSpPr>
        <p:spPr>
          <a:xfrm>
            <a:off x="3850560" y="9430200"/>
            <a:ext cx="2945160" cy="49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4D3CAE-E148-41F2-921D-F892D49F93EB}" type="slidenum">
              <a:rPr b="0" lang="ru-RU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EF4B2D-E70A-487D-B8B2-1B929C8A49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BB8A0C-36F5-48E0-B1DB-7DE5E39A25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D8DF684-76C3-495F-9850-7ADA091FFB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6D603F5-9F89-453B-9C50-56503B04D0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BC4308F-7A95-492C-9D5A-FA88A45CCA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C55C3B3-2BB3-429C-B645-D03126435F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1BD7C47-7EB0-4988-AAA6-6357A9C60C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1FB3749-FF32-406A-BDC0-0394CAD295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230B3D1-79E5-4E4B-8C23-4147CB937A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6D303EF-4E7B-4778-9625-445E6DAADE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AEF435D-0BD6-45FF-9401-E7AFF76ED8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875A2-1660-4140-A00C-ABC2101E4B1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CFF616-01B7-47F8-B3E3-AE9EA00F54C5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E512C7-764F-4E8A-A4A0-31FF4F677D4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E006C5-A5F5-432D-920F-8AB55DF9714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8E56CB-3A5B-436E-969C-BCAEB7A6449E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CF9CA3-7D4C-40EE-A226-AA1834733BA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E07E97-3154-47B7-8BA2-D6A4EA61EA0B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A035AE-9287-47FE-A7A8-611F4FAAD9C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A017B-E613-45FC-A14E-216EB168EC1E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248AA8-D08F-48BE-AE24-612F0197037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45B7CD-BFB7-42C9-93AE-2A9936080BD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svg"/><Relationship Id="rId11" Type="http://schemas.openxmlformats.org/officeDocument/2006/relationships/image" Target="../media/image16.png"/><Relationship Id="rId12" Type="http://schemas.openxmlformats.org/officeDocument/2006/relationships/image" Target="../media/image17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8.png"/><Relationship Id="rId16" Type="http://schemas.microsoft.com/office/2007/relationships/hdphoto" Target="../media/hdphoto1.wdp"/><Relationship Id="rId17" Type="http://schemas.openxmlformats.org/officeDocument/2006/relationships/image" Target="../media/image19.png"/><Relationship Id="rId18" Type="http://schemas.openxmlformats.org/officeDocument/2006/relationships/image" Target="../media/image20.svg"/><Relationship Id="rId19" Type="http://schemas.openxmlformats.org/officeDocument/2006/relationships/image" Target="../media/image21.png"/><Relationship Id="rId20" Type="http://schemas.openxmlformats.org/officeDocument/2006/relationships/image" Target="../media/image22.svg"/><Relationship Id="rId21" Type="http://schemas.openxmlformats.org/officeDocument/2006/relationships/image" Target="../media/image23.png"/><Relationship Id="rId22" Type="http://schemas.openxmlformats.org/officeDocument/2006/relationships/image" Target="../media/image24.svg"/><Relationship Id="rId23" Type="http://schemas.openxmlformats.org/officeDocument/2006/relationships/image" Target="../media/image12.png"/><Relationship Id="rId24" Type="http://schemas.openxmlformats.org/officeDocument/2006/relationships/image" Target="../media/image12.png"/><Relationship Id="rId25" Type="http://schemas.openxmlformats.org/officeDocument/2006/relationships/image" Target="../media/image25.png"/><Relationship Id="rId26" Type="http://schemas.openxmlformats.org/officeDocument/2006/relationships/image" Target="../media/image26.svg"/><Relationship Id="rId27" Type="http://schemas.openxmlformats.org/officeDocument/2006/relationships/image" Target="../media/image27.png"/><Relationship Id="rId28" Type="http://schemas.openxmlformats.org/officeDocument/2006/relationships/image" Target="../media/image28.svg"/><Relationship Id="rId29" Type="http://schemas.openxmlformats.org/officeDocument/2006/relationships/image" Target="../media/image29.png"/><Relationship Id="rId30" Type="http://schemas.openxmlformats.org/officeDocument/2006/relationships/image" Target="../media/image30.svg"/><Relationship Id="rId31" Type="http://schemas.openxmlformats.org/officeDocument/2006/relationships/image" Target="../media/image31.png"/><Relationship Id="rId32" Type="http://schemas.microsoft.com/office/2007/relationships/hdphoto" Target="../media/hdphoto2.wdp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svg"/><Relationship Id="rId36" Type="http://schemas.openxmlformats.org/officeDocument/2006/relationships/image" Target="../media/image29.png"/><Relationship Id="rId37" Type="http://schemas.openxmlformats.org/officeDocument/2006/relationships/image" Target="../media/image30.svg"/><Relationship Id="rId38" Type="http://schemas.openxmlformats.org/officeDocument/2006/relationships/image" Target="../media/image35.png"/><Relationship Id="rId39" Type="http://schemas.openxmlformats.org/officeDocument/2006/relationships/image" Target="../media/image33.png"/><Relationship Id="rId40" Type="http://schemas.openxmlformats.org/officeDocument/2006/relationships/image" Target="../media/image34.svg"/><Relationship Id="rId4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: скругленные углы 74"/>
          <p:cNvSpPr/>
          <p:nvPr/>
        </p:nvSpPr>
        <p:spPr>
          <a:xfrm>
            <a:off x="284400" y="842760"/>
            <a:ext cx="3707640" cy="5594400"/>
          </a:xfrm>
          <a:prstGeom prst="roundRect">
            <a:avLst>
              <a:gd name="adj" fmla="val 4319"/>
            </a:avLst>
          </a:prstGeom>
          <a:solidFill>
            <a:srgbClr val="4525ff">
              <a:alpha val="5000"/>
            </a:srgbClr>
          </a:solidFill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3" name="Прямоугольник: скругленные углы 132"/>
          <p:cNvSpPr/>
          <p:nvPr/>
        </p:nvSpPr>
        <p:spPr>
          <a:xfrm>
            <a:off x="4241160" y="842760"/>
            <a:ext cx="3707640" cy="5594400"/>
          </a:xfrm>
          <a:prstGeom prst="roundRect">
            <a:avLst>
              <a:gd name="adj" fmla="val 3805"/>
            </a:avLst>
          </a:prstGeom>
          <a:solidFill>
            <a:srgbClr val="4525ff">
              <a:alpha val="5000"/>
            </a:srgbClr>
          </a:solidFill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4" name="Прямоугольник 26"/>
          <p:cNvSpPr/>
          <p:nvPr/>
        </p:nvSpPr>
        <p:spPr>
          <a:xfrm>
            <a:off x="285840" y="105480"/>
            <a:ext cx="70578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280" strike="noStrike" u="none" cap="all">
                <a:solidFill>
                  <a:schemeClr val="lt2">
                    <a:lumMod val="25000"/>
                  </a:schemeClr>
                </a:solidFill>
                <a:uFillTx/>
                <a:latin typeface="Roboto"/>
                <a:ea typeface="Roboto"/>
              </a:rPr>
              <a:t>эффекты</a:t>
            </a:r>
            <a:endParaRPr b="0" lang="en-GB" sz="2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75" name="Прямая соединительная линия 21"/>
          <p:cNvCxnSpPr/>
          <p:nvPr/>
        </p:nvCxnSpPr>
        <p:spPr>
          <a:xfrm>
            <a:off x="0" y="562320"/>
            <a:ext cx="12192120" cy="360"/>
          </a:xfrm>
          <a:prstGeom prst="straightConnector1">
            <a:avLst/>
          </a:prstGeom>
          <a:ln cap="rnd" w="6350">
            <a:solidFill>
              <a:srgbClr val="706f6f"/>
            </a:solidFill>
            <a:round/>
          </a:ln>
        </p:spPr>
      </p:cxnSp>
      <p:sp>
        <p:nvSpPr>
          <p:cNvPr id="76" name="Полилиния 29"/>
          <p:cNvSpPr/>
          <p:nvPr/>
        </p:nvSpPr>
        <p:spPr>
          <a:xfrm>
            <a:off x="11302920" y="0"/>
            <a:ext cx="888480" cy="561960"/>
          </a:xfrm>
          <a:custGeom>
            <a:avLst/>
            <a:gdLst>
              <a:gd name="textAreaLeft" fmla="*/ 0 w 888480"/>
              <a:gd name="textAreaRight" fmla="*/ 888840 w 888480"/>
              <a:gd name="textAreaTop" fmla="*/ 0 h 561960"/>
              <a:gd name="textAreaBottom" fmla="*/ 562320 h 561960"/>
            </a:gdLst>
            <a:ahLst/>
            <a:rect l="textAreaLeft" t="textAreaTop" r="textAreaRight" b="textAreaBottom"/>
            <a:pathLst>
              <a:path w="1347538" h="1001027">
                <a:moveTo>
                  <a:pt x="558263" y="0"/>
                </a:moveTo>
                <a:lnTo>
                  <a:pt x="1347538" y="0"/>
                </a:lnTo>
                <a:lnTo>
                  <a:pt x="1347538" y="1001027"/>
                </a:lnTo>
                <a:lnTo>
                  <a:pt x="0" y="1001027"/>
                </a:lnTo>
                <a:lnTo>
                  <a:pt x="558263" y="0"/>
                </a:lnTo>
                <a:close/>
              </a:path>
            </a:pathLst>
          </a:custGeom>
          <a:solidFill>
            <a:srgbClr val="706f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280" strike="noStrike" u="none">
              <a:solidFill>
                <a:schemeClr val="lt1"/>
              </a:solidFill>
              <a:uFillTx/>
              <a:latin typeface="Roboto"/>
              <a:ea typeface="Roboto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37"/>
          </p:nvPr>
        </p:nvSpPr>
        <p:spPr>
          <a:xfrm>
            <a:off x="11571120" y="138240"/>
            <a:ext cx="551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150" strike="noStrike" u="none">
                <a:solidFill>
                  <a:schemeClr val="lt1"/>
                </a:solidFill>
                <a:uFillTx/>
                <a:latin typeface="Roboto"/>
                <a:ea typeface="Roboto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DD8CBCE-B5EB-493B-896F-4D09AA377177}" type="slidenum">
              <a:rPr b="0" lang="ru-RU" sz="115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&lt;number&gt;</a:t>
            </a:fld>
            <a:endParaRPr b="0" lang="en-GB" sz="11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8" name="Прямоугольник 85"/>
          <p:cNvSpPr/>
          <p:nvPr/>
        </p:nvSpPr>
        <p:spPr>
          <a:xfrm>
            <a:off x="285840" y="6599520"/>
            <a:ext cx="712080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600" strike="noStrike" u="none">
                <a:solidFill>
                  <a:schemeClr val="lt1">
                    <a:lumMod val="50000"/>
                  </a:schemeClr>
                </a:solidFill>
                <a:uFillTx/>
                <a:latin typeface="Roboto"/>
                <a:ea typeface="Roboto"/>
              </a:rPr>
              <a:t>*2024 – пилот в МЦ </a:t>
            </a:r>
            <a:r>
              <a:rPr b="0" lang="en-US" sz="600" strike="noStrike" u="none">
                <a:solidFill>
                  <a:schemeClr val="lt1">
                    <a:lumMod val="50000"/>
                  </a:schemeClr>
                </a:solidFill>
                <a:uFillTx/>
                <a:latin typeface="Roboto"/>
                <a:ea typeface="Roboto"/>
              </a:rPr>
              <a:t>HR-</a:t>
            </a:r>
            <a:r>
              <a:rPr b="0" lang="ru-RU" sz="600" strike="noStrike" u="none">
                <a:solidFill>
                  <a:schemeClr val="lt1">
                    <a:lumMod val="50000"/>
                  </a:schemeClr>
                </a:solidFill>
                <a:uFillTx/>
                <a:latin typeface="Roboto"/>
                <a:ea typeface="Roboto"/>
              </a:rPr>
              <a:t>платформы (синтетические данные, блок Филатова – 50 чел, пилот образовательного контента Яндекс.Практикум на Юниорах МЦ – 30 чел )</a:t>
            </a:r>
            <a:endParaRPr b="0" lang="en-GB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Прямоугольник 39"/>
          <p:cNvSpPr/>
          <p:nvPr/>
        </p:nvSpPr>
        <p:spPr>
          <a:xfrm>
            <a:off x="3046320" y="3012480"/>
            <a:ext cx="5396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en-US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2027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80" name="Прямая соединительная линия 40"/>
          <p:cNvCxnSpPr/>
          <p:nvPr/>
        </p:nvCxnSpPr>
        <p:spPr>
          <a:xfrm flipH="1">
            <a:off x="868320" y="2978640"/>
            <a:ext cx="2736360" cy="360"/>
          </a:xfrm>
          <a:prstGeom prst="straightConnector1">
            <a:avLst/>
          </a:prstGeom>
          <a:ln cap="rnd" w="9525">
            <a:solidFill>
              <a:srgbClr val="ffffff">
                <a:lumMod val="75000"/>
              </a:srgbClr>
            </a:solidFill>
            <a:prstDash val="lgDash"/>
          </a:ln>
        </p:spPr>
      </p:cxnSp>
      <p:cxnSp>
        <p:nvCxnSpPr>
          <p:cNvPr id="81" name="Прямая соединительная линия 42"/>
          <p:cNvCxnSpPr/>
          <p:nvPr/>
        </p:nvCxnSpPr>
        <p:spPr>
          <a:xfrm>
            <a:off x="868320" y="1654200"/>
            <a:ext cx="360" cy="1296360"/>
          </a:xfrm>
          <a:prstGeom prst="straightConnector1">
            <a:avLst/>
          </a:prstGeom>
          <a:ln cap="rnd" w="9525">
            <a:solidFill>
              <a:srgbClr val="ffffff">
                <a:lumMod val="75000"/>
              </a:srgbClr>
            </a:solidFill>
            <a:prstDash val="lgDash"/>
          </a:ln>
        </p:spPr>
      </p:cxnSp>
      <p:sp>
        <p:nvSpPr>
          <p:cNvPr id="82" name="Прямоугольник 43"/>
          <p:cNvSpPr/>
          <p:nvPr/>
        </p:nvSpPr>
        <p:spPr>
          <a:xfrm>
            <a:off x="2357640" y="3014640"/>
            <a:ext cx="5396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en-US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2026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Прямоугольник 44"/>
          <p:cNvSpPr/>
          <p:nvPr/>
        </p:nvSpPr>
        <p:spPr>
          <a:xfrm>
            <a:off x="1669680" y="3014640"/>
            <a:ext cx="5396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en-US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2025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Прямоугольник 45"/>
          <p:cNvSpPr/>
          <p:nvPr/>
        </p:nvSpPr>
        <p:spPr>
          <a:xfrm>
            <a:off x="427320" y="2235960"/>
            <a:ext cx="3492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100К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Прямоугольник 46"/>
          <p:cNvSpPr/>
          <p:nvPr/>
        </p:nvSpPr>
        <p:spPr>
          <a:xfrm>
            <a:off x="427320" y="2701440"/>
            <a:ext cx="3495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2.5К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Прямоугольник 47"/>
          <p:cNvSpPr/>
          <p:nvPr/>
        </p:nvSpPr>
        <p:spPr>
          <a:xfrm>
            <a:off x="427320" y="1770840"/>
            <a:ext cx="3452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400К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Прямоугольник 48"/>
          <p:cNvSpPr/>
          <p:nvPr/>
        </p:nvSpPr>
        <p:spPr>
          <a:xfrm>
            <a:off x="975240" y="3012480"/>
            <a:ext cx="5396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en-US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2024</a:t>
            </a: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*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Скругленный прямоугольник 80"/>
          <p:cNvSpPr/>
          <p:nvPr/>
        </p:nvSpPr>
        <p:spPr>
          <a:xfrm>
            <a:off x="3046320" y="1770840"/>
            <a:ext cx="539640" cy="1101960"/>
          </a:xfrm>
          <a:prstGeom prst="roundRect">
            <a:avLst>
              <a:gd name="adj" fmla="val 16667"/>
            </a:avLst>
          </a:prstGeom>
          <a:solidFill>
            <a:srgbClr val="452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rgbClr val="4525ff"/>
              </a:solidFill>
              <a:uFillTx/>
              <a:latin typeface="Calibri"/>
            </a:endParaRPr>
          </a:p>
        </p:txBody>
      </p:sp>
      <p:sp>
        <p:nvSpPr>
          <p:cNvPr id="89" name="Скругленный прямоугольник 86"/>
          <p:cNvSpPr/>
          <p:nvPr/>
        </p:nvSpPr>
        <p:spPr>
          <a:xfrm>
            <a:off x="2357640" y="2208600"/>
            <a:ext cx="539640" cy="664560"/>
          </a:xfrm>
          <a:prstGeom prst="roundRect">
            <a:avLst>
              <a:gd name="adj" fmla="val 16667"/>
            </a:avLst>
          </a:prstGeom>
          <a:solidFill>
            <a:srgbClr val="452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rgbClr val="4525ff"/>
              </a:solidFill>
              <a:uFillTx/>
              <a:latin typeface="Calibri"/>
            </a:endParaRPr>
          </a:p>
        </p:txBody>
      </p:sp>
      <p:sp>
        <p:nvSpPr>
          <p:cNvPr id="90" name="Скругленный прямоугольник 87"/>
          <p:cNvSpPr/>
          <p:nvPr/>
        </p:nvSpPr>
        <p:spPr>
          <a:xfrm>
            <a:off x="1669680" y="2675880"/>
            <a:ext cx="539640" cy="196920"/>
          </a:xfrm>
          <a:prstGeom prst="roundRect">
            <a:avLst>
              <a:gd name="adj" fmla="val 30364"/>
            </a:avLst>
          </a:prstGeom>
          <a:solidFill>
            <a:srgbClr val="452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rgbClr val="4525ff"/>
              </a:solidFill>
              <a:uFillTx/>
              <a:latin typeface="Calibri"/>
            </a:endParaRPr>
          </a:p>
        </p:txBody>
      </p:sp>
      <p:sp>
        <p:nvSpPr>
          <p:cNvPr id="91" name="Скругленный прямоугольник 88"/>
          <p:cNvSpPr/>
          <p:nvPr/>
        </p:nvSpPr>
        <p:spPr>
          <a:xfrm>
            <a:off x="975240" y="2813040"/>
            <a:ext cx="539640" cy="56520"/>
          </a:xfrm>
          <a:prstGeom prst="roundRect">
            <a:avLst>
              <a:gd name="adj" fmla="val 30364"/>
            </a:avLst>
          </a:prstGeom>
          <a:solidFill>
            <a:srgbClr val="452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440" bIns="14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rgbClr val="4525ff"/>
              </a:solidFill>
              <a:uFillTx/>
              <a:latin typeface="Calibri"/>
            </a:endParaRPr>
          </a:p>
        </p:txBody>
      </p:sp>
      <p:sp>
        <p:nvSpPr>
          <p:cNvPr id="92" name="Прямоугольник 89"/>
          <p:cNvSpPr/>
          <p:nvPr/>
        </p:nvSpPr>
        <p:spPr>
          <a:xfrm>
            <a:off x="1022760" y="1631880"/>
            <a:ext cx="1621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600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Рост количества пользователей платформы</a:t>
            </a:r>
            <a:endParaRPr b="0" lang="en-GB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Прямоугольник 4"/>
          <p:cNvSpPr/>
          <p:nvPr/>
        </p:nvSpPr>
        <p:spPr>
          <a:xfrm>
            <a:off x="1054440" y="1010160"/>
            <a:ext cx="266004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7000"/>
              </a:lnSpc>
            </a:pPr>
            <a:r>
              <a:rPr b="1" lang="ru-RU" sz="9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Корпоративный портал, </a:t>
            </a:r>
            <a:r>
              <a:rPr b="1" lang="en-US" sz="9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HR-</a:t>
            </a:r>
            <a:r>
              <a:rPr b="1" lang="ru-RU" sz="9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сервисы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7000"/>
              </a:lnSpc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Рост производительности труда и снижение текучести кадров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4" name="Прямая соединительная линия 64"/>
          <p:cNvCxnSpPr/>
          <p:nvPr/>
        </p:nvCxnSpPr>
        <p:spPr>
          <a:xfrm>
            <a:off x="475920" y="3379680"/>
            <a:ext cx="3315960" cy="360"/>
          </a:xfrm>
          <a:prstGeom prst="straightConnector1">
            <a:avLst/>
          </a:prstGeom>
          <a:ln w="12700">
            <a:solidFill>
              <a:srgbClr val="4525ff"/>
            </a:solidFill>
          </a:ln>
        </p:spPr>
      </p:cxnSp>
      <p:sp>
        <p:nvSpPr>
          <p:cNvPr id="95" name="Прямоугольник 81"/>
          <p:cNvSpPr/>
          <p:nvPr/>
        </p:nvSpPr>
        <p:spPr>
          <a:xfrm>
            <a:off x="5011200" y="1010160"/>
            <a:ext cx="256032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7000"/>
              </a:lnSpc>
            </a:pPr>
            <a:r>
              <a:rPr b="1" lang="ru-RU" sz="9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Кадровая аналитика и проектный учет </a:t>
            </a: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Повышение качества управленческих решений по персоналу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Прямоугольник 52"/>
          <p:cNvSpPr/>
          <p:nvPr/>
        </p:nvSpPr>
        <p:spPr>
          <a:xfrm>
            <a:off x="7000200" y="3014640"/>
            <a:ext cx="5396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en-US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2027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7" name="Прямая соединительная линия 55"/>
          <p:cNvCxnSpPr/>
          <p:nvPr/>
        </p:nvCxnSpPr>
        <p:spPr>
          <a:xfrm>
            <a:off x="4824000" y="1655280"/>
            <a:ext cx="360" cy="1296360"/>
          </a:xfrm>
          <a:prstGeom prst="straightConnector1">
            <a:avLst/>
          </a:prstGeom>
          <a:ln cap="rnd" w="9525">
            <a:solidFill>
              <a:srgbClr val="ffffff">
                <a:lumMod val="75000"/>
              </a:srgbClr>
            </a:solidFill>
            <a:prstDash val="lgDash"/>
          </a:ln>
        </p:spPr>
      </p:cxnSp>
      <p:sp>
        <p:nvSpPr>
          <p:cNvPr id="98" name="Прямоугольник 56"/>
          <p:cNvSpPr/>
          <p:nvPr/>
        </p:nvSpPr>
        <p:spPr>
          <a:xfrm>
            <a:off x="6311520" y="3014640"/>
            <a:ext cx="5396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en-US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2026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Прямоугольник 57"/>
          <p:cNvSpPr/>
          <p:nvPr/>
        </p:nvSpPr>
        <p:spPr>
          <a:xfrm>
            <a:off x="5623200" y="3014640"/>
            <a:ext cx="5396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en-US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2025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Прямоугольник 58"/>
          <p:cNvSpPr/>
          <p:nvPr/>
        </p:nvSpPr>
        <p:spPr>
          <a:xfrm>
            <a:off x="4384080" y="2352960"/>
            <a:ext cx="339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50%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Прямоугольник 59"/>
          <p:cNvSpPr/>
          <p:nvPr/>
        </p:nvSpPr>
        <p:spPr>
          <a:xfrm>
            <a:off x="4384080" y="2714760"/>
            <a:ext cx="3481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30%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Прямоугольник 60"/>
          <p:cNvSpPr/>
          <p:nvPr/>
        </p:nvSpPr>
        <p:spPr>
          <a:xfrm>
            <a:off x="4384080" y="1662840"/>
            <a:ext cx="3445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80%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Прямоугольник 61"/>
          <p:cNvSpPr/>
          <p:nvPr/>
        </p:nvSpPr>
        <p:spPr>
          <a:xfrm>
            <a:off x="4932360" y="3012480"/>
            <a:ext cx="5396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en-US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2024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Прямоугольник 5"/>
          <p:cNvSpPr/>
          <p:nvPr/>
        </p:nvSpPr>
        <p:spPr>
          <a:xfrm>
            <a:off x="4978440" y="1631880"/>
            <a:ext cx="1894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600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Доступность проектной отчетности руководителям</a:t>
            </a:r>
            <a:endParaRPr b="0" lang="en-GB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Скругленный прямоугольник 54"/>
          <p:cNvSpPr/>
          <p:nvPr/>
        </p:nvSpPr>
        <p:spPr>
          <a:xfrm>
            <a:off x="7000200" y="1770840"/>
            <a:ext cx="539640" cy="1101960"/>
          </a:xfrm>
          <a:prstGeom prst="roundRect">
            <a:avLst>
              <a:gd name="adj" fmla="val 16667"/>
            </a:avLst>
          </a:prstGeom>
          <a:solidFill>
            <a:srgbClr val="452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6" name="Скругленный прямоугольник 75"/>
          <p:cNvSpPr/>
          <p:nvPr/>
        </p:nvSpPr>
        <p:spPr>
          <a:xfrm>
            <a:off x="6311520" y="2449440"/>
            <a:ext cx="539640" cy="423360"/>
          </a:xfrm>
          <a:prstGeom prst="roundRect">
            <a:avLst>
              <a:gd name="adj" fmla="val 16667"/>
            </a:avLst>
          </a:prstGeom>
          <a:solidFill>
            <a:srgbClr val="452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7" name="Скругленный прямоугольник 76"/>
          <p:cNvSpPr/>
          <p:nvPr/>
        </p:nvSpPr>
        <p:spPr>
          <a:xfrm>
            <a:off x="5623200" y="2724480"/>
            <a:ext cx="539640" cy="148320"/>
          </a:xfrm>
          <a:prstGeom prst="roundRect">
            <a:avLst>
              <a:gd name="adj" fmla="val 33455"/>
            </a:avLst>
          </a:prstGeom>
          <a:solidFill>
            <a:srgbClr val="452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cxnSp>
        <p:nvCxnSpPr>
          <p:cNvPr id="108" name="Прямая соединительная линия 123"/>
          <p:cNvCxnSpPr/>
          <p:nvPr/>
        </p:nvCxnSpPr>
        <p:spPr>
          <a:xfrm flipH="1">
            <a:off x="4824000" y="2978640"/>
            <a:ext cx="2736360" cy="360"/>
          </a:xfrm>
          <a:prstGeom prst="straightConnector1">
            <a:avLst/>
          </a:prstGeom>
          <a:ln cap="rnd" w="9525">
            <a:solidFill>
              <a:srgbClr val="ffffff">
                <a:lumMod val="75000"/>
              </a:srgbClr>
            </a:solidFill>
            <a:prstDash val="lgDash"/>
          </a:ln>
        </p:spPr>
      </p:cxnSp>
      <p:cxnSp>
        <p:nvCxnSpPr>
          <p:cNvPr id="109" name="Прямая соединительная линия 130"/>
          <p:cNvCxnSpPr/>
          <p:nvPr/>
        </p:nvCxnSpPr>
        <p:spPr>
          <a:xfrm>
            <a:off x="4431600" y="3379680"/>
            <a:ext cx="3315960" cy="360"/>
          </a:xfrm>
          <a:prstGeom prst="straightConnector1">
            <a:avLst/>
          </a:prstGeom>
          <a:ln w="12700">
            <a:solidFill>
              <a:srgbClr val="4525ff"/>
            </a:solidFill>
          </a:ln>
        </p:spPr>
      </p:cxnSp>
      <p:sp>
        <p:nvSpPr>
          <p:cNvPr id="110" name="Прямоугольник 17"/>
          <p:cNvSpPr/>
          <p:nvPr/>
        </p:nvSpPr>
        <p:spPr>
          <a:xfrm>
            <a:off x="476280" y="3906720"/>
            <a:ext cx="3314160" cy="93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4000" indent="-144000" defTabSz="914400">
              <a:lnSpc>
                <a:spcPct val="100000"/>
              </a:lnSpc>
              <a:spcAft>
                <a:spcPts val="3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2.500 сотрудников (МЦ + 3 подведа)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3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Снижение на 20% времени адаптации новых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3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100 % сотрудников имеют доступ к необходимой информации, сервисам в едином окне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3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100% сотрудников могут высказаться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Прямоугольник: скругленные углы 24"/>
          <p:cNvSpPr/>
          <p:nvPr/>
        </p:nvSpPr>
        <p:spPr>
          <a:xfrm>
            <a:off x="476280" y="3609000"/>
            <a:ext cx="404640" cy="215640"/>
          </a:xfrm>
          <a:prstGeom prst="roundRect">
            <a:avLst>
              <a:gd name="adj" fmla="val 22066"/>
            </a:avLst>
          </a:prstGeom>
          <a:solidFill>
            <a:srgbClr val="452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Roboto Medium"/>
                <a:ea typeface="Roboto Medium"/>
              </a:rPr>
              <a:t>2025</a:t>
            </a:r>
            <a:endParaRPr b="0" lang="en-GB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2" name="Прямоугольник 25"/>
          <p:cNvSpPr/>
          <p:nvPr/>
        </p:nvSpPr>
        <p:spPr>
          <a:xfrm>
            <a:off x="476280" y="5167440"/>
            <a:ext cx="3314160" cy="12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4000" indent="-144000" defTabSz="914400">
              <a:lnSpc>
                <a:spcPct val="100000"/>
              </a:lnSpc>
              <a:spcAft>
                <a:spcPts val="3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10</a:t>
            </a:r>
            <a:r>
              <a:rPr b="0" lang="en-US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%</a:t>
            </a: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 ОГВ/ОМС от общего кол-ва подключены к платформе 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3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Снижение на 50% времени на адаптацию новых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3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30% сотрудников прошло обучение через </a:t>
            </a:r>
            <a:br>
              <a:rPr sz="900"/>
            </a:br>
            <a:r>
              <a:rPr b="0" lang="en-US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HR</a:t>
            </a:r>
            <a:r>
              <a:rPr b="0" lang="en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-</a:t>
            </a: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платформу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3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На 20% повышен уровень удовлетворенности</a:t>
            </a:r>
            <a:br>
              <a:rPr sz="900"/>
            </a:b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новых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Прямоугольник: скругленные углы 78"/>
          <p:cNvSpPr/>
          <p:nvPr/>
        </p:nvSpPr>
        <p:spPr>
          <a:xfrm>
            <a:off x="476280" y="4869360"/>
            <a:ext cx="404640" cy="215640"/>
          </a:xfrm>
          <a:prstGeom prst="roundRect">
            <a:avLst>
              <a:gd name="adj" fmla="val 22066"/>
            </a:avLst>
          </a:prstGeom>
          <a:solidFill>
            <a:srgbClr val="452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chemeClr val="lt1"/>
                </a:solidFill>
                <a:uFillTx/>
                <a:latin typeface="Roboto Medium"/>
                <a:ea typeface="Roboto Medium"/>
              </a:rPr>
              <a:t>2026</a:t>
            </a:r>
            <a:endParaRPr b="0" lang="en-GB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4" name="Прямоугольник 18"/>
          <p:cNvSpPr/>
          <p:nvPr/>
        </p:nvSpPr>
        <p:spPr>
          <a:xfrm>
            <a:off x="4431960" y="3907800"/>
            <a:ext cx="331524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4000" indent="-144000" defTabSz="914400">
              <a:lnSpc>
                <a:spcPct val="100000"/>
              </a:lnSpc>
              <a:spcAft>
                <a:spcPts val="3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30% руководителей доступна отчетность</a:t>
            </a:r>
            <a:br>
              <a:rPr sz="900"/>
            </a:b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по их сотрудникам (настроения, вовлеченность, текучесть, занятость, обучение)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3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5 мин - скорость подготовки аналитических отчетов 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Прямоугольник: скругленные углы 126"/>
          <p:cNvSpPr/>
          <p:nvPr/>
        </p:nvSpPr>
        <p:spPr>
          <a:xfrm>
            <a:off x="4431960" y="3609720"/>
            <a:ext cx="404640" cy="215640"/>
          </a:xfrm>
          <a:prstGeom prst="roundRect">
            <a:avLst>
              <a:gd name="adj" fmla="val 22066"/>
            </a:avLst>
          </a:prstGeom>
          <a:solidFill>
            <a:srgbClr val="452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Roboto Medium"/>
                <a:ea typeface="Roboto Medium"/>
              </a:rPr>
              <a:t>2025</a:t>
            </a:r>
            <a:endParaRPr b="0" lang="en-GB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6" name="Прямоугольник 27"/>
          <p:cNvSpPr/>
          <p:nvPr/>
        </p:nvSpPr>
        <p:spPr>
          <a:xfrm>
            <a:off x="4431960" y="5167440"/>
            <a:ext cx="3315240" cy="7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4000" indent="-144000" defTabSz="914400">
              <a:lnSpc>
                <a:spcPct val="100000"/>
              </a:lnSpc>
              <a:spcAft>
                <a:spcPts val="3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50% руководителей доступна отчетность</a:t>
            </a:r>
            <a:br>
              <a:rPr sz="900"/>
            </a:b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по их сотрудникам (настроения, вовлеченность, текучесть, занятость, обучение)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3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100% понимания целей, планов и прогресса</a:t>
            </a:r>
            <a:br>
              <a:rPr sz="900"/>
            </a:b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по проектам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Прямоугольник: скругленные углы 128"/>
          <p:cNvSpPr/>
          <p:nvPr/>
        </p:nvSpPr>
        <p:spPr>
          <a:xfrm>
            <a:off x="4431960" y="4869360"/>
            <a:ext cx="404640" cy="215640"/>
          </a:xfrm>
          <a:prstGeom prst="roundRect">
            <a:avLst>
              <a:gd name="adj" fmla="val 22066"/>
            </a:avLst>
          </a:prstGeom>
          <a:solidFill>
            <a:srgbClr val="452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chemeClr val="lt1"/>
                </a:solidFill>
                <a:uFillTx/>
                <a:latin typeface="Roboto Medium"/>
                <a:ea typeface="Roboto Medium"/>
              </a:rPr>
              <a:t>2026</a:t>
            </a:r>
            <a:endParaRPr b="0" lang="en-GB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18" name="Picture 8" descr="Фирменный стиль. Официальный информационный сайт Ростелеком."/>
          <p:cNvPicPr/>
          <p:nvPr/>
        </p:nvPicPr>
        <p:blipFill>
          <a:blip r:embed="rId1"/>
          <a:srcRect l="0" t="16858" r="0" b="15526"/>
          <a:stretch/>
        </p:blipFill>
        <p:spPr>
          <a:xfrm>
            <a:off x="9620280" y="91080"/>
            <a:ext cx="1604880" cy="379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9" name="Рисунок 136"/>
          <p:cNvGrpSpPr/>
          <p:nvPr/>
        </p:nvGrpSpPr>
        <p:grpSpPr>
          <a:xfrm>
            <a:off x="4448880" y="1026360"/>
            <a:ext cx="388440" cy="409680"/>
            <a:chOff x="4448880" y="1026360"/>
            <a:chExt cx="388440" cy="409680"/>
          </a:xfrm>
        </p:grpSpPr>
        <p:sp>
          <p:nvSpPr>
            <p:cNvPr id="120" name="Полилиния: фигура 148"/>
            <p:cNvSpPr/>
            <p:nvPr/>
          </p:nvSpPr>
          <p:spPr>
            <a:xfrm>
              <a:off x="4643280" y="1026360"/>
              <a:ext cx="172440" cy="17244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172440"/>
                <a:gd name="textAreaBottom" fmla="*/ 172800 h 172440"/>
              </a:gdLst>
              <a:ahLst/>
              <a:rect l="textAreaLeft" t="textAreaTop" r="textAreaRight" b="textAreaBottom"/>
              <a:pathLst>
                <a:path w="172661" h="172661">
                  <a:moveTo>
                    <a:pt x="172662" y="86331"/>
                  </a:moveTo>
                  <a:cubicBezTo>
                    <a:pt x="172662" y="134010"/>
                    <a:pt x="134010" y="172662"/>
                    <a:pt x="86331" y="172662"/>
                  </a:cubicBezTo>
                  <a:cubicBezTo>
                    <a:pt x="38652" y="172662"/>
                    <a:pt x="0" y="134010"/>
                    <a:pt x="0" y="86331"/>
                  </a:cubicBezTo>
                  <a:cubicBezTo>
                    <a:pt x="0" y="38652"/>
                    <a:pt x="38652" y="0"/>
                    <a:pt x="86331" y="0"/>
                  </a:cubicBezTo>
                  <a:cubicBezTo>
                    <a:pt x="134010" y="0"/>
                    <a:pt x="172662" y="38652"/>
                    <a:pt x="172662" y="86331"/>
                  </a:cubicBez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21" name="Полилиния: фигура 149"/>
            <p:cNvSpPr/>
            <p:nvPr/>
          </p:nvSpPr>
          <p:spPr>
            <a:xfrm>
              <a:off x="4790520" y="1173600"/>
              <a:ext cx="46440" cy="4644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46440"/>
                <a:gd name="textAreaBottom" fmla="*/ 46800 h 46440"/>
              </a:gdLst>
              <a:ahLst/>
              <a:rect l="textAreaLeft" t="textAreaTop" r="textAreaRight" b="textAreaBottom"/>
              <a:pathLst>
                <a:path w="46877" h="46877">
                  <a:moveTo>
                    <a:pt x="46877" y="46878"/>
                  </a:moveTo>
                  <a:lnTo>
                    <a:pt x="0" y="0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" bIns="18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22" name="Полилиния: фигура 150"/>
            <p:cNvSpPr/>
            <p:nvPr/>
          </p:nvSpPr>
          <p:spPr>
            <a:xfrm>
              <a:off x="4729680" y="1306800"/>
              <a:ext cx="107640" cy="12924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0 h 129240"/>
                <a:gd name="textAreaBottom" fmla="*/ 129600 h 129240"/>
              </a:gdLst>
              <a:ahLst/>
              <a:rect l="textAreaLeft" t="textAreaTop" r="textAreaRight" b="textAreaBottom"/>
              <a:pathLst>
                <a:path w="107913" h="129496">
                  <a:moveTo>
                    <a:pt x="0" y="129496"/>
                  </a:moveTo>
                  <a:lnTo>
                    <a:pt x="43167" y="129496"/>
                  </a:lnTo>
                  <a:cubicBezTo>
                    <a:pt x="78925" y="129496"/>
                    <a:pt x="107914" y="100505"/>
                    <a:pt x="107914" y="64747"/>
                  </a:cubicBezTo>
                  <a:lnTo>
                    <a:pt x="107914" y="0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23" name="Полилиния: фигура 151"/>
            <p:cNvSpPr/>
            <p:nvPr/>
          </p:nvSpPr>
          <p:spPr>
            <a:xfrm>
              <a:off x="4448880" y="1069560"/>
              <a:ext cx="107640" cy="15084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0 h 150840"/>
                <a:gd name="textAreaBottom" fmla="*/ 151200 h 150840"/>
              </a:gdLst>
              <a:ahLst/>
              <a:rect l="textAreaLeft" t="textAreaTop" r="textAreaRight" b="textAreaBottom"/>
              <a:pathLst>
                <a:path w="107913" h="151078">
                  <a:moveTo>
                    <a:pt x="0" y="151079"/>
                  </a:moveTo>
                  <a:lnTo>
                    <a:pt x="0" y="64748"/>
                  </a:lnTo>
                  <a:cubicBezTo>
                    <a:pt x="0" y="28989"/>
                    <a:pt x="28989" y="0"/>
                    <a:pt x="64748" y="0"/>
                  </a:cubicBezTo>
                  <a:lnTo>
                    <a:pt x="107913" y="0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24" name="Полилиния: фигура 152"/>
            <p:cNvSpPr/>
            <p:nvPr/>
          </p:nvSpPr>
          <p:spPr>
            <a:xfrm>
              <a:off x="4448880" y="1355400"/>
              <a:ext cx="64440" cy="806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80640"/>
                <a:gd name="textAreaBottom" fmla="*/ 81000 h 80640"/>
              </a:gdLst>
              <a:ahLst/>
              <a:rect l="textAreaLeft" t="textAreaTop" r="textAreaRight" b="textAreaBottom"/>
              <a:pathLst>
                <a:path w="64748" h="80935">
                  <a:moveTo>
                    <a:pt x="0" y="0"/>
                  </a:moveTo>
                  <a:lnTo>
                    <a:pt x="64748" y="0"/>
                  </a:lnTo>
                  <a:lnTo>
                    <a:pt x="64748" y="80935"/>
                  </a:lnTo>
                  <a:lnTo>
                    <a:pt x="0" y="80935"/>
                  </a:ln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25" name="Полилиния: фигура 153"/>
            <p:cNvSpPr/>
            <p:nvPr/>
          </p:nvSpPr>
          <p:spPr>
            <a:xfrm>
              <a:off x="4513680" y="1263600"/>
              <a:ext cx="64440" cy="1724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172440"/>
                <a:gd name="textAreaBottom" fmla="*/ 172800 h 172440"/>
              </a:gdLst>
              <a:ahLst/>
              <a:rect l="textAreaLeft" t="textAreaTop" r="textAreaRight" b="textAreaBottom"/>
              <a:pathLst>
                <a:path w="64748" h="172661">
                  <a:moveTo>
                    <a:pt x="0" y="0"/>
                  </a:moveTo>
                  <a:lnTo>
                    <a:pt x="64748" y="0"/>
                  </a:lnTo>
                  <a:lnTo>
                    <a:pt x="64748" y="172662"/>
                  </a:lnTo>
                  <a:lnTo>
                    <a:pt x="0" y="172662"/>
                  </a:ln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26" name="Полилиния: фигура 154"/>
            <p:cNvSpPr/>
            <p:nvPr/>
          </p:nvSpPr>
          <p:spPr>
            <a:xfrm>
              <a:off x="4578480" y="1312200"/>
              <a:ext cx="64440" cy="1238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123840"/>
                <a:gd name="textAreaBottom" fmla="*/ 124200 h 123840"/>
              </a:gdLst>
              <a:ahLst/>
              <a:rect l="textAreaLeft" t="textAreaTop" r="textAreaRight" b="textAreaBottom"/>
              <a:pathLst>
                <a:path w="64748" h="124100">
                  <a:moveTo>
                    <a:pt x="0" y="0"/>
                  </a:moveTo>
                  <a:lnTo>
                    <a:pt x="64748" y="0"/>
                  </a:lnTo>
                  <a:lnTo>
                    <a:pt x="64748" y="124101"/>
                  </a:lnTo>
                  <a:lnTo>
                    <a:pt x="0" y="124101"/>
                  </a:ln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27" name="Рисунок 140"/>
          <p:cNvGrpSpPr/>
          <p:nvPr/>
        </p:nvGrpSpPr>
        <p:grpSpPr>
          <a:xfrm>
            <a:off x="493560" y="1026360"/>
            <a:ext cx="408960" cy="344160"/>
            <a:chOff x="493560" y="1026360"/>
            <a:chExt cx="408960" cy="344160"/>
          </a:xfrm>
        </p:grpSpPr>
        <p:sp>
          <p:nvSpPr>
            <p:cNvPr id="128" name="Полилиния: фигура 156"/>
            <p:cNvSpPr/>
            <p:nvPr/>
          </p:nvSpPr>
          <p:spPr>
            <a:xfrm>
              <a:off x="515160" y="1026360"/>
              <a:ext cx="387360" cy="344160"/>
            </a:xfrm>
            <a:custGeom>
              <a:avLst/>
              <a:gdLst>
                <a:gd name="textAreaLeft" fmla="*/ 0 w 387360"/>
                <a:gd name="textAreaRight" fmla="*/ 387720 w 387360"/>
                <a:gd name="textAreaTop" fmla="*/ 0 h 344160"/>
                <a:gd name="textAreaBottom" fmla="*/ 344520 h 344160"/>
              </a:gdLst>
              <a:ahLst/>
              <a:rect l="textAreaLeft" t="textAreaTop" r="textAreaRight" b="textAreaBottom"/>
              <a:pathLst>
                <a:path w="387610" h="344541">
                  <a:moveTo>
                    <a:pt x="0" y="107669"/>
                  </a:moveTo>
                  <a:lnTo>
                    <a:pt x="0" y="43068"/>
                  </a:lnTo>
                  <a:cubicBezTo>
                    <a:pt x="0" y="19273"/>
                    <a:pt x="19273" y="0"/>
                    <a:pt x="43068" y="0"/>
                  </a:cubicBezTo>
                  <a:lnTo>
                    <a:pt x="344542" y="0"/>
                  </a:lnTo>
                  <a:cubicBezTo>
                    <a:pt x="368337" y="0"/>
                    <a:pt x="387610" y="19273"/>
                    <a:pt x="387610" y="43068"/>
                  </a:cubicBezTo>
                  <a:lnTo>
                    <a:pt x="387610" y="301474"/>
                  </a:lnTo>
                  <a:cubicBezTo>
                    <a:pt x="387610" y="325269"/>
                    <a:pt x="368337" y="344541"/>
                    <a:pt x="344542" y="344541"/>
                  </a:cubicBezTo>
                  <a:lnTo>
                    <a:pt x="215339" y="344541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29" name="Полилиния: фигура 157"/>
            <p:cNvSpPr/>
            <p:nvPr/>
          </p:nvSpPr>
          <p:spPr>
            <a:xfrm>
              <a:off x="493560" y="1325880"/>
              <a:ext cx="150480" cy="4464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44640"/>
                <a:gd name="textAreaBottom" fmla="*/ 45000 h 44640"/>
              </a:gdLst>
              <a:ahLst/>
              <a:rect l="textAreaLeft" t="textAreaTop" r="textAreaRight" b="textAreaBottom"/>
              <a:pathLst>
                <a:path w="150736" h="44876">
                  <a:moveTo>
                    <a:pt x="150737" y="44877"/>
                  </a:moveTo>
                  <a:lnTo>
                    <a:pt x="145332" y="31310"/>
                  </a:lnTo>
                  <a:cubicBezTo>
                    <a:pt x="142597" y="24441"/>
                    <a:pt x="138355" y="18261"/>
                    <a:pt x="132928" y="13243"/>
                  </a:cubicBezTo>
                  <a:lnTo>
                    <a:pt x="132928" y="13243"/>
                  </a:lnTo>
                  <a:cubicBezTo>
                    <a:pt x="123733" y="4716"/>
                    <a:pt x="111653" y="0"/>
                    <a:pt x="99142" y="0"/>
                  </a:cubicBezTo>
                  <a:lnTo>
                    <a:pt x="51595" y="0"/>
                  </a:lnTo>
                  <a:cubicBezTo>
                    <a:pt x="39062" y="0"/>
                    <a:pt x="27003" y="4737"/>
                    <a:pt x="17808" y="13243"/>
                  </a:cubicBezTo>
                  <a:lnTo>
                    <a:pt x="17808" y="13243"/>
                  </a:lnTo>
                  <a:cubicBezTo>
                    <a:pt x="12382" y="18261"/>
                    <a:pt x="8140" y="24441"/>
                    <a:pt x="5405" y="31310"/>
                  </a:cubicBezTo>
                  <a:lnTo>
                    <a:pt x="0" y="44877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0" bIns="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30" name="Полилиния: фигура 158"/>
            <p:cNvSpPr/>
            <p:nvPr/>
          </p:nvSpPr>
          <p:spPr>
            <a:xfrm>
              <a:off x="531000" y="1198440"/>
              <a:ext cx="74880" cy="7488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74880"/>
                <a:gd name="textAreaBottom" fmla="*/ 75240 h 74880"/>
              </a:gdLst>
              <a:ahLst/>
              <a:rect l="textAreaLeft" t="textAreaTop" r="textAreaRight" b="textAreaBottom"/>
              <a:pathLst>
                <a:path w="75357" h="75373">
                  <a:moveTo>
                    <a:pt x="64327" y="11047"/>
                  </a:moveTo>
                  <a:cubicBezTo>
                    <a:pt x="79035" y="25754"/>
                    <a:pt x="79035" y="49614"/>
                    <a:pt x="64327" y="64343"/>
                  </a:cubicBezTo>
                  <a:cubicBezTo>
                    <a:pt x="49619" y="79051"/>
                    <a:pt x="25760" y="79051"/>
                    <a:pt x="11031" y="64343"/>
                  </a:cubicBezTo>
                  <a:cubicBezTo>
                    <a:pt x="-3677" y="49635"/>
                    <a:pt x="-3677" y="25776"/>
                    <a:pt x="11031" y="11047"/>
                  </a:cubicBezTo>
                  <a:cubicBezTo>
                    <a:pt x="25760" y="-3682"/>
                    <a:pt x="49619" y="-3682"/>
                    <a:pt x="64327" y="11047"/>
                  </a:cubicBez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240" bIns="302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31" name="Полилиния: фигура 159"/>
            <p:cNvSpPr/>
            <p:nvPr/>
          </p:nvSpPr>
          <p:spPr>
            <a:xfrm>
              <a:off x="687240" y="1134000"/>
              <a:ext cx="21240" cy="12888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128880"/>
                <a:gd name="textAreaBottom" fmla="*/ 129240 h 128880"/>
              </a:gdLst>
              <a:ahLst/>
              <a:rect l="textAreaLeft" t="textAreaTop" r="textAreaRight" b="textAreaBottom"/>
              <a:pathLst>
                <a:path w="21533" h="129203">
                  <a:moveTo>
                    <a:pt x="0" y="129203"/>
                  </a:moveTo>
                  <a:lnTo>
                    <a:pt x="0" y="0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32" name="Полилиния: фигура 160"/>
            <p:cNvSpPr/>
            <p:nvPr/>
          </p:nvSpPr>
          <p:spPr>
            <a:xfrm>
              <a:off x="752040" y="1191600"/>
              <a:ext cx="21240" cy="7128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71280"/>
                <a:gd name="textAreaBottom" fmla="*/ 71640 h 71280"/>
              </a:gdLst>
              <a:ahLst/>
              <a:rect l="textAreaLeft" t="textAreaTop" r="textAreaRight" b="textAreaBottom"/>
              <a:pathLst>
                <a:path w="21533" h="71492">
                  <a:moveTo>
                    <a:pt x="0" y="71492"/>
                  </a:moveTo>
                  <a:lnTo>
                    <a:pt x="0" y="0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33" name="Полилиния: фигура 161"/>
            <p:cNvSpPr/>
            <p:nvPr/>
          </p:nvSpPr>
          <p:spPr>
            <a:xfrm>
              <a:off x="816480" y="1145880"/>
              <a:ext cx="21240" cy="11700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117000"/>
                <a:gd name="textAreaBottom" fmla="*/ 117360 h 117000"/>
              </a:gdLst>
              <a:ahLst/>
              <a:rect l="textAreaLeft" t="textAreaTop" r="textAreaRight" b="textAreaBottom"/>
              <a:pathLst>
                <a:path w="21533" h="117359">
                  <a:moveTo>
                    <a:pt x="0" y="117359"/>
                  </a:moveTo>
                  <a:lnTo>
                    <a:pt x="0" y="0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Прямоугольник: скругленные углы 37"/>
          <p:cNvSpPr/>
          <p:nvPr/>
        </p:nvSpPr>
        <p:spPr>
          <a:xfrm>
            <a:off x="284400" y="842760"/>
            <a:ext cx="3707640" cy="5594400"/>
          </a:xfrm>
          <a:prstGeom prst="roundRect">
            <a:avLst>
              <a:gd name="adj" fmla="val 4319"/>
            </a:avLst>
          </a:prstGeom>
          <a:solidFill>
            <a:srgbClr val="4525ff">
              <a:alpha val="5000"/>
            </a:srgbClr>
          </a:solidFill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5" name="Прямоугольник: скругленные углы 64"/>
          <p:cNvSpPr/>
          <p:nvPr/>
        </p:nvSpPr>
        <p:spPr>
          <a:xfrm>
            <a:off x="4241160" y="842760"/>
            <a:ext cx="3707640" cy="5594400"/>
          </a:xfrm>
          <a:prstGeom prst="roundRect">
            <a:avLst>
              <a:gd name="adj" fmla="val 3805"/>
            </a:avLst>
          </a:prstGeom>
          <a:solidFill>
            <a:srgbClr val="4525ff">
              <a:alpha val="5000"/>
            </a:srgbClr>
          </a:solidFill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6" name="Прямоугольник 66"/>
          <p:cNvSpPr/>
          <p:nvPr/>
        </p:nvSpPr>
        <p:spPr>
          <a:xfrm>
            <a:off x="1054440" y="1010160"/>
            <a:ext cx="26600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7000"/>
              </a:lnSpc>
            </a:pPr>
            <a:r>
              <a:rPr b="1" lang="ru-RU" sz="9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Корпоративный портал, </a:t>
            </a:r>
            <a:r>
              <a:rPr b="1" lang="en-US" sz="9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HR-</a:t>
            </a:r>
            <a:r>
              <a:rPr b="1" lang="ru-RU" sz="9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сервисы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7000"/>
              </a:lnSpc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Рост производительности труда и снижение текучести кадров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Прямоугольник 67"/>
          <p:cNvSpPr/>
          <p:nvPr/>
        </p:nvSpPr>
        <p:spPr>
          <a:xfrm>
            <a:off x="5011200" y="1010160"/>
            <a:ext cx="256032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7000"/>
              </a:lnSpc>
            </a:pPr>
            <a:r>
              <a:rPr b="1" lang="ru-RU" sz="9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Кадровая аналитика и проектный учет </a:t>
            </a: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Повышение качества управленческих решений по персоналу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38" name="Рисунок 136"/>
          <p:cNvGrpSpPr/>
          <p:nvPr/>
        </p:nvGrpSpPr>
        <p:grpSpPr>
          <a:xfrm>
            <a:off x="4448880" y="1026360"/>
            <a:ext cx="388440" cy="409680"/>
            <a:chOff x="4448880" y="1026360"/>
            <a:chExt cx="388440" cy="409680"/>
          </a:xfrm>
        </p:grpSpPr>
        <p:sp>
          <p:nvSpPr>
            <p:cNvPr id="139" name="Полилиния: фигура 76"/>
            <p:cNvSpPr/>
            <p:nvPr/>
          </p:nvSpPr>
          <p:spPr>
            <a:xfrm>
              <a:off x="4643280" y="1026360"/>
              <a:ext cx="172440" cy="17244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172440"/>
                <a:gd name="textAreaBottom" fmla="*/ 172800 h 172440"/>
              </a:gdLst>
              <a:ahLst/>
              <a:rect l="textAreaLeft" t="textAreaTop" r="textAreaRight" b="textAreaBottom"/>
              <a:pathLst>
                <a:path w="172661" h="172661">
                  <a:moveTo>
                    <a:pt x="172662" y="86331"/>
                  </a:moveTo>
                  <a:cubicBezTo>
                    <a:pt x="172662" y="134010"/>
                    <a:pt x="134010" y="172662"/>
                    <a:pt x="86331" y="172662"/>
                  </a:cubicBezTo>
                  <a:cubicBezTo>
                    <a:pt x="38652" y="172662"/>
                    <a:pt x="0" y="134010"/>
                    <a:pt x="0" y="86331"/>
                  </a:cubicBezTo>
                  <a:cubicBezTo>
                    <a:pt x="0" y="38652"/>
                    <a:pt x="38652" y="0"/>
                    <a:pt x="86331" y="0"/>
                  </a:cubicBezTo>
                  <a:cubicBezTo>
                    <a:pt x="134010" y="0"/>
                    <a:pt x="172662" y="38652"/>
                    <a:pt x="172662" y="86331"/>
                  </a:cubicBez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40" name="Полилиния: фигура 77"/>
            <p:cNvSpPr/>
            <p:nvPr/>
          </p:nvSpPr>
          <p:spPr>
            <a:xfrm>
              <a:off x="4790520" y="1173600"/>
              <a:ext cx="46440" cy="4644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46440"/>
                <a:gd name="textAreaBottom" fmla="*/ 46800 h 46440"/>
              </a:gdLst>
              <a:ahLst/>
              <a:rect l="textAreaLeft" t="textAreaTop" r="textAreaRight" b="textAreaBottom"/>
              <a:pathLst>
                <a:path w="46877" h="46877">
                  <a:moveTo>
                    <a:pt x="46877" y="46878"/>
                  </a:moveTo>
                  <a:lnTo>
                    <a:pt x="0" y="0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" bIns="18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41" name="Полилиния: фигура 78"/>
            <p:cNvSpPr/>
            <p:nvPr/>
          </p:nvSpPr>
          <p:spPr>
            <a:xfrm>
              <a:off x="4729680" y="1306800"/>
              <a:ext cx="107640" cy="12924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0 h 129240"/>
                <a:gd name="textAreaBottom" fmla="*/ 129600 h 129240"/>
              </a:gdLst>
              <a:ahLst/>
              <a:rect l="textAreaLeft" t="textAreaTop" r="textAreaRight" b="textAreaBottom"/>
              <a:pathLst>
                <a:path w="107913" h="129496">
                  <a:moveTo>
                    <a:pt x="0" y="129496"/>
                  </a:moveTo>
                  <a:lnTo>
                    <a:pt x="43167" y="129496"/>
                  </a:lnTo>
                  <a:cubicBezTo>
                    <a:pt x="78925" y="129496"/>
                    <a:pt x="107914" y="100505"/>
                    <a:pt x="107914" y="64747"/>
                  </a:cubicBezTo>
                  <a:lnTo>
                    <a:pt x="107914" y="0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42" name="Полилиния: фигура 79"/>
            <p:cNvSpPr/>
            <p:nvPr/>
          </p:nvSpPr>
          <p:spPr>
            <a:xfrm>
              <a:off x="4448880" y="1069560"/>
              <a:ext cx="107640" cy="15084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0 h 150840"/>
                <a:gd name="textAreaBottom" fmla="*/ 151200 h 150840"/>
              </a:gdLst>
              <a:ahLst/>
              <a:rect l="textAreaLeft" t="textAreaTop" r="textAreaRight" b="textAreaBottom"/>
              <a:pathLst>
                <a:path w="107913" h="151078">
                  <a:moveTo>
                    <a:pt x="0" y="151079"/>
                  </a:moveTo>
                  <a:lnTo>
                    <a:pt x="0" y="64748"/>
                  </a:lnTo>
                  <a:cubicBezTo>
                    <a:pt x="0" y="28989"/>
                    <a:pt x="28989" y="0"/>
                    <a:pt x="64748" y="0"/>
                  </a:cubicBezTo>
                  <a:lnTo>
                    <a:pt x="107913" y="0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43" name="Полилиния: фигура 80"/>
            <p:cNvSpPr/>
            <p:nvPr/>
          </p:nvSpPr>
          <p:spPr>
            <a:xfrm>
              <a:off x="4448880" y="1355400"/>
              <a:ext cx="64440" cy="806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80640"/>
                <a:gd name="textAreaBottom" fmla="*/ 81000 h 80640"/>
              </a:gdLst>
              <a:ahLst/>
              <a:rect l="textAreaLeft" t="textAreaTop" r="textAreaRight" b="textAreaBottom"/>
              <a:pathLst>
                <a:path w="64748" h="80935">
                  <a:moveTo>
                    <a:pt x="0" y="0"/>
                  </a:moveTo>
                  <a:lnTo>
                    <a:pt x="64748" y="0"/>
                  </a:lnTo>
                  <a:lnTo>
                    <a:pt x="64748" y="80935"/>
                  </a:lnTo>
                  <a:lnTo>
                    <a:pt x="0" y="80935"/>
                  </a:ln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44" name="Полилиния: фигура 81"/>
            <p:cNvSpPr/>
            <p:nvPr/>
          </p:nvSpPr>
          <p:spPr>
            <a:xfrm>
              <a:off x="4513680" y="1263600"/>
              <a:ext cx="64440" cy="1724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172440"/>
                <a:gd name="textAreaBottom" fmla="*/ 172800 h 172440"/>
              </a:gdLst>
              <a:ahLst/>
              <a:rect l="textAreaLeft" t="textAreaTop" r="textAreaRight" b="textAreaBottom"/>
              <a:pathLst>
                <a:path w="64748" h="172661">
                  <a:moveTo>
                    <a:pt x="0" y="0"/>
                  </a:moveTo>
                  <a:lnTo>
                    <a:pt x="64748" y="0"/>
                  </a:lnTo>
                  <a:lnTo>
                    <a:pt x="64748" y="172662"/>
                  </a:lnTo>
                  <a:lnTo>
                    <a:pt x="0" y="172662"/>
                  </a:ln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45" name="Полилиния: фигура 82"/>
            <p:cNvSpPr/>
            <p:nvPr/>
          </p:nvSpPr>
          <p:spPr>
            <a:xfrm>
              <a:off x="4578480" y="1312200"/>
              <a:ext cx="64440" cy="1238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123840"/>
                <a:gd name="textAreaBottom" fmla="*/ 124200 h 123840"/>
              </a:gdLst>
              <a:ahLst/>
              <a:rect l="textAreaLeft" t="textAreaTop" r="textAreaRight" b="textAreaBottom"/>
              <a:pathLst>
                <a:path w="64748" h="124100">
                  <a:moveTo>
                    <a:pt x="0" y="0"/>
                  </a:moveTo>
                  <a:lnTo>
                    <a:pt x="64748" y="0"/>
                  </a:lnTo>
                  <a:lnTo>
                    <a:pt x="64748" y="124101"/>
                  </a:lnTo>
                  <a:lnTo>
                    <a:pt x="0" y="124101"/>
                  </a:ln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46" name="Рисунок 140"/>
          <p:cNvGrpSpPr/>
          <p:nvPr/>
        </p:nvGrpSpPr>
        <p:grpSpPr>
          <a:xfrm>
            <a:off x="493560" y="1026360"/>
            <a:ext cx="408960" cy="344160"/>
            <a:chOff x="493560" y="1026360"/>
            <a:chExt cx="408960" cy="344160"/>
          </a:xfrm>
        </p:grpSpPr>
        <p:sp>
          <p:nvSpPr>
            <p:cNvPr id="147" name="Полилиния: фигура 84"/>
            <p:cNvSpPr/>
            <p:nvPr/>
          </p:nvSpPr>
          <p:spPr>
            <a:xfrm>
              <a:off x="515160" y="1026360"/>
              <a:ext cx="387360" cy="344160"/>
            </a:xfrm>
            <a:custGeom>
              <a:avLst/>
              <a:gdLst>
                <a:gd name="textAreaLeft" fmla="*/ 0 w 387360"/>
                <a:gd name="textAreaRight" fmla="*/ 387720 w 387360"/>
                <a:gd name="textAreaTop" fmla="*/ 0 h 344160"/>
                <a:gd name="textAreaBottom" fmla="*/ 344520 h 344160"/>
              </a:gdLst>
              <a:ahLst/>
              <a:rect l="textAreaLeft" t="textAreaTop" r="textAreaRight" b="textAreaBottom"/>
              <a:pathLst>
                <a:path w="387610" h="344541">
                  <a:moveTo>
                    <a:pt x="0" y="107669"/>
                  </a:moveTo>
                  <a:lnTo>
                    <a:pt x="0" y="43068"/>
                  </a:lnTo>
                  <a:cubicBezTo>
                    <a:pt x="0" y="19273"/>
                    <a:pt x="19273" y="0"/>
                    <a:pt x="43068" y="0"/>
                  </a:cubicBezTo>
                  <a:lnTo>
                    <a:pt x="344542" y="0"/>
                  </a:lnTo>
                  <a:cubicBezTo>
                    <a:pt x="368337" y="0"/>
                    <a:pt x="387610" y="19273"/>
                    <a:pt x="387610" y="43068"/>
                  </a:cubicBezTo>
                  <a:lnTo>
                    <a:pt x="387610" y="301474"/>
                  </a:lnTo>
                  <a:cubicBezTo>
                    <a:pt x="387610" y="325269"/>
                    <a:pt x="368337" y="344541"/>
                    <a:pt x="344542" y="344541"/>
                  </a:cubicBezTo>
                  <a:lnTo>
                    <a:pt x="215339" y="344541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48" name="Полилиния: фигура 85"/>
            <p:cNvSpPr/>
            <p:nvPr/>
          </p:nvSpPr>
          <p:spPr>
            <a:xfrm>
              <a:off x="493560" y="1325880"/>
              <a:ext cx="150480" cy="4464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44640"/>
                <a:gd name="textAreaBottom" fmla="*/ 45000 h 44640"/>
              </a:gdLst>
              <a:ahLst/>
              <a:rect l="textAreaLeft" t="textAreaTop" r="textAreaRight" b="textAreaBottom"/>
              <a:pathLst>
                <a:path w="150736" h="44876">
                  <a:moveTo>
                    <a:pt x="150737" y="44877"/>
                  </a:moveTo>
                  <a:lnTo>
                    <a:pt x="145332" y="31310"/>
                  </a:lnTo>
                  <a:cubicBezTo>
                    <a:pt x="142597" y="24441"/>
                    <a:pt x="138355" y="18261"/>
                    <a:pt x="132928" y="13243"/>
                  </a:cubicBezTo>
                  <a:lnTo>
                    <a:pt x="132928" y="13243"/>
                  </a:lnTo>
                  <a:cubicBezTo>
                    <a:pt x="123733" y="4716"/>
                    <a:pt x="111653" y="0"/>
                    <a:pt x="99142" y="0"/>
                  </a:cubicBezTo>
                  <a:lnTo>
                    <a:pt x="51595" y="0"/>
                  </a:lnTo>
                  <a:cubicBezTo>
                    <a:pt x="39062" y="0"/>
                    <a:pt x="27003" y="4737"/>
                    <a:pt x="17808" y="13243"/>
                  </a:cubicBezTo>
                  <a:lnTo>
                    <a:pt x="17808" y="13243"/>
                  </a:lnTo>
                  <a:cubicBezTo>
                    <a:pt x="12382" y="18261"/>
                    <a:pt x="8140" y="24441"/>
                    <a:pt x="5405" y="31310"/>
                  </a:cubicBezTo>
                  <a:lnTo>
                    <a:pt x="0" y="44877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0" bIns="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49" name="Полилиния: фигура 86"/>
            <p:cNvSpPr/>
            <p:nvPr/>
          </p:nvSpPr>
          <p:spPr>
            <a:xfrm>
              <a:off x="531000" y="1198440"/>
              <a:ext cx="74880" cy="7488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74880"/>
                <a:gd name="textAreaBottom" fmla="*/ 75240 h 74880"/>
              </a:gdLst>
              <a:ahLst/>
              <a:rect l="textAreaLeft" t="textAreaTop" r="textAreaRight" b="textAreaBottom"/>
              <a:pathLst>
                <a:path w="75357" h="75373">
                  <a:moveTo>
                    <a:pt x="64327" y="11047"/>
                  </a:moveTo>
                  <a:cubicBezTo>
                    <a:pt x="79035" y="25754"/>
                    <a:pt x="79035" y="49614"/>
                    <a:pt x="64327" y="64343"/>
                  </a:cubicBezTo>
                  <a:cubicBezTo>
                    <a:pt x="49619" y="79051"/>
                    <a:pt x="25760" y="79051"/>
                    <a:pt x="11031" y="64343"/>
                  </a:cubicBezTo>
                  <a:cubicBezTo>
                    <a:pt x="-3677" y="49635"/>
                    <a:pt x="-3677" y="25776"/>
                    <a:pt x="11031" y="11047"/>
                  </a:cubicBezTo>
                  <a:cubicBezTo>
                    <a:pt x="25760" y="-3682"/>
                    <a:pt x="49619" y="-3682"/>
                    <a:pt x="64327" y="11047"/>
                  </a:cubicBez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240" bIns="302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50" name="Полилиния: фигура 87"/>
            <p:cNvSpPr/>
            <p:nvPr/>
          </p:nvSpPr>
          <p:spPr>
            <a:xfrm>
              <a:off x="687240" y="1134000"/>
              <a:ext cx="21240" cy="12888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128880"/>
                <a:gd name="textAreaBottom" fmla="*/ 129240 h 128880"/>
              </a:gdLst>
              <a:ahLst/>
              <a:rect l="textAreaLeft" t="textAreaTop" r="textAreaRight" b="textAreaBottom"/>
              <a:pathLst>
                <a:path w="21533" h="129203">
                  <a:moveTo>
                    <a:pt x="0" y="129203"/>
                  </a:moveTo>
                  <a:lnTo>
                    <a:pt x="0" y="0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51" name="Полилиния: фигура 88"/>
            <p:cNvSpPr/>
            <p:nvPr/>
          </p:nvSpPr>
          <p:spPr>
            <a:xfrm>
              <a:off x="752040" y="1191600"/>
              <a:ext cx="21240" cy="7128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71280"/>
                <a:gd name="textAreaBottom" fmla="*/ 71640 h 71280"/>
              </a:gdLst>
              <a:ahLst/>
              <a:rect l="textAreaLeft" t="textAreaTop" r="textAreaRight" b="textAreaBottom"/>
              <a:pathLst>
                <a:path w="21533" h="71492">
                  <a:moveTo>
                    <a:pt x="0" y="71492"/>
                  </a:moveTo>
                  <a:lnTo>
                    <a:pt x="0" y="0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52" name="Полилиния: фигура 89"/>
            <p:cNvSpPr/>
            <p:nvPr/>
          </p:nvSpPr>
          <p:spPr>
            <a:xfrm>
              <a:off x="816480" y="1145880"/>
              <a:ext cx="21240" cy="11700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117000"/>
                <a:gd name="textAreaBottom" fmla="*/ 117360 h 117000"/>
              </a:gdLst>
              <a:ahLst/>
              <a:rect l="textAreaLeft" t="textAreaTop" r="textAreaRight" b="textAreaBottom"/>
              <a:pathLst>
                <a:path w="21533" h="117359">
                  <a:moveTo>
                    <a:pt x="0" y="117359"/>
                  </a:moveTo>
                  <a:lnTo>
                    <a:pt x="0" y="0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cxnSp>
        <p:nvCxnSpPr>
          <p:cNvPr id="153" name="Прямая соединительная линия 21"/>
          <p:cNvCxnSpPr/>
          <p:nvPr/>
        </p:nvCxnSpPr>
        <p:spPr>
          <a:xfrm>
            <a:off x="0" y="562320"/>
            <a:ext cx="12192120" cy="360"/>
          </a:xfrm>
          <a:prstGeom prst="straightConnector1">
            <a:avLst/>
          </a:prstGeom>
          <a:ln cap="rnd" w="6350">
            <a:solidFill>
              <a:srgbClr val="706f6f"/>
            </a:solidFill>
            <a:round/>
          </a:ln>
        </p:spPr>
      </p:cxnSp>
      <p:sp>
        <p:nvSpPr>
          <p:cNvPr id="154" name="Полилиния 29"/>
          <p:cNvSpPr/>
          <p:nvPr/>
        </p:nvSpPr>
        <p:spPr>
          <a:xfrm>
            <a:off x="11302920" y="0"/>
            <a:ext cx="888480" cy="561960"/>
          </a:xfrm>
          <a:custGeom>
            <a:avLst/>
            <a:gdLst>
              <a:gd name="textAreaLeft" fmla="*/ 0 w 888480"/>
              <a:gd name="textAreaRight" fmla="*/ 888840 w 888480"/>
              <a:gd name="textAreaTop" fmla="*/ 0 h 561960"/>
              <a:gd name="textAreaBottom" fmla="*/ 562320 h 561960"/>
            </a:gdLst>
            <a:ahLst/>
            <a:rect l="textAreaLeft" t="textAreaTop" r="textAreaRight" b="textAreaBottom"/>
            <a:pathLst>
              <a:path w="1347538" h="1001027">
                <a:moveTo>
                  <a:pt x="558263" y="0"/>
                </a:moveTo>
                <a:lnTo>
                  <a:pt x="1347538" y="0"/>
                </a:lnTo>
                <a:lnTo>
                  <a:pt x="1347538" y="1001027"/>
                </a:lnTo>
                <a:lnTo>
                  <a:pt x="0" y="1001027"/>
                </a:lnTo>
                <a:lnTo>
                  <a:pt x="558263" y="0"/>
                </a:lnTo>
                <a:close/>
              </a:path>
            </a:pathLst>
          </a:custGeom>
          <a:solidFill>
            <a:srgbClr val="706f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280" strike="noStrike" u="none">
              <a:solidFill>
                <a:schemeClr val="lt1"/>
              </a:solidFill>
              <a:uFillTx/>
              <a:latin typeface="Calibri"/>
              <a:ea typeface="Roboto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sldNum" idx="38"/>
          </p:nvPr>
        </p:nvSpPr>
        <p:spPr>
          <a:xfrm>
            <a:off x="11571120" y="138240"/>
            <a:ext cx="551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150" strike="noStrike" u="none">
                <a:solidFill>
                  <a:schemeClr val="lt1"/>
                </a:solidFill>
                <a:uFillTx/>
                <a:latin typeface="Roboto"/>
                <a:ea typeface="Roboto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15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3</a:t>
            </a:r>
            <a:endParaRPr b="0" lang="en-GB" sz="11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6" name="Прямоугольник 14"/>
          <p:cNvSpPr/>
          <p:nvPr/>
        </p:nvSpPr>
        <p:spPr>
          <a:xfrm>
            <a:off x="476280" y="1636200"/>
            <a:ext cx="3315240" cy="46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Онбординг и адаптация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Создание плана адаптации для новых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Публикация материалов для новых сотрудников и контроль ознакомления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1199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Информирование и представление новых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Рабочий процесс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1199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Умные рекомендации, интеллектуальный</a:t>
            </a:r>
            <a:br>
              <a:rPr sz="900"/>
            </a:b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поиск (</a:t>
            </a:r>
            <a:r>
              <a:rPr b="0" lang="en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HR-</a:t>
            </a: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помощник для сотрудника 24/7)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Вовлечение и мотивация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Публикация новостей и анонсов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Поиск по оргструктуре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Информирование сотрудников (благодарности, объявления, мероприятия, дни рождения)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Создание внутренних сообществ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1199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Проведение опросов удовлетворенности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Оценка и развитие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Публикация и прохождение обучения онлайн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Тестирование и проверка знаний 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Проведение оценки компетенций 360/270/180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1199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Создание индивидуальных планов развития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Увольнение и удержание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Фиксация результатов выходных интервью и анализ причин увольнения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Прямоугольник 15"/>
          <p:cNvSpPr/>
          <p:nvPr/>
        </p:nvSpPr>
        <p:spPr>
          <a:xfrm>
            <a:off x="4431960" y="1641240"/>
            <a:ext cx="3315240" cy="171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Цифровые «профили» сотрудников и организаций</a:t>
            </a:r>
            <a:br>
              <a:rPr sz="900"/>
            </a:b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Единая система для оценки и управления</a:t>
            </a:r>
            <a:br>
              <a:rPr sz="900"/>
            </a:b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сотрудниками и проектами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Учет вакансий (и их статусов) и  сотрудников</a:t>
            </a:r>
            <a:br>
              <a:rPr sz="900"/>
            </a:b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(с привязкой</a:t>
            </a:r>
            <a:r>
              <a:rPr b="0" lang="en-US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 </a:t>
            </a: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к проектам) + визуализация</a:t>
            </a:r>
            <a:br>
              <a:rPr sz="900"/>
            </a:b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для оперативного реагирования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Анализ загрузки сотрудников для выявления нехватки или избытка кадров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Визуализация: дашборды с ключевыми показателями — загрузка, статус вакансий, сотрудники (с фильтрацией</a:t>
            </a:r>
            <a:br>
              <a:rPr sz="900"/>
            </a:br>
            <a:r>
              <a:rPr b="0" lang="ru-RU" sz="900" strike="noStrike" u="none">
                <a:solidFill>
                  <a:srgbClr val="171f3e"/>
                </a:solidFill>
                <a:uFillTx/>
                <a:latin typeface="Roboto"/>
                <a:ea typeface="Roboto"/>
              </a:rPr>
              <a:t>по департаментам)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Номер слайда 4"/>
          <p:cNvSpPr/>
          <p:nvPr/>
        </p:nvSpPr>
        <p:spPr>
          <a:xfrm>
            <a:off x="9759960" y="6413040"/>
            <a:ext cx="218124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b7caf4"/>
                </a:solidFill>
                <a:uFillTx/>
                <a:latin typeface="Inter"/>
                <a:ea typeface="Inter"/>
              </a:rPr>
              <a:t>HR-</a:t>
            </a:r>
            <a:r>
              <a:rPr b="0" lang="ru-RU" sz="1100" strike="noStrike" u="none">
                <a:solidFill>
                  <a:srgbClr val="b7caf4"/>
                </a:solidFill>
                <a:uFillTx/>
                <a:latin typeface="Inter"/>
                <a:ea typeface="Inter"/>
              </a:rPr>
              <a:t>платформа</a:t>
            </a:r>
            <a:endParaRPr b="0" lang="en-GB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Прямоугольник 20"/>
          <p:cNvSpPr/>
          <p:nvPr/>
        </p:nvSpPr>
        <p:spPr>
          <a:xfrm>
            <a:off x="285840" y="105480"/>
            <a:ext cx="70578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280" strike="noStrike" u="none" cap="all">
                <a:solidFill>
                  <a:schemeClr val="lt2">
                    <a:lumMod val="25000"/>
                  </a:schemeClr>
                </a:solidFill>
                <a:uFillTx/>
                <a:latin typeface="Roboto"/>
                <a:ea typeface="Roboto"/>
              </a:rPr>
              <a:t>Сервисы</a:t>
            </a:r>
            <a:endParaRPr b="0" lang="en-GB" sz="2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0" name="Picture 8" descr="Фирменный стиль. Официальный информационный сайт Ростелеком."/>
          <p:cNvPicPr/>
          <p:nvPr/>
        </p:nvPicPr>
        <p:blipFill>
          <a:blip r:embed="rId1"/>
          <a:srcRect l="0" t="16858" r="0" b="15526"/>
          <a:stretch/>
        </p:blipFill>
        <p:spPr>
          <a:xfrm>
            <a:off x="9620280" y="91080"/>
            <a:ext cx="1604880" cy="37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Прямая соединительная линия 21"/>
          <p:cNvCxnSpPr/>
          <p:nvPr/>
        </p:nvCxnSpPr>
        <p:spPr>
          <a:xfrm>
            <a:off x="0" y="562320"/>
            <a:ext cx="12192120" cy="360"/>
          </a:xfrm>
          <a:prstGeom prst="straightConnector1">
            <a:avLst/>
          </a:prstGeom>
          <a:ln cap="rnd" w="6350">
            <a:solidFill>
              <a:srgbClr val="706f6f"/>
            </a:solidFill>
            <a:round/>
          </a:ln>
        </p:spPr>
      </p:cxnSp>
      <p:sp>
        <p:nvSpPr>
          <p:cNvPr id="162" name="Полилиния 29"/>
          <p:cNvSpPr/>
          <p:nvPr/>
        </p:nvSpPr>
        <p:spPr>
          <a:xfrm>
            <a:off x="11302920" y="0"/>
            <a:ext cx="888480" cy="561960"/>
          </a:xfrm>
          <a:custGeom>
            <a:avLst/>
            <a:gdLst>
              <a:gd name="textAreaLeft" fmla="*/ 0 w 888480"/>
              <a:gd name="textAreaRight" fmla="*/ 888840 w 888480"/>
              <a:gd name="textAreaTop" fmla="*/ 0 h 561960"/>
              <a:gd name="textAreaBottom" fmla="*/ 562320 h 561960"/>
            </a:gdLst>
            <a:ahLst/>
            <a:rect l="textAreaLeft" t="textAreaTop" r="textAreaRight" b="textAreaBottom"/>
            <a:pathLst>
              <a:path w="1347538" h="1001027">
                <a:moveTo>
                  <a:pt x="558263" y="0"/>
                </a:moveTo>
                <a:lnTo>
                  <a:pt x="1347538" y="0"/>
                </a:lnTo>
                <a:lnTo>
                  <a:pt x="1347538" y="1001027"/>
                </a:lnTo>
                <a:lnTo>
                  <a:pt x="0" y="1001027"/>
                </a:lnTo>
                <a:lnTo>
                  <a:pt x="558263" y="0"/>
                </a:lnTo>
                <a:close/>
              </a:path>
            </a:pathLst>
          </a:custGeom>
          <a:solidFill>
            <a:srgbClr val="706f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280" strike="noStrike" u="none">
              <a:solidFill>
                <a:schemeClr val="lt1"/>
              </a:solidFill>
              <a:uFillTx/>
              <a:latin typeface="Calibri"/>
              <a:ea typeface="Roboto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sldNum" idx="39"/>
          </p:nvPr>
        </p:nvSpPr>
        <p:spPr>
          <a:xfrm>
            <a:off x="11571120" y="138240"/>
            <a:ext cx="551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150" strike="noStrike" u="none">
                <a:solidFill>
                  <a:schemeClr val="lt1"/>
                </a:solidFill>
                <a:uFillTx/>
                <a:latin typeface="Roboto"/>
                <a:ea typeface="Roboto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ru-RU" sz="115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4</a:t>
            </a:r>
            <a:endParaRPr b="0" lang="en-GB" sz="11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4" name="Прямоугольник 20"/>
          <p:cNvSpPr/>
          <p:nvPr/>
        </p:nvSpPr>
        <p:spPr>
          <a:xfrm>
            <a:off x="285840" y="105480"/>
            <a:ext cx="70578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280" strike="noStrike" u="none" cap="all">
                <a:solidFill>
                  <a:schemeClr val="lt2">
                    <a:lumMod val="25000"/>
                  </a:schemeClr>
                </a:solidFill>
                <a:uFillTx/>
                <a:latin typeface="Roboto"/>
                <a:ea typeface="Roboto"/>
              </a:rPr>
              <a:t>БЮДЖЕТ И КОМАНДА 2025</a:t>
            </a:r>
            <a:endParaRPr b="0" lang="en-GB" sz="2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5" name="Picture 8" descr="Фирменный стиль. Официальный информационный сайт Ростелеком."/>
          <p:cNvPicPr/>
          <p:nvPr/>
        </p:nvPicPr>
        <p:blipFill>
          <a:blip r:embed="rId1"/>
          <a:srcRect l="0" t="16858" r="0" b="15526"/>
          <a:stretch/>
        </p:blipFill>
        <p:spPr>
          <a:xfrm>
            <a:off x="9620280" y="91080"/>
            <a:ext cx="1604880" cy="3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Прямоугольник: скругленные углы 32"/>
          <p:cNvSpPr/>
          <p:nvPr/>
        </p:nvSpPr>
        <p:spPr>
          <a:xfrm>
            <a:off x="266760" y="4272120"/>
            <a:ext cx="3311640" cy="521280"/>
          </a:xfrm>
          <a:prstGeom prst="roundRect">
            <a:avLst>
              <a:gd name="adj" fmla="val 17321"/>
            </a:avLst>
          </a:prstGeom>
          <a:noFill/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1e2340"/>
                </a:solidFill>
                <a:uFillTx/>
                <a:latin typeface="Roboto Medium"/>
                <a:ea typeface="Roboto Medium"/>
              </a:rPr>
              <a:t>Аппарат Правительства – Координатор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1e2340"/>
                </a:solidFill>
                <a:uFillTx/>
                <a:latin typeface="Roboto Medium"/>
                <a:ea typeface="Roboto Medium"/>
              </a:rPr>
              <a:t>Минтруд – Методолог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Прямоугольник: скругленные углы 51"/>
          <p:cNvSpPr/>
          <p:nvPr/>
        </p:nvSpPr>
        <p:spPr>
          <a:xfrm>
            <a:off x="3807360" y="4975560"/>
            <a:ext cx="1907640" cy="521640"/>
          </a:xfrm>
          <a:prstGeom prst="roundRect">
            <a:avLst>
              <a:gd name="adj" fmla="val 20972"/>
            </a:avLst>
          </a:prstGeom>
          <a:noFill/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grpSp>
        <p:nvGrpSpPr>
          <p:cNvPr id="168" name="Группа 128"/>
          <p:cNvGrpSpPr/>
          <p:nvPr/>
        </p:nvGrpSpPr>
        <p:grpSpPr>
          <a:xfrm>
            <a:off x="3952080" y="5097960"/>
            <a:ext cx="1618560" cy="275400"/>
            <a:chOff x="3952080" y="5097960"/>
            <a:chExt cx="1618560" cy="275400"/>
          </a:xfrm>
        </p:grpSpPr>
        <p:pic>
          <p:nvPicPr>
            <p:cNvPr id="169" name="Рисунок 42" descr=""/>
            <p:cNvPicPr/>
            <p:nvPr/>
          </p:nvPicPr>
          <p:blipFill>
            <a:blip r:embed="rId2"/>
            <a:stretch/>
          </p:blipFill>
          <p:spPr>
            <a:xfrm>
              <a:off x="3952080" y="5184720"/>
              <a:ext cx="672480" cy="103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0" name="Прямоугольник 57"/>
            <p:cNvSpPr/>
            <p:nvPr/>
          </p:nvSpPr>
          <p:spPr>
            <a:xfrm>
              <a:off x="4751280" y="5097960"/>
              <a:ext cx="81936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  <a:spcAft>
                  <a:spcPts val="428"/>
                </a:spcAft>
              </a:pPr>
              <a:r>
                <a:rPr b="0" lang="ru-RU" sz="900" strike="noStrike" u="none">
                  <a:solidFill>
                    <a:srgbClr val="1e2340"/>
                  </a:solidFill>
                  <a:uFillTx/>
                  <a:latin typeface="Roboto Medium"/>
                  <a:ea typeface="Roboto Medium"/>
                </a:rPr>
                <a:t>Координатор </a:t>
              </a:r>
              <a:br>
                <a:rPr sz="900"/>
              </a:br>
              <a:r>
                <a:rPr b="0" lang="ru-RU" sz="900" strike="noStrike" u="none">
                  <a:solidFill>
                    <a:srgbClr val="1e2340"/>
                  </a:solidFill>
                  <a:uFillTx/>
                  <a:latin typeface="Roboto Medium"/>
                  <a:ea typeface="Roboto Medium"/>
                </a:rPr>
                <a:t>ФКУ «ГосТех»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71" name="Прямоугольник: скругленные углы 42"/>
          <p:cNvSpPr/>
          <p:nvPr/>
        </p:nvSpPr>
        <p:spPr>
          <a:xfrm>
            <a:off x="238320" y="5679360"/>
            <a:ext cx="3311640" cy="521640"/>
          </a:xfrm>
          <a:prstGeom prst="roundRect">
            <a:avLst>
              <a:gd name="adj" fmla="val 20972"/>
            </a:avLst>
          </a:prstGeom>
          <a:noFill/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76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1e2340"/>
                </a:solidFill>
                <a:uFillTx/>
                <a:latin typeface="Roboto Medium"/>
                <a:ea typeface="Roboto Medium"/>
              </a:rPr>
              <a:t>ГРБС и технический заказчик Минцифры РФ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1e2340"/>
                </a:solidFill>
                <a:uFillTx/>
                <a:latin typeface="Roboto Medium"/>
                <a:ea typeface="Roboto Medium"/>
              </a:rPr>
              <a:t>Филатов Е.В. - Курирующий Замминистра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2" name="Рисунок 3" descr="Рисунок 3"/>
          <p:cNvPicPr/>
          <p:nvPr/>
        </p:nvPicPr>
        <p:blipFill>
          <a:blip r:embed="rId3"/>
          <a:srcRect l="2427" t="9711" r="84590" b="22439"/>
          <a:stretch/>
        </p:blipFill>
        <p:spPr>
          <a:xfrm>
            <a:off x="425880" y="5769720"/>
            <a:ext cx="298080" cy="29592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73" name="Скругленный прямоугольник 296"/>
          <p:cNvSpPr/>
          <p:nvPr/>
        </p:nvSpPr>
        <p:spPr>
          <a:xfrm>
            <a:off x="9104040" y="989280"/>
            <a:ext cx="2742480" cy="2087640"/>
          </a:xfrm>
          <a:prstGeom prst="roundRect">
            <a:avLst>
              <a:gd name="adj" fmla="val 9539"/>
            </a:avLst>
          </a:prstGeom>
          <a:solidFill>
            <a:srgbClr val="4525ff">
              <a:alpha val="3000"/>
            </a:srgbClr>
          </a:solidFill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4" name="Прямоугольник 76"/>
          <p:cNvSpPr/>
          <p:nvPr/>
        </p:nvSpPr>
        <p:spPr>
          <a:xfrm>
            <a:off x="9263880" y="1118160"/>
            <a:ext cx="21481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12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Эксплуатация 2026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TextBox 34"/>
          <p:cNvSpPr/>
          <p:nvPr/>
        </p:nvSpPr>
        <p:spPr>
          <a:xfrm>
            <a:off x="9263880" y="2723760"/>
            <a:ext cx="11530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28"/>
              </a:spcAft>
              <a:tabLst>
                <a:tab algn="l" pos="0"/>
              </a:tabLst>
            </a:pPr>
            <a:r>
              <a:rPr b="0" lang="en-US" sz="12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60.9</a:t>
            </a:r>
            <a:r>
              <a:rPr b="0" lang="ru-RU" sz="12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 млн </a:t>
            </a:r>
            <a:r>
              <a:rPr b="0" lang="ru-RU" sz="1200" strike="noStrike" u="none">
                <a:solidFill>
                  <a:srgbClr val="4525ff"/>
                </a:solidFill>
                <a:uFillTx/>
                <a:latin typeface="Tilda Sans Bold"/>
                <a:ea typeface="Roboto Medium"/>
              </a:rPr>
              <a:t>₽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6" name="Рисунок 44" descr=""/>
          <p:cNvPicPr/>
          <p:nvPr/>
        </p:nvPicPr>
        <p:blipFill>
          <a:blip r:embed="rId4"/>
          <a:stretch/>
        </p:blipFill>
        <p:spPr>
          <a:xfrm>
            <a:off x="9298080" y="4345560"/>
            <a:ext cx="38556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Прямоугольник: скругленные углы 65"/>
          <p:cNvSpPr/>
          <p:nvPr/>
        </p:nvSpPr>
        <p:spPr>
          <a:xfrm>
            <a:off x="9104040" y="4106520"/>
            <a:ext cx="2742480" cy="647640"/>
          </a:xfrm>
          <a:prstGeom prst="roundRect">
            <a:avLst>
              <a:gd name="adj" fmla="val 20972"/>
            </a:avLst>
          </a:prstGeom>
          <a:noFill/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8" name="Прямоугольник 95"/>
          <p:cNvSpPr/>
          <p:nvPr/>
        </p:nvSpPr>
        <p:spPr>
          <a:xfrm>
            <a:off x="9837360" y="4291920"/>
            <a:ext cx="1145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rgbClr val="1e2340"/>
                </a:solidFill>
                <a:uFillTx/>
                <a:latin typeface="Inter SemiBold"/>
                <a:ea typeface="Inter SemiBold"/>
              </a:rPr>
              <a:t>АО «РТ Лабс»</a:t>
            </a:r>
            <a:br>
              <a:rPr sz="900"/>
            </a:br>
            <a:r>
              <a:rPr b="0" lang="ru-RU" sz="900" strike="noStrike" u="none">
                <a:solidFill>
                  <a:srgbClr val="1e2340"/>
                </a:solidFill>
                <a:uFillTx/>
                <a:latin typeface="Inter SemiBold"/>
                <a:ea typeface="Inter SemiBold"/>
              </a:rPr>
              <a:t>(ДЗО Ростелеком)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Прямоугольник 96"/>
          <p:cNvSpPr/>
          <p:nvPr/>
        </p:nvSpPr>
        <p:spPr>
          <a:xfrm>
            <a:off x="11121120" y="4361040"/>
            <a:ext cx="5565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20 млн </a:t>
            </a:r>
            <a:r>
              <a:rPr b="0" lang="ru-RU" sz="900" strike="noStrike" u="none">
                <a:solidFill>
                  <a:srgbClr val="4525ff"/>
                </a:solidFill>
                <a:uFillTx/>
                <a:latin typeface="Tilda Sans Bold"/>
                <a:ea typeface="Roboto Medium"/>
              </a:rPr>
              <a:t>₽ 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0" name="Рисунок 45" descr=""/>
          <p:cNvPicPr/>
          <p:nvPr/>
        </p:nvPicPr>
        <p:blipFill>
          <a:blip r:embed="rId5"/>
          <a:stretch/>
        </p:blipFill>
        <p:spPr>
          <a:xfrm>
            <a:off x="9307800" y="5065920"/>
            <a:ext cx="317520" cy="31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Прямоугольник: скругленные углы 68"/>
          <p:cNvSpPr/>
          <p:nvPr/>
        </p:nvSpPr>
        <p:spPr>
          <a:xfrm>
            <a:off x="9104040" y="4901040"/>
            <a:ext cx="2742480" cy="647640"/>
          </a:xfrm>
          <a:prstGeom prst="roundRect">
            <a:avLst>
              <a:gd name="adj" fmla="val 20972"/>
            </a:avLst>
          </a:prstGeom>
          <a:noFill/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82" name="Прямоугольник 100"/>
          <p:cNvSpPr/>
          <p:nvPr/>
        </p:nvSpPr>
        <p:spPr>
          <a:xfrm>
            <a:off x="9847080" y="5086440"/>
            <a:ext cx="1145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rgbClr val="1e2340"/>
                </a:solidFill>
                <a:uFillTx/>
                <a:latin typeface="Inter SemiBold"/>
                <a:ea typeface="Inter SemiBold"/>
              </a:rPr>
              <a:t>ООО «Простые Коммуникации» 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Прямоугольник 101"/>
          <p:cNvSpPr/>
          <p:nvPr/>
        </p:nvSpPr>
        <p:spPr>
          <a:xfrm>
            <a:off x="11130840" y="5155560"/>
            <a:ext cx="5565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215 млн </a:t>
            </a:r>
            <a:r>
              <a:rPr b="0" lang="ru-RU" sz="900" strike="noStrike" u="none">
                <a:solidFill>
                  <a:srgbClr val="4525ff"/>
                </a:solidFill>
                <a:uFillTx/>
                <a:latin typeface="Tilda Sans Bold"/>
                <a:ea typeface="Roboto Medium"/>
              </a:rPr>
              <a:t>₽ 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Прямоугольник: скругленные углы 65"/>
          <p:cNvSpPr/>
          <p:nvPr/>
        </p:nvSpPr>
        <p:spPr>
          <a:xfrm>
            <a:off x="9104040" y="5695560"/>
            <a:ext cx="2742480" cy="647640"/>
          </a:xfrm>
          <a:prstGeom prst="roundRect">
            <a:avLst>
              <a:gd name="adj" fmla="val 20972"/>
            </a:avLst>
          </a:prstGeom>
          <a:noFill/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85" name="Прямоугольник 105"/>
          <p:cNvSpPr/>
          <p:nvPr/>
        </p:nvSpPr>
        <p:spPr>
          <a:xfrm>
            <a:off x="9863640" y="5880960"/>
            <a:ext cx="1145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1e2340"/>
                </a:solidFill>
                <a:uFillTx/>
                <a:latin typeface="Inter SemiBold"/>
                <a:ea typeface="Inter SemiBold"/>
              </a:rPr>
              <a:t>ООО  «РТК-ИБ»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1e2340"/>
                </a:solidFill>
                <a:uFillTx/>
                <a:latin typeface="Inter SemiBold"/>
                <a:ea typeface="Inter SemiBold"/>
              </a:rPr>
              <a:t>(ДЗО Ростелеком)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Прямоугольник 106"/>
          <p:cNvSpPr/>
          <p:nvPr/>
        </p:nvSpPr>
        <p:spPr>
          <a:xfrm>
            <a:off x="11147400" y="5950080"/>
            <a:ext cx="5565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8 млн </a:t>
            </a:r>
            <a:r>
              <a:rPr b="0" lang="ru-RU" sz="900" strike="noStrike" u="none">
                <a:solidFill>
                  <a:srgbClr val="4525ff"/>
                </a:solidFill>
                <a:uFillTx/>
                <a:latin typeface="Tilda Sans Bold"/>
                <a:ea typeface="Roboto Medium"/>
              </a:rPr>
              <a:t>₽</a:t>
            </a: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 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87" name="Группа 6"/>
          <p:cNvGrpSpPr/>
          <p:nvPr/>
        </p:nvGrpSpPr>
        <p:grpSpPr>
          <a:xfrm>
            <a:off x="986760" y="962280"/>
            <a:ext cx="2591640" cy="2087640"/>
            <a:chOff x="986760" y="962280"/>
            <a:chExt cx="2591640" cy="2087640"/>
          </a:xfrm>
        </p:grpSpPr>
        <p:sp>
          <p:nvSpPr>
            <p:cNvPr id="188" name="Прямоугольник с двумя скругленными противолежащими углами 303"/>
            <p:cNvSpPr/>
            <p:nvPr/>
          </p:nvSpPr>
          <p:spPr>
            <a:xfrm>
              <a:off x="986760" y="962280"/>
              <a:ext cx="2591640" cy="2087640"/>
            </a:xfrm>
            <a:prstGeom prst="roundRect">
              <a:avLst>
                <a:gd name="adj" fmla="val 9223"/>
              </a:avLst>
            </a:prstGeom>
            <a:solidFill>
              <a:srgbClr val="4525ff">
                <a:alpha val="3000"/>
              </a:srgbClr>
            </a:solidFill>
            <a:ln>
              <a:solidFill>
                <a:srgbClr val="4525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189" name="Прямоугольник 84"/>
            <p:cNvSpPr/>
            <p:nvPr/>
          </p:nvSpPr>
          <p:spPr>
            <a:xfrm>
              <a:off x="1142280" y="1607400"/>
              <a:ext cx="2153160" cy="97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44000" indent="-144000" defTabSz="914400">
                <a:lnSpc>
                  <a:spcPct val="100000"/>
                </a:lnSpc>
                <a:spcAft>
                  <a:spcPts val="400"/>
                </a:spcAft>
                <a:buClr>
                  <a:srgbClr val="7700ff"/>
                </a:buClr>
                <a:buFont typeface="Arial"/>
                <a:buChar char="•"/>
              </a:pPr>
              <a:r>
                <a:rPr b="0" lang="ru-RU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Онбординг и адаптация  25.1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144000" indent="-144000" defTabSz="914400">
                <a:lnSpc>
                  <a:spcPct val="100000"/>
                </a:lnSpc>
                <a:spcAft>
                  <a:spcPts val="400"/>
                </a:spcAft>
                <a:buClr>
                  <a:srgbClr val="7700ff"/>
                </a:buClr>
                <a:buFont typeface="Arial"/>
                <a:buChar char="•"/>
              </a:pPr>
              <a:r>
                <a:rPr b="0" lang="en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HR-</a:t>
              </a:r>
              <a:r>
                <a:rPr b="0" lang="ru-RU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помощник 25.1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144000" indent="-144000" defTabSz="914400">
                <a:lnSpc>
                  <a:spcPct val="100000"/>
                </a:lnSpc>
                <a:spcAft>
                  <a:spcPts val="400"/>
                </a:spcAft>
                <a:buClr>
                  <a:srgbClr val="7700ff"/>
                </a:buClr>
                <a:buFont typeface="Arial"/>
                <a:buChar char="•"/>
              </a:pPr>
              <a:r>
                <a:rPr b="0" lang="ru-RU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Вовлечение и удержание</a:t>
              </a:r>
              <a:br>
                <a:rPr sz="900"/>
              </a:br>
              <a:r>
                <a:rPr b="0" lang="ru-RU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(корп портал,</a:t>
              </a:r>
              <a:br>
                <a:rPr sz="900"/>
              </a:br>
              <a:r>
                <a:rPr b="0" lang="ru-RU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обратная связь)  87.8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144000" indent="-144000" defTabSz="914400">
                <a:lnSpc>
                  <a:spcPct val="100000"/>
                </a:lnSpc>
                <a:spcAft>
                  <a:spcPts val="400"/>
                </a:spcAft>
                <a:buClr>
                  <a:srgbClr val="7700ff"/>
                </a:buClr>
                <a:buFont typeface="Arial"/>
                <a:buChar char="•"/>
              </a:pPr>
              <a:r>
                <a:rPr b="0" lang="ru-RU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Оценка и развитие 50.2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0" name="TextBox 34"/>
            <p:cNvSpPr/>
            <p:nvPr/>
          </p:nvSpPr>
          <p:spPr>
            <a:xfrm>
              <a:off x="1142280" y="2712960"/>
              <a:ext cx="131868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  <a:spcAft>
                  <a:spcPts val="428"/>
                </a:spcAft>
              </a:pPr>
              <a:r>
                <a:rPr b="0" lang="ru-RU" sz="1200" strike="noStrike" u="none">
                  <a:solidFill>
                    <a:srgbClr val="4525ff"/>
                  </a:solidFill>
                  <a:uFillTx/>
                  <a:latin typeface="Roboto Medium"/>
                  <a:ea typeface="Roboto Medium"/>
                </a:rPr>
                <a:t>188.2 млн </a:t>
              </a:r>
              <a:r>
                <a:rPr b="0" lang="ru-RU" sz="1200" strike="noStrike" u="none">
                  <a:solidFill>
                    <a:srgbClr val="4525ff"/>
                  </a:solidFill>
                  <a:uFillTx/>
                  <a:latin typeface="Tilda Sans Bold"/>
                  <a:ea typeface="Roboto Medium"/>
                </a:rPr>
                <a:t>₽</a:t>
              </a:r>
              <a:r>
                <a:rPr b="0" lang="ru-RU" sz="1200" strike="noStrike" u="none">
                  <a:solidFill>
                    <a:srgbClr val="4525ff"/>
                  </a:solidFill>
                  <a:uFillTx/>
                  <a:latin typeface="Roboto Medium"/>
                  <a:ea typeface="Roboto Medium"/>
                </a:rPr>
                <a:t> 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1" name="Прямоугольник с двумя скругленными противолежащими углами 303"/>
            <p:cNvSpPr/>
            <p:nvPr/>
          </p:nvSpPr>
          <p:spPr>
            <a:xfrm>
              <a:off x="1142280" y="1107360"/>
              <a:ext cx="385200" cy="369720"/>
            </a:xfrm>
            <a:prstGeom prst="roundRect">
              <a:avLst>
                <a:gd name="adj" fmla="val 17954"/>
              </a:avLst>
            </a:prstGeom>
            <a:solidFill>
              <a:srgbClr val="452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1050" strike="noStrike" u="none">
                  <a:solidFill>
                    <a:schemeClr val="lt1"/>
                  </a:solidFill>
                  <a:uFillTx/>
                  <a:latin typeface="Roboto Black"/>
                  <a:ea typeface="Roboto Black"/>
                </a:rPr>
                <a:t>01</a:t>
              </a:r>
              <a:endParaRPr b="0" lang="en-GB" sz="105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92" name="Прямоугольник 108"/>
            <p:cNvSpPr/>
            <p:nvPr/>
          </p:nvSpPr>
          <p:spPr>
            <a:xfrm>
              <a:off x="1627560" y="1107720"/>
              <a:ext cx="1299240" cy="36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  <a:spcAft>
                  <a:spcPts val="428"/>
                </a:spcAft>
              </a:pPr>
              <a:r>
                <a:rPr b="0" lang="ru-RU" sz="1200" strike="noStrike" u="none">
                  <a:solidFill>
                    <a:srgbClr val="4525ff"/>
                  </a:solidFill>
                  <a:uFillTx/>
                  <a:latin typeface="Roboto Medium"/>
                  <a:ea typeface="Roboto Medium"/>
                </a:rPr>
                <a:t>Корп.портал +</a:t>
              </a:r>
              <a:br>
                <a:rPr sz="1200"/>
              </a:br>
              <a:r>
                <a:rPr b="0" lang="en" sz="1200" strike="noStrike" u="none">
                  <a:solidFill>
                    <a:srgbClr val="4525ff"/>
                  </a:solidFill>
                  <a:uFillTx/>
                  <a:latin typeface="Roboto Medium"/>
                  <a:ea typeface="Roboto Medium"/>
                </a:rPr>
                <a:t>HR </a:t>
              </a:r>
              <a:r>
                <a:rPr b="0" lang="ru-RU" sz="1200" strike="noStrike" u="none">
                  <a:solidFill>
                    <a:srgbClr val="4525ff"/>
                  </a:solidFill>
                  <a:uFillTx/>
                  <a:latin typeface="Roboto Medium"/>
                  <a:ea typeface="Roboto Medium"/>
                </a:rPr>
                <a:t>сервисы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93" name="Группа 26"/>
          <p:cNvGrpSpPr/>
          <p:nvPr/>
        </p:nvGrpSpPr>
        <p:grpSpPr>
          <a:xfrm>
            <a:off x="5570640" y="976320"/>
            <a:ext cx="2591640" cy="2087640"/>
            <a:chOff x="5570640" y="976320"/>
            <a:chExt cx="2591640" cy="2087640"/>
          </a:xfrm>
        </p:grpSpPr>
        <p:sp>
          <p:nvSpPr>
            <p:cNvPr id="194" name="Прямоугольник с двумя скругленными противолежащими углами 307"/>
            <p:cNvSpPr/>
            <p:nvPr/>
          </p:nvSpPr>
          <p:spPr>
            <a:xfrm>
              <a:off x="5570640" y="976320"/>
              <a:ext cx="2591640" cy="2087640"/>
            </a:xfrm>
            <a:prstGeom prst="roundRect">
              <a:avLst>
                <a:gd name="adj" fmla="val 7908"/>
              </a:avLst>
            </a:prstGeom>
            <a:solidFill>
              <a:srgbClr val="4525ff">
                <a:alpha val="3000"/>
              </a:srgbClr>
            </a:solidFill>
            <a:ln>
              <a:solidFill>
                <a:srgbClr val="4525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195" name="Прямоугольник 88"/>
            <p:cNvSpPr/>
            <p:nvPr/>
          </p:nvSpPr>
          <p:spPr>
            <a:xfrm>
              <a:off x="5726160" y="1621440"/>
              <a:ext cx="2301120" cy="97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44000" indent="-144000" defTabSz="914400">
                <a:lnSpc>
                  <a:spcPct val="100000"/>
                </a:lnSpc>
                <a:spcAft>
                  <a:spcPts val="400"/>
                </a:spcAft>
                <a:buClr>
                  <a:srgbClr val="7700ff"/>
                </a:buClr>
                <a:buFont typeface="Arial"/>
                <a:buChar char="•"/>
              </a:pPr>
              <a:r>
                <a:rPr b="0" lang="ru-RU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2.1 Проектный учет 12.5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144000" indent="-144000" defTabSz="914400">
                <a:lnSpc>
                  <a:spcPct val="100000"/>
                </a:lnSpc>
                <a:spcAft>
                  <a:spcPts val="400"/>
                </a:spcAft>
                <a:buClr>
                  <a:srgbClr val="7700ff"/>
                </a:buClr>
                <a:buFont typeface="Arial"/>
                <a:buChar char="•"/>
              </a:pPr>
              <a:r>
                <a:rPr b="0" lang="ru-RU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2.2 Цифровой профиль</a:t>
              </a:r>
              <a:br>
                <a:rPr sz="900"/>
              </a:br>
              <a:r>
                <a:rPr b="0" lang="ru-RU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госслужащего 43.9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144000" indent="-144000" defTabSz="914400">
                <a:lnSpc>
                  <a:spcPct val="100000"/>
                </a:lnSpc>
                <a:spcAft>
                  <a:spcPts val="400"/>
                </a:spcAft>
                <a:buClr>
                  <a:srgbClr val="7700ff"/>
                </a:buClr>
                <a:buFont typeface="Arial"/>
                <a:buChar char="•"/>
              </a:pPr>
              <a:r>
                <a:rPr b="0" lang="ru-RU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2.3 Цифровой профиль ведомства,</a:t>
              </a:r>
              <a:br>
                <a:rPr sz="900"/>
              </a:br>
              <a:r>
                <a:rPr b="0" lang="ru-RU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ЛК Руководителя 37.6 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144000" indent="-144000" defTabSz="914400">
                <a:lnSpc>
                  <a:spcPct val="100000"/>
                </a:lnSpc>
                <a:spcAft>
                  <a:spcPts val="400"/>
                </a:spcAft>
                <a:buClr>
                  <a:srgbClr val="7700ff"/>
                </a:buClr>
                <a:buFont typeface="Arial"/>
                <a:buChar char="•"/>
              </a:pPr>
              <a:r>
                <a:rPr b="0" lang="ru-RU" sz="900" strike="noStrike" u="none">
                  <a:solidFill>
                    <a:srgbClr val="171f3e"/>
                  </a:solidFill>
                  <a:uFillTx/>
                  <a:latin typeface="Roboto"/>
                  <a:ea typeface="Roboto"/>
                </a:rPr>
                <a:t>2.4  Удержание сотрудников 12.5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6" name="TextBox 34"/>
            <p:cNvSpPr/>
            <p:nvPr/>
          </p:nvSpPr>
          <p:spPr>
            <a:xfrm>
              <a:off x="5726160" y="2727000"/>
              <a:ext cx="131868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  <a:spcAft>
                  <a:spcPts val="428"/>
                </a:spcAft>
              </a:pPr>
              <a:r>
                <a:rPr b="0" lang="ru-RU" sz="1200" strike="noStrike" u="none">
                  <a:solidFill>
                    <a:srgbClr val="4525ff"/>
                  </a:solidFill>
                  <a:uFillTx/>
                  <a:latin typeface="Roboto Medium"/>
                  <a:ea typeface="Roboto Medium"/>
                </a:rPr>
                <a:t>106.6 млн </a:t>
              </a:r>
              <a:r>
                <a:rPr b="0" lang="ru-RU" sz="1200" strike="noStrike" u="none">
                  <a:solidFill>
                    <a:srgbClr val="4525ff"/>
                  </a:solidFill>
                  <a:uFillTx/>
                  <a:latin typeface="Tilda Sans Bold"/>
                  <a:ea typeface="Roboto Medium"/>
                </a:rPr>
                <a:t>₽</a:t>
              </a:r>
              <a:r>
                <a:rPr b="0" lang="ru-RU" sz="1200" strike="noStrike" u="none">
                  <a:solidFill>
                    <a:srgbClr val="4525ff"/>
                  </a:solidFill>
                  <a:uFillTx/>
                  <a:latin typeface="Roboto Medium"/>
                  <a:ea typeface="Roboto Medium"/>
                </a:rPr>
                <a:t> 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7" name="Прямоугольник с двумя скругленными противолежащими углами 303"/>
            <p:cNvSpPr/>
            <p:nvPr/>
          </p:nvSpPr>
          <p:spPr>
            <a:xfrm>
              <a:off x="5726160" y="1121400"/>
              <a:ext cx="385200" cy="369720"/>
            </a:xfrm>
            <a:prstGeom prst="roundRect">
              <a:avLst>
                <a:gd name="adj" fmla="val 17954"/>
              </a:avLst>
            </a:prstGeom>
            <a:solidFill>
              <a:srgbClr val="452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ru-RU" sz="1050" strike="noStrike" u="none">
                  <a:solidFill>
                    <a:schemeClr val="lt1"/>
                  </a:solidFill>
                  <a:uFillTx/>
                  <a:latin typeface="Roboto Black"/>
                  <a:ea typeface="Roboto Black"/>
                </a:rPr>
                <a:t>02</a:t>
              </a:r>
              <a:endParaRPr b="0" lang="en-GB" sz="105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98" name="Прямоугольник 110"/>
            <p:cNvSpPr/>
            <p:nvPr/>
          </p:nvSpPr>
          <p:spPr>
            <a:xfrm>
              <a:off x="6211440" y="1121400"/>
              <a:ext cx="1721160" cy="36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  <a:spcAft>
                  <a:spcPts val="428"/>
                </a:spcAft>
              </a:pPr>
              <a:r>
                <a:rPr b="0" lang="ru-RU" sz="1200" strike="noStrike" u="none">
                  <a:solidFill>
                    <a:srgbClr val="4525ff"/>
                  </a:solidFill>
                  <a:uFillTx/>
                  <a:latin typeface="Roboto Medium"/>
                  <a:ea typeface="Roboto Medium"/>
                </a:rPr>
                <a:t>Кадровая аналитика</a:t>
              </a:r>
              <a:br>
                <a:rPr sz="1200"/>
              </a:br>
              <a:r>
                <a:rPr b="0" lang="ru-RU" sz="1200" strike="noStrike" u="none">
                  <a:solidFill>
                    <a:srgbClr val="4525ff"/>
                  </a:solidFill>
                  <a:uFillTx/>
                  <a:latin typeface="Roboto Medium"/>
                  <a:ea typeface="Roboto Medium"/>
                </a:rPr>
                <a:t>и проектный учет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cxnSp>
        <p:nvCxnSpPr>
          <p:cNvPr id="199" name="Соединитель: уступ 12"/>
          <p:cNvCxnSpPr>
            <a:stCxn id="188" idx="2"/>
            <a:endCxn id="194" idx="2"/>
          </p:cNvCxnSpPr>
          <p:nvPr/>
        </p:nvCxnSpPr>
        <p:spPr>
          <a:xfrm flipH="1" rot="16200000">
            <a:off x="4567320" y="764640"/>
            <a:ext cx="14400" cy="4584240"/>
          </a:xfrm>
          <a:prstGeom prst="bentConnector3">
            <a:avLst>
              <a:gd name="adj1" fmla="val 1730769"/>
            </a:avLst>
          </a:prstGeom>
          <a:ln>
            <a:solidFill>
              <a:srgbClr val="4525ff"/>
            </a:solidFill>
          </a:ln>
        </p:spPr>
      </p:cxnSp>
      <p:sp>
        <p:nvSpPr>
          <p:cNvPr id="200" name="Прямоугольник с двумя скругленными соседними углами 5"/>
          <p:cNvSpPr/>
          <p:nvPr/>
        </p:nvSpPr>
        <p:spPr>
          <a:xfrm>
            <a:off x="3234600" y="3267000"/>
            <a:ext cx="2591640" cy="511560"/>
          </a:xfrm>
          <a:prstGeom prst="roundRect">
            <a:avLst>
              <a:gd name="adj" fmla="val 16667"/>
            </a:avLst>
          </a:prstGeom>
          <a:solidFill>
            <a:srgbClr val="452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Roboto Black"/>
                <a:ea typeface="Roboto Black"/>
              </a:rPr>
              <a:t>304</a:t>
            </a:r>
            <a:r>
              <a:rPr b="0" lang="en-US" sz="1600" strike="noStrike" u="none">
                <a:solidFill>
                  <a:schemeClr val="lt1"/>
                </a:solidFill>
                <a:uFillTx/>
                <a:latin typeface="Roboto Black"/>
                <a:ea typeface="Roboto Black"/>
              </a:rPr>
              <a:t>.8</a:t>
            </a:r>
            <a:r>
              <a:rPr b="0" lang="ru-RU" sz="1600" strike="noStrike" u="none">
                <a:solidFill>
                  <a:schemeClr val="lt1"/>
                </a:solidFill>
                <a:uFillTx/>
                <a:latin typeface="Roboto Black"/>
                <a:ea typeface="Roboto Black"/>
              </a:rPr>
              <a:t> млн </a:t>
            </a:r>
            <a:r>
              <a:rPr b="0" lang="ru-RU" sz="1800" strike="noStrike" u="none">
                <a:solidFill>
                  <a:schemeClr val="lt1"/>
                </a:solidFill>
                <a:uFillTx/>
                <a:latin typeface="Tilda Sans Bold"/>
                <a:ea typeface="Roboto Black"/>
              </a:rPr>
              <a:t>₽</a:t>
            </a:r>
            <a:r>
              <a:rPr b="0" lang="ru-RU" sz="1600" strike="noStrike" u="none">
                <a:solidFill>
                  <a:schemeClr val="lt1"/>
                </a:solidFill>
                <a:uFillTx/>
                <a:latin typeface="Roboto Black"/>
                <a:ea typeface="Roboto Black"/>
              </a:rPr>
              <a:t> </a:t>
            </a:r>
            <a:endParaRPr b="0" lang="en-GB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01" name="Рисунок 43" descr=""/>
          <p:cNvPicPr/>
          <p:nvPr/>
        </p:nvPicPr>
        <p:blipFill>
          <a:blip r:embed="rId6"/>
          <a:stretch/>
        </p:blipFill>
        <p:spPr>
          <a:xfrm>
            <a:off x="6142320" y="5077800"/>
            <a:ext cx="219600" cy="3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Прямоугольник: скругленные углы 56"/>
          <p:cNvSpPr/>
          <p:nvPr/>
        </p:nvSpPr>
        <p:spPr>
          <a:xfrm>
            <a:off x="5972760" y="4975560"/>
            <a:ext cx="2591640" cy="521640"/>
          </a:xfrm>
          <a:prstGeom prst="roundRect">
            <a:avLst>
              <a:gd name="adj" fmla="val 20972"/>
            </a:avLst>
          </a:prstGeom>
          <a:noFill/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03" name="Прямоугольник 61"/>
          <p:cNvSpPr/>
          <p:nvPr/>
        </p:nvSpPr>
        <p:spPr>
          <a:xfrm>
            <a:off x="6537960" y="5097960"/>
            <a:ext cx="11217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900" strike="noStrike" u="none">
                <a:solidFill>
                  <a:srgbClr val="1e2340"/>
                </a:solidFill>
                <a:uFillTx/>
                <a:latin typeface="Roboto Medium"/>
                <a:ea typeface="Roboto Medium"/>
              </a:rPr>
              <a:t>Исполнитель</a:t>
            </a:r>
            <a:br>
              <a:rPr sz="900"/>
            </a:br>
            <a:r>
              <a:rPr b="0" lang="ru-RU" sz="900" strike="noStrike" u="none">
                <a:solidFill>
                  <a:srgbClr val="1e2340"/>
                </a:solidFill>
                <a:uFillTx/>
                <a:latin typeface="Roboto Medium"/>
                <a:ea typeface="Roboto Medium"/>
              </a:rPr>
              <a:t>ПАО «Ростелеком»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Прямоугольник 127"/>
          <p:cNvSpPr/>
          <p:nvPr/>
        </p:nvSpPr>
        <p:spPr>
          <a:xfrm>
            <a:off x="7683840" y="5167440"/>
            <a:ext cx="7502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28"/>
              </a:spcAft>
            </a:pPr>
            <a:r>
              <a:rPr b="0" lang="en-US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304.8 </a:t>
            </a: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млн </a:t>
            </a:r>
            <a:r>
              <a:rPr b="0" lang="ru-RU" sz="900" strike="noStrike" u="none">
                <a:solidFill>
                  <a:srgbClr val="4525ff"/>
                </a:solidFill>
                <a:uFillTx/>
                <a:latin typeface="Tilda Sans Bold"/>
                <a:ea typeface="Roboto Medium"/>
              </a:rPr>
              <a:t>₽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5" name="Соединитель: уступ 132"/>
          <p:cNvCxnSpPr>
            <a:stCxn id="166" idx="3"/>
            <a:endCxn id="167" idx="0"/>
          </p:cNvCxnSpPr>
          <p:nvPr/>
        </p:nvCxnSpPr>
        <p:spPr>
          <a:xfrm>
            <a:off x="3578400" y="4532760"/>
            <a:ext cx="1182960" cy="443160"/>
          </a:xfrm>
          <a:prstGeom prst="bentConnector2">
            <a:avLst/>
          </a:prstGeom>
          <a:ln>
            <a:solidFill>
              <a:srgbClr val="4525ff"/>
            </a:solidFill>
            <a:tailEnd len="med" type="arrow" w="lg"/>
          </a:ln>
        </p:spPr>
      </p:cxnSp>
      <p:cxnSp>
        <p:nvCxnSpPr>
          <p:cNvPr id="206" name="Соединитель: уступ 134"/>
          <p:cNvCxnSpPr>
            <a:stCxn id="171" idx="3"/>
            <a:endCxn id="167" idx="2"/>
          </p:cNvCxnSpPr>
          <p:nvPr/>
        </p:nvCxnSpPr>
        <p:spPr>
          <a:xfrm flipV="1">
            <a:off x="3549960" y="5497200"/>
            <a:ext cx="1211400" cy="443160"/>
          </a:xfrm>
          <a:prstGeom prst="bentConnector2">
            <a:avLst/>
          </a:prstGeom>
          <a:ln>
            <a:solidFill>
              <a:srgbClr val="4525ff"/>
            </a:solidFill>
            <a:tailEnd len="med" type="arrow" w="lg"/>
          </a:ln>
        </p:spPr>
      </p:cxnSp>
      <p:cxnSp>
        <p:nvCxnSpPr>
          <p:cNvPr id="207" name="Прямая соединительная линия 136"/>
          <p:cNvCxnSpPr>
            <a:stCxn id="167" idx="3"/>
            <a:endCxn id="202" idx="1"/>
          </p:cNvCxnSpPr>
          <p:nvPr/>
        </p:nvCxnSpPr>
        <p:spPr>
          <a:xfrm>
            <a:off x="5715000" y="5236200"/>
            <a:ext cx="258120" cy="360"/>
          </a:xfrm>
          <a:prstGeom prst="straightConnector1">
            <a:avLst/>
          </a:prstGeom>
          <a:ln>
            <a:solidFill>
              <a:srgbClr val="4525ff"/>
            </a:solidFill>
            <a:tailEnd len="med" type="arrow" w="lg"/>
          </a:ln>
        </p:spPr>
      </p:cxnSp>
      <p:cxnSp>
        <p:nvCxnSpPr>
          <p:cNvPr id="208" name="Соединитель: уступ 146"/>
          <p:cNvCxnSpPr>
            <a:stCxn id="202" idx="3"/>
            <a:endCxn id="184" idx="1"/>
          </p:cNvCxnSpPr>
          <p:nvPr/>
        </p:nvCxnSpPr>
        <p:spPr>
          <a:xfrm>
            <a:off x="8564400" y="5236200"/>
            <a:ext cx="540000" cy="783360"/>
          </a:xfrm>
          <a:prstGeom prst="bentConnector3">
            <a:avLst>
              <a:gd name="adj1" fmla="val 50033"/>
            </a:avLst>
          </a:prstGeom>
          <a:ln>
            <a:solidFill>
              <a:srgbClr val="4525ff"/>
            </a:solidFill>
            <a:tailEnd len="med" type="arrow" w="lg"/>
          </a:ln>
        </p:spPr>
      </p:cxnSp>
      <p:cxnSp>
        <p:nvCxnSpPr>
          <p:cNvPr id="209" name="Соединитель: уступ 148"/>
          <p:cNvCxnSpPr>
            <a:stCxn id="202" idx="3"/>
            <a:endCxn id="177" idx="1"/>
          </p:cNvCxnSpPr>
          <p:nvPr/>
        </p:nvCxnSpPr>
        <p:spPr>
          <a:xfrm flipV="1">
            <a:off x="8564400" y="4430160"/>
            <a:ext cx="540000" cy="806400"/>
          </a:xfrm>
          <a:prstGeom prst="bentConnector3">
            <a:avLst>
              <a:gd name="adj1" fmla="val 50033"/>
            </a:avLst>
          </a:prstGeom>
          <a:ln>
            <a:solidFill>
              <a:srgbClr val="4525ff"/>
            </a:solidFill>
            <a:tailEnd len="med" type="arrow" w="lg"/>
          </a:ln>
        </p:spPr>
      </p:cxnSp>
      <p:cxnSp>
        <p:nvCxnSpPr>
          <p:cNvPr id="210" name="Соединитель: уступ 150"/>
          <p:cNvCxnSpPr>
            <a:endCxn id="181" idx="1"/>
          </p:cNvCxnSpPr>
          <p:nvPr/>
        </p:nvCxnSpPr>
        <p:spPr>
          <a:xfrm flipV="1">
            <a:off x="8834040" y="5224680"/>
            <a:ext cx="270360" cy="12240"/>
          </a:xfrm>
          <a:prstGeom prst="bentConnector3">
            <a:avLst>
              <a:gd name="adj1" fmla="val 400"/>
            </a:avLst>
          </a:prstGeom>
          <a:ln>
            <a:solidFill>
              <a:srgbClr val="4525ff"/>
            </a:solidFill>
            <a:tailEnd len="med" type="arrow" w="lg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Прямоугольник: скругленные углы 28"/>
          <p:cNvSpPr/>
          <p:nvPr/>
        </p:nvSpPr>
        <p:spPr>
          <a:xfrm>
            <a:off x="284400" y="842760"/>
            <a:ext cx="3707640" cy="5594400"/>
          </a:xfrm>
          <a:prstGeom prst="roundRect">
            <a:avLst>
              <a:gd name="adj" fmla="val 4319"/>
            </a:avLst>
          </a:prstGeom>
          <a:solidFill>
            <a:srgbClr val="4525ff">
              <a:alpha val="5000"/>
            </a:srgbClr>
          </a:solidFill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12" name="Прямоугольник: скругленные углы 30"/>
          <p:cNvSpPr/>
          <p:nvPr/>
        </p:nvSpPr>
        <p:spPr>
          <a:xfrm>
            <a:off x="4241160" y="842760"/>
            <a:ext cx="3707640" cy="5594400"/>
          </a:xfrm>
          <a:prstGeom prst="roundRect">
            <a:avLst>
              <a:gd name="adj" fmla="val 3805"/>
            </a:avLst>
          </a:prstGeom>
          <a:solidFill>
            <a:srgbClr val="4525ff">
              <a:alpha val="5000"/>
            </a:srgbClr>
          </a:solidFill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13" name="Прямоугольник: скругленные углы 35"/>
          <p:cNvSpPr/>
          <p:nvPr/>
        </p:nvSpPr>
        <p:spPr>
          <a:xfrm>
            <a:off x="8198280" y="842760"/>
            <a:ext cx="3707640" cy="5594400"/>
          </a:xfrm>
          <a:prstGeom prst="roundRect">
            <a:avLst>
              <a:gd name="adj" fmla="val 4576"/>
            </a:avLst>
          </a:prstGeom>
          <a:solidFill>
            <a:srgbClr val="4525ff">
              <a:alpha val="5000"/>
            </a:srgbClr>
          </a:solidFill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cxnSp>
        <p:nvCxnSpPr>
          <p:cNvPr id="214" name="Прямая соединительная линия 21"/>
          <p:cNvCxnSpPr/>
          <p:nvPr/>
        </p:nvCxnSpPr>
        <p:spPr>
          <a:xfrm>
            <a:off x="0" y="562320"/>
            <a:ext cx="12192120" cy="360"/>
          </a:xfrm>
          <a:prstGeom prst="straightConnector1">
            <a:avLst/>
          </a:prstGeom>
          <a:ln cap="rnd" w="6350">
            <a:solidFill>
              <a:srgbClr val="706f6f"/>
            </a:solidFill>
            <a:round/>
          </a:ln>
        </p:spPr>
      </p:cxnSp>
      <p:sp>
        <p:nvSpPr>
          <p:cNvPr id="215" name="Полилиния 29"/>
          <p:cNvSpPr/>
          <p:nvPr/>
        </p:nvSpPr>
        <p:spPr>
          <a:xfrm>
            <a:off x="11302920" y="0"/>
            <a:ext cx="888480" cy="561960"/>
          </a:xfrm>
          <a:custGeom>
            <a:avLst/>
            <a:gdLst>
              <a:gd name="textAreaLeft" fmla="*/ 0 w 888480"/>
              <a:gd name="textAreaRight" fmla="*/ 888840 w 888480"/>
              <a:gd name="textAreaTop" fmla="*/ 0 h 561960"/>
              <a:gd name="textAreaBottom" fmla="*/ 562320 h 561960"/>
            </a:gdLst>
            <a:ahLst/>
            <a:rect l="textAreaLeft" t="textAreaTop" r="textAreaRight" b="textAreaBottom"/>
            <a:pathLst>
              <a:path w="1347538" h="1001027">
                <a:moveTo>
                  <a:pt x="558263" y="0"/>
                </a:moveTo>
                <a:lnTo>
                  <a:pt x="1347538" y="0"/>
                </a:lnTo>
                <a:lnTo>
                  <a:pt x="1347538" y="1001027"/>
                </a:lnTo>
                <a:lnTo>
                  <a:pt x="0" y="1001027"/>
                </a:lnTo>
                <a:lnTo>
                  <a:pt x="558263" y="0"/>
                </a:lnTo>
                <a:close/>
              </a:path>
            </a:pathLst>
          </a:custGeom>
          <a:solidFill>
            <a:srgbClr val="706f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280" strike="noStrike" u="none">
              <a:solidFill>
                <a:schemeClr val="lt1"/>
              </a:solidFill>
              <a:uFillTx/>
              <a:latin typeface="Roboto"/>
              <a:ea typeface="Roboto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sldNum" idx="40"/>
          </p:nvPr>
        </p:nvSpPr>
        <p:spPr>
          <a:xfrm>
            <a:off x="11571120" y="138240"/>
            <a:ext cx="551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150" strike="noStrike" u="none">
                <a:solidFill>
                  <a:schemeClr val="lt1"/>
                </a:solidFill>
                <a:uFillTx/>
                <a:latin typeface="Roboto"/>
                <a:ea typeface="Roboto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15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5</a:t>
            </a:r>
            <a:endParaRPr b="0" lang="en-GB" sz="11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7" name="Прямоугольник 14"/>
          <p:cNvSpPr/>
          <p:nvPr/>
        </p:nvSpPr>
        <p:spPr>
          <a:xfrm>
            <a:off x="476280" y="1615320"/>
            <a:ext cx="3315240" cy="20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Функционал: 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003016"/>
                </a:solidFill>
                <a:uFillTx/>
                <a:latin typeface="Roboto"/>
                <a:ea typeface="Roboto"/>
              </a:rPr>
              <a:t>Корпоративный портал, </a:t>
            </a:r>
            <a:r>
              <a:rPr b="0" lang="en-US" sz="900" strike="noStrike" u="none">
                <a:solidFill>
                  <a:srgbClr val="003016"/>
                </a:solidFill>
                <a:uFillTx/>
                <a:latin typeface="Roboto"/>
                <a:ea typeface="Roboto"/>
              </a:rPr>
              <a:t>HR-</a:t>
            </a:r>
            <a:r>
              <a:rPr b="0" lang="ru-RU" sz="900" strike="noStrike" u="none">
                <a:solidFill>
                  <a:srgbClr val="003016"/>
                </a:solidFill>
                <a:uFillTx/>
                <a:latin typeface="Roboto"/>
                <a:ea typeface="Roboto"/>
              </a:rPr>
              <a:t>сервисы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288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003016"/>
                </a:solidFill>
                <a:uFillTx/>
                <a:latin typeface="Roboto"/>
                <a:ea typeface="Roboto"/>
              </a:rPr>
              <a:t>Оргструктура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288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003016"/>
                </a:solidFill>
                <a:uFillTx/>
                <a:latin typeface="Roboto"/>
                <a:ea typeface="Roboto"/>
              </a:rPr>
              <a:t>Профили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288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003016"/>
                </a:solidFill>
                <a:uFillTx/>
                <a:latin typeface="Roboto"/>
                <a:ea typeface="Roboto"/>
              </a:rPr>
              <a:t>Сообщества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288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003016"/>
                </a:solidFill>
                <a:uFillTx/>
                <a:latin typeface="Roboto"/>
                <a:ea typeface="Roboto"/>
              </a:rPr>
              <a:t>Материалы для новых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288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003016"/>
                </a:solidFill>
                <a:uFillTx/>
                <a:latin typeface="Roboto"/>
                <a:ea typeface="Roboto"/>
              </a:rPr>
              <a:t>Дни рождения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288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003016"/>
                </a:solidFill>
                <a:uFillTx/>
                <a:latin typeface="Roboto"/>
                <a:ea typeface="Roboto"/>
              </a:rPr>
              <a:t>Благодарности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288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003016"/>
                </a:solidFill>
                <a:uFillTx/>
                <a:latin typeface="Roboto"/>
                <a:ea typeface="Roboto"/>
              </a:rPr>
              <a:t>Витрина сервисов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288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rgbClr val="003016"/>
                </a:solidFill>
                <a:uFillTx/>
                <a:latin typeface="Roboto"/>
                <a:ea typeface="Roboto"/>
              </a:rPr>
              <a:t>Обратная связь 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288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en-US" sz="900" strike="noStrike" u="none">
                <a:solidFill>
                  <a:srgbClr val="003016"/>
                </a:solidFill>
                <a:uFillTx/>
                <a:latin typeface="Roboto"/>
                <a:ea typeface="Roboto"/>
              </a:rPr>
              <a:t>CMS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Прямоугольник 15"/>
          <p:cNvSpPr/>
          <p:nvPr/>
        </p:nvSpPr>
        <p:spPr>
          <a:xfrm>
            <a:off x="4431960" y="1615320"/>
            <a:ext cx="3315240" cy="46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Опрос 10к респондентов ФОИВ/РОИВ/ОМУ по теме «Использование </a:t>
            </a:r>
            <a:r>
              <a:rPr b="0" lang="en-US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HR-</a:t>
            </a: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инструментов и </a:t>
            </a:r>
            <a:r>
              <a:rPr b="0" lang="en-US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HR</a:t>
            </a: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-систем»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200+ часов пользовательских интервью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Прямоугольник 16"/>
          <p:cNvSpPr/>
          <p:nvPr/>
        </p:nvSpPr>
        <p:spPr>
          <a:xfrm>
            <a:off x="8388720" y="1615320"/>
            <a:ext cx="3315240" cy="36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За 1 день заполнена инфо по сотрудникам и оргструктуре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7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«Удобно систематизирована контактная инфо по департамента, могу быстро найти найти нужного коллегу для решения совместных вопросов. Также круто, что по каждому департаменту есть описание чем занимаются»</a:t>
            </a:r>
            <a:endParaRPr b="0" lang="en-GB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7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Понравилась гибкая настройка личного профиля и его содержание.</a:t>
            </a:r>
            <a:br>
              <a:rPr sz="700"/>
            </a:br>
            <a:r>
              <a:rPr b="0" lang="ru-RU" sz="7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Сам могу заполнить информацию, которой хочу поделиться, указать</a:t>
            </a:r>
            <a:br>
              <a:rPr sz="700"/>
            </a:br>
            <a:r>
              <a:rPr b="0" lang="ru-RU" sz="7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даты отпуска / командировки, чтобы все коллеги знали,</a:t>
            </a:r>
            <a:br>
              <a:rPr sz="700"/>
            </a:br>
            <a:r>
              <a:rPr b="0" lang="ru-RU" sz="7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что я недоступен в это время»</a:t>
            </a:r>
            <a:endParaRPr b="0" lang="en-GB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За 5 минут запустили опрос лояльности сотрудников блока и получили 31 ответ за 5 часов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7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«Здорово, что я смог сам собрать и запустить опрос, понять настроения моих сотрудников и своевременно спланировать дальнейшие действия»</a:t>
            </a:r>
            <a:endParaRPr b="0" lang="en-GB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За 5 минут добавлены </a:t>
            </a:r>
            <a:r>
              <a:rPr b="0" lang="en-US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11 </a:t>
            </a: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наиболее частотных инструмен-тов МЦ в раздел «Сервисы» для быстрого доступа 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7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«Классно, что на платформе есть панель сервисов, которые нужны для работы каждый день (СЭД, Телемост и.т.д), не придется вечно закреплять и искать их в браузере – реально экономит время»</a:t>
            </a:r>
            <a:endParaRPr b="0" lang="en-GB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Через </a:t>
            </a:r>
            <a:r>
              <a:rPr b="0" lang="en-US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CMS </a:t>
            </a: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созданы 5 разделов и 29 стр. с информацией</a:t>
            </a:r>
            <a:br>
              <a:rPr sz="900"/>
            </a:b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о МЦ. Время: 2 часа, не прибегая к разработке </a:t>
            </a:r>
            <a:r>
              <a:rPr b="0" lang="en-US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VS 8-12</a:t>
            </a: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 часов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7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«Хорошо, что есть разделы, которые могут познакомить меня как новичка с действующими направлениями деятельности министерства,</a:t>
            </a:r>
            <a:br>
              <a:rPr sz="700"/>
            </a:br>
            <a:r>
              <a:rPr b="0" lang="ru-RU" sz="7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а то и так непросто погружаться – без быстрого доступа к этим материалам было бы совсем тяжко»</a:t>
            </a:r>
            <a:endParaRPr b="0" lang="en-GB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7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«Удобно, что вся контактная инфо связи с приемными подразделениями собрана в одном месте, колоссальная экономия времени нп поиск такой инфы, а делаю я это часто»</a:t>
            </a:r>
            <a:endParaRPr b="0" lang="en-GB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Прямоугольник 19"/>
          <p:cNvSpPr/>
          <p:nvPr/>
        </p:nvSpPr>
        <p:spPr>
          <a:xfrm>
            <a:off x="476280" y="4339440"/>
            <a:ext cx="3238200" cy="9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«Сначала сомневалась, но после пары уроков поняла, что это прям находка для меня. И материал хороший,</a:t>
            </a:r>
            <a:br>
              <a:rPr sz="900"/>
            </a:b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и подача приятная»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«Круто что все можно делать онлайн и самому выбирать, когда заниматься»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«Все круто, возможность отличная»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Прямоугольник 20"/>
          <p:cNvSpPr/>
          <p:nvPr/>
        </p:nvSpPr>
        <p:spPr>
          <a:xfrm>
            <a:off x="476280" y="3947760"/>
            <a:ext cx="2925000" cy="29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7000"/>
              </a:lnSpc>
            </a:pPr>
            <a:r>
              <a:rPr b="0" lang="ru-RU" sz="9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Образовательный контент от Яндекс.Практикум апробирован на юниорах МЦ (50 чел)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Прямоугольник 22"/>
          <p:cNvSpPr/>
          <p:nvPr/>
        </p:nvSpPr>
        <p:spPr>
          <a:xfrm>
            <a:off x="4431960" y="2496240"/>
            <a:ext cx="313956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Понимаем боли, потребности и необходимый функционал для реализации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Запускать </a:t>
            </a:r>
            <a:r>
              <a:rPr b="0" lang="en-US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HR-</a:t>
            </a: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платформу нужно в 1 очередь через молодых специалистов (лояльны, заинтересованы)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44000" indent="-144000" defTabSz="914400"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buFont typeface="Arial"/>
              <a:buChar char="•"/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Модули </a:t>
            </a:r>
            <a:r>
              <a:rPr b="0" lang="en-US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HR-</a:t>
            </a:r>
            <a:r>
              <a:rPr b="0" lang="ru-RU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платформы должны быть гибко настраиваемыми под нужды организации</a:t>
            </a:r>
            <a:r>
              <a:rPr b="0" lang="en-US" sz="9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,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Прямоугольник 23"/>
          <p:cNvSpPr/>
          <p:nvPr/>
        </p:nvSpPr>
        <p:spPr>
          <a:xfrm>
            <a:off x="4431960" y="2286000"/>
            <a:ext cx="227592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7000"/>
              </a:lnSpc>
              <a:spcAft>
                <a:spcPts val="428"/>
              </a:spcAft>
            </a:pPr>
            <a:r>
              <a:rPr b="1" lang="ru-RU" sz="9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Общие выводы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Прямоугольник 25"/>
          <p:cNvSpPr/>
          <p:nvPr/>
        </p:nvSpPr>
        <p:spPr>
          <a:xfrm>
            <a:off x="285840" y="105480"/>
            <a:ext cx="70578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280" strike="noStrike" u="none" cap="all">
                <a:solidFill>
                  <a:schemeClr val="lt2">
                    <a:lumMod val="25000"/>
                  </a:schemeClr>
                </a:solidFill>
                <a:uFillTx/>
                <a:latin typeface="Roboto"/>
                <a:ea typeface="Roboto"/>
              </a:rPr>
              <a:t>РЕЗУЛЬТАТЫ 2024 (бесплатно для мц)</a:t>
            </a:r>
            <a:endParaRPr b="0" lang="en-GB" sz="2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5" name="Picture 8" descr="Фирменный стиль. Официальный информационный сайт Ростелеком."/>
          <p:cNvPicPr/>
          <p:nvPr/>
        </p:nvPicPr>
        <p:blipFill>
          <a:blip r:embed="rId1"/>
          <a:srcRect l="0" t="16858" r="0" b="15526"/>
          <a:stretch/>
        </p:blipFill>
        <p:spPr>
          <a:xfrm>
            <a:off x="9620280" y="91080"/>
            <a:ext cx="1604880" cy="3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Прямоугольник 37"/>
          <p:cNvSpPr/>
          <p:nvPr/>
        </p:nvSpPr>
        <p:spPr>
          <a:xfrm>
            <a:off x="1054440" y="1039680"/>
            <a:ext cx="266004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7000"/>
              </a:lnSpc>
            </a:pPr>
            <a:r>
              <a:rPr b="1" lang="ru-RU" sz="12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Запущено на блок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7000"/>
              </a:lnSpc>
            </a:pPr>
            <a:r>
              <a:rPr b="1" lang="ru-RU" sz="12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Филатова (50 чел)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Прямоугольник 40"/>
          <p:cNvSpPr/>
          <p:nvPr/>
        </p:nvSpPr>
        <p:spPr>
          <a:xfrm>
            <a:off x="5011200" y="1039680"/>
            <a:ext cx="25603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7000"/>
              </a:lnSpc>
            </a:pPr>
            <a:r>
              <a:rPr b="1" lang="ru-RU" sz="12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Проведена ревизия HR/кадров</a:t>
            </a:r>
            <a:br>
              <a:rPr sz="1200"/>
            </a:br>
            <a:r>
              <a:rPr b="1" lang="ru-RU" sz="12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в госсекторе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Прямоугольник 43"/>
          <p:cNvSpPr/>
          <p:nvPr/>
        </p:nvSpPr>
        <p:spPr>
          <a:xfrm>
            <a:off x="8935920" y="1039680"/>
            <a:ext cx="277920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7000"/>
              </a:lnSpc>
            </a:pPr>
            <a:r>
              <a:rPr b="1" lang="ru-RU" sz="12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Обратная связь от сотрудников</a:t>
            </a:r>
            <a:br>
              <a:rPr sz="1200"/>
            </a:br>
            <a:r>
              <a:rPr b="1" lang="ru-RU" sz="1200" strike="noStrike" u="none">
                <a:solidFill>
                  <a:srgbClr val="4525ff"/>
                </a:solidFill>
                <a:uFillTx/>
                <a:latin typeface="Roboto"/>
                <a:ea typeface="Roboto"/>
              </a:rPr>
              <a:t>про пилот HR-платформы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29" name="Рисунок 45"/>
          <p:cNvGrpSpPr/>
          <p:nvPr/>
        </p:nvGrpSpPr>
        <p:grpSpPr>
          <a:xfrm>
            <a:off x="497880" y="1037160"/>
            <a:ext cx="410040" cy="399240"/>
            <a:chOff x="497880" y="1037160"/>
            <a:chExt cx="410040" cy="399240"/>
          </a:xfrm>
        </p:grpSpPr>
        <p:sp>
          <p:nvSpPr>
            <p:cNvPr id="230" name="Полилиния: фигура 3"/>
            <p:cNvSpPr/>
            <p:nvPr/>
          </p:nvSpPr>
          <p:spPr>
            <a:xfrm>
              <a:off x="497880" y="1307160"/>
              <a:ext cx="388440" cy="129240"/>
            </a:xfrm>
            <a:custGeom>
              <a:avLst/>
              <a:gdLst>
                <a:gd name="textAreaLeft" fmla="*/ 0 w 388440"/>
                <a:gd name="textAreaRight" fmla="*/ 388800 w 388440"/>
                <a:gd name="textAreaTop" fmla="*/ 0 h 129240"/>
                <a:gd name="textAreaBottom" fmla="*/ 129600 h 129240"/>
              </a:gdLst>
              <a:ahLst/>
              <a:rect l="textAreaLeft" t="textAreaTop" r="textAreaRight" b="textAreaBottom"/>
              <a:pathLst>
                <a:path w="388962" h="129653">
                  <a:moveTo>
                    <a:pt x="32414" y="129654"/>
                  </a:moveTo>
                  <a:lnTo>
                    <a:pt x="356548" y="129654"/>
                  </a:lnTo>
                  <a:cubicBezTo>
                    <a:pt x="374450" y="129654"/>
                    <a:pt x="388963" y="115141"/>
                    <a:pt x="388963" y="97239"/>
                  </a:cubicBezTo>
                  <a:lnTo>
                    <a:pt x="388963" y="32413"/>
                  </a:lnTo>
                  <a:cubicBezTo>
                    <a:pt x="388963" y="14511"/>
                    <a:pt x="374450" y="0"/>
                    <a:pt x="356548" y="0"/>
                  </a:cubicBezTo>
                  <a:lnTo>
                    <a:pt x="32414" y="0"/>
                  </a:lnTo>
                  <a:cubicBezTo>
                    <a:pt x="14512" y="0"/>
                    <a:pt x="0" y="14511"/>
                    <a:pt x="0" y="32413"/>
                  </a:cubicBezTo>
                  <a:lnTo>
                    <a:pt x="0" y="97239"/>
                  </a:lnTo>
                  <a:cubicBezTo>
                    <a:pt x="0" y="115141"/>
                    <a:pt x="14512" y="129654"/>
                    <a:pt x="32414" y="129654"/>
                  </a:cubicBez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31" name="Полилиния: фигура 4"/>
            <p:cNvSpPr/>
            <p:nvPr/>
          </p:nvSpPr>
          <p:spPr>
            <a:xfrm>
              <a:off x="777960" y="1113840"/>
              <a:ext cx="65880" cy="4104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41040"/>
                <a:gd name="textAreaBottom" fmla="*/ 41400 h 41040"/>
              </a:gdLst>
              <a:ahLst/>
              <a:rect l="textAreaLeft" t="textAreaTop" r="textAreaRight" b="textAreaBottom"/>
              <a:pathLst>
                <a:path w="66173" h="41327">
                  <a:moveTo>
                    <a:pt x="66174" y="0"/>
                  </a:moveTo>
                  <a:lnTo>
                    <a:pt x="24846" y="41327"/>
                  </a:lnTo>
                  <a:lnTo>
                    <a:pt x="0" y="16555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" bIns="-3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32" name="Полилиния: фигура 5"/>
            <p:cNvSpPr/>
            <p:nvPr/>
          </p:nvSpPr>
          <p:spPr>
            <a:xfrm>
              <a:off x="497880" y="1069560"/>
              <a:ext cx="172440" cy="12924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129240"/>
                <a:gd name="textAreaBottom" fmla="*/ 129600 h 129240"/>
              </a:gdLst>
              <a:ahLst/>
              <a:rect l="textAreaLeft" t="textAreaTop" r="textAreaRight" b="textAreaBottom"/>
              <a:pathLst>
                <a:path w="172872" h="129653">
                  <a:moveTo>
                    <a:pt x="172872" y="0"/>
                  </a:moveTo>
                  <a:lnTo>
                    <a:pt x="32414" y="0"/>
                  </a:lnTo>
                  <a:cubicBezTo>
                    <a:pt x="14512" y="0"/>
                    <a:pt x="0" y="14512"/>
                    <a:pt x="0" y="32413"/>
                  </a:cubicBezTo>
                  <a:lnTo>
                    <a:pt x="0" y="97240"/>
                  </a:lnTo>
                  <a:cubicBezTo>
                    <a:pt x="0" y="115142"/>
                    <a:pt x="14512" y="129654"/>
                    <a:pt x="32414" y="129654"/>
                  </a:cubicBezTo>
                  <a:lnTo>
                    <a:pt x="172872" y="129654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33" name="Полилиния: фигура 6"/>
            <p:cNvSpPr/>
            <p:nvPr/>
          </p:nvSpPr>
          <p:spPr>
            <a:xfrm>
              <a:off x="713880" y="1037160"/>
              <a:ext cx="194040" cy="194040"/>
            </a:xfrm>
            <a:custGeom>
              <a:avLst/>
              <a:gdLst>
                <a:gd name="textAreaLeft" fmla="*/ 0 w 194040"/>
                <a:gd name="textAreaRight" fmla="*/ 194400 w 194040"/>
                <a:gd name="textAreaTop" fmla="*/ 0 h 194040"/>
                <a:gd name="textAreaBottom" fmla="*/ 194400 h 194040"/>
              </a:gdLst>
              <a:ahLst/>
              <a:rect l="textAreaLeft" t="textAreaTop" r="textAreaRight" b="textAreaBottom"/>
              <a:pathLst>
                <a:path w="194480" h="194480">
                  <a:moveTo>
                    <a:pt x="194481" y="97240"/>
                  </a:moveTo>
                  <a:cubicBezTo>
                    <a:pt x="194481" y="150945"/>
                    <a:pt x="150945" y="194481"/>
                    <a:pt x="97240" y="194481"/>
                  </a:cubicBezTo>
                  <a:cubicBezTo>
                    <a:pt x="43536" y="194481"/>
                    <a:pt x="0" y="150945"/>
                    <a:pt x="0" y="97240"/>
                  </a:cubicBezTo>
                  <a:cubicBezTo>
                    <a:pt x="0" y="43536"/>
                    <a:pt x="43536" y="0"/>
                    <a:pt x="97240" y="0"/>
                  </a:cubicBezTo>
                  <a:cubicBezTo>
                    <a:pt x="150945" y="0"/>
                    <a:pt x="194481" y="43536"/>
                    <a:pt x="194481" y="97240"/>
                  </a:cubicBez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34" name="Рисунок 45"/>
          <p:cNvGrpSpPr/>
          <p:nvPr/>
        </p:nvGrpSpPr>
        <p:grpSpPr>
          <a:xfrm>
            <a:off x="4453200" y="1037160"/>
            <a:ext cx="410400" cy="399240"/>
            <a:chOff x="4453200" y="1037160"/>
            <a:chExt cx="410400" cy="399240"/>
          </a:xfrm>
        </p:grpSpPr>
        <p:sp>
          <p:nvSpPr>
            <p:cNvPr id="235" name="Полилиния: фигура 47"/>
            <p:cNvSpPr/>
            <p:nvPr/>
          </p:nvSpPr>
          <p:spPr>
            <a:xfrm>
              <a:off x="4453200" y="1307160"/>
              <a:ext cx="388440" cy="129240"/>
            </a:xfrm>
            <a:custGeom>
              <a:avLst/>
              <a:gdLst>
                <a:gd name="textAreaLeft" fmla="*/ 0 w 388440"/>
                <a:gd name="textAreaRight" fmla="*/ 388800 w 388440"/>
                <a:gd name="textAreaTop" fmla="*/ 0 h 129240"/>
                <a:gd name="textAreaBottom" fmla="*/ 129600 h 129240"/>
              </a:gdLst>
              <a:ahLst/>
              <a:rect l="textAreaLeft" t="textAreaTop" r="textAreaRight" b="textAreaBottom"/>
              <a:pathLst>
                <a:path w="388962" h="129653">
                  <a:moveTo>
                    <a:pt x="32414" y="129654"/>
                  </a:moveTo>
                  <a:lnTo>
                    <a:pt x="356548" y="129654"/>
                  </a:lnTo>
                  <a:cubicBezTo>
                    <a:pt x="374450" y="129654"/>
                    <a:pt x="388963" y="115141"/>
                    <a:pt x="388963" y="97239"/>
                  </a:cubicBezTo>
                  <a:lnTo>
                    <a:pt x="388963" y="32413"/>
                  </a:lnTo>
                  <a:cubicBezTo>
                    <a:pt x="388963" y="14511"/>
                    <a:pt x="374450" y="0"/>
                    <a:pt x="356548" y="0"/>
                  </a:cubicBezTo>
                  <a:lnTo>
                    <a:pt x="32414" y="0"/>
                  </a:lnTo>
                  <a:cubicBezTo>
                    <a:pt x="14512" y="0"/>
                    <a:pt x="0" y="14511"/>
                    <a:pt x="0" y="32413"/>
                  </a:cubicBezTo>
                  <a:lnTo>
                    <a:pt x="0" y="97239"/>
                  </a:lnTo>
                  <a:cubicBezTo>
                    <a:pt x="0" y="115141"/>
                    <a:pt x="14512" y="129654"/>
                    <a:pt x="32414" y="129654"/>
                  </a:cubicBez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36" name="Полилиния: фигура 48"/>
            <p:cNvSpPr/>
            <p:nvPr/>
          </p:nvSpPr>
          <p:spPr>
            <a:xfrm>
              <a:off x="4733640" y="1113840"/>
              <a:ext cx="65880" cy="4104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41040"/>
                <a:gd name="textAreaBottom" fmla="*/ 41400 h 41040"/>
              </a:gdLst>
              <a:ahLst/>
              <a:rect l="textAreaLeft" t="textAreaTop" r="textAreaRight" b="textAreaBottom"/>
              <a:pathLst>
                <a:path w="66173" h="41327">
                  <a:moveTo>
                    <a:pt x="66174" y="0"/>
                  </a:moveTo>
                  <a:lnTo>
                    <a:pt x="24846" y="41327"/>
                  </a:lnTo>
                  <a:lnTo>
                    <a:pt x="0" y="16555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" bIns="-3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37" name="Полилиния: фигура 49"/>
            <p:cNvSpPr/>
            <p:nvPr/>
          </p:nvSpPr>
          <p:spPr>
            <a:xfrm>
              <a:off x="4453200" y="1069560"/>
              <a:ext cx="172440" cy="12924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129240"/>
                <a:gd name="textAreaBottom" fmla="*/ 129600 h 129240"/>
              </a:gdLst>
              <a:ahLst/>
              <a:rect l="textAreaLeft" t="textAreaTop" r="textAreaRight" b="textAreaBottom"/>
              <a:pathLst>
                <a:path w="172872" h="129653">
                  <a:moveTo>
                    <a:pt x="172872" y="0"/>
                  </a:moveTo>
                  <a:lnTo>
                    <a:pt x="32414" y="0"/>
                  </a:lnTo>
                  <a:cubicBezTo>
                    <a:pt x="14512" y="0"/>
                    <a:pt x="0" y="14512"/>
                    <a:pt x="0" y="32413"/>
                  </a:cubicBezTo>
                  <a:lnTo>
                    <a:pt x="0" y="97240"/>
                  </a:lnTo>
                  <a:cubicBezTo>
                    <a:pt x="0" y="115142"/>
                    <a:pt x="14512" y="129654"/>
                    <a:pt x="32414" y="129654"/>
                  </a:cubicBezTo>
                  <a:lnTo>
                    <a:pt x="172872" y="129654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38" name="Полилиния: фигура 50"/>
            <p:cNvSpPr/>
            <p:nvPr/>
          </p:nvSpPr>
          <p:spPr>
            <a:xfrm>
              <a:off x="4669560" y="1037160"/>
              <a:ext cx="194040" cy="194040"/>
            </a:xfrm>
            <a:custGeom>
              <a:avLst/>
              <a:gdLst>
                <a:gd name="textAreaLeft" fmla="*/ 0 w 194040"/>
                <a:gd name="textAreaRight" fmla="*/ 194400 w 194040"/>
                <a:gd name="textAreaTop" fmla="*/ 0 h 194040"/>
                <a:gd name="textAreaBottom" fmla="*/ 194400 h 194040"/>
              </a:gdLst>
              <a:ahLst/>
              <a:rect l="textAreaLeft" t="textAreaTop" r="textAreaRight" b="textAreaBottom"/>
              <a:pathLst>
                <a:path w="194480" h="194480">
                  <a:moveTo>
                    <a:pt x="194481" y="97240"/>
                  </a:moveTo>
                  <a:cubicBezTo>
                    <a:pt x="194481" y="150945"/>
                    <a:pt x="150945" y="194481"/>
                    <a:pt x="97240" y="194481"/>
                  </a:cubicBezTo>
                  <a:cubicBezTo>
                    <a:pt x="43536" y="194481"/>
                    <a:pt x="0" y="150945"/>
                    <a:pt x="0" y="97240"/>
                  </a:cubicBezTo>
                  <a:cubicBezTo>
                    <a:pt x="0" y="43536"/>
                    <a:pt x="43536" y="0"/>
                    <a:pt x="97240" y="0"/>
                  </a:cubicBezTo>
                  <a:cubicBezTo>
                    <a:pt x="150945" y="0"/>
                    <a:pt x="194481" y="43536"/>
                    <a:pt x="194481" y="97240"/>
                  </a:cubicBez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39" name="Рисунок 45"/>
          <p:cNvGrpSpPr/>
          <p:nvPr/>
        </p:nvGrpSpPr>
        <p:grpSpPr>
          <a:xfrm>
            <a:off x="8410320" y="1037160"/>
            <a:ext cx="410040" cy="399240"/>
            <a:chOff x="8410320" y="1037160"/>
            <a:chExt cx="410040" cy="399240"/>
          </a:xfrm>
        </p:grpSpPr>
        <p:sp>
          <p:nvSpPr>
            <p:cNvPr id="240" name="Полилиния: фигура 52"/>
            <p:cNvSpPr/>
            <p:nvPr/>
          </p:nvSpPr>
          <p:spPr>
            <a:xfrm>
              <a:off x="8410320" y="1307160"/>
              <a:ext cx="388440" cy="129240"/>
            </a:xfrm>
            <a:custGeom>
              <a:avLst/>
              <a:gdLst>
                <a:gd name="textAreaLeft" fmla="*/ 0 w 388440"/>
                <a:gd name="textAreaRight" fmla="*/ 388800 w 388440"/>
                <a:gd name="textAreaTop" fmla="*/ 0 h 129240"/>
                <a:gd name="textAreaBottom" fmla="*/ 129600 h 129240"/>
              </a:gdLst>
              <a:ahLst/>
              <a:rect l="textAreaLeft" t="textAreaTop" r="textAreaRight" b="textAreaBottom"/>
              <a:pathLst>
                <a:path w="388962" h="129653">
                  <a:moveTo>
                    <a:pt x="32414" y="129654"/>
                  </a:moveTo>
                  <a:lnTo>
                    <a:pt x="356548" y="129654"/>
                  </a:lnTo>
                  <a:cubicBezTo>
                    <a:pt x="374450" y="129654"/>
                    <a:pt x="388963" y="115141"/>
                    <a:pt x="388963" y="97239"/>
                  </a:cubicBezTo>
                  <a:lnTo>
                    <a:pt x="388963" y="32413"/>
                  </a:lnTo>
                  <a:cubicBezTo>
                    <a:pt x="388963" y="14511"/>
                    <a:pt x="374450" y="0"/>
                    <a:pt x="356548" y="0"/>
                  </a:cubicBezTo>
                  <a:lnTo>
                    <a:pt x="32414" y="0"/>
                  </a:lnTo>
                  <a:cubicBezTo>
                    <a:pt x="14512" y="0"/>
                    <a:pt x="0" y="14511"/>
                    <a:pt x="0" y="32413"/>
                  </a:cubicBezTo>
                  <a:lnTo>
                    <a:pt x="0" y="97239"/>
                  </a:lnTo>
                  <a:cubicBezTo>
                    <a:pt x="0" y="115141"/>
                    <a:pt x="14512" y="129654"/>
                    <a:pt x="32414" y="129654"/>
                  </a:cubicBez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41" name="Полилиния: фигура 53"/>
            <p:cNvSpPr/>
            <p:nvPr/>
          </p:nvSpPr>
          <p:spPr>
            <a:xfrm>
              <a:off x="8690400" y="1113840"/>
              <a:ext cx="65880" cy="4104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41040"/>
                <a:gd name="textAreaBottom" fmla="*/ 41400 h 41040"/>
              </a:gdLst>
              <a:ahLst/>
              <a:rect l="textAreaLeft" t="textAreaTop" r="textAreaRight" b="textAreaBottom"/>
              <a:pathLst>
                <a:path w="66173" h="41327">
                  <a:moveTo>
                    <a:pt x="66174" y="0"/>
                  </a:moveTo>
                  <a:lnTo>
                    <a:pt x="24846" y="41327"/>
                  </a:lnTo>
                  <a:lnTo>
                    <a:pt x="0" y="16555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" bIns="-3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42" name="Полилиния: фигура 54"/>
            <p:cNvSpPr/>
            <p:nvPr/>
          </p:nvSpPr>
          <p:spPr>
            <a:xfrm>
              <a:off x="8410320" y="1069560"/>
              <a:ext cx="172440" cy="12924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129240"/>
                <a:gd name="textAreaBottom" fmla="*/ 129600 h 129240"/>
              </a:gdLst>
              <a:ahLst/>
              <a:rect l="textAreaLeft" t="textAreaTop" r="textAreaRight" b="textAreaBottom"/>
              <a:pathLst>
                <a:path w="172872" h="129653">
                  <a:moveTo>
                    <a:pt x="172872" y="0"/>
                  </a:moveTo>
                  <a:lnTo>
                    <a:pt x="32414" y="0"/>
                  </a:lnTo>
                  <a:cubicBezTo>
                    <a:pt x="14512" y="0"/>
                    <a:pt x="0" y="14512"/>
                    <a:pt x="0" y="32413"/>
                  </a:cubicBezTo>
                  <a:lnTo>
                    <a:pt x="0" y="97240"/>
                  </a:lnTo>
                  <a:cubicBezTo>
                    <a:pt x="0" y="115142"/>
                    <a:pt x="14512" y="129654"/>
                    <a:pt x="32414" y="129654"/>
                  </a:cubicBezTo>
                  <a:lnTo>
                    <a:pt x="172872" y="129654"/>
                  </a:lnTo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43" name="Полилиния: фигура 55"/>
            <p:cNvSpPr/>
            <p:nvPr/>
          </p:nvSpPr>
          <p:spPr>
            <a:xfrm>
              <a:off x="8626320" y="1037160"/>
              <a:ext cx="194040" cy="194040"/>
            </a:xfrm>
            <a:custGeom>
              <a:avLst/>
              <a:gdLst>
                <a:gd name="textAreaLeft" fmla="*/ 0 w 194040"/>
                <a:gd name="textAreaRight" fmla="*/ 194400 w 194040"/>
                <a:gd name="textAreaTop" fmla="*/ 0 h 194040"/>
                <a:gd name="textAreaBottom" fmla="*/ 194400 h 194040"/>
              </a:gdLst>
              <a:ahLst/>
              <a:rect l="textAreaLeft" t="textAreaTop" r="textAreaRight" b="textAreaBottom"/>
              <a:pathLst>
                <a:path w="194480" h="194480">
                  <a:moveTo>
                    <a:pt x="194481" y="97240"/>
                  </a:moveTo>
                  <a:cubicBezTo>
                    <a:pt x="194481" y="150945"/>
                    <a:pt x="150945" y="194481"/>
                    <a:pt x="97240" y="194481"/>
                  </a:cubicBezTo>
                  <a:cubicBezTo>
                    <a:pt x="43536" y="194481"/>
                    <a:pt x="0" y="150945"/>
                    <a:pt x="0" y="97240"/>
                  </a:cubicBezTo>
                  <a:cubicBezTo>
                    <a:pt x="0" y="43536"/>
                    <a:pt x="43536" y="0"/>
                    <a:pt x="97240" y="0"/>
                  </a:cubicBezTo>
                  <a:cubicBezTo>
                    <a:pt x="150945" y="0"/>
                    <a:pt x="194481" y="43536"/>
                    <a:pt x="194481" y="97240"/>
                  </a:cubicBezTo>
                  <a:close/>
                </a:path>
              </a:pathLst>
            </a:custGeom>
            <a:noFill/>
            <a:ln cap="rnd" w="19050">
              <a:solidFill>
                <a:srgbClr val="452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Прямая соединительная линия 21"/>
          <p:cNvCxnSpPr/>
          <p:nvPr/>
        </p:nvCxnSpPr>
        <p:spPr>
          <a:xfrm>
            <a:off x="0" y="562320"/>
            <a:ext cx="12192120" cy="360"/>
          </a:xfrm>
          <a:prstGeom prst="straightConnector1">
            <a:avLst/>
          </a:prstGeom>
          <a:ln cap="rnd" w="6350">
            <a:solidFill>
              <a:srgbClr val="706f6f"/>
            </a:solidFill>
            <a:round/>
          </a:ln>
        </p:spPr>
      </p:cxnSp>
      <p:sp>
        <p:nvSpPr>
          <p:cNvPr id="245" name="Полилиния 29"/>
          <p:cNvSpPr/>
          <p:nvPr/>
        </p:nvSpPr>
        <p:spPr>
          <a:xfrm>
            <a:off x="11302920" y="0"/>
            <a:ext cx="888480" cy="561960"/>
          </a:xfrm>
          <a:custGeom>
            <a:avLst/>
            <a:gdLst>
              <a:gd name="textAreaLeft" fmla="*/ 0 w 888480"/>
              <a:gd name="textAreaRight" fmla="*/ 888840 w 888480"/>
              <a:gd name="textAreaTop" fmla="*/ 0 h 561960"/>
              <a:gd name="textAreaBottom" fmla="*/ 562320 h 561960"/>
            </a:gdLst>
            <a:ahLst/>
            <a:rect l="textAreaLeft" t="textAreaTop" r="textAreaRight" b="textAreaBottom"/>
            <a:pathLst>
              <a:path w="1347538" h="1001027">
                <a:moveTo>
                  <a:pt x="558263" y="0"/>
                </a:moveTo>
                <a:lnTo>
                  <a:pt x="1347538" y="0"/>
                </a:lnTo>
                <a:lnTo>
                  <a:pt x="1347538" y="1001027"/>
                </a:lnTo>
                <a:lnTo>
                  <a:pt x="0" y="1001027"/>
                </a:lnTo>
                <a:lnTo>
                  <a:pt x="558263" y="0"/>
                </a:lnTo>
                <a:close/>
              </a:path>
            </a:pathLst>
          </a:custGeom>
          <a:solidFill>
            <a:srgbClr val="706f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280" strike="noStrike" u="none">
              <a:solidFill>
                <a:schemeClr val="lt1"/>
              </a:solidFill>
              <a:uFillTx/>
              <a:latin typeface="Roboto"/>
              <a:ea typeface="Roboto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 type="sldNum" idx="41"/>
          </p:nvPr>
        </p:nvSpPr>
        <p:spPr>
          <a:xfrm>
            <a:off x="11571120" y="138240"/>
            <a:ext cx="551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150" strike="noStrike" u="none">
                <a:solidFill>
                  <a:schemeClr val="lt1"/>
                </a:solidFill>
                <a:uFillTx/>
                <a:latin typeface="Roboto"/>
                <a:ea typeface="Roboto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ru-RU" sz="115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6</a:t>
            </a:r>
            <a:endParaRPr b="0" lang="en-GB" sz="11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7" name="Прямоугольник 25"/>
          <p:cNvSpPr/>
          <p:nvPr/>
        </p:nvSpPr>
        <p:spPr>
          <a:xfrm>
            <a:off x="285840" y="105480"/>
            <a:ext cx="70578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280" strike="noStrike" u="none" cap="all">
                <a:solidFill>
                  <a:schemeClr val="lt2">
                    <a:lumMod val="25000"/>
                  </a:schemeClr>
                </a:solidFill>
                <a:uFillTx/>
                <a:latin typeface="Roboto"/>
                <a:ea typeface="Roboto"/>
              </a:rPr>
              <a:t>2 варианта запуска </a:t>
            </a:r>
            <a:r>
              <a:rPr b="0" lang="en-US" sz="2280" strike="noStrike" u="none" cap="all">
                <a:solidFill>
                  <a:schemeClr val="lt2">
                    <a:lumMod val="25000"/>
                  </a:schemeClr>
                </a:solidFill>
                <a:uFillTx/>
                <a:latin typeface="Roboto"/>
                <a:ea typeface="Roboto"/>
              </a:rPr>
              <a:t>HR-</a:t>
            </a:r>
            <a:r>
              <a:rPr b="0" lang="ru-RU" sz="2280" strike="noStrike" u="none" cap="all">
                <a:solidFill>
                  <a:schemeClr val="lt2">
                    <a:lumMod val="25000"/>
                  </a:schemeClr>
                </a:solidFill>
                <a:uFillTx/>
                <a:latin typeface="Roboto"/>
                <a:ea typeface="Roboto"/>
              </a:rPr>
              <a:t>платформы</a:t>
            </a:r>
            <a:endParaRPr b="0" lang="en-GB" sz="2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48" name="Picture 8" descr="Фирменный стиль. Официальный информационный сайт Ростелеком."/>
          <p:cNvPicPr/>
          <p:nvPr/>
        </p:nvPicPr>
        <p:blipFill>
          <a:blip r:embed="rId1"/>
          <a:srcRect l="0" t="16858" r="0" b="15526"/>
          <a:stretch/>
        </p:blipFill>
        <p:spPr>
          <a:xfrm>
            <a:off x="9620280" y="91080"/>
            <a:ext cx="1604880" cy="3798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49" name="Таблица 24"/>
          <p:cNvGraphicFramePr/>
          <p:nvPr/>
        </p:nvGraphicFramePr>
        <p:xfrm>
          <a:off x="284400" y="842760"/>
          <a:ext cx="11551680" cy="5659200"/>
        </p:xfrm>
        <a:graphic>
          <a:graphicData uri="http://schemas.openxmlformats.org/drawingml/2006/table">
            <a:tbl>
              <a:tblPr/>
              <a:tblGrid>
                <a:gridCol w="1648080"/>
                <a:gridCol w="1721160"/>
                <a:gridCol w="2045520"/>
                <a:gridCol w="2045520"/>
                <a:gridCol w="2045520"/>
                <a:gridCol w="2045520"/>
              </a:tblGrid>
              <a:tr h="707400">
                <a:tc>
                  <a:txBody>
                    <a:bodyPr lIns="108000" rIns="72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chemeClr val="lt1"/>
                          </a:solidFill>
                          <a:uFillTx/>
                          <a:latin typeface="Roboto Medium"/>
                          <a:ea typeface="Roboto Medium"/>
                        </a:rPr>
                        <a:t>Что такое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uFillTx/>
                          <a:latin typeface="Roboto Medium"/>
                          <a:ea typeface="Roboto Medium"/>
                        </a:rPr>
                        <a:t>HR-</a:t>
                      </a:r>
                      <a:r>
                        <a:rPr b="0" lang="ru-RU" sz="1200" strike="noStrike" u="none">
                          <a:solidFill>
                            <a:schemeClr val="lt1"/>
                          </a:solidFill>
                          <a:uFillTx/>
                          <a:latin typeface="Roboto Medium"/>
                          <a:ea typeface="Roboto Medium"/>
                        </a:rPr>
                        <a:t>платформа?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08000" marR="72000">
                    <a:lnL w="12240">
                      <a:solidFill>
                        <a:srgbClr val="4525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4525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108000" rIns="72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chemeClr val="lt1"/>
                          </a:solidFill>
                          <a:uFillTx/>
                          <a:latin typeface="Roboto Medium"/>
                          <a:ea typeface="Roboto Medium"/>
                        </a:rPr>
                        <a:t>Сроки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08000" marR="72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4525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108000" rIns="72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chemeClr val="lt1"/>
                          </a:solidFill>
                          <a:uFillTx/>
                          <a:latin typeface="Roboto Medium"/>
                          <a:ea typeface="Roboto Medium"/>
                        </a:rPr>
                        <a:t>Стоимость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08000" marR="72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4525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108000" rIns="72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chemeClr val="lt1"/>
                          </a:solidFill>
                          <a:uFillTx/>
                          <a:latin typeface="Roboto Medium"/>
                          <a:ea typeface="Roboto Medium"/>
                        </a:rPr>
                        <a:t>Нормативная база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08000" marR="72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4525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108000" rIns="72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lt1"/>
                          </a:solidFill>
                          <a:uFillTx/>
                          <a:latin typeface="Roboto Medium"/>
                          <a:ea typeface="Roboto Medium"/>
                        </a:rPr>
                        <a:t>Поддержка 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lt1"/>
                          </a:solidFill>
                          <a:uFillTx/>
                          <a:latin typeface="Roboto Medium"/>
                          <a:ea typeface="Roboto Medium"/>
                        </a:rPr>
                        <a:t>координатора системы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08000" marR="72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4525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108000" rIns="72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lt1"/>
                          </a:solidFill>
                          <a:uFillTx/>
                          <a:latin typeface="Roboto Medium"/>
                          <a:ea typeface="Roboto Medium"/>
                        </a:rPr>
                        <a:t>Гибкость управления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08000" marR="72000">
                    <a:lnL w="12240">
                      <a:noFill/>
                      <a:prstDash val="solid"/>
                    </a:lnL>
                    <a:lnR w="12240">
                      <a:solidFill>
                        <a:srgbClr val="4525ff"/>
                      </a:solidFill>
                      <a:prstDash val="solid"/>
                    </a:lnR>
                    <a:lnT w="12240">
                      <a:solidFill>
                        <a:srgbClr val="4525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</a:tr>
              <a:tr h="2475720">
                <a:tc>
                  <a:txBody>
                    <a:bodyPr lIns="108000" rIns="72000" tIns="180000" bIns="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Aft>
                          <a:spcPts val="601"/>
                        </a:spcAft>
                      </a:pPr>
                      <a:r>
                        <a:rPr b="0" lang="ru-RU" sz="1200" strike="noStrike" u="none">
                          <a:solidFill>
                            <a:srgbClr val="4525ff"/>
                          </a:solidFill>
                          <a:uFillTx/>
                          <a:latin typeface="Roboto Medium"/>
                          <a:ea typeface="Roboto Medium"/>
                        </a:rPr>
                        <a:t>1 вариант</a:t>
                      </a:r>
                      <a:endParaRPr b="0" lang="en-GB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e2340"/>
                          </a:solidFill>
                          <a:uFillTx/>
                          <a:latin typeface="Roboto Medium"/>
                          <a:ea typeface="Roboto Medium"/>
                        </a:rPr>
                        <a:t>Сегмент </a:t>
                      </a:r>
                      <a:br>
                        <a:rPr sz="1200"/>
                      </a:br>
                      <a:r>
                        <a:rPr b="0" lang="ru-RU" sz="1200" strike="noStrike" u="none">
                          <a:solidFill>
                            <a:srgbClr val="1e2340"/>
                          </a:solidFill>
                          <a:uFillTx/>
                          <a:latin typeface="Roboto Medium"/>
                          <a:ea typeface="Roboto Medium"/>
                        </a:rPr>
                        <a:t>ФГИС ЕИСУКС, размещенный </a:t>
                      </a:r>
                      <a:br>
                        <a:rPr sz="1200"/>
                      </a:br>
                      <a:r>
                        <a:rPr b="0" lang="ru-RU" sz="1200" strike="noStrike" u="none">
                          <a:solidFill>
                            <a:srgbClr val="1e2340"/>
                          </a:solidFill>
                          <a:uFillTx/>
                          <a:latin typeface="Roboto Medium"/>
                          <a:ea typeface="Roboto Medium"/>
                        </a:rPr>
                        <a:t>на Гостех2.0</a:t>
                      </a:r>
                      <a:endParaRPr b="0" lang="en-GB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lt1">
                              <a:lumMod val="50000"/>
                            </a:schemeClr>
                          </a:solidFill>
                          <a:uFillTx/>
                          <a:latin typeface="Roboto Medium"/>
                          <a:ea typeface="Roboto Medium"/>
                        </a:rPr>
                        <a:t>Предпочтительный вариант</a:t>
                      </a:r>
                      <a:endParaRPr b="0" lang="en-GB" sz="9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108000" marR="7200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56880">
                      <a:solidFill>
                        <a:srgbClr val="ffff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000" rIns="72000" tIns="180000" bIns="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  <a:ea typeface="Roboto"/>
                        </a:rPr>
                        <a:t>Быстрый вариант 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108000" marR="7200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56880">
                      <a:solidFill>
                        <a:srgbClr val="ffff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rgbClr val="4525ff">
                        <a:alpha val="7000"/>
                      </a:srgbClr>
                    </a:solidFill>
                  </a:tcPr>
                </a:tc>
                <a:tc>
                  <a:txBody>
                    <a:bodyPr lIns="108000" rIns="72000" tIns="180000" bIns="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  <a:ea typeface="Roboto"/>
                        </a:rPr>
                        <a:t>Самый дешевый вариант (снижаем накладные расходы за счет запуска нового ГИС, доступны ядровые функции ЕИСУКС)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108000" marR="7200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56880">
                      <a:solidFill>
                        <a:srgbClr val="ffff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rgbClr val="4525ff">
                        <a:alpha val="7000"/>
                      </a:srgbClr>
                    </a:solidFill>
                  </a:tcPr>
                </a:tc>
                <a:tc>
                  <a:txBody>
                    <a:bodyPr lIns="108000" rIns="72000" tIns="180000" bIns="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  <a:ea typeface="Roboto"/>
                        </a:rPr>
                        <a:t>Нормативная база существует </a:t>
                      </a:r>
                      <a:br>
                        <a:rPr sz="1200"/>
                      </a:b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  <a:ea typeface="Roboto"/>
                        </a:rPr>
                        <a:t>и достаточно, нужно только внести изменения в 256 ППРФ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108000" marR="7200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56880">
                      <a:solidFill>
                        <a:srgbClr val="ffff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rgbClr val="4525ff">
                        <a:alpha val="7000"/>
                      </a:srgbClr>
                    </a:solidFill>
                  </a:tcPr>
                </a:tc>
                <a:tc>
                  <a:txBody>
                    <a:bodyPr lIns="108000" rIns="72000" tIns="180000" bIns="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  <a:ea typeface="Roboto"/>
                        </a:rPr>
                        <a:t>Административная поддержка АПРФ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108000" marR="7200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56880">
                      <a:solidFill>
                        <a:srgbClr val="ffff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rgbClr val="4525ff">
                        <a:alpha val="7000"/>
                      </a:srgbClr>
                    </a:solidFill>
                  </a:tcPr>
                </a:tc>
                <a:tc>
                  <a:txBody>
                    <a:bodyPr lIns="108000" rIns="72000" tIns="180000" bIns="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  <a:ea typeface="Roboto"/>
                        </a:rPr>
                        <a:t>Меньше самостоятельности, требуется согласование с АПРФ, Администрацией, Минтрудом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108000" marR="7200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56880">
                      <a:solidFill>
                        <a:srgbClr val="ffff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lumMod val="75000"/>
                        <a:lumOff val="25000"/>
                        <a:alpha val="9000"/>
                      </a:schemeClr>
                    </a:solidFill>
                  </a:tcPr>
                </a:tc>
              </a:tr>
              <a:tr h="2475720">
                <a:tc>
                  <a:txBody>
                    <a:bodyPr lIns="144000" rIns="72000" tIns="180000" bIns="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Aft>
                          <a:spcPts val="601"/>
                        </a:spcAft>
                      </a:pPr>
                      <a:r>
                        <a:rPr b="0" lang="ru-RU" sz="1200" strike="noStrike" u="none">
                          <a:solidFill>
                            <a:srgbClr val="4525ff"/>
                          </a:solidFill>
                          <a:uFillTx/>
                          <a:latin typeface="Roboto Medium"/>
                          <a:ea typeface="Roboto Medium"/>
                        </a:rPr>
                        <a:t>2 вариант</a:t>
                      </a:r>
                      <a:endParaRPr b="0" lang="en-GB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e2340"/>
                          </a:solidFill>
                          <a:uFillTx/>
                          <a:latin typeface="Roboto Medium"/>
                          <a:ea typeface="Roboto Medium"/>
                        </a:rPr>
                        <a:t>Отдельный ГИС, размещенный </a:t>
                      </a:r>
                      <a:br>
                        <a:rPr sz="1200"/>
                      </a:br>
                      <a:r>
                        <a:rPr b="0" lang="ru-RU" sz="1200" strike="noStrike" u="none">
                          <a:solidFill>
                            <a:srgbClr val="1e2340"/>
                          </a:solidFill>
                          <a:uFillTx/>
                          <a:latin typeface="Roboto Medium"/>
                          <a:ea typeface="Roboto Medium"/>
                        </a:rPr>
                        <a:t>на Гостех2.0</a:t>
                      </a:r>
                      <a:endParaRPr b="0" lang="en-GB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144000" marR="7200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56880">
                      <a:solidFill>
                        <a:srgbClr val="ffff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44000" rIns="72000" tIns="180000" bIns="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  <a:ea typeface="Roboto"/>
                        </a:rPr>
                        <a:t>Долгий вариант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144000" marR="7200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56880">
                      <a:solidFill>
                        <a:srgbClr val="ffff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lumMod val="75000"/>
                        <a:lumOff val="25000"/>
                        <a:alpha val="3000"/>
                      </a:schemeClr>
                    </a:solidFill>
                  </a:tcPr>
                </a:tc>
                <a:tc>
                  <a:txBody>
                    <a:bodyPr lIns="144000" rIns="72000" tIns="180000" bIns="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  <a:ea typeface="Roboto"/>
                        </a:rPr>
                        <a:t>Дорогой вариант (издержки по созданию нового ГИС)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144000" marR="7200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56880">
                      <a:solidFill>
                        <a:srgbClr val="ffff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lumMod val="75000"/>
                        <a:lumOff val="25000"/>
                        <a:alpha val="3000"/>
                      </a:schemeClr>
                    </a:solidFill>
                  </a:tcPr>
                </a:tc>
                <a:tc>
                  <a:txBody>
                    <a:bodyPr lIns="144000" rIns="72000" tIns="180000" bIns="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  <a:ea typeface="Roboto"/>
                        </a:rPr>
                        <a:t>Создание ГИС с «0»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144000" marR="7200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56880">
                      <a:solidFill>
                        <a:srgbClr val="ffff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lumMod val="75000"/>
                        <a:lumOff val="25000"/>
                        <a:alpha val="3000"/>
                      </a:schemeClr>
                    </a:solidFill>
                  </a:tcPr>
                </a:tc>
                <a:tc>
                  <a:txBody>
                    <a:bodyPr lIns="144000" rIns="72000" tIns="180000" bIns="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  <a:ea typeface="Roboto"/>
                        </a:rPr>
                        <a:t>Явное сопротивление АПРФ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144000" marR="7200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56880">
                      <a:solidFill>
                        <a:srgbClr val="ffff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lumMod val="75000"/>
                        <a:lumOff val="25000"/>
                        <a:alpha val="3000"/>
                      </a:schemeClr>
                    </a:solidFill>
                  </a:tcPr>
                </a:tc>
                <a:tc>
                  <a:txBody>
                    <a:bodyPr lIns="144000" rIns="72000" tIns="180000" bIns="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  <a:ea typeface="Roboto"/>
                        </a:rPr>
                        <a:t>Больше самостоятельности</a:t>
                      </a:r>
                      <a:endParaRPr b="0" lang="en-GB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144000" marR="7200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56880">
                      <a:solidFill>
                        <a:srgbClr val="ffffff"/>
                      </a:solidFill>
                      <a:prstDash val="solid"/>
                    </a:lnT>
                    <a:lnB w="56880">
                      <a:solidFill>
                        <a:srgbClr val="ffffff"/>
                      </a:solidFill>
                      <a:prstDash val="solid"/>
                    </a:lnB>
                    <a:solidFill>
                      <a:srgbClr val="4525ff">
                        <a:alpha val="7000"/>
                      </a:srgb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55;p13"/>
          <p:cNvSpPr/>
          <p:nvPr/>
        </p:nvSpPr>
        <p:spPr>
          <a:xfrm>
            <a:off x="279000" y="2008440"/>
            <a:ext cx="47934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28"/>
              </a:spcAft>
            </a:pPr>
            <a:r>
              <a:rPr b="0" lang="en" sz="22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Собственные продукты</a:t>
            </a:r>
            <a:br>
              <a:rPr sz="2200"/>
            </a:br>
            <a:r>
              <a:rPr b="0" lang="en" sz="22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в реестре</a:t>
            </a:r>
            <a:r>
              <a:rPr b="0" lang="ru-RU" sz="22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 </a:t>
            </a:r>
            <a:r>
              <a:rPr b="0" lang="en" sz="22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отечественного ПО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51" name="Прямая соединительная линия 5"/>
          <p:cNvCxnSpPr/>
          <p:nvPr/>
        </p:nvCxnSpPr>
        <p:spPr>
          <a:xfrm>
            <a:off x="0" y="562320"/>
            <a:ext cx="12192120" cy="360"/>
          </a:xfrm>
          <a:prstGeom prst="straightConnector1">
            <a:avLst/>
          </a:prstGeom>
          <a:ln cap="rnd" w="6350">
            <a:solidFill>
              <a:srgbClr val="706f6f"/>
            </a:solidFill>
            <a:round/>
          </a:ln>
        </p:spPr>
      </p:cxnSp>
      <p:sp>
        <p:nvSpPr>
          <p:cNvPr id="252" name="Полилиния 29"/>
          <p:cNvSpPr/>
          <p:nvPr/>
        </p:nvSpPr>
        <p:spPr>
          <a:xfrm>
            <a:off x="11302920" y="0"/>
            <a:ext cx="888480" cy="561960"/>
          </a:xfrm>
          <a:custGeom>
            <a:avLst/>
            <a:gdLst>
              <a:gd name="textAreaLeft" fmla="*/ 0 w 888480"/>
              <a:gd name="textAreaRight" fmla="*/ 888840 w 888480"/>
              <a:gd name="textAreaTop" fmla="*/ 0 h 561960"/>
              <a:gd name="textAreaBottom" fmla="*/ 562320 h 561960"/>
            </a:gdLst>
            <a:ahLst/>
            <a:rect l="textAreaLeft" t="textAreaTop" r="textAreaRight" b="textAreaBottom"/>
            <a:pathLst>
              <a:path w="1347538" h="1001027">
                <a:moveTo>
                  <a:pt x="558263" y="0"/>
                </a:moveTo>
                <a:lnTo>
                  <a:pt x="1347538" y="0"/>
                </a:lnTo>
                <a:lnTo>
                  <a:pt x="1347538" y="1001027"/>
                </a:lnTo>
                <a:lnTo>
                  <a:pt x="0" y="1001027"/>
                </a:lnTo>
                <a:lnTo>
                  <a:pt x="558263" y="0"/>
                </a:lnTo>
                <a:close/>
              </a:path>
            </a:pathLst>
          </a:custGeom>
          <a:solidFill>
            <a:srgbClr val="706f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280" strike="noStrike" u="none">
              <a:solidFill>
                <a:schemeClr val="lt1"/>
              </a:solidFill>
              <a:uFillTx/>
              <a:latin typeface="Roboto"/>
              <a:ea typeface="Roboto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sldNum" idx="42"/>
          </p:nvPr>
        </p:nvSpPr>
        <p:spPr>
          <a:xfrm>
            <a:off x="11571120" y="138240"/>
            <a:ext cx="551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150" strike="noStrike" u="none">
                <a:solidFill>
                  <a:schemeClr val="lt1"/>
                </a:solidFill>
                <a:uFillTx/>
                <a:latin typeface="Roboto"/>
                <a:ea typeface="Roboto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15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7</a:t>
            </a:r>
            <a:endParaRPr b="0" lang="en-GB" sz="11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4" name="Прямоугольник 8"/>
          <p:cNvSpPr/>
          <p:nvPr/>
        </p:nvSpPr>
        <p:spPr>
          <a:xfrm>
            <a:off x="285840" y="105480"/>
            <a:ext cx="70578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80" strike="noStrike" u="none" cap="all">
                <a:solidFill>
                  <a:schemeClr val="lt2">
                    <a:lumMod val="25000"/>
                  </a:schemeClr>
                </a:solidFill>
                <a:uFillTx/>
                <a:latin typeface="Roboto"/>
                <a:ea typeface="Roboto"/>
              </a:rPr>
              <a:t>PROSCOM </a:t>
            </a:r>
            <a:endParaRPr b="0" lang="en-GB" sz="2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5" name="Picture 8" descr="Фирменный стиль. Официальный информационный сайт Ростелеком."/>
          <p:cNvPicPr/>
          <p:nvPr/>
        </p:nvPicPr>
        <p:blipFill>
          <a:blip r:embed="rId1"/>
          <a:srcRect l="0" t="16858" r="0" b="15526"/>
          <a:stretch/>
        </p:blipFill>
        <p:spPr>
          <a:xfrm>
            <a:off x="9620280" y="91080"/>
            <a:ext cx="1604880" cy="3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Box 14"/>
          <p:cNvSpPr/>
          <p:nvPr/>
        </p:nvSpPr>
        <p:spPr>
          <a:xfrm>
            <a:off x="285840" y="860400"/>
            <a:ext cx="4085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e2340"/>
                </a:solidFill>
                <a:uFillTx/>
                <a:latin typeface="Roboto Medium"/>
                <a:ea typeface="Roboto Medium"/>
              </a:rPr>
              <a:t>С 2013 года создают on-prem HR-tech  и аналитические решения для государства и крупного бизнеса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Скругленный прямоугольник 296"/>
          <p:cNvSpPr/>
          <p:nvPr/>
        </p:nvSpPr>
        <p:spPr>
          <a:xfrm>
            <a:off x="5308200" y="866520"/>
            <a:ext cx="3257640" cy="5590440"/>
          </a:xfrm>
          <a:prstGeom prst="roundRect">
            <a:avLst>
              <a:gd name="adj" fmla="val 4895"/>
            </a:avLst>
          </a:prstGeom>
          <a:noFill/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grpSp>
        <p:nvGrpSpPr>
          <p:cNvPr id="258" name="Группа 29"/>
          <p:cNvGrpSpPr/>
          <p:nvPr/>
        </p:nvGrpSpPr>
        <p:grpSpPr>
          <a:xfrm>
            <a:off x="285840" y="3074760"/>
            <a:ext cx="4349160" cy="570600"/>
            <a:chOff x="285840" y="3074760"/>
            <a:chExt cx="4349160" cy="570600"/>
          </a:xfrm>
        </p:grpSpPr>
        <p:sp>
          <p:nvSpPr>
            <p:cNvPr id="259" name="Google Shape;55;p13"/>
            <p:cNvSpPr/>
            <p:nvPr/>
          </p:nvSpPr>
          <p:spPr>
            <a:xfrm>
              <a:off x="285840" y="3114000"/>
              <a:ext cx="2207880" cy="48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ru-RU" sz="1600" strike="noStrike" u="none">
                  <a:solidFill>
                    <a:srgbClr val="4525ff"/>
                  </a:solidFill>
                  <a:uFillTx/>
                  <a:latin typeface="Roboto"/>
                  <a:ea typeface="Roboto"/>
                </a:rPr>
                <a:t>Tada:</a:t>
              </a:r>
              <a:r>
                <a:rPr b="0" lang="ru-RU" sz="1600" strike="noStrike" u="none">
                  <a:solidFill>
                    <a:srgbClr val="4525ff"/>
                  </a:solidFill>
                  <a:uFillTx/>
                  <a:latin typeface="Roboto"/>
                  <a:ea typeface="Roboto"/>
                </a:rPr>
                <a:t> </a:t>
              </a:r>
              <a:r>
                <a:rPr b="0" lang="ru-RU" sz="1600" strike="noStrike" u="none">
                  <a:solidFill>
                    <a:schemeClr val="dk2"/>
                  </a:solidFill>
                  <a:uFillTx/>
                  <a:latin typeface="Roboto"/>
                  <a:ea typeface="Roboto"/>
                </a:rPr>
                <a:t>корпоративный портал </a:t>
              </a:r>
              <a:r>
                <a:rPr b="0" lang="en-US" sz="1600" strike="noStrike" u="none">
                  <a:solidFill>
                    <a:schemeClr val="dk2"/>
                  </a:solidFill>
                  <a:uFillTx/>
                  <a:latin typeface="Roboto"/>
                  <a:ea typeface="Roboto"/>
                </a:rPr>
                <a:t>+ HR-</a:t>
              </a:r>
              <a:r>
                <a:rPr b="0" lang="ru-RU" sz="1600" strike="noStrike" u="none">
                  <a:solidFill>
                    <a:schemeClr val="dk2"/>
                  </a:solidFill>
                  <a:uFillTx/>
                  <a:latin typeface="Roboto"/>
                  <a:ea typeface="Roboto"/>
                </a:rPr>
                <a:t>сервисы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cxnSp>
          <p:nvCxnSpPr>
            <p:cNvPr id="260" name="Прямая соединительная линия 32"/>
            <p:cNvCxnSpPr/>
            <p:nvPr/>
          </p:nvCxnSpPr>
          <p:spPr>
            <a:xfrm>
              <a:off x="2760120" y="3074760"/>
              <a:ext cx="360" cy="570960"/>
            </a:xfrm>
            <a:prstGeom prst="straightConnector1">
              <a:avLst/>
            </a:prstGeom>
            <a:ln w="12700">
              <a:solidFill>
                <a:srgbClr val="4525ff"/>
              </a:solidFill>
            </a:ln>
          </p:spPr>
        </p:cxnSp>
        <p:grpSp>
          <p:nvGrpSpPr>
            <p:cNvPr id="261" name="Группа 15"/>
            <p:cNvGrpSpPr/>
            <p:nvPr/>
          </p:nvGrpSpPr>
          <p:grpSpPr>
            <a:xfrm>
              <a:off x="2901960" y="3077280"/>
              <a:ext cx="1733040" cy="565560"/>
              <a:chOff x="2901960" y="3077280"/>
              <a:chExt cx="1733040" cy="565560"/>
            </a:xfrm>
          </p:grpSpPr>
          <p:pic>
            <p:nvPicPr>
              <p:cNvPr id="262" name="Рисунок 20" descr=""/>
              <p:cNvPicPr/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2901960" y="3077280"/>
                <a:ext cx="939600" cy="262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263" name="Группа 11"/>
              <p:cNvGrpSpPr/>
              <p:nvPr/>
            </p:nvGrpSpPr>
            <p:grpSpPr>
              <a:xfrm>
                <a:off x="2904480" y="3360600"/>
                <a:ext cx="1730520" cy="282240"/>
                <a:chOff x="2904480" y="3360600"/>
                <a:chExt cx="1730520" cy="282240"/>
              </a:xfrm>
            </p:grpSpPr>
            <p:pic>
              <p:nvPicPr>
                <p:cNvPr id="264" name="Рисунок 26" descr=""/>
                <p:cNvPicPr/>
                <p:nvPr/>
              </p:nvPicPr>
              <p:blipFill>
                <a:blip r:embed="rId4"/>
                <a:stretch/>
              </p:blipFill>
              <p:spPr>
                <a:xfrm>
                  <a:off x="2904480" y="3436920"/>
                  <a:ext cx="1533600" cy="205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sp>
              <p:nvSpPr>
                <p:cNvPr id="265" name="Google Shape;55;p13"/>
                <p:cNvSpPr/>
                <p:nvPr/>
              </p:nvSpPr>
              <p:spPr>
                <a:xfrm>
                  <a:off x="4507920" y="3360600"/>
                  <a:ext cx="127080" cy="244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spAutoFit/>
                </a:bodyPr>
                <a:p>
                  <a:pPr defTabSz="914400">
                    <a:lnSpc>
                      <a:spcPct val="100000"/>
                    </a:lnSpc>
                  </a:pPr>
                  <a:r>
                    <a:rPr b="1" lang="ru-RU" sz="1600" strike="noStrike" u="none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  <a:uFillTx/>
                      <a:latin typeface="Roboto"/>
                      <a:ea typeface="Roboto"/>
                    </a:rPr>
                    <a:t>*</a:t>
                  </a:r>
                  <a:endParaRPr b="0" lang="en-GB" sz="1600" strike="noStrike" u="none">
                    <a:solidFill>
                      <a:srgbClr val="000000"/>
                    </a:solidFill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266" name="Google Shape;57;p13"/>
          <p:cNvSpPr/>
          <p:nvPr/>
        </p:nvSpPr>
        <p:spPr>
          <a:xfrm>
            <a:off x="5482440" y="994680"/>
            <a:ext cx="22867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12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Крупнейшие кейсы </a:t>
            </a:r>
            <a:br>
              <a:rPr sz="1200"/>
            </a:br>
            <a:r>
              <a:rPr b="0" lang="ru-RU" sz="12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в гос. секторе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67" name="Группа 431"/>
          <p:cNvGrpSpPr/>
          <p:nvPr/>
        </p:nvGrpSpPr>
        <p:grpSpPr>
          <a:xfrm>
            <a:off x="5482440" y="1675800"/>
            <a:ext cx="2751480" cy="392400"/>
            <a:chOff x="5482440" y="1675800"/>
            <a:chExt cx="2751480" cy="392400"/>
          </a:xfrm>
        </p:grpSpPr>
        <p:pic>
          <p:nvPicPr>
            <p:cNvPr id="268" name="Рисунок 59" descr="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  <a:lum bright="-40000"/>
              <a:alphaModFix amt="50000"/>
            </a:blip>
            <a:stretch/>
          </p:blipFill>
          <p:spPr>
            <a:xfrm>
              <a:off x="5680800" y="1924200"/>
              <a:ext cx="1073520" cy="144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9" name="TextBox 63"/>
            <p:cNvSpPr/>
            <p:nvPr/>
          </p:nvSpPr>
          <p:spPr>
            <a:xfrm>
              <a:off x="5482440" y="1675800"/>
              <a:ext cx="225828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80000" indent="-180000" defTabSz="914400">
                <a:lnSpc>
                  <a:spcPct val="100000"/>
                </a:lnSpc>
                <a:buClr>
                  <a:srgbClr val="4525ff"/>
                </a:buClr>
                <a:buFont typeface="Arial"/>
                <a:buChar char="•"/>
              </a:pP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РЦТ – дашборды (ФГИС КИ)  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0" name="Прямоугольник: скругленные углы 66"/>
            <p:cNvSpPr/>
            <p:nvPr/>
          </p:nvSpPr>
          <p:spPr>
            <a:xfrm>
              <a:off x="7752240" y="1681560"/>
              <a:ext cx="481680" cy="172440"/>
            </a:xfrm>
            <a:prstGeom prst="roundRect">
              <a:avLst>
                <a:gd name="adj" fmla="val 50000"/>
              </a:avLst>
            </a:prstGeom>
            <a:solidFill>
              <a:srgbClr val="f2f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0" bIns="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800" strike="noStrike" u="none">
                  <a:solidFill>
                    <a:srgbClr val="4525ff"/>
                  </a:solidFill>
                  <a:uFillTx/>
                  <a:latin typeface="Roboto"/>
                  <a:ea typeface="Roboto"/>
                </a:rPr>
                <a:t>#</a:t>
              </a:r>
              <a:r>
                <a:rPr b="0" lang="ru-RU" sz="800" strike="noStrike" u="none">
                  <a:solidFill>
                    <a:srgbClr val="4525ff"/>
                  </a:solidFill>
                  <a:uFillTx/>
                  <a:latin typeface="Roboto"/>
                  <a:ea typeface="Roboto"/>
                </a:rPr>
                <a:t>ГЕОП</a:t>
              </a:r>
              <a:endParaRPr b="0" lang="en-GB" sz="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271" name="Группа 430"/>
          <p:cNvGrpSpPr/>
          <p:nvPr/>
        </p:nvGrpSpPr>
        <p:grpSpPr>
          <a:xfrm>
            <a:off x="5482440" y="2185920"/>
            <a:ext cx="2345400" cy="475560"/>
            <a:chOff x="5482440" y="2185920"/>
            <a:chExt cx="2345400" cy="475560"/>
          </a:xfrm>
        </p:grpSpPr>
        <p:sp>
          <p:nvSpPr>
            <p:cNvPr id="272" name="Прямоугольник: скругленные углы 69"/>
            <p:cNvSpPr/>
            <p:nvPr/>
          </p:nvSpPr>
          <p:spPr>
            <a:xfrm>
              <a:off x="7504560" y="2191680"/>
              <a:ext cx="323280" cy="172440"/>
            </a:xfrm>
            <a:prstGeom prst="roundRect">
              <a:avLst>
                <a:gd name="adj" fmla="val 50000"/>
              </a:avLst>
            </a:prstGeom>
            <a:solidFill>
              <a:srgbClr val="f2f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0" bIns="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800" strike="noStrike" u="none">
                  <a:solidFill>
                    <a:srgbClr val="4525ff"/>
                  </a:solidFill>
                  <a:uFillTx/>
                  <a:latin typeface="Roboto"/>
                  <a:ea typeface="Roboto"/>
                </a:rPr>
                <a:t>#BI</a:t>
              </a:r>
              <a:endParaRPr b="0" lang="en-GB" sz="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grpSp>
          <p:nvGrpSpPr>
            <p:cNvPr id="273" name="Группа 429"/>
            <p:cNvGrpSpPr/>
            <p:nvPr/>
          </p:nvGrpSpPr>
          <p:grpSpPr>
            <a:xfrm>
              <a:off x="5482440" y="2185920"/>
              <a:ext cx="2144880" cy="475560"/>
              <a:chOff x="5482440" y="2185920"/>
              <a:chExt cx="2144880" cy="475560"/>
            </a:xfrm>
          </p:grpSpPr>
          <p:sp>
            <p:nvSpPr>
              <p:cNvPr id="274" name="TextBox 65"/>
              <p:cNvSpPr/>
              <p:nvPr/>
            </p:nvSpPr>
            <p:spPr>
              <a:xfrm>
                <a:off x="5482440" y="2185920"/>
                <a:ext cx="2144880" cy="183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marL="180000" indent="-180000" defTabSz="914400">
                  <a:lnSpc>
                    <a:spcPct val="100000"/>
                  </a:lnSpc>
                  <a:buClr>
                    <a:srgbClr val="4525ff"/>
                  </a:buClr>
                  <a:buFont typeface="Arial"/>
                  <a:buChar char="•"/>
                </a:pPr>
                <a:r>
                  <a:rPr b="0" lang="ru-RU" sz="1200" strike="noStrike" u="none">
                    <a:solidFill>
                      <a:schemeClr val="dk1"/>
                    </a:solidFill>
                    <a:uFillTx/>
                    <a:latin typeface="Roboto"/>
                    <a:ea typeface="Roboto"/>
                  </a:rPr>
                  <a:t>Нацпроект Образование</a:t>
                </a:r>
                <a:endParaRPr b="0" lang="en-GB" sz="12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pic>
            <p:nvPicPr>
              <p:cNvPr id="275" name="Рисунок 75" descr=""/>
              <p:cNvPicPr/>
              <p:nvPr/>
            </p:nvPicPr>
            <p:blipFill>
              <a:blip r:embed="rId7">
                <a:alphaModFix amt="70000"/>
              </a:blip>
              <a:srcRect l="19050" t="63356" r="12233" b="23715"/>
              <a:stretch/>
            </p:blipFill>
            <p:spPr>
              <a:xfrm>
                <a:off x="5640120" y="2356920"/>
                <a:ext cx="1154880" cy="3045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276" name="Группа 432"/>
          <p:cNvGrpSpPr/>
          <p:nvPr/>
        </p:nvGrpSpPr>
        <p:grpSpPr>
          <a:xfrm>
            <a:off x="5482440" y="2779200"/>
            <a:ext cx="2172600" cy="613800"/>
            <a:chOff x="5482440" y="2779200"/>
            <a:chExt cx="2172600" cy="613800"/>
          </a:xfrm>
        </p:grpSpPr>
        <p:grpSp>
          <p:nvGrpSpPr>
            <p:cNvPr id="277" name="Группа 80"/>
            <p:cNvGrpSpPr/>
            <p:nvPr/>
          </p:nvGrpSpPr>
          <p:grpSpPr>
            <a:xfrm>
              <a:off x="5482440" y="2779200"/>
              <a:ext cx="2172600" cy="366840"/>
              <a:chOff x="5482440" y="2779200"/>
              <a:chExt cx="2172600" cy="366840"/>
            </a:xfrm>
          </p:grpSpPr>
          <p:sp>
            <p:nvSpPr>
              <p:cNvPr id="278" name="TextBox 72"/>
              <p:cNvSpPr/>
              <p:nvPr/>
            </p:nvSpPr>
            <p:spPr>
              <a:xfrm>
                <a:off x="5482440" y="2779200"/>
                <a:ext cx="1710720" cy="36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marL="180000" indent="-180000" defTabSz="914400">
                  <a:lnSpc>
                    <a:spcPct val="100000"/>
                  </a:lnSpc>
                  <a:buClr>
                    <a:srgbClr val="4525ff"/>
                  </a:buClr>
                  <a:buFont typeface="Arial"/>
                  <a:buChar char="•"/>
                </a:pPr>
                <a:r>
                  <a:rPr b="0" lang="en-US" sz="1200" strike="noStrike" u="none">
                    <a:solidFill>
                      <a:schemeClr val="dk1"/>
                    </a:solidFill>
                    <a:uFillTx/>
                    <a:latin typeface="Roboto"/>
                    <a:ea typeface="Roboto"/>
                  </a:rPr>
                  <a:t>LMS </a:t>
                </a:r>
                <a:r>
                  <a:rPr b="0" lang="ru-RU" sz="1200" strike="noStrike" u="none">
                    <a:solidFill>
                      <a:schemeClr val="dk1"/>
                    </a:solidFill>
                    <a:uFillTx/>
                    <a:latin typeface="Roboto"/>
                    <a:ea typeface="Roboto"/>
                  </a:rPr>
                  <a:t>для ЕПГУ (обучение СЭД, ВКУ)</a:t>
                </a:r>
                <a:endParaRPr b="0" lang="en-GB" sz="12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9" name="Прямоугольник: скругленные углы 73"/>
              <p:cNvSpPr/>
              <p:nvPr/>
            </p:nvSpPr>
            <p:spPr>
              <a:xfrm>
                <a:off x="7201440" y="2973600"/>
                <a:ext cx="453600" cy="172440"/>
              </a:xfrm>
              <a:prstGeom prst="roundRect">
                <a:avLst>
                  <a:gd name="adj" fmla="val 50000"/>
                </a:avLst>
              </a:prstGeom>
              <a:solidFill>
                <a:srgbClr val="f2f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36000" rIns="36000" tIns="0" bIns="0" anchor="ctr">
                <a:sp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en-US" sz="800" strike="noStrike" u="none">
                    <a:solidFill>
                      <a:srgbClr val="4525ff"/>
                    </a:solidFill>
                    <a:uFillTx/>
                    <a:latin typeface="Roboto"/>
                    <a:ea typeface="Roboto"/>
                  </a:rPr>
                  <a:t>#</a:t>
                </a:r>
                <a:r>
                  <a:rPr b="0" lang="ru-RU" sz="800" strike="noStrike" u="none">
                    <a:solidFill>
                      <a:srgbClr val="4525ff"/>
                    </a:solidFill>
                    <a:uFillTx/>
                    <a:latin typeface="Roboto"/>
                    <a:ea typeface="Roboto"/>
                  </a:rPr>
                  <a:t>ИЭП</a:t>
                </a:r>
                <a:endParaRPr b="0" lang="en-GB" sz="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pic>
          <p:nvPicPr>
            <p:cNvPr id="280" name="Рисунок 81" descr=""/>
            <p:cNvPicPr/>
            <p:nvPr/>
          </p:nvPicPr>
          <p:blipFill>
            <a:blip r:embed="rId8">
              <a:alphaModFix amt="50000"/>
            </a:blip>
            <a:stretch/>
          </p:blipFill>
          <p:spPr>
            <a:xfrm>
              <a:off x="5680800" y="3224880"/>
              <a:ext cx="503280" cy="1681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81" name="Скругленный прямоугольник 296"/>
          <p:cNvSpPr/>
          <p:nvPr/>
        </p:nvSpPr>
        <p:spPr>
          <a:xfrm>
            <a:off x="8741160" y="866520"/>
            <a:ext cx="3194640" cy="5590440"/>
          </a:xfrm>
          <a:prstGeom prst="roundRect">
            <a:avLst>
              <a:gd name="adj" fmla="val 4895"/>
            </a:avLst>
          </a:prstGeom>
          <a:noFill/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82" name="Google Shape;57;p13"/>
          <p:cNvSpPr/>
          <p:nvPr/>
        </p:nvSpPr>
        <p:spPr>
          <a:xfrm>
            <a:off x="8915400" y="994680"/>
            <a:ext cx="19504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28"/>
              </a:spcAft>
            </a:pPr>
            <a:r>
              <a:rPr b="0" lang="ru-RU" sz="12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Крупнейшие кейсы в </a:t>
            </a:r>
            <a:r>
              <a:rPr b="0" lang="en-US" sz="1200" strike="noStrike" u="none">
                <a:solidFill>
                  <a:srgbClr val="4525ff"/>
                </a:solidFill>
                <a:uFillTx/>
                <a:latin typeface="Roboto Medium"/>
                <a:ea typeface="Roboto Medium"/>
              </a:rPr>
              <a:t>HR 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83" name="Группа 447"/>
          <p:cNvGrpSpPr/>
          <p:nvPr/>
        </p:nvGrpSpPr>
        <p:grpSpPr>
          <a:xfrm>
            <a:off x="8915400" y="1675800"/>
            <a:ext cx="2198520" cy="392400"/>
            <a:chOff x="8915400" y="1675800"/>
            <a:chExt cx="2198520" cy="392400"/>
          </a:xfrm>
        </p:grpSpPr>
        <p:pic>
          <p:nvPicPr>
            <p:cNvPr id="284" name="Рисунок 13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069840" y="1919160"/>
              <a:ext cx="612360" cy="149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5" name="TextBox 87"/>
            <p:cNvSpPr/>
            <p:nvPr/>
          </p:nvSpPr>
          <p:spPr>
            <a:xfrm>
              <a:off x="8915400" y="1675800"/>
              <a:ext cx="219852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80000" indent="-180000" defTabSz="914400">
                <a:lnSpc>
                  <a:spcPct val="100000"/>
                </a:lnSpc>
                <a:buClr>
                  <a:srgbClr val="4525ff"/>
                </a:buClr>
                <a:buFont typeface="Arial"/>
                <a:buChar char="•"/>
              </a:pPr>
              <a:r>
                <a:rPr b="0" lang="en-US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SK Connect </a:t>
              </a: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для Сколково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86" name="Рисунок 92" descr=""/>
            <p:cNvPicPr/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/>
          </p:blipFill>
          <p:spPr>
            <a:xfrm>
              <a:off x="9824400" y="1937160"/>
              <a:ext cx="415800" cy="1242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87" name="TextBox 93"/>
          <p:cNvSpPr/>
          <p:nvPr/>
        </p:nvSpPr>
        <p:spPr>
          <a:xfrm>
            <a:off x="8915400" y="2259000"/>
            <a:ext cx="21448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0000" indent="-180000" defTabSz="914400">
              <a:lnSpc>
                <a:spcPct val="100000"/>
              </a:lnSpc>
              <a:buClr>
                <a:srgbClr val="4525ff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Clue WFM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для 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X5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88" name="Группа 446"/>
          <p:cNvGrpSpPr/>
          <p:nvPr/>
        </p:nvGrpSpPr>
        <p:grpSpPr>
          <a:xfrm>
            <a:off x="8915400" y="2633760"/>
            <a:ext cx="2144880" cy="409680"/>
            <a:chOff x="8915400" y="2633760"/>
            <a:chExt cx="2144880" cy="409680"/>
          </a:xfrm>
        </p:grpSpPr>
        <p:sp>
          <p:nvSpPr>
            <p:cNvPr id="289" name="TextBox 94"/>
            <p:cNvSpPr/>
            <p:nvPr/>
          </p:nvSpPr>
          <p:spPr>
            <a:xfrm>
              <a:off x="8915400" y="2633760"/>
              <a:ext cx="214488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80000" indent="-180000" defTabSz="914400">
                <a:lnSpc>
                  <a:spcPct val="100000"/>
                </a:lnSpc>
                <a:buClr>
                  <a:srgbClr val="4525ff"/>
                </a:buClr>
                <a:buFont typeface="Arial"/>
                <a:buChar char="•"/>
              </a:pP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AI помощник HR для МИК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90" name="Рисунок 95" descr=""/>
            <p:cNvPicPr/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/>
          </p:blipFill>
          <p:spPr>
            <a:xfrm>
              <a:off x="9069840" y="2894400"/>
              <a:ext cx="612360" cy="14904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291" name="Прямая соединительная линия 104"/>
          <p:cNvCxnSpPr/>
          <p:nvPr/>
        </p:nvCxnSpPr>
        <p:spPr>
          <a:xfrm>
            <a:off x="285480" y="1618920"/>
            <a:ext cx="4713480" cy="360"/>
          </a:xfrm>
          <a:prstGeom prst="straightConnector1">
            <a:avLst/>
          </a:prstGeom>
          <a:ln w="12700">
            <a:solidFill>
              <a:srgbClr val="4525ff"/>
            </a:solidFill>
          </a:ln>
        </p:spPr>
      </p:cxnSp>
      <p:sp>
        <p:nvSpPr>
          <p:cNvPr id="292" name="TextBox 2"/>
          <p:cNvSpPr/>
          <p:nvPr/>
        </p:nvSpPr>
        <p:spPr>
          <a:xfrm>
            <a:off x="279000" y="6303240"/>
            <a:ext cx="1556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b="0" lang="ru-RU" sz="1000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*бесплатный пилот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93" name="Группа 439"/>
          <p:cNvGrpSpPr/>
          <p:nvPr/>
        </p:nvGrpSpPr>
        <p:grpSpPr>
          <a:xfrm>
            <a:off x="5482440" y="3511080"/>
            <a:ext cx="2817000" cy="296280"/>
            <a:chOff x="5482440" y="3511080"/>
            <a:chExt cx="2817000" cy="296280"/>
          </a:xfrm>
        </p:grpSpPr>
        <p:sp>
          <p:nvSpPr>
            <p:cNvPr id="294" name="TextBox 79"/>
            <p:cNvSpPr/>
            <p:nvPr/>
          </p:nvSpPr>
          <p:spPr>
            <a:xfrm>
              <a:off x="5482440" y="3567240"/>
              <a:ext cx="281700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80000" indent="-180000" defTabSz="914400">
                <a:lnSpc>
                  <a:spcPct val="100000"/>
                </a:lnSpc>
                <a:spcAft>
                  <a:spcPts val="601"/>
                </a:spcAft>
                <a:buClr>
                  <a:srgbClr val="4525ff"/>
                </a:buClr>
                <a:buFont typeface="Arial"/>
                <a:buChar char="•"/>
              </a:pP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Цифровая трансформация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5" name="Рисунок 11"/>
            <p:cNvSpPr/>
            <p:nvPr/>
          </p:nvSpPr>
          <p:spPr>
            <a:xfrm>
              <a:off x="7696800" y="3511080"/>
              <a:ext cx="296280" cy="296280"/>
            </a:xfrm>
            <a:custGeom>
              <a:avLst/>
              <a:gdLst>
                <a:gd name="textAreaLeft" fmla="*/ 0 w 296280"/>
                <a:gd name="textAreaRight" fmla="*/ 296640 w 296280"/>
                <a:gd name="textAreaTop" fmla="*/ 0 h 296280"/>
                <a:gd name="textAreaBottom" fmla="*/ 296640 h 296280"/>
              </a:gdLst>
              <a:ahLst/>
              <a:rect l="textAreaLeft" t="textAreaTop" r="textAreaRight" b="textAreaBottom"/>
              <a:pathLst>
                <a:path w="623322" h="623322">
                  <a:moveTo>
                    <a:pt x="49866" y="296535"/>
                  </a:moveTo>
                  <a:cubicBezTo>
                    <a:pt x="54935" y="296951"/>
                    <a:pt x="57844" y="292712"/>
                    <a:pt x="58250" y="287704"/>
                  </a:cubicBezTo>
                  <a:lnTo>
                    <a:pt x="58706" y="282063"/>
                  </a:lnTo>
                  <a:lnTo>
                    <a:pt x="44038" y="280869"/>
                  </a:lnTo>
                  <a:cubicBezTo>
                    <a:pt x="43778" y="283185"/>
                    <a:pt x="43549" y="285159"/>
                    <a:pt x="43414" y="286780"/>
                  </a:cubicBezTo>
                  <a:cubicBezTo>
                    <a:pt x="42843" y="293834"/>
                    <a:pt x="45980" y="296223"/>
                    <a:pt x="49866" y="296535"/>
                  </a:cubicBezTo>
                  <a:close/>
                  <a:moveTo>
                    <a:pt x="533199" y="229819"/>
                  </a:moveTo>
                  <a:cubicBezTo>
                    <a:pt x="536629" y="239044"/>
                    <a:pt x="546382" y="242742"/>
                    <a:pt x="555535" y="239346"/>
                  </a:cubicBezTo>
                  <a:cubicBezTo>
                    <a:pt x="564687" y="235948"/>
                    <a:pt x="569612" y="226640"/>
                    <a:pt x="566193" y="217414"/>
                  </a:cubicBezTo>
                  <a:cubicBezTo>
                    <a:pt x="562778" y="208189"/>
                    <a:pt x="553011" y="204501"/>
                    <a:pt x="543858" y="207899"/>
                  </a:cubicBezTo>
                  <a:cubicBezTo>
                    <a:pt x="534705" y="211295"/>
                    <a:pt x="529824" y="220604"/>
                    <a:pt x="533199" y="229819"/>
                  </a:cubicBezTo>
                  <a:close/>
                  <a:moveTo>
                    <a:pt x="234473" y="542414"/>
                  </a:moveTo>
                  <a:cubicBezTo>
                    <a:pt x="233310" y="546425"/>
                    <a:pt x="235813" y="549739"/>
                    <a:pt x="242399" y="551651"/>
                  </a:cubicBezTo>
                  <a:lnTo>
                    <a:pt x="252259" y="554509"/>
                  </a:lnTo>
                  <a:lnTo>
                    <a:pt x="256040" y="541469"/>
                  </a:lnTo>
                  <a:lnTo>
                    <a:pt x="245579" y="538426"/>
                  </a:lnTo>
                  <a:cubicBezTo>
                    <a:pt x="239875" y="536762"/>
                    <a:pt x="235761" y="538000"/>
                    <a:pt x="234473" y="542414"/>
                  </a:cubicBezTo>
                  <a:close/>
                  <a:moveTo>
                    <a:pt x="231356" y="563193"/>
                  </a:moveTo>
                  <a:cubicBezTo>
                    <a:pt x="230265" y="566932"/>
                    <a:pt x="232582" y="570111"/>
                    <a:pt x="237953" y="571667"/>
                  </a:cubicBezTo>
                  <a:lnTo>
                    <a:pt x="246586" y="574172"/>
                  </a:lnTo>
                  <a:lnTo>
                    <a:pt x="250254" y="561539"/>
                  </a:lnTo>
                  <a:lnTo>
                    <a:pt x="242234" y="559201"/>
                  </a:lnTo>
                  <a:cubicBezTo>
                    <a:pt x="236862" y="557687"/>
                    <a:pt x="232603" y="558744"/>
                    <a:pt x="231305" y="563235"/>
                  </a:cubicBezTo>
                  <a:lnTo>
                    <a:pt x="231356" y="563193"/>
                  </a:lnTo>
                  <a:close/>
                  <a:moveTo>
                    <a:pt x="365744" y="69677"/>
                  </a:moveTo>
                  <a:lnTo>
                    <a:pt x="361027" y="48827"/>
                  </a:lnTo>
                  <a:lnTo>
                    <a:pt x="349133" y="66571"/>
                  </a:lnTo>
                  <a:cubicBezTo>
                    <a:pt x="351917" y="66997"/>
                    <a:pt x="354701" y="67464"/>
                    <a:pt x="357443" y="67983"/>
                  </a:cubicBezTo>
                  <a:cubicBezTo>
                    <a:pt x="360186" y="68503"/>
                    <a:pt x="362981" y="69064"/>
                    <a:pt x="365744" y="69677"/>
                  </a:cubicBezTo>
                  <a:close/>
                  <a:moveTo>
                    <a:pt x="65730" y="342640"/>
                  </a:moveTo>
                  <a:lnTo>
                    <a:pt x="47684" y="354130"/>
                  </a:lnTo>
                  <a:lnTo>
                    <a:pt x="68462" y="359324"/>
                  </a:lnTo>
                  <a:cubicBezTo>
                    <a:pt x="67921" y="356554"/>
                    <a:pt x="67426" y="353784"/>
                    <a:pt x="66976" y="351014"/>
                  </a:cubicBezTo>
                  <a:cubicBezTo>
                    <a:pt x="66488" y="348239"/>
                    <a:pt x="66083" y="345434"/>
                    <a:pt x="65730" y="342640"/>
                  </a:cubicBezTo>
                  <a:close/>
                  <a:moveTo>
                    <a:pt x="238940" y="87421"/>
                  </a:moveTo>
                  <a:cubicBezTo>
                    <a:pt x="248290" y="84387"/>
                    <a:pt x="252445" y="74788"/>
                    <a:pt x="249329" y="65511"/>
                  </a:cubicBezTo>
                  <a:cubicBezTo>
                    <a:pt x="246212" y="56234"/>
                    <a:pt x="237225" y="50967"/>
                    <a:pt x="227865" y="53959"/>
                  </a:cubicBezTo>
                  <a:cubicBezTo>
                    <a:pt x="218505" y="56951"/>
                    <a:pt x="214361" y="66581"/>
                    <a:pt x="217477" y="75869"/>
                  </a:cubicBezTo>
                  <a:cubicBezTo>
                    <a:pt x="220594" y="85156"/>
                    <a:pt x="229590" y="90465"/>
                    <a:pt x="238940" y="87421"/>
                  </a:cubicBezTo>
                  <a:close/>
                  <a:moveTo>
                    <a:pt x="186769" y="522084"/>
                  </a:moveTo>
                  <a:cubicBezTo>
                    <a:pt x="184191" y="526479"/>
                    <a:pt x="186020" y="530760"/>
                    <a:pt x="191692" y="534094"/>
                  </a:cubicBezTo>
                  <a:lnTo>
                    <a:pt x="198154" y="537895"/>
                  </a:lnTo>
                  <a:lnTo>
                    <a:pt x="206465" y="523807"/>
                  </a:lnTo>
                  <a:lnTo>
                    <a:pt x="199879" y="519932"/>
                  </a:lnTo>
                  <a:cubicBezTo>
                    <a:pt x="194351" y="516672"/>
                    <a:pt x="189645" y="517264"/>
                    <a:pt x="186810" y="522084"/>
                  </a:cubicBezTo>
                  <a:lnTo>
                    <a:pt x="186769" y="522084"/>
                  </a:lnTo>
                  <a:close/>
                  <a:moveTo>
                    <a:pt x="564625" y="339513"/>
                  </a:moveTo>
                  <a:cubicBezTo>
                    <a:pt x="555151" y="337841"/>
                    <a:pt x="546061" y="343357"/>
                    <a:pt x="544346" y="353019"/>
                  </a:cubicBezTo>
                  <a:cubicBezTo>
                    <a:pt x="542634" y="362680"/>
                    <a:pt x="549189" y="370825"/>
                    <a:pt x="558798" y="372529"/>
                  </a:cubicBezTo>
                  <a:cubicBezTo>
                    <a:pt x="568408" y="374232"/>
                    <a:pt x="577374" y="368685"/>
                    <a:pt x="579078" y="359022"/>
                  </a:cubicBezTo>
                  <a:cubicBezTo>
                    <a:pt x="580781" y="349361"/>
                    <a:pt x="574246" y="341206"/>
                    <a:pt x="564625" y="339513"/>
                  </a:cubicBezTo>
                  <a:close/>
                  <a:moveTo>
                    <a:pt x="302706" y="219970"/>
                  </a:moveTo>
                  <a:lnTo>
                    <a:pt x="353361" y="219970"/>
                  </a:lnTo>
                  <a:cubicBezTo>
                    <a:pt x="352073" y="210236"/>
                    <a:pt x="348344" y="200533"/>
                    <a:pt x="342307" y="193229"/>
                  </a:cubicBezTo>
                  <a:cubicBezTo>
                    <a:pt x="330693" y="178810"/>
                    <a:pt x="314258" y="176410"/>
                    <a:pt x="303454" y="176410"/>
                  </a:cubicBezTo>
                  <a:lnTo>
                    <a:pt x="274542" y="176410"/>
                  </a:lnTo>
                  <a:lnTo>
                    <a:pt x="274542" y="437936"/>
                  </a:lnTo>
                  <a:lnTo>
                    <a:pt x="302706" y="437936"/>
                  </a:lnTo>
                  <a:lnTo>
                    <a:pt x="302706" y="340333"/>
                  </a:lnTo>
                  <a:lnTo>
                    <a:pt x="339461" y="340333"/>
                  </a:lnTo>
                  <a:lnTo>
                    <a:pt x="339461" y="437831"/>
                  </a:lnTo>
                  <a:lnTo>
                    <a:pt x="371313" y="437831"/>
                  </a:lnTo>
                  <a:lnTo>
                    <a:pt x="371313" y="392403"/>
                  </a:lnTo>
                  <a:cubicBezTo>
                    <a:pt x="371313" y="332002"/>
                    <a:pt x="351990" y="299028"/>
                    <a:pt x="302342" y="299028"/>
                  </a:cubicBezTo>
                  <a:lnTo>
                    <a:pt x="302342" y="284432"/>
                  </a:lnTo>
                  <a:lnTo>
                    <a:pt x="302664" y="284432"/>
                  </a:lnTo>
                  <a:cubicBezTo>
                    <a:pt x="321249" y="284432"/>
                    <a:pt x="334412" y="275134"/>
                    <a:pt x="342412" y="265119"/>
                  </a:cubicBezTo>
                  <a:cubicBezTo>
                    <a:pt x="351512" y="254076"/>
                    <a:pt x="353424" y="243667"/>
                    <a:pt x="353839" y="234379"/>
                  </a:cubicBezTo>
                  <a:lnTo>
                    <a:pt x="302727" y="234379"/>
                  </a:lnTo>
                  <a:lnTo>
                    <a:pt x="302706" y="219970"/>
                  </a:lnTo>
                  <a:close/>
                  <a:moveTo>
                    <a:pt x="311661" y="0"/>
                  </a:moveTo>
                  <a:cubicBezTo>
                    <a:pt x="139531" y="0"/>
                    <a:pt x="0" y="139531"/>
                    <a:pt x="0" y="311661"/>
                  </a:cubicBezTo>
                  <a:cubicBezTo>
                    <a:pt x="0" y="483790"/>
                    <a:pt x="139531" y="623322"/>
                    <a:pt x="311661" y="623322"/>
                  </a:cubicBezTo>
                  <a:cubicBezTo>
                    <a:pt x="483790" y="623322"/>
                    <a:pt x="623322" y="483790"/>
                    <a:pt x="623322" y="311661"/>
                  </a:cubicBezTo>
                  <a:cubicBezTo>
                    <a:pt x="623322" y="139531"/>
                    <a:pt x="483790" y="0"/>
                    <a:pt x="311661" y="0"/>
                  </a:cubicBezTo>
                  <a:close/>
                  <a:moveTo>
                    <a:pt x="586662" y="271675"/>
                  </a:moveTo>
                  <a:lnTo>
                    <a:pt x="566007" y="273607"/>
                  </a:lnTo>
                  <a:lnTo>
                    <a:pt x="565895" y="273607"/>
                  </a:lnTo>
                  <a:cubicBezTo>
                    <a:pt x="566580" y="278282"/>
                    <a:pt x="567161" y="282957"/>
                    <a:pt x="567598" y="287694"/>
                  </a:cubicBezTo>
                  <a:cubicBezTo>
                    <a:pt x="568031" y="292431"/>
                    <a:pt x="568346" y="297117"/>
                    <a:pt x="568532" y="301843"/>
                  </a:cubicBezTo>
                  <a:lnTo>
                    <a:pt x="568655" y="301843"/>
                  </a:lnTo>
                  <a:lnTo>
                    <a:pt x="589155" y="299922"/>
                  </a:lnTo>
                  <a:lnTo>
                    <a:pt x="589569" y="308617"/>
                  </a:lnTo>
                  <a:lnTo>
                    <a:pt x="540648" y="313209"/>
                  </a:lnTo>
                  <a:lnTo>
                    <a:pt x="540432" y="304482"/>
                  </a:lnTo>
                  <a:lnTo>
                    <a:pt x="560626" y="302592"/>
                  </a:lnTo>
                  <a:lnTo>
                    <a:pt x="560823" y="302592"/>
                  </a:lnTo>
                  <a:cubicBezTo>
                    <a:pt x="560645" y="297875"/>
                    <a:pt x="560335" y="293138"/>
                    <a:pt x="559898" y="288442"/>
                  </a:cubicBezTo>
                  <a:cubicBezTo>
                    <a:pt x="559464" y="283746"/>
                    <a:pt x="558860" y="279031"/>
                    <a:pt x="558175" y="274365"/>
                  </a:cubicBezTo>
                  <a:lnTo>
                    <a:pt x="557978" y="274365"/>
                  </a:lnTo>
                  <a:lnTo>
                    <a:pt x="537771" y="276256"/>
                  </a:lnTo>
                  <a:lnTo>
                    <a:pt x="536378" y="267644"/>
                  </a:lnTo>
                  <a:lnTo>
                    <a:pt x="585268" y="263063"/>
                  </a:lnTo>
                  <a:lnTo>
                    <a:pt x="586662" y="271675"/>
                  </a:lnTo>
                  <a:close/>
                  <a:moveTo>
                    <a:pt x="573735" y="214765"/>
                  </a:moveTo>
                  <a:cubicBezTo>
                    <a:pt x="579035" y="229029"/>
                    <a:pt x="571919" y="242992"/>
                    <a:pt x="558713" y="247895"/>
                  </a:cubicBezTo>
                  <a:cubicBezTo>
                    <a:pt x="545511" y="252799"/>
                    <a:pt x="530953" y="246731"/>
                    <a:pt x="525658" y="232468"/>
                  </a:cubicBezTo>
                  <a:cubicBezTo>
                    <a:pt x="520358" y="218204"/>
                    <a:pt x="527477" y="204241"/>
                    <a:pt x="540679" y="199339"/>
                  </a:cubicBezTo>
                  <a:cubicBezTo>
                    <a:pt x="553885" y="194435"/>
                    <a:pt x="568438" y="200502"/>
                    <a:pt x="573735" y="214765"/>
                  </a:cubicBezTo>
                  <a:close/>
                  <a:moveTo>
                    <a:pt x="537094" y="149099"/>
                  </a:moveTo>
                  <a:lnTo>
                    <a:pt x="519882" y="160401"/>
                  </a:lnTo>
                  <a:lnTo>
                    <a:pt x="522634" y="164557"/>
                  </a:lnTo>
                  <a:lnTo>
                    <a:pt x="549065" y="167549"/>
                  </a:lnTo>
                  <a:lnTo>
                    <a:pt x="554393" y="176192"/>
                  </a:lnTo>
                  <a:lnTo>
                    <a:pt x="524337" y="171923"/>
                  </a:lnTo>
                  <a:lnTo>
                    <a:pt x="519145" y="188014"/>
                  </a:lnTo>
                  <a:cubicBezTo>
                    <a:pt x="517369" y="193677"/>
                    <a:pt x="517377" y="197562"/>
                    <a:pt x="520098" y="199921"/>
                  </a:cubicBezTo>
                  <a:lnTo>
                    <a:pt x="513772" y="204075"/>
                  </a:lnTo>
                  <a:cubicBezTo>
                    <a:pt x="507903" y="199120"/>
                    <a:pt x="508580" y="191910"/>
                    <a:pt x="511302" y="184451"/>
                  </a:cubicBezTo>
                  <a:lnTo>
                    <a:pt x="516401" y="169772"/>
                  </a:lnTo>
                  <a:lnTo>
                    <a:pt x="513129" y="164775"/>
                  </a:lnTo>
                  <a:lnTo>
                    <a:pt x="496009" y="176005"/>
                  </a:lnTo>
                  <a:lnTo>
                    <a:pt x="490899" y="168952"/>
                  </a:lnTo>
                  <a:lnTo>
                    <a:pt x="531829" y="142076"/>
                  </a:lnTo>
                  <a:lnTo>
                    <a:pt x="537094" y="149099"/>
                  </a:lnTo>
                  <a:close/>
                  <a:moveTo>
                    <a:pt x="456240" y="119823"/>
                  </a:moveTo>
                  <a:lnTo>
                    <a:pt x="464924" y="121018"/>
                  </a:lnTo>
                  <a:cubicBezTo>
                    <a:pt x="464343" y="123802"/>
                    <a:pt x="464510" y="126690"/>
                    <a:pt x="465404" y="129388"/>
                  </a:cubicBezTo>
                  <a:cubicBezTo>
                    <a:pt x="466299" y="132087"/>
                    <a:pt x="467894" y="134500"/>
                    <a:pt x="470027" y="136383"/>
                  </a:cubicBezTo>
                  <a:cubicBezTo>
                    <a:pt x="476322" y="142107"/>
                    <a:pt x="485068" y="141971"/>
                    <a:pt x="491510" y="137224"/>
                  </a:cubicBezTo>
                  <a:cubicBezTo>
                    <a:pt x="487852" y="133474"/>
                    <a:pt x="484073" y="129807"/>
                    <a:pt x="480198" y="126295"/>
                  </a:cubicBezTo>
                  <a:cubicBezTo>
                    <a:pt x="478637" y="124872"/>
                    <a:pt x="477081" y="123459"/>
                    <a:pt x="475447" y="122078"/>
                  </a:cubicBezTo>
                  <a:lnTo>
                    <a:pt x="480507" y="116228"/>
                  </a:lnTo>
                  <a:cubicBezTo>
                    <a:pt x="482142" y="117642"/>
                    <a:pt x="483790" y="119107"/>
                    <a:pt x="485401" y="120561"/>
                  </a:cubicBezTo>
                  <a:cubicBezTo>
                    <a:pt x="489265" y="124083"/>
                    <a:pt x="493048" y="127729"/>
                    <a:pt x="496706" y="131480"/>
                  </a:cubicBezTo>
                  <a:cubicBezTo>
                    <a:pt x="500860" y="124602"/>
                    <a:pt x="500090" y="116094"/>
                    <a:pt x="493826" y="110401"/>
                  </a:cubicBezTo>
                  <a:cubicBezTo>
                    <a:pt x="491793" y="108516"/>
                    <a:pt x="489311" y="107180"/>
                    <a:pt x="486617" y="106520"/>
                  </a:cubicBezTo>
                  <a:cubicBezTo>
                    <a:pt x="483922" y="105860"/>
                    <a:pt x="481107" y="105898"/>
                    <a:pt x="478433" y="106630"/>
                  </a:cubicBezTo>
                  <a:lnTo>
                    <a:pt x="476509" y="97945"/>
                  </a:lnTo>
                  <a:cubicBezTo>
                    <a:pt x="480515" y="97118"/>
                    <a:pt x="484662" y="97273"/>
                    <a:pt x="488595" y="98395"/>
                  </a:cubicBezTo>
                  <a:cubicBezTo>
                    <a:pt x="492529" y="99516"/>
                    <a:pt x="496137" y="101571"/>
                    <a:pt x="499103" y="104386"/>
                  </a:cubicBezTo>
                  <a:cubicBezTo>
                    <a:pt x="510365" y="114619"/>
                    <a:pt x="510469" y="130493"/>
                    <a:pt x="501100" y="140808"/>
                  </a:cubicBezTo>
                  <a:cubicBezTo>
                    <a:pt x="491728" y="151125"/>
                    <a:pt x="476020" y="152631"/>
                    <a:pt x="464739" y="142398"/>
                  </a:cubicBezTo>
                  <a:cubicBezTo>
                    <a:pt x="461571" y="139626"/>
                    <a:pt x="459137" y="136116"/>
                    <a:pt x="457654" y="132178"/>
                  </a:cubicBezTo>
                  <a:cubicBezTo>
                    <a:pt x="456167" y="128239"/>
                    <a:pt x="455679" y="123996"/>
                    <a:pt x="456229" y="119823"/>
                  </a:cubicBezTo>
                  <a:lnTo>
                    <a:pt x="456240" y="119823"/>
                  </a:lnTo>
                  <a:close/>
                  <a:moveTo>
                    <a:pt x="417274" y="81250"/>
                  </a:moveTo>
                  <a:cubicBezTo>
                    <a:pt x="418152" y="79494"/>
                    <a:pt x="419534" y="78038"/>
                    <a:pt x="421245" y="77068"/>
                  </a:cubicBezTo>
                  <a:cubicBezTo>
                    <a:pt x="422952" y="76099"/>
                    <a:pt x="424912" y="75659"/>
                    <a:pt x="426871" y="75804"/>
                  </a:cubicBezTo>
                  <a:cubicBezTo>
                    <a:pt x="428830" y="75948"/>
                    <a:pt x="430704" y="76672"/>
                    <a:pt x="432253" y="77882"/>
                  </a:cubicBezTo>
                  <a:cubicBezTo>
                    <a:pt x="433801" y="79093"/>
                    <a:pt x="434955" y="80736"/>
                    <a:pt x="435566" y="82603"/>
                  </a:cubicBezTo>
                  <a:cubicBezTo>
                    <a:pt x="436178" y="84469"/>
                    <a:pt x="436225" y="86476"/>
                    <a:pt x="435694" y="88369"/>
                  </a:cubicBezTo>
                  <a:cubicBezTo>
                    <a:pt x="435167" y="90261"/>
                    <a:pt x="434087" y="91954"/>
                    <a:pt x="432596" y="93232"/>
                  </a:cubicBezTo>
                  <a:cubicBezTo>
                    <a:pt x="431103" y="94510"/>
                    <a:pt x="429264" y="95317"/>
                    <a:pt x="427312" y="95549"/>
                  </a:cubicBezTo>
                  <a:cubicBezTo>
                    <a:pt x="425361" y="95782"/>
                    <a:pt x="423387" y="95429"/>
                    <a:pt x="421636" y="94537"/>
                  </a:cubicBezTo>
                  <a:cubicBezTo>
                    <a:pt x="419298" y="93351"/>
                    <a:pt x="417525" y="91287"/>
                    <a:pt x="416704" y="88797"/>
                  </a:cubicBezTo>
                  <a:cubicBezTo>
                    <a:pt x="415883" y="86306"/>
                    <a:pt x="416085" y="83593"/>
                    <a:pt x="417261" y="81250"/>
                  </a:cubicBezTo>
                  <a:lnTo>
                    <a:pt x="417274" y="81250"/>
                  </a:lnTo>
                  <a:close/>
                  <a:moveTo>
                    <a:pt x="411311" y="397888"/>
                  </a:moveTo>
                  <a:lnTo>
                    <a:pt x="411311" y="453988"/>
                  </a:lnTo>
                  <a:lnTo>
                    <a:pt x="234701" y="453988"/>
                  </a:lnTo>
                  <a:lnTo>
                    <a:pt x="234701" y="161824"/>
                  </a:lnTo>
                  <a:lnTo>
                    <a:pt x="296566" y="161824"/>
                  </a:lnTo>
                  <a:cubicBezTo>
                    <a:pt x="297148" y="161824"/>
                    <a:pt x="297605" y="161824"/>
                    <a:pt x="298062" y="161824"/>
                  </a:cubicBezTo>
                  <a:lnTo>
                    <a:pt x="313053" y="161824"/>
                  </a:lnTo>
                  <a:cubicBezTo>
                    <a:pt x="342681" y="161824"/>
                    <a:pt x="355075" y="167018"/>
                    <a:pt x="369152" y="177855"/>
                  </a:cubicBezTo>
                  <a:cubicBezTo>
                    <a:pt x="389557" y="193853"/>
                    <a:pt x="392774" y="217072"/>
                    <a:pt x="392774" y="228697"/>
                  </a:cubicBezTo>
                  <a:cubicBezTo>
                    <a:pt x="392774" y="243116"/>
                    <a:pt x="388372" y="258336"/>
                    <a:pt x="377556" y="270740"/>
                  </a:cubicBezTo>
                  <a:cubicBezTo>
                    <a:pt x="371905" y="277513"/>
                    <a:pt x="363282" y="286437"/>
                    <a:pt x="349122" y="292265"/>
                  </a:cubicBezTo>
                  <a:cubicBezTo>
                    <a:pt x="394001" y="308160"/>
                    <a:pt x="411311" y="344220"/>
                    <a:pt x="411311" y="397888"/>
                  </a:cubicBezTo>
                  <a:close/>
                  <a:moveTo>
                    <a:pt x="359117" y="37877"/>
                  </a:moveTo>
                  <a:lnTo>
                    <a:pt x="367043" y="39363"/>
                  </a:lnTo>
                  <a:lnTo>
                    <a:pt x="379312" y="93062"/>
                  </a:lnTo>
                  <a:lnTo>
                    <a:pt x="370118" y="90444"/>
                  </a:lnTo>
                  <a:lnTo>
                    <a:pt x="367489" y="78040"/>
                  </a:lnTo>
                  <a:cubicBezTo>
                    <a:pt x="363697" y="77136"/>
                    <a:pt x="359854" y="76315"/>
                    <a:pt x="356062" y="75598"/>
                  </a:cubicBezTo>
                  <a:cubicBezTo>
                    <a:pt x="352270" y="74882"/>
                    <a:pt x="348385" y="74259"/>
                    <a:pt x="344531" y="73718"/>
                  </a:cubicBezTo>
                  <a:lnTo>
                    <a:pt x="337466" y="84335"/>
                  </a:lnTo>
                  <a:lnTo>
                    <a:pt x="328210" y="83473"/>
                  </a:lnTo>
                  <a:lnTo>
                    <a:pt x="359117" y="37877"/>
                  </a:lnTo>
                  <a:close/>
                  <a:moveTo>
                    <a:pt x="270812" y="78539"/>
                  </a:moveTo>
                  <a:cubicBezTo>
                    <a:pt x="271750" y="78748"/>
                    <a:pt x="272713" y="78818"/>
                    <a:pt x="273670" y="78746"/>
                  </a:cubicBezTo>
                  <a:cubicBezTo>
                    <a:pt x="278676" y="78372"/>
                    <a:pt x="283092" y="74840"/>
                    <a:pt x="280848" y="45274"/>
                  </a:cubicBezTo>
                  <a:lnTo>
                    <a:pt x="280693" y="43300"/>
                  </a:lnTo>
                  <a:lnTo>
                    <a:pt x="280111" y="35592"/>
                  </a:lnTo>
                  <a:lnTo>
                    <a:pt x="281346" y="35446"/>
                  </a:lnTo>
                  <a:lnTo>
                    <a:pt x="300047" y="34023"/>
                  </a:lnTo>
                  <a:cubicBezTo>
                    <a:pt x="304721" y="33826"/>
                    <a:pt x="309396" y="33742"/>
                    <a:pt x="314082" y="33774"/>
                  </a:cubicBezTo>
                  <a:lnTo>
                    <a:pt x="314674" y="41513"/>
                  </a:lnTo>
                  <a:lnTo>
                    <a:pt x="317791" y="82351"/>
                  </a:lnTo>
                  <a:lnTo>
                    <a:pt x="309115" y="83016"/>
                  </a:lnTo>
                  <a:lnTo>
                    <a:pt x="305999" y="41565"/>
                  </a:lnTo>
                  <a:cubicBezTo>
                    <a:pt x="301116" y="41679"/>
                    <a:pt x="296223" y="41919"/>
                    <a:pt x="291371" y="42293"/>
                  </a:cubicBezTo>
                  <a:lnTo>
                    <a:pt x="288878" y="42500"/>
                  </a:lnTo>
                  <a:lnTo>
                    <a:pt x="289253" y="47196"/>
                  </a:lnTo>
                  <a:cubicBezTo>
                    <a:pt x="291642" y="78601"/>
                    <a:pt x="286406" y="85312"/>
                    <a:pt x="276671" y="86050"/>
                  </a:cubicBezTo>
                  <a:cubicBezTo>
                    <a:pt x="274647" y="86157"/>
                    <a:pt x="272617" y="86053"/>
                    <a:pt x="270615" y="85738"/>
                  </a:cubicBezTo>
                  <a:lnTo>
                    <a:pt x="270812" y="78539"/>
                  </a:lnTo>
                  <a:close/>
                  <a:moveTo>
                    <a:pt x="225643" y="46334"/>
                  </a:moveTo>
                  <a:cubicBezTo>
                    <a:pt x="240114" y="41638"/>
                    <a:pt x="253775" y="49326"/>
                    <a:pt x="258128" y="62717"/>
                  </a:cubicBezTo>
                  <a:cubicBezTo>
                    <a:pt x="262481" y="76108"/>
                    <a:pt x="255811" y="90403"/>
                    <a:pt x="241340" y="95108"/>
                  </a:cubicBezTo>
                  <a:cubicBezTo>
                    <a:pt x="226869" y="99815"/>
                    <a:pt x="213218" y="92117"/>
                    <a:pt x="208865" y="78726"/>
                  </a:cubicBezTo>
                  <a:cubicBezTo>
                    <a:pt x="204512" y="65335"/>
                    <a:pt x="211151" y="51009"/>
                    <a:pt x="225612" y="46302"/>
                  </a:cubicBezTo>
                  <a:lnTo>
                    <a:pt x="225643" y="46334"/>
                  </a:lnTo>
                  <a:close/>
                  <a:moveTo>
                    <a:pt x="156578" y="81229"/>
                  </a:moveTo>
                  <a:lnTo>
                    <a:pt x="167258" y="98765"/>
                  </a:lnTo>
                  <a:lnTo>
                    <a:pt x="171559" y="96137"/>
                  </a:lnTo>
                  <a:lnTo>
                    <a:pt x="175402" y="69833"/>
                  </a:lnTo>
                  <a:lnTo>
                    <a:pt x="184212" y="64784"/>
                  </a:lnTo>
                  <a:lnTo>
                    <a:pt x="179018" y="94683"/>
                  </a:lnTo>
                  <a:lnTo>
                    <a:pt x="194933" y="100376"/>
                  </a:lnTo>
                  <a:cubicBezTo>
                    <a:pt x="200533" y="102349"/>
                    <a:pt x="204418" y="102453"/>
                    <a:pt x="206860" y="99804"/>
                  </a:cubicBezTo>
                  <a:lnTo>
                    <a:pt x="210808" y="106266"/>
                  </a:lnTo>
                  <a:cubicBezTo>
                    <a:pt x="205676" y="111980"/>
                    <a:pt x="198476" y="111066"/>
                    <a:pt x="191069" y="108105"/>
                  </a:cubicBezTo>
                  <a:lnTo>
                    <a:pt x="176524" y="102536"/>
                  </a:lnTo>
                  <a:lnTo>
                    <a:pt x="171424" y="105653"/>
                  </a:lnTo>
                  <a:lnTo>
                    <a:pt x="182093" y="123117"/>
                  </a:lnTo>
                  <a:lnTo>
                    <a:pt x="174883" y="127999"/>
                  </a:lnTo>
                  <a:lnTo>
                    <a:pt x="149411" y="86226"/>
                  </a:lnTo>
                  <a:lnTo>
                    <a:pt x="156578" y="81229"/>
                  </a:lnTo>
                  <a:close/>
                  <a:moveTo>
                    <a:pt x="86715" y="148756"/>
                  </a:moveTo>
                  <a:lnTo>
                    <a:pt x="118203" y="175766"/>
                  </a:lnTo>
                  <a:cubicBezTo>
                    <a:pt x="121921" y="170489"/>
                    <a:pt x="125842" y="165374"/>
                    <a:pt x="129962" y="160422"/>
                  </a:cubicBezTo>
                  <a:lnTo>
                    <a:pt x="98693" y="133411"/>
                  </a:lnTo>
                  <a:cubicBezTo>
                    <a:pt x="100549" y="131188"/>
                    <a:pt x="102447" y="128993"/>
                    <a:pt x="104386" y="126825"/>
                  </a:cubicBezTo>
                  <a:lnTo>
                    <a:pt x="135645" y="153836"/>
                  </a:lnTo>
                  <a:cubicBezTo>
                    <a:pt x="140008" y="148988"/>
                    <a:pt x="144573" y="144306"/>
                    <a:pt x="149337" y="139790"/>
                  </a:cubicBezTo>
                  <a:lnTo>
                    <a:pt x="117849" y="112780"/>
                  </a:lnTo>
                  <a:cubicBezTo>
                    <a:pt x="119927" y="110750"/>
                    <a:pt x="122029" y="108763"/>
                    <a:pt x="124155" y="106817"/>
                  </a:cubicBezTo>
                  <a:lnTo>
                    <a:pt x="155654" y="134014"/>
                  </a:lnTo>
                  <a:lnTo>
                    <a:pt x="161814" y="139344"/>
                  </a:lnTo>
                  <a:cubicBezTo>
                    <a:pt x="145401" y="153612"/>
                    <a:pt x="131104" y="170147"/>
                    <a:pt x="119355" y="188451"/>
                  </a:cubicBezTo>
                  <a:lnTo>
                    <a:pt x="113237" y="183153"/>
                  </a:lnTo>
                  <a:lnTo>
                    <a:pt x="81697" y="155830"/>
                  </a:lnTo>
                  <a:cubicBezTo>
                    <a:pt x="83331" y="153469"/>
                    <a:pt x="84993" y="151115"/>
                    <a:pt x="86683" y="148766"/>
                  </a:cubicBezTo>
                  <a:lnTo>
                    <a:pt x="86715" y="148756"/>
                  </a:lnTo>
                  <a:close/>
                  <a:moveTo>
                    <a:pt x="67392" y="213779"/>
                  </a:moveTo>
                  <a:cubicBezTo>
                    <a:pt x="68123" y="211957"/>
                    <a:pt x="69378" y="210394"/>
                    <a:pt x="70998" y="209287"/>
                  </a:cubicBezTo>
                  <a:cubicBezTo>
                    <a:pt x="72617" y="208179"/>
                    <a:pt x="74530" y="207577"/>
                    <a:pt x="76492" y="207555"/>
                  </a:cubicBezTo>
                  <a:cubicBezTo>
                    <a:pt x="78454" y="207534"/>
                    <a:pt x="80378" y="208096"/>
                    <a:pt x="82021" y="209168"/>
                  </a:cubicBezTo>
                  <a:cubicBezTo>
                    <a:pt x="83665" y="210241"/>
                    <a:pt x="84953" y="211777"/>
                    <a:pt x="85723" y="213582"/>
                  </a:cubicBezTo>
                  <a:cubicBezTo>
                    <a:pt x="86493" y="215387"/>
                    <a:pt x="86711" y="217380"/>
                    <a:pt x="86349" y="219309"/>
                  </a:cubicBezTo>
                  <a:cubicBezTo>
                    <a:pt x="85986" y="221237"/>
                    <a:pt x="85060" y="223015"/>
                    <a:pt x="83687" y="224417"/>
                  </a:cubicBezTo>
                  <a:cubicBezTo>
                    <a:pt x="82314" y="225819"/>
                    <a:pt x="80556" y="226783"/>
                    <a:pt x="78636" y="227186"/>
                  </a:cubicBezTo>
                  <a:cubicBezTo>
                    <a:pt x="76715" y="227589"/>
                    <a:pt x="74718" y="227414"/>
                    <a:pt x="72897" y="226681"/>
                  </a:cubicBezTo>
                  <a:cubicBezTo>
                    <a:pt x="70455" y="225704"/>
                    <a:pt x="68501" y="223797"/>
                    <a:pt x="67463" y="221380"/>
                  </a:cubicBezTo>
                  <a:cubicBezTo>
                    <a:pt x="66424" y="218963"/>
                    <a:pt x="66388" y="216233"/>
                    <a:pt x="67360" y="213789"/>
                  </a:cubicBezTo>
                  <a:lnTo>
                    <a:pt x="67392" y="213779"/>
                  </a:lnTo>
                  <a:close/>
                  <a:moveTo>
                    <a:pt x="35083" y="286603"/>
                  </a:moveTo>
                  <a:cubicBezTo>
                    <a:pt x="35197" y="285201"/>
                    <a:pt x="36360" y="274356"/>
                    <a:pt x="36838" y="271612"/>
                  </a:cubicBezTo>
                  <a:lnTo>
                    <a:pt x="85831" y="275540"/>
                  </a:lnTo>
                  <a:lnTo>
                    <a:pt x="84616" y="284307"/>
                  </a:lnTo>
                  <a:lnTo>
                    <a:pt x="66851" y="282708"/>
                  </a:lnTo>
                  <a:lnTo>
                    <a:pt x="66352" y="288775"/>
                  </a:lnTo>
                  <a:lnTo>
                    <a:pt x="77988" y="298530"/>
                  </a:lnTo>
                  <a:cubicBezTo>
                    <a:pt x="83764" y="303402"/>
                    <a:pt x="84855" y="309240"/>
                    <a:pt x="82964" y="313271"/>
                  </a:cubicBezTo>
                  <a:lnTo>
                    <a:pt x="75463" y="313417"/>
                  </a:lnTo>
                  <a:cubicBezTo>
                    <a:pt x="76502" y="310726"/>
                    <a:pt x="74902" y="306799"/>
                    <a:pt x="72576" y="304763"/>
                  </a:cubicBezTo>
                  <a:lnTo>
                    <a:pt x="63953" y="297314"/>
                  </a:lnTo>
                  <a:cubicBezTo>
                    <a:pt x="62208" y="301292"/>
                    <a:pt x="57543" y="306373"/>
                    <a:pt x="49076" y="305687"/>
                  </a:cubicBezTo>
                  <a:cubicBezTo>
                    <a:pt x="40609" y="305001"/>
                    <a:pt x="33961" y="300088"/>
                    <a:pt x="35051" y="286613"/>
                  </a:cubicBezTo>
                  <a:lnTo>
                    <a:pt x="35083" y="286603"/>
                  </a:lnTo>
                  <a:close/>
                  <a:moveTo>
                    <a:pt x="36786" y="351647"/>
                  </a:moveTo>
                  <a:lnTo>
                    <a:pt x="83110" y="321966"/>
                  </a:lnTo>
                  <a:lnTo>
                    <a:pt x="83764" y="331493"/>
                  </a:lnTo>
                  <a:lnTo>
                    <a:pt x="72970" y="338163"/>
                  </a:lnTo>
                  <a:cubicBezTo>
                    <a:pt x="73406" y="342037"/>
                    <a:pt x="73936" y="345933"/>
                    <a:pt x="74560" y="349777"/>
                  </a:cubicBezTo>
                  <a:cubicBezTo>
                    <a:pt x="75183" y="353621"/>
                    <a:pt x="75890" y="357464"/>
                    <a:pt x="76689" y="361277"/>
                  </a:cubicBezTo>
                  <a:lnTo>
                    <a:pt x="89062" y="364394"/>
                  </a:lnTo>
                  <a:lnTo>
                    <a:pt x="91379" y="373391"/>
                  </a:lnTo>
                  <a:lnTo>
                    <a:pt x="38002" y="359667"/>
                  </a:lnTo>
                  <a:lnTo>
                    <a:pt x="36786" y="351647"/>
                  </a:lnTo>
                  <a:close/>
                  <a:moveTo>
                    <a:pt x="78341" y="462912"/>
                  </a:moveTo>
                  <a:cubicBezTo>
                    <a:pt x="76776" y="460480"/>
                    <a:pt x="75242" y="458025"/>
                    <a:pt x="73739" y="455544"/>
                  </a:cubicBezTo>
                  <a:lnTo>
                    <a:pt x="110920" y="437104"/>
                  </a:lnTo>
                  <a:cubicBezTo>
                    <a:pt x="107505" y="431617"/>
                    <a:pt x="104323" y="426012"/>
                    <a:pt x="101373" y="420285"/>
                  </a:cubicBezTo>
                  <a:lnTo>
                    <a:pt x="64285" y="438516"/>
                  </a:lnTo>
                  <a:cubicBezTo>
                    <a:pt x="62969" y="435942"/>
                    <a:pt x="61688" y="433336"/>
                    <a:pt x="60441" y="430704"/>
                  </a:cubicBezTo>
                  <a:lnTo>
                    <a:pt x="97539" y="412473"/>
                  </a:lnTo>
                  <a:cubicBezTo>
                    <a:pt x="94769" y="406557"/>
                    <a:pt x="92241" y="400529"/>
                    <a:pt x="89956" y="394385"/>
                  </a:cubicBezTo>
                  <a:lnTo>
                    <a:pt x="52744" y="412805"/>
                  </a:lnTo>
                  <a:cubicBezTo>
                    <a:pt x="51698" y="410111"/>
                    <a:pt x="50690" y="407405"/>
                    <a:pt x="49720" y="404683"/>
                  </a:cubicBezTo>
                  <a:lnTo>
                    <a:pt x="87119" y="386304"/>
                  </a:lnTo>
                  <a:lnTo>
                    <a:pt x="94392" y="382709"/>
                  </a:lnTo>
                  <a:cubicBezTo>
                    <a:pt x="101125" y="403390"/>
                    <a:pt x="110769" y="423007"/>
                    <a:pt x="123033" y="440967"/>
                  </a:cubicBezTo>
                  <a:lnTo>
                    <a:pt x="115762" y="444552"/>
                  </a:lnTo>
                  <a:lnTo>
                    <a:pt x="78341" y="462912"/>
                  </a:lnTo>
                  <a:close/>
                  <a:moveTo>
                    <a:pt x="106681" y="500736"/>
                  </a:moveTo>
                  <a:cubicBezTo>
                    <a:pt x="103839" y="497794"/>
                    <a:pt x="101749" y="494209"/>
                    <a:pt x="100592" y="490284"/>
                  </a:cubicBezTo>
                  <a:cubicBezTo>
                    <a:pt x="99434" y="486361"/>
                    <a:pt x="99242" y="482215"/>
                    <a:pt x="100033" y="478204"/>
                  </a:cubicBezTo>
                  <a:lnTo>
                    <a:pt x="108728" y="480039"/>
                  </a:lnTo>
                  <a:cubicBezTo>
                    <a:pt x="108024" y="482722"/>
                    <a:pt x="108014" y="485540"/>
                    <a:pt x="108700" y="488231"/>
                  </a:cubicBezTo>
                  <a:cubicBezTo>
                    <a:pt x="109385" y="490918"/>
                    <a:pt x="110742" y="493388"/>
                    <a:pt x="112645" y="495405"/>
                  </a:cubicBezTo>
                  <a:cubicBezTo>
                    <a:pt x="119325" y="502614"/>
                    <a:pt x="129755" y="502324"/>
                    <a:pt x="136923" y="495688"/>
                  </a:cubicBezTo>
                  <a:cubicBezTo>
                    <a:pt x="144091" y="489048"/>
                    <a:pt x="145088" y="478575"/>
                    <a:pt x="138408" y="471367"/>
                  </a:cubicBezTo>
                  <a:cubicBezTo>
                    <a:pt x="136501" y="469261"/>
                    <a:pt x="134071" y="467692"/>
                    <a:pt x="131363" y="466829"/>
                  </a:cubicBezTo>
                  <a:cubicBezTo>
                    <a:pt x="128655" y="465966"/>
                    <a:pt x="125767" y="465838"/>
                    <a:pt x="122992" y="466454"/>
                  </a:cubicBezTo>
                  <a:lnTo>
                    <a:pt x="121714" y="457778"/>
                  </a:lnTo>
                  <a:cubicBezTo>
                    <a:pt x="125883" y="457189"/>
                    <a:pt x="130133" y="457639"/>
                    <a:pt x="134086" y="459090"/>
                  </a:cubicBezTo>
                  <a:cubicBezTo>
                    <a:pt x="138039" y="460538"/>
                    <a:pt x="141572" y="462942"/>
                    <a:pt x="144372" y="466090"/>
                  </a:cubicBezTo>
                  <a:cubicBezTo>
                    <a:pt x="154708" y="477255"/>
                    <a:pt x="153451" y="492870"/>
                    <a:pt x="143125" y="502448"/>
                  </a:cubicBezTo>
                  <a:cubicBezTo>
                    <a:pt x="132799" y="512026"/>
                    <a:pt x="117018" y="511933"/>
                    <a:pt x="106681" y="500736"/>
                  </a:cubicBezTo>
                  <a:close/>
                  <a:moveTo>
                    <a:pt x="143915" y="534302"/>
                  </a:moveTo>
                  <a:lnTo>
                    <a:pt x="172411" y="493787"/>
                  </a:lnTo>
                  <a:lnTo>
                    <a:pt x="179465" y="498750"/>
                  </a:lnTo>
                  <a:lnTo>
                    <a:pt x="150979" y="539266"/>
                  </a:lnTo>
                  <a:lnTo>
                    <a:pt x="143915" y="534302"/>
                  </a:lnTo>
                  <a:close/>
                  <a:moveTo>
                    <a:pt x="192742" y="564125"/>
                  </a:moveTo>
                  <a:lnTo>
                    <a:pt x="185303" y="559743"/>
                  </a:lnTo>
                  <a:lnTo>
                    <a:pt x="194341" y="544377"/>
                  </a:lnTo>
                  <a:lnTo>
                    <a:pt x="187578" y="540400"/>
                  </a:lnTo>
                  <a:cubicBezTo>
                    <a:pt x="178000" y="534760"/>
                    <a:pt x="174333" y="526199"/>
                    <a:pt x="179403" y="517605"/>
                  </a:cubicBezTo>
                  <a:cubicBezTo>
                    <a:pt x="184472" y="509014"/>
                    <a:pt x="193832" y="507303"/>
                    <a:pt x="203712" y="513110"/>
                  </a:cubicBezTo>
                  <a:lnTo>
                    <a:pt x="217861" y="521418"/>
                  </a:lnTo>
                  <a:lnTo>
                    <a:pt x="192742" y="564125"/>
                  </a:lnTo>
                  <a:close/>
                  <a:moveTo>
                    <a:pt x="252684" y="583670"/>
                  </a:moveTo>
                  <a:lnTo>
                    <a:pt x="234566" y="579066"/>
                  </a:lnTo>
                  <a:cubicBezTo>
                    <a:pt x="229122" y="577486"/>
                    <a:pt x="225372" y="574444"/>
                    <a:pt x="223440" y="570932"/>
                  </a:cubicBezTo>
                  <a:cubicBezTo>
                    <a:pt x="222685" y="569580"/>
                    <a:pt x="222219" y="568090"/>
                    <a:pt x="222070" y="566549"/>
                  </a:cubicBezTo>
                  <a:cubicBezTo>
                    <a:pt x="221922" y="565008"/>
                    <a:pt x="222095" y="563456"/>
                    <a:pt x="222578" y="561989"/>
                  </a:cubicBezTo>
                  <a:cubicBezTo>
                    <a:pt x="224229" y="556281"/>
                    <a:pt x="228385" y="554175"/>
                    <a:pt x="232447" y="553363"/>
                  </a:cubicBezTo>
                  <a:cubicBezTo>
                    <a:pt x="227429" y="549843"/>
                    <a:pt x="224489" y="545523"/>
                    <a:pt x="226401" y="538933"/>
                  </a:cubicBezTo>
                  <a:cubicBezTo>
                    <a:pt x="228862" y="530435"/>
                    <a:pt x="237184" y="527911"/>
                    <a:pt x="247791" y="530996"/>
                  </a:cubicBezTo>
                  <a:lnTo>
                    <a:pt x="266408" y="536409"/>
                  </a:lnTo>
                  <a:lnTo>
                    <a:pt x="252684" y="583670"/>
                  </a:lnTo>
                  <a:close/>
                  <a:moveTo>
                    <a:pt x="311764" y="575307"/>
                  </a:moveTo>
                  <a:cubicBezTo>
                    <a:pt x="309802" y="575307"/>
                    <a:pt x="307885" y="574722"/>
                    <a:pt x="306253" y="573634"/>
                  </a:cubicBezTo>
                  <a:cubicBezTo>
                    <a:pt x="304621" y="572542"/>
                    <a:pt x="303350" y="570994"/>
                    <a:pt x="302598" y="569182"/>
                  </a:cubicBezTo>
                  <a:cubicBezTo>
                    <a:pt x="301848" y="567366"/>
                    <a:pt x="301651" y="565372"/>
                    <a:pt x="302034" y="563448"/>
                  </a:cubicBezTo>
                  <a:cubicBezTo>
                    <a:pt x="302417" y="561524"/>
                    <a:pt x="303362" y="559754"/>
                    <a:pt x="304749" y="558368"/>
                  </a:cubicBezTo>
                  <a:cubicBezTo>
                    <a:pt x="306137" y="556982"/>
                    <a:pt x="307905" y="556038"/>
                    <a:pt x="309830" y="555655"/>
                  </a:cubicBezTo>
                  <a:cubicBezTo>
                    <a:pt x="311754" y="555272"/>
                    <a:pt x="313748" y="555469"/>
                    <a:pt x="315562" y="556219"/>
                  </a:cubicBezTo>
                  <a:cubicBezTo>
                    <a:pt x="317374" y="556967"/>
                    <a:pt x="318924" y="558241"/>
                    <a:pt x="320014" y="559870"/>
                  </a:cubicBezTo>
                  <a:cubicBezTo>
                    <a:pt x="321104" y="561505"/>
                    <a:pt x="321685" y="563421"/>
                    <a:pt x="321685" y="565383"/>
                  </a:cubicBezTo>
                  <a:cubicBezTo>
                    <a:pt x="321693" y="566688"/>
                    <a:pt x="321442" y="567986"/>
                    <a:pt x="320946" y="569193"/>
                  </a:cubicBezTo>
                  <a:cubicBezTo>
                    <a:pt x="320452" y="570401"/>
                    <a:pt x="319722" y="571500"/>
                    <a:pt x="318801" y="572426"/>
                  </a:cubicBezTo>
                  <a:cubicBezTo>
                    <a:pt x="317880" y="573351"/>
                    <a:pt x="316786" y="574087"/>
                    <a:pt x="315580" y="574587"/>
                  </a:cubicBezTo>
                  <a:cubicBezTo>
                    <a:pt x="314374" y="575089"/>
                    <a:pt x="313081" y="575346"/>
                    <a:pt x="311775" y="575346"/>
                  </a:cubicBezTo>
                  <a:lnTo>
                    <a:pt x="311764" y="575307"/>
                  </a:lnTo>
                  <a:close/>
                  <a:moveTo>
                    <a:pt x="409480" y="571667"/>
                  </a:moveTo>
                  <a:lnTo>
                    <a:pt x="398543" y="537625"/>
                  </a:lnTo>
                  <a:lnTo>
                    <a:pt x="383696" y="579961"/>
                  </a:lnTo>
                  <a:lnTo>
                    <a:pt x="375479" y="582035"/>
                  </a:lnTo>
                  <a:lnTo>
                    <a:pt x="360487" y="535255"/>
                  </a:lnTo>
                  <a:lnTo>
                    <a:pt x="368799" y="533180"/>
                  </a:lnTo>
                  <a:lnTo>
                    <a:pt x="379842" y="567544"/>
                  </a:lnTo>
                  <a:lnTo>
                    <a:pt x="394772" y="524825"/>
                  </a:lnTo>
                  <a:lnTo>
                    <a:pt x="402395" y="521708"/>
                  </a:lnTo>
                  <a:lnTo>
                    <a:pt x="417459" y="568574"/>
                  </a:lnTo>
                  <a:lnTo>
                    <a:pt x="409480" y="571667"/>
                  </a:lnTo>
                  <a:close/>
                  <a:moveTo>
                    <a:pt x="468281" y="541190"/>
                  </a:moveTo>
                  <a:lnTo>
                    <a:pt x="457444" y="523683"/>
                  </a:lnTo>
                  <a:lnTo>
                    <a:pt x="453167" y="526331"/>
                  </a:lnTo>
                  <a:lnTo>
                    <a:pt x="449488" y="552677"/>
                  </a:lnTo>
                  <a:lnTo>
                    <a:pt x="440700" y="557780"/>
                  </a:lnTo>
                  <a:lnTo>
                    <a:pt x="445768" y="527861"/>
                  </a:lnTo>
                  <a:lnTo>
                    <a:pt x="429813" y="522250"/>
                  </a:lnTo>
                  <a:cubicBezTo>
                    <a:pt x="424203" y="520319"/>
                    <a:pt x="420316" y="520172"/>
                    <a:pt x="417885" y="522893"/>
                  </a:cubicBezTo>
                  <a:lnTo>
                    <a:pt x="413905" y="516454"/>
                  </a:lnTo>
                  <a:cubicBezTo>
                    <a:pt x="419008" y="510718"/>
                    <a:pt x="426205" y="511592"/>
                    <a:pt x="433584" y="514511"/>
                  </a:cubicBezTo>
                  <a:lnTo>
                    <a:pt x="448126" y="519998"/>
                  </a:lnTo>
                  <a:lnTo>
                    <a:pt x="453206" y="516881"/>
                  </a:lnTo>
                  <a:lnTo>
                    <a:pt x="442435" y="499467"/>
                  </a:lnTo>
                  <a:lnTo>
                    <a:pt x="449613" y="494542"/>
                  </a:lnTo>
                  <a:lnTo>
                    <a:pt x="475397" y="536181"/>
                  </a:lnTo>
                  <a:lnTo>
                    <a:pt x="468281" y="541190"/>
                  </a:lnTo>
                  <a:close/>
                  <a:moveTo>
                    <a:pt x="525243" y="489369"/>
                  </a:moveTo>
                  <a:lnTo>
                    <a:pt x="498897" y="465184"/>
                  </a:lnTo>
                  <a:lnTo>
                    <a:pt x="506970" y="509358"/>
                  </a:lnTo>
                  <a:lnTo>
                    <a:pt x="500860" y="515247"/>
                  </a:lnTo>
                  <a:lnTo>
                    <a:pt x="464622" y="482005"/>
                  </a:lnTo>
                  <a:lnTo>
                    <a:pt x="470856" y="476082"/>
                  </a:lnTo>
                  <a:lnTo>
                    <a:pt x="497442" y="500496"/>
                  </a:lnTo>
                  <a:lnTo>
                    <a:pt x="489307" y="455919"/>
                  </a:lnTo>
                  <a:lnTo>
                    <a:pt x="494398" y="449446"/>
                  </a:lnTo>
                  <a:lnTo>
                    <a:pt x="530655" y="482742"/>
                  </a:lnTo>
                  <a:lnTo>
                    <a:pt x="525243" y="489369"/>
                  </a:lnTo>
                  <a:close/>
                  <a:moveTo>
                    <a:pt x="566402" y="422821"/>
                  </a:moveTo>
                  <a:cubicBezTo>
                    <a:pt x="566402" y="422821"/>
                    <a:pt x="532858" y="419162"/>
                    <a:pt x="527311" y="417904"/>
                  </a:cubicBezTo>
                  <a:lnTo>
                    <a:pt x="527206" y="418114"/>
                  </a:lnTo>
                  <a:cubicBezTo>
                    <a:pt x="531360" y="421761"/>
                    <a:pt x="554528" y="446860"/>
                    <a:pt x="554528" y="446860"/>
                  </a:cubicBezTo>
                  <a:lnTo>
                    <a:pt x="548295" y="457506"/>
                  </a:lnTo>
                  <a:lnTo>
                    <a:pt x="502417" y="438276"/>
                  </a:lnTo>
                  <a:lnTo>
                    <a:pt x="507279" y="430406"/>
                  </a:lnTo>
                  <a:lnTo>
                    <a:pt x="525898" y="438467"/>
                  </a:lnTo>
                  <a:cubicBezTo>
                    <a:pt x="531786" y="441021"/>
                    <a:pt x="538840" y="444064"/>
                    <a:pt x="544888" y="447138"/>
                  </a:cubicBezTo>
                  <a:lnTo>
                    <a:pt x="544992" y="446933"/>
                  </a:lnTo>
                  <a:cubicBezTo>
                    <a:pt x="540327" y="442713"/>
                    <a:pt x="515352" y="415380"/>
                    <a:pt x="515352" y="415380"/>
                  </a:cubicBezTo>
                  <a:lnTo>
                    <a:pt x="518603" y="408794"/>
                  </a:lnTo>
                  <a:cubicBezTo>
                    <a:pt x="518603" y="408794"/>
                    <a:pt x="554768" y="413139"/>
                    <a:pt x="560939" y="414626"/>
                  </a:cubicBezTo>
                  <a:lnTo>
                    <a:pt x="561009" y="414478"/>
                  </a:lnTo>
                  <a:cubicBezTo>
                    <a:pt x="555298" y="411361"/>
                    <a:pt x="548368" y="407622"/>
                    <a:pt x="542457" y="404277"/>
                  </a:cubicBezTo>
                  <a:lnTo>
                    <a:pt x="525065" y="394376"/>
                  </a:lnTo>
                  <a:lnTo>
                    <a:pt x="528182" y="385982"/>
                  </a:lnTo>
                  <a:lnTo>
                    <a:pt x="571160" y="411226"/>
                  </a:lnTo>
                  <a:lnTo>
                    <a:pt x="566402" y="422821"/>
                  </a:lnTo>
                  <a:close/>
                  <a:moveTo>
                    <a:pt x="586960" y="360550"/>
                  </a:moveTo>
                  <a:cubicBezTo>
                    <a:pt x="584323" y="375530"/>
                    <a:pt x="571118" y="383977"/>
                    <a:pt x="557249" y="381536"/>
                  </a:cubicBezTo>
                  <a:cubicBezTo>
                    <a:pt x="543382" y="379093"/>
                    <a:pt x="533884" y="366492"/>
                    <a:pt x="536533" y="351512"/>
                  </a:cubicBezTo>
                  <a:cubicBezTo>
                    <a:pt x="539185" y="336531"/>
                    <a:pt x="552379" y="328075"/>
                    <a:pt x="566247" y="330526"/>
                  </a:cubicBezTo>
                  <a:cubicBezTo>
                    <a:pt x="580115" y="332978"/>
                    <a:pt x="589569" y="345569"/>
                    <a:pt x="586960" y="360550"/>
                  </a:cubicBezTo>
                  <a:close/>
                </a:path>
              </a:pathLst>
            </a:custGeom>
            <a:solidFill>
              <a:srgbClr val="9b9b9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96" name="Группа 438"/>
          <p:cNvGrpSpPr/>
          <p:nvPr/>
        </p:nvGrpSpPr>
        <p:grpSpPr>
          <a:xfrm>
            <a:off x="5482440" y="3925080"/>
            <a:ext cx="2817000" cy="306360"/>
            <a:chOff x="5482440" y="3925080"/>
            <a:chExt cx="2817000" cy="306360"/>
          </a:xfrm>
        </p:grpSpPr>
        <p:sp>
          <p:nvSpPr>
            <p:cNvPr id="297" name="TextBox 421"/>
            <p:cNvSpPr/>
            <p:nvPr/>
          </p:nvSpPr>
          <p:spPr>
            <a:xfrm>
              <a:off x="5482440" y="3986280"/>
              <a:ext cx="281700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80000" indent="-180000" defTabSz="914400">
                <a:lnSpc>
                  <a:spcPct val="100000"/>
                </a:lnSpc>
                <a:spcAft>
                  <a:spcPts val="601"/>
                </a:spcAft>
                <a:buClr>
                  <a:srgbClr val="4525ff"/>
                </a:buClr>
                <a:buFont typeface="Arial"/>
                <a:buChar char="•"/>
              </a:pP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Единый регистр населения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98" name="Рисунок 18" descr=""/>
            <p:cNvPicPr/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-20000" contrast="4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7696800" y="3925080"/>
              <a:ext cx="296280" cy="306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99" name="TextBox 96"/>
          <p:cNvSpPr/>
          <p:nvPr/>
        </p:nvSpPr>
        <p:spPr>
          <a:xfrm>
            <a:off x="8915400" y="3234240"/>
            <a:ext cx="25142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0000" indent="-180000" defTabSz="914400">
              <a:lnSpc>
                <a:spcPct val="100000"/>
              </a:lnSpc>
              <a:spcAft>
                <a:spcPts val="601"/>
              </a:spcAft>
              <a:buClr>
                <a:srgbClr val="4525ff"/>
              </a:buClr>
              <a:buFont typeface="Arial"/>
              <a:buChar char="•"/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Продуктовый консалтинг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и исследования в HR-Tech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00" name="Группа 437"/>
          <p:cNvGrpSpPr/>
          <p:nvPr/>
        </p:nvGrpSpPr>
        <p:grpSpPr>
          <a:xfrm>
            <a:off x="5482440" y="4349520"/>
            <a:ext cx="2351520" cy="366120"/>
            <a:chOff x="5482440" y="4349520"/>
            <a:chExt cx="2351520" cy="366120"/>
          </a:xfrm>
        </p:grpSpPr>
        <p:pic>
          <p:nvPicPr>
            <p:cNvPr id="301" name="Рисунок 21" descr=""/>
            <p:cNvPicPr/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/>
          </p:blipFill>
          <p:spPr>
            <a:xfrm>
              <a:off x="6975000" y="4392000"/>
              <a:ext cx="858960" cy="284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2" name="TextBox 422"/>
            <p:cNvSpPr/>
            <p:nvPr/>
          </p:nvSpPr>
          <p:spPr>
            <a:xfrm>
              <a:off x="5482440" y="4349520"/>
              <a:ext cx="1470240" cy="36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80000" indent="-180000" defTabSz="914400">
                <a:lnSpc>
                  <a:spcPct val="100000"/>
                </a:lnSpc>
                <a:spcAft>
                  <a:spcPts val="601"/>
                </a:spcAft>
                <a:buClr>
                  <a:srgbClr val="4525ff"/>
                </a:buClr>
                <a:buFont typeface="Arial"/>
                <a:buChar char="•"/>
              </a:pP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Социальная </a:t>
              </a:r>
              <a:br>
                <a:rPr sz="1200"/>
              </a:b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карта Москвича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303" name="Группа 435"/>
          <p:cNvGrpSpPr/>
          <p:nvPr/>
        </p:nvGrpSpPr>
        <p:grpSpPr>
          <a:xfrm>
            <a:off x="5482440" y="5258520"/>
            <a:ext cx="2817000" cy="270360"/>
            <a:chOff x="5482440" y="5258520"/>
            <a:chExt cx="2817000" cy="270360"/>
          </a:xfrm>
        </p:grpSpPr>
        <p:pic>
          <p:nvPicPr>
            <p:cNvPr id="304" name="Рисунок 409" descr=""/>
            <p:cNvPicPr/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/>
          </p:blipFill>
          <p:spPr>
            <a:xfrm>
              <a:off x="6821640" y="5258520"/>
              <a:ext cx="926640" cy="270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5" name="TextBox 424"/>
            <p:cNvSpPr/>
            <p:nvPr/>
          </p:nvSpPr>
          <p:spPr>
            <a:xfrm>
              <a:off x="5482440" y="5301360"/>
              <a:ext cx="281700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80000" indent="-180000" defTabSz="914400">
                <a:lnSpc>
                  <a:spcPct val="100000"/>
                </a:lnSpc>
                <a:spcAft>
                  <a:spcPts val="601"/>
                </a:spcAft>
                <a:buClr>
                  <a:srgbClr val="4525ff"/>
                </a:buClr>
                <a:buFont typeface="Arial"/>
                <a:buChar char="•"/>
              </a:pP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Цифровизация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306" name="Группа 434"/>
          <p:cNvGrpSpPr/>
          <p:nvPr/>
        </p:nvGrpSpPr>
        <p:grpSpPr>
          <a:xfrm>
            <a:off x="5482440" y="5646960"/>
            <a:ext cx="2698560" cy="183600"/>
            <a:chOff x="5482440" y="5646960"/>
            <a:chExt cx="2698560" cy="183600"/>
          </a:xfrm>
        </p:grpSpPr>
        <p:pic>
          <p:nvPicPr>
            <p:cNvPr id="307" name="Рисунок 411" descr=""/>
            <p:cNvPicPr/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/>
          </p:blipFill>
          <p:spPr>
            <a:xfrm>
              <a:off x="6879600" y="5654880"/>
              <a:ext cx="1301400" cy="167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8" name="TextBox 425"/>
            <p:cNvSpPr/>
            <p:nvPr/>
          </p:nvSpPr>
          <p:spPr>
            <a:xfrm>
              <a:off x="5482440" y="5646960"/>
              <a:ext cx="1355040" cy="18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marL="180000" indent="-180000" defTabSz="914400">
                <a:lnSpc>
                  <a:spcPct val="100000"/>
                </a:lnSpc>
                <a:spcAft>
                  <a:spcPts val="601"/>
                </a:spcAft>
                <a:buClr>
                  <a:srgbClr val="4525ff"/>
                </a:buClr>
                <a:buFont typeface="Arial"/>
                <a:buChar char="•"/>
              </a:pP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Цифровизация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309" name="Группа 436"/>
          <p:cNvGrpSpPr/>
          <p:nvPr/>
        </p:nvGrpSpPr>
        <p:grpSpPr>
          <a:xfrm>
            <a:off x="5482440" y="4836240"/>
            <a:ext cx="2817000" cy="304560"/>
            <a:chOff x="5482440" y="4836240"/>
            <a:chExt cx="2817000" cy="304560"/>
          </a:xfrm>
        </p:grpSpPr>
        <p:sp>
          <p:nvSpPr>
            <p:cNvPr id="310" name="TextBox 423"/>
            <p:cNvSpPr/>
            <p:nvPr/>
          </p:nvSpPr>
          <p:spPr>
            <a:xfrm>
              <a:off x="5482440" y="4896360"/>
              <a:ext cx="281700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80000" indent="-180000" defTabSz="914400">
                <a:lnSpc>
                  <a:spcPct val="100000"/>
                </a:lnSpc>
                <a:spcAft>
                  <a:spcPts val="601"/>
                </a:spcAft>
                <a:buClr>
                  <a:srgbClr val="4525ff"/>
                </a:buClr>
                <a:buFont typeface="Arial"/>
                <a:buChar char="•"/>
              </a:pP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Моя Школа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311" name="Рисунок 427" descr=""/>
            <p:cNvPicPr/>
            <p:nvPr/>
          </p:nvPicPr>
          <p:blipFill>
            <a:blip r:embed="rId23">
              <a:alphaModFix amt="70000"/>
            </a:blip>
            <a:srcRect l="19050" t="63356" r="12233" b="23715"/>
            <a:stretch/>
          </p:blipFill>
          <p:spPr>
            <a:xfrm>
              <a:off x="6585480" y="4836240"/>
              <a:ext cx="1154880" cy="304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2" name="Группа 433"/>
          <p:cNvGrpSpPr/>
          <p:nvPr/>
        </p:nvGrpSpPr>
        <p:grpSpPr>
          <a:xfrm>
            <a:off x="5482440" y="5948640"/>
            <a:ext cx="2817000" cy="304560"/>
            <a:chOff x="5482440" y="5948640"/>
            <a:chExt cx="2817000" cy="304560"/>
          </a:xfrm>
        </p:grpSpPr>
        <p:sp>
          <p:nvSpPr>
            <p:cNvPr id="313" name="TextBox 426"/>
            <p:cNvSpPr/>
            <p:nvPr/>
          </p:nvSpPr>
          <p:spPr>
            <a:xfrm>
              <a:off x="5482440" y="6008760"/>
              <a:ext cx="281700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80000" indent="-180000" defTabSz="914400">
                <a:lnSpc>
                  <a:spcPct val="100000"/>
                </a:lnSpc>
                <a:spcAft>
                  <a:spcPts val="601"/>
                </a:spcAft>
                <a:buClr>
                  <a:srgbClr val="4525ff"/>
                </a:buClr>
                <a:buFont typeface="Arial"/>
                <a:buChar char="•"/>
              </a:pP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Конструктор ЭОМ 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314" name="Рисунок 428" descr=""/>
            <p:cNvPicPr/>
            <p:nvPr/>
          </p:nvPicPr>
          <p:blipFill>
            <a:blip r:embed="rId24">
              <a:alphaModFix amt="70000"/>
            </a:blip>
            <a:srcRect l="19050" t="63356" r="12233" b="23715"/>
            <a:stretch/>
          </p:blipFill>
          <p:spPr>
            <a:xfrm>
              <a:off x="7049880" y="5948640"/>
              <a:ext cx="1154880" cy="304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5" name="Группа 443"/>
          <p:cNvGrpSpPr/>
          <p:nvPr/>
        </p:nvGrpSpPr>
        <p:grpSpPr>
          <a:xfrm>
            <a:off x="8915400" y="3793680"/>
            <a:ext cx="2118960" cy="366120"/>
            <a:chOff x="8915400" y="3793680"/>
            <a:chExt cx="2118960" cy="366120"/>
          </a:xfrm>
        </p:grpSpPr>
        <p:sp>
          <p:nvSpPr>
            <p:cNvPr id="316" name="TextBox 441"/>
            <p:cNvSpPr/>
            <p:nvPr/>
          </p:nvSpPr>
          <p:spPr>
            <a:xfrm>
              <a:off x="8915400" y="3793680"/>
              <a:ext cx="1186200" cy="36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80000" indent="-180000" defTabSz="914400">
                <a:lnSpc>
                  <a:spcPct val="100000"/>
                </a:lnSpc>
                <a:spcAft>
                  <a:spcPts val="601"/>
                </a:spcAft>
                <a:buClr>
                  <a:srgbClr val="4525ff"/>
                </a:buClr>
                <a:buFont typeface="Arial"/>
                <a:buChar char="•"/>
              </a:pP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Корппортал </a:t>
              </a:r>
              <a:br>
                <a:rPr sz="1200"/>
              </a:br>
              <a:r>
                <a:rPr b="0" lang="en-US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+ HR-</a:t>
              </a: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сервисы 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317" name="Рисунок 442" descr=""/>
            <p:cNvPicPr/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/>
          </p:blipFill>
          <p:spPr>
            <a:xfrm>
              <a:off x="10175400" y="3841560"/>
              <a:ext cx="858960" cy="2840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8" name="Группа 445"/>
          <p:cNvGrpSpPr/>
          <p:nvPr/>
        </p:nvGrpSpPr>
        <p:grpSpPr>
          <a:xfrm>
            <a:off x="8915400" y="4353120"/>
            <a:ext cx="2010600" cy="245880"/>
            <a:chOff x="8915400" y="4353120"/>
            <a:chExt cx="2010600" cy="245880"/>
          </a:xfrm>
        </p:grpSpPr>
        <p:pic>
          <p:nvPicPr>
            <p:cNvPr id="319" name="Рисунок 420" descr=""/>
            <p:cNvPicPr/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/>
          </p:blipFill>
          <p:spPr>
            <a:xfrm>
              <a:off x="10101600" y="4353120"/>
              <a:ext cx="824400" cy="245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20" name="TextBox 444"/>
            <p:cNvSpPr/>
            <p:nvPr/>
          </p:nvSpPr>
          <p:spPr>
            <a:xfrm>
              <a:off x="8915400" y="4391280"/>
              <a:ext cx="159876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180000" indent="-180000" defTabSz="914400">
                <a:lnSpc>
                  <a:spcPct val="100000"/>
                </a:lnSpc>
                <a:spcAft>
                  <a:spcPts val="601"/>
                </a:spcAft>
                <a:buClr>
                  <a:srgbClr val="4525ff"/>
                </a:buClr>
                <a:buFont typeface="Arial"/>
                <a:buChar char="•"/>
              </a:pP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Roboto"/>
                  <a:ea typeface="Roboto"/>
                </a:rPr>
                <a:t>HR-сервисы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321" name="Группа 28"/>
          <p:cNvGrpSpPr/>
          <p:nvPr/>
        </p:nvGrpSpPr>
        <p:grpSpPr>
          <a:xfrm>
            <a:off x="285840" y="4034880"/>
            <a:ext cx="4085280" cy="793800"/>
            <a:chOff x="285840" y="4034880"/>
            <a:chExt cx="4085280" cy="793800"/>
          </a:xfrm>
        </p:grpSpPr>
        <p:sp>
          <p:nvSpPr>
            <p:cNvPr id="322" name="Google Shape;55;p13"/>
            <p:cNvSpPr/>
            <p:nvPr/>
          </p:nvSpPr>
          <p:spPr>
            <a:xfrm>
              <a:off x="285840" y="4062600"/>
              <a:ext cx="2093760" cy="73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ru-RU" sz="1600" strike="noStrike" u="none">
                  <a:solidFill>
                    <a:srgbClr val="4525ff"/>
                  </a:solidFill>
                  <a:uFillTx/>
                  <a:latin typeface="Roboto"/>
                  <a:ea typeface="Roboto"/>
                </a:rPr>
                <a:t>Violet: </a:t>
              </a:r>
              <a:r>
                <a:rPr b="0" lang="ru-RU" sz="1600" strike="noStrike" u="none">
                  <a:solidFill>
                    <a:schemeClr val="dk2"/>
                  </a:solidFill>
                  <a:uFillTx/>
                  <a:latin typeface="Roboto"/>
                  <a:ea typeface="Roboto"/>
                </a:rPr>
                <a:t>платформа </a:t>
              </a:r>
              <a:br>
                <a:rPr sz="1600"/>
              </a:br>
              <a:r>
                <a:rPr b="0" lang="ru-RU" sz="1600" strike="noStrike" u="none">
                  <a:solidFill>
                    <a:schemeClr val="dk2"/>
                  </a:solidFill>
                  <a:uFillTx/>
                  <a:latin typeface="Roboto"/>
                  <a:ea typeface="Roboto"/>
                </a:rPr>
                <a:t>для автоматизации </a:t>
              </a:r>
              <a:br>
                <a:rPr sz="1600"/>
              </a:br>
              <a:r>
                <a:rPr b="0" lang="ru-RU" sz="1600" strike="noStrike" u="none">
                  <a:solidFill>
                    <a:schemeClr val="dk2"/>
                  </a:solidFill>
                  <a:uFillTx/>
                  <a:latin typeface="Roboto"/>
                  <a:ea typeface="Roboto"/>
                </a:rPr>
                <a:t>и аналитики в HR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cxnSp>
          <p:nvCxnSpPr>
            <p:cNvPr id="323" name="Прямая соединительная линия 45"/>
            <p:cNvCxnSpPr/>
            <p:nvPr/>
          </p:nvCxnSpPr>
          <p:spPr>
            <a:xfrm>
              <a:off x="2760120" y="4053960"/>
              <a:ext cx="360" cy="755640"/>
            </a:xfrm>
            <a:prstGeom prst="straightConnector1">
              <a:avLst/>
            </a:prstGeom>
            <a:ln w="12700">
              <a:solidFill>
                <a:srgbClr val="4525ff"/>
              </a:solidFill>
            </a:ln>
          </p:spPr>
        </p:cxnSp>
        <p:grpSp>
          <p:nvGrpSpPr>
            <p:cNvPr id="324" name="Группа 19"/>
            <p:cNvGrpSpPr/>
            <p:nvPr/>
          </p:nvGrpSpPr>
          <p:grpSpPr>
            <a:xfrm>
              <a:off x="2868120" y="4034880"/>
              <a:ext cx="1503000" cy="793800"/>
              <a:chOff x="2868120" y="4034880"/>
              <a:chExt cx="1503000" cy="793800"/>
            </a:xfrm>
          </p:grpSpPr>
          <p:pic>
            <p:nvPicPr>
              <p:cNvPr id="325" name="Рисунок 30" descr=""/>
              <p:cNvPicPr/>
              <p:nvPr/>
            </p:nvPicPr>
            <p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  <a:grayscl/>
              </a:blip>
              <a:stretch/>
            </p:blipFill>
            <p:spPr>
              <a:xfrm>
                <a:off x="4016880" y="4034880"/>
                <a:ext cx="354240" cy="354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26" name="Рисунок 43" descr=""/>
              <p:cNvPicPr/>
              <p:nvPr/>
            </p:nvPicPr>
            <p:blipFill>
              <a:blip r:embed="rId31">
                <a:extLst>
                  <a:ext uri="{BEBA8EAE-BF5A-486C-A8C5-ECC9F3942E4B}">
                    <a14:imgProps xmlns:a14="http://schemas.microsoft.com/office/drawing/2010/main">
                      <a14:imgLayer r:embed="rId32">
                        <a14:imgEffect>
                          <a14:saturation sat="399000"/>
                        </a14:imgEffect>
                      </a14:imgLayer>
                    </a14:imgProps>
                  </a:ext>
                </a:extLst>
              </a:blip>
              <a:stretch/>
            </p:blipFill>
            <p:spPr>
              <a:xfrm>
                <a:off x="2868120" y="4439520"/>
                <a:ext cx="389160" cy="3891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27" name="Рисунок 46" descr=""/>
              <p:cNvPicPr/>
              <p:nvPr/>
            </p:nvPicPr>
            <p:blipFill>
              <a:blip r:embed="rId33"/>
              <a:stretch/>
            </p:blipFill>
            <p:spPr>
              <a:xfrm>
                <a:off x="3328560" y="4515480"/>
                <a:ext cx="954360" cy="2278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28" name="Рисунок 4" descr=""/>
              <p:cNvPicPr/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/>
            </p:blipFill>
            <p:spPr>
              <a:xfrm>
                <a:off x="2939040" y="4057560"/>
                <a:ext cx="885600" cy="3045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329" name="Группа 27"/>
          <p:cNvGrpSpPr/>
          <p:nvPr/>
        </p:nvGrpSpPr>
        <p:grpSpPr>
          <a:xfrm>
            <a:off x="285840" y="5217840"/>
            <a:ext cx="4027320" cy="730440"/>
            <a:chOff x="285840" y="5217840"/>
            <a:chExt cx="4027320" cy="730440"/>
          </a:xfrm>
        </p:grpSpPr>
        <p:sp>
          <p:nvSpPr>
            <p:cNvPr id="330" name="Google Shape;55;p13"/>
            <p:cNvSpPr/>
            <p:nvPr/>
          </p:nvSpPr>
          <p:spPr>
            <a:xfrm>
              <a:off x="285840" y="5460120"/>
              <a:ext cx="220788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ru-RU" sz="1600" strike="noStrike" u="none">
                  <a:solidFill>
                    <a:srgbClr val="4525ff"/>
                  </a:solidFill>
                  <a:uFillTx/>
                  <a:latin typeface="Roboto"/>
                  <a:ea typeface="Roboto"/>
                </a:rPr>
                <a:t>Vector: </a:t>
              </a:r>
              <a:r>
                <a:rPr b="0" lang="ru-RU" sz="1600" strike="noStrike" u="none">
                  <a:solidFill>
                    <a:schemeClr val="dk2"/>
                  </a:solidFill>
                  <a:uFillTx/>
                  <a:latin typeface="Roboto"/>
                  <a:ea typeface="Roboto"/>
                </a:rPr>
                <a:t>LMS-система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cxnSp>
          <p:nvCxnSpPr>
            <p:cNvPr id="331" name="Прямая соединительная линия 51"/>
            <p:cNvCxnSpPr/>
            <p:nvPr/>
          </p:nvCxnSpPr>
          <p:spPr>
            <a:xfrm>
              <a:off x="2760120" y="5217840"/>
              <a:ext cx="360" cy="730800"/>
            </a:xfrm>
            <a:prstGeom prst="straightConnector1">
              <a:avLst/>
            </a:prstGeom>
            <a:ln w="12700">
              <a:solidFill>
                <a:srgbClr val="4525ff"/>
              </a:solidFill>
            </a:ln>
          </p:spPr>
        </p:cxnSp>
        <p:grpSp>
          <p:nvGrpSpPr>
            <p:cNvPr id="332" name="Группа 25"/>
            <p:cNvGrpSpPr/>
            <p:nvPr/>
          </p:nvGrpSpPr>
          <p:grpSpPr>
            <a:xfrm>
              <a:off x="2939040" y="5249160"/>
              <a:ext cx="1374120" cy="668160"/>
              <a:chOff x="2939040" y="5249160"/>
              <a:chExt cx="1374120" cy="668160"/>
            </a:xfrm>
          </p:grpSpPr>
          <p:pic>
            <p:nvPicPr>
              <p:cNvPr id="333" name="Рисунок 57" descr=""/>
              <p:cNvPicPr/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  <a:grayscl/>
              </a:blip>
              <a:stretch/>
            </p:blipFill>
            <p:spPr>
              <a:xfrm>
                <a:off x="3963240" y="5249160"/>
                <a:ext cx="349920" cy="3499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34" name="Рисунок 48" descr=""/>
              <p:cNvPicPr/>
              <p:nvPr/>
            </p:nvPicPr>
            <p:blipFill>
              <a:blip r:embed="rId38"/>
              <a:stretch/>
            </p:blipFill>
            <p:spPr>
              <a:xfrm>
                <a:off x="2939040" y="5708520"/>
                <a:ext cx="624240" cy="208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35" name="Рисунок 10" descr=""/>
              <p:cNvPicPr/>
              <p:nvPr/>
            </p:nvPicPr>
            <p:blipFill>
              <a:blip r:embed="rId39"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/>
            </p:blipFill>
            <p:spPr>
              <a:xfrm>
                <a:off x="2939040" y="5289120"/>
                <a:ext cx="885600" cy="3045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" name="Прямая соединительная линия 5"/>
          <p:cNvCxnSpPr/>
          <p:nvPr/>
        </p:nvCxnSpPr>
        <p:spPr>
          <a:xfrm>
            <a:off x="0" y="562320"/>
            <a:ext cx="12192120" cy="360"/>
          </a:xfrm>
          <a:prstGeom prst="straightConnector1">
            <a:avLst/>
          </a:prstGeom>
          <a:ln cap="rnd" w="6350">
            <a:solidFill>
              <a:srgbClr val="706f6f"/>
            </a:solidFill>
            <a:round/>
          </a:ln>
        </p:spPr>
      </p:cxnSp>
      <p:sp>
        <p:nvSpPr>
          <p:cNvPr id="337" name="Полилиния 29"/>
          <p:cNvSpPr/>
          <p:nvPr/>
        </p:nvSpPr>
        <p:spPr>
          <a:xfrm>
            <a:off x="11302920" y="0"/>
            <a:ext cx="888480" cy="561960"/>
          </a:xfrm>
          <a:custGeom>
            <a:avLst/>
            <a:gdLst>
              <a:gd name="textAreaLeft" fmla="*/ 0 w 888480"/>
              <a:gd name="textAreaRight" fmla="*/ 888840 w 888480"/>
              <a:gd name="textAreaTop" fmla="*/ 0 h 561960"/>
              <a:gd name="textAreaBottom" fmla="*/ 562320 h 561960"/>
            </a:gdLst>
            <a:ahLst/>
            <a:rect l="textAreaLeft" t="textAreaTop" r="textAreaRight" b="textAreaBottom"/>
            <a:pathLst>
              <a:path w="1347538" h="1001027">
                <a:moveTo>
                  <a:pt x="558263" y="0"/>
                </a:moveTo>
                <a:lnTo>
                  <a:pt x="1347538" y="0"/>
                </a:lnTo>
                <a:lnTo>
                  <a:pt x="1347538" y="1001027"/>
                </a:lnTo>
                <a:lnTo>
                  <a:pt x="0" y="1001027"/>
                </a:lnTo>
                <a:lnTo>
                  <a:pt x="558263" y="0"/>
                </a:lnTo>
                <a:close/>
              </a:path>
            </a:pathLst>
          </a:custGeom>
          <a:solidFill>
            <a:srgbClr val="706f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280" strike="noStrike" u="none">
              <a:solidFill>
                <a:schemeClr val="lt1"/>
              </a:solidFill>
              <a:uFillTx/>
              <a:latin typeface="Roboto"/>
              <a:ea typeface="Roboto"/>
            </a:endParaRPr>
          </a:p>
        </p:txBody>
      </p:sp>
      <p:sp>
        <p:nvSpPr>
          <p:cNvPr id="338" name="PlaceHolder 1"/>
          <p:cNvSpPr>
            <a:spLocks noGrp="1"/>
          </p:cNvSpPr>
          <p:nvPr>
            <p:ph type="sldNum" idx="43"/>
          </p:nvPr>
        </p:nvSpPr>
        <p:spPr>
          <a:xfrm>
            <a:off x="11571120" y="138240"/>
            <a:ext cx="551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150" strike="noStrike" u="none">
                <a:solidFill>
                  <a:schemeClr val="lt1"/>
                </a:solidFill>
                <a:uFillTx/>
                <a:latin typeface="Roboto"/>
                <a:ea typeface="Roboto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ru-RU" sz="115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8</a:t>
            </a:r>
            <a:endParaRPr b="0" lang="en-GB" sz="11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9" name="Прямоугольник 8"/>
          <p:cNvSpPr/>
          <p:nvPr/>
        </p:nvSpPr>
        <p:spPr>
          <a:xfrm>
            <a:off x="285840" y="105480"/>
            <a:ext cx="70578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280" strike="noStrike" u="none" cap="all">
                <a:solidFill>
                  <a:schemeClr val="lt2">
                    <a:lumMod val="25000"/>
                  </a:schemeClr>
                </a:solidFill>
                <a:uFillTx/>
                <a:latin typeface="Roboto"/>
                <a:ea typeface="Roboto"/>
              </a:rPr>
              <a:t>Сравнение С РЫНКОМ</a:t>
            </a:r>
            <a:endParaRPr b="0" lang="en-GB" sz="2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40" name="Picture 8" descr="Фирменный стиль. Официальный информационный сайт Ростелеком."/>
          <p:cNvPicPr/>
          <p:nvPr/>
        </p:nvPicPr>
        <p:blipFill>
          <a:blip r:embed="rId1"/>
          <a:srcRect l="0" t="16858" r="0" b="15526"/>
          <a:stretch/>
        </p:blipFill>
        <p:spPr>
          <a:xfrm>
            <a:off x="9620280" y="91080"/>
            <a:ext cx="1604880" cy="3798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341" name="Объект 3"/>
          <p:cNvGraphicFramePr/>
          <p:nvPr/>
        </p:nvGraphicFramePr>
        <p:xfrm>
          <a:off x="284400" y="842760"/>
          <a:ext cx="11551680" cy="5664240"/>
        </p:xfrm>
        <a:graphic>
          <a:graphicData uri="http://schemas.openxmlformats.org/drawingml/2006/table">
            <a:tbl>
              <a:tblPr/>
              <a:tblGrid>
                <a:gridCol w="1123920"/>
                <a:gridCol w="961200"/>
                <a:gridCol w="1002960"/>
                <a:gridCol w="873000"/>
                <a:gridCol w="873000"/>
                <a:gridCol w="873000"/>
                <a:gridCol w="873000"/>
                <a:gridCol w="873000"/>
                <a:gridCol w="873000"/>
                <a:gridCol w="873000"/>
                <a:gridCol w="775440"/>
                <a:gridCol w="775440"/>
                <a:gridCol w="798840"/>
              </a:tblGrid>
              <a:tr h="43452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Функционал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Простые коммуникации (Тада+</a:t>
                      </a:r>
                      <a:r>
                        <a:rPr b="1" lang="en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Violet+</a:t>
                      </a:r>
                      <a:r>
                        <a:rPr b="1" lang="ru-RU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Вектор)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Яндекс (Стафф + Грейд + Кадровые дашборды)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Мираполис/1С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Сбер Пульс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VK People Hub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HH (Skilaz+Edstein)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Поток/Свевергупп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Websoft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Пряники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WSS Portal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Neon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" sz="700" strike="noStrike" u="none">
                          <a:solidFill>
                            <a:srgbClr val="ffffff"/>
                          </a:solidFill>
                          <a:uFillTx/>
                          <a:latin typeface="Roboto"/>
                        </a:rPr>
                        <a:t>Incomand</a:t>
                      </a:r>
                      <a:endParaRPr b="0" lang="en-GB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4525ff"/>
                    </a:solidFill>
                  </a:tcPr>
                </a:tc>
              </a:tr>
              <a:tr h="22392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Готовность</a:t>
                      </a:r>
                      <a:br>
                        <a:rPr sz="700"/>
                      </a:b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к внедрению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12924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Гибкость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22392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Пользовательский опыт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12924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Адаптация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</a:tr>
              <a:tr h="24552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База знаний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Да, с гибкой структурой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43452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Боты и автоматизации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Автоматизация некоторых процессов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Автоматизация некоторых процессов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Автоматизация некоторых процессов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964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Единое окно сервисов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Да, с возможностью встраивания любых инструментов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43452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Интеграция с внешними системами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Да, гибкое </a:t>
                      </a:r>
                      <a:r>
                        <a:rPr b="0" lang="en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API</a:t>
                      </a:r>
                      <a:br>
                        <a:rPr sz="700"/>
                      </a:b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для интеграций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 (внутренние системы Сбера)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Да, ограничено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</a:tr>
              <a:tr h="22392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Кадровая </a:t>
                      </a:r>
                      <a:r>
                        <a:rPr b="0" lang="en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HR </a:t>
                      </a: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аналитика 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24552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Вовлечение и коммуникации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12924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Обратная связь 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</a:tr>
              <a:tr h="24552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Обучение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Да, передали права в МЦ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32904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Оргструктура, справочник контактов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</a:tr>
              <a:tr h="12924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Оценка 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43452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Проектный учет 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Частично, через внешние системы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04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Профиль сотрудника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Да, расширенный</a:t>
                      </a:r>
                      <a:br>
                        <a:rPr sz="700"/>
                      </a:b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с кастомизацией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Да, расширенный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Да, базовый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Да, базовый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Да, базовый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Да, базовый профиль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</a:tr>
              <a:tr h="43452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ИИ-</a:t>
                      </a:r>
                      <a:r>
                        <a:rPr b="0" lang="en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HR </a:t>
                      </a: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помощники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Есть ИИ-решения,</a:t>
                      </a:r>
                      <a:br>
                        <a:rPr sz="700"/>
                      </a:b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но не заточенные</a:t>
                      </a:r>
                      <a:br>
                        <a:rPr sz="700"/>
                      </a:b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под </a:t>
                      </a:r>
                      <a:r>
                        <a:rPr b="0" lang="en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HR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Частично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361800">
                <a:tc>
                  <a:txBody>
                    <a:bodyPr lIns="72000" rIns="23760" tIns="5760" bIns="5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Мобильное приложение для </a:t>
                      </a:r>
                      <a:r>
                        <a:rPr b="0" lang="en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iOS </a:t>
                      </a: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и </a:t>
                      </a:r>
                      <a:r>
                        <a:rPr b="0" lang="en" sz="700" strike="noStrike" u="none">
                          <a:solidFill>
                            <a:schemeClr val="dk1"/>
                          </a:solidFill>
                          <a:uFillTx/>
                          <a:latin typeface="Roboto Medium"/>
                          <a:ea typeface="Roboto Medium"/>
                        </a:rPr>
                        <a:t>Android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7200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Нет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 lIns="23760" rIns="23760" tIns="5760" bIns="5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700" strike="noStrike" u="none">
                          <a:solidFill>
                            <a:schemeClr val="dk1"/>
                          </a:solidFill>
                          <a:uFillTx/>
                          <a:latin typeface="Roboto"/>
                        </a:rPr>
                        <a:t>Да</a:t>
                      </a:r>
                      <a:endParaRPr b="0" lang="en-GB" sz="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3760" marR="237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ece9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29331</TotalTime>
  <Application>LibreOffice/24.8.6.2$Linux_X86_64 LibreOffice_project/480$Build-2</Application>
  <AppVersion>15.0000</AppVersion>
  <Words>1056</Words>
  <Paragraphs>450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2025-02-26T13:06:44Z</dcterms:created>
  <dc:creator>Хадиев Рузаль Рафилович</dc:creator>
  <dc:description/>
  <dc:language>en-GB</dc:language>
  <cp:lastModifiedBy/>
  <cp:lastPrinted>2025-04-02T16:19:46Z</cp:lastPrinted>
  <dcterms:modified xsi:type="dcterms:W3CDTF">2025-04-26T18:09:15Z</dcterms:modified>
  <cp:revision>630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8</vt:i4>
  </property>
</Properties>
</file>