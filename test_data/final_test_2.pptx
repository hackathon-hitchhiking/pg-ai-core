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_rels/presentation.xml.rels" ContentType="application/vnd.openxmlformats-package.relationships+xml"/>
  <Override PartName="/ppt/media/image1.png" ContentType="image/png"/>
  <Override PartName="/ppt/media/image2.svg" ContentType="image/svg"/>
  <Override PartName="/ppt/media/image3.png" ContentType="image/png"/>
  <Override PartName="/ppt/media/image4.png" ContentType="image/png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charts/chart9.xml" ContentType="application/vnd.openxmlformats-officedocument.drawingml.chart+xml"/>
  <Override PartName="/ppt/charts/chart13.xml" ContentType="application/vnd.openxmlformats-officedocument.drawingml.chart+xml"/>
  <Override PartName="/ppt/charts/chart8.xml" ContentType="application/vnd.openxmlformats-officedocument.drawingml.chart+xml"/>
  <Override PartName="/ppt/charts/chart12.xml" ContentType="application/vnd.openxmlformats-officedocument.drawingml.chart+xml"/>
  <Override PartName="/ppt/charts/chart7.xml" ContentType="application/vnd.openxmlformats-officedocument.drawingml.chart+xml"/>
  <Override PartName="/ppt/charts/chart11.xml" ContentType="application/vnd.openxmlformats-officedocument.drawingml.chart+xml"/>
  <Override PartName="/ppt/charts/chart6.xml" ContentType="application/vnd.openxmlformats-officedocument.drawingml.chart+xml"/>
  <Override PartName="/ppt/charts/chart10.xml" ContentType="application/vnd.openxmlformats-officedocument.drawingml.chart+xml"/>
  <Override PartName="/ppt/charts/chart5.xml" ContentType="application/vnd.openxmlformats-officedocument.drawingml.chart+xml"/>
  <Override PartName="/ppt/charts/chart4.xml" ContentType="application/vnd.openxmlformats-officedocument.drawingml.chart+xml"/>
  <Override PartName="/ppt/charts/chart3.xml" ContentType="application/vnd.openxmlformats-officedocument.drawingml.chart+xml"/>
  <Override PartName="/ppt/charts/chart2.xml" ContentType="application/vnd.openxmlformats-officedocument.drawingml.chart+xml"/>
  <Override PartName="/ppt/charts/chart25.xml" ContentType="application/vnd.openxmlformats-officedocument.drawingml.chart+xml"/>
  <Override PartName="/ppt/charts/chart24.xml" ContentType="application/vnd.openxmlformats-officedocument.drawingml.chart+xml"/>
  <Override PartName="/ppt/charts/chart23.xml" ContentType="application/vnd.openxmlformats-officedocument.drawingml.chart+xml"/>
  <Override PartName="/ppt/charts/chart22.xml" ContentType="application/vnd.openxmlformats-officedocument.drawingml.chart+xml"/>
  <Override PartName="/ppt/charts/chart21.xml" ContentType="application/vnd.openxmlformats-officedocument.drawingml.chart+xml"/>
  <Override PartName="/ppt/charts/chart19.xml" ContentType="application/vnd.openxmlformats-officedocument.drawingml.chart+xml"/>
  <Override PartName="/ppt/charts/chart1.xml" ContentType="application/vnd.openxmlformats-officedocument.drawingml.chart+xml"/>
  <Override PartName="/ppt/charts/chart20.xml" ContentType="application/vnd.openxmlformats-officedocument.drawingml.chart+xml"/>
  <Override PartName="/ppt/charts/chart18.xml" ContentType="application/vnd.openxmlformats-officedocument.drawingml.chart+xml"/>
  <Override PartName="/ppt/charts/chart17.xml" ContentType="application/vnd.openxmlformats-officedocument.drawingml.chart+xml"/>
  <Override PartName="/ppt/charts/chart16.xml" ContentType="application/vnd.openxmlformats-officedocument.drawingml.chart+xml"/>
  <Override PartName="/ppt/charts/chart15.xml" ContentType="application/vnd.openxmlformats-officedocument.drawingml.chart+xml"/>
  <Override PartName="/ppt/charts/chart14.xml" ContentType="application/vnd.openxmlformats-officedocument.drawingml.char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"/>
          <c:y val="0.00869970483144322"/>
          <c:w val="0.999843260188088"/>
          <c:h val="0.991144943296567"/>
        </c:manualLayout>
      </c:layout>
      <c:doughnut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Проценты</c:v>
                </c:pt>
              </c:strCache>
            </c:strRef>
          </c:tx>
          <c:spPr>
            <a:solidFill>
              <a:srgbClr val="4472c4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6d33ff"/>
              </a:solidFill>
              <a:ln w="19080">
                <a:solidFill>
                  <a:srgbClr val="ffffff"/>
                </a:solidFill>
                <a:round/>
              </a:ln>
            </c:spPr>
          </c:dPt>
          <c:dPt>
            <c:idx val="1"/>
            <c:spPr>
              <a:solidFill>
                <a:srgbClr val="cacae5"/>
              </a:solidFill>
              <a:ln w="19080">
                <a:solidFill>
                  <a:srgbClr val="ffffff"/>
                </a:solidFill>
                <a:round/>
              </a:ln>
            </c:spPr>
          </c:dPt>
          <c:dLbls>
            <c:dLbl>
              <c:idx val="0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; </c:separator>
            <c:showLeaderLines val="1"/>
          </c:dLbls>
          <c:cat>
            <c:strRef>
              <c:f>categories</c:f>
              <c:strCache>
                <c:ptCount val="2"/>
                <c:pt idx="0">
                  <c:v>1</c:v>
                </c:pt>
                <c:pt idx="1">
                  <c:v>2</c:v>
                </c:pt>
              </c:strCache>
            </c:strRef>
          </c:cat>
          <c:val>
            <c:numRef>
              <c:f>0</c:f>
              <c:numCache>
                <c:formatCode>0%</c:formatCode>
                <c:ptCount val="2"/>
                <c:pt idx="0">
                  <c:v>0.95</c:v>
                </c:pt>
                <c:pt idx="1">
                  <c:v>0.05</c:v>
                </c:pt>
              </c:numCache>
            </c:numRef>
          </c:val>
        </c:ser>
        <c:firstSliceAng val="0"/>
        <c:holeSize val="50"/>
      </c:doughnutChart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0.918289423444063"/>
          <c:h val="0.999853672812409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00d2b9"/>
            </a:solidFill>
            <a:ln w="0">
              <a:noFill/>
            </a:ln>
          </c:spPr>
          <c:invertIfNegative val="0"/>
          <c:dLbls>
            <c:numFmt formatCode="0%" sourceLinked="0"/>
            <c:txPr>
              <a:bodyPr wrap="square"/>
              <a:lstStyle/>
              <a:p>
                <a:pPr>
                  <a:defRPr b="0" sz="1400" strike="noStrike" u="none">
                    <a:solidFill>
                      <a:srgbClr val="404040"/>
                    </a:solidFill>
                    <a:uFillTx/>
                    <a:latin typeface="Wix Madefor Display SemiBold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6"/>
                <c:pt idx="0">
                  <c:v>Менее 1 года</c:v>
                </c:pt>
                <c:pt idx="1">
                  <c:v>1-2 года</c:v>
                </c:pt>
                <c:pt idx="2">
                  <c:v>2-5 лет</c:v>
                </c:pt>
                <c:pt idx="3">
                  <c:v>5-10 лет</c:v>
                </c:pt>
                <c:pt idx="4">
                  <c:v>10-15 лет</c:v>
                </c:pt>
                <c:pt idx="5">
                  <c:v>Более 15 лет</c:v>
                </c:pt>
              </c:strCache>
            </c:strRef>
          </c:cat>
          <c:val>
            <c:numRef>
              <c:f>0</c:f>
              <c:numCache>
                <c:formatCode>0%</c:formatCode>
                <c:ptCount val="6"/>
                <c:pt idx="0">
                  <c:v>0.139579349904398</c:v>
                </c:pt>
                <c:pt idx="1">
                  <c:v>0.168260038240918</c:v>
                </c:pt>
                <c:pt idx="2">
                  <c:v>0.189292543021033</c:v>
                </c:pt>
                <c:pt idx="3">
                  <c:v>0.187380497131931</c:v>
                </c:pt>
                <c:pt idx="4">
                  <c:v>0.154875717017208</c:v>
                </c:pt>
                <c:pt idx="5">
                  <c:v>0.160611854684512</c:v>
                </c:pt>
              </c:numCache>
            </c:numRef>
          </c:val>
        </c:ser>
        <c:gapWidth val="300"/>
        <c:overlap val="0"/>
        <c:axId val="42693962"/>
        <c:axId val="19233190"/>
      </c:barChart>
      <c:catAx>
        <c:axId val="42693962"/>
        <c:scaling>
          <c:orientation val="minMax"/>
        </c:scaling>
        <c:delete val="1"/>
        <c:axPos val="b"/>
        <c:numFmt formatCode="[$-809]dd/mm/yyyy" sourceLinked="1"/>
        <c:majorTickMark val="out"/>
        <c:minorTickMark val="none"/>
        <c:tickLblPos val="low"/>
        <c:spPr>
          <a:ln w="6480">
            <a:solidFill>
              <a:srgbClr val="8b8b8b"/>
            </a:solidFill>
            <a:round/>
          </a:ln>
        </c:spPr>
        <c:txPr>
          <a:bodyPr/>
          <a:lstStyle/>
          <a:p>
            <a:pPr>
              <a:defRPr b="0" sz="1000" strike="noStrike" u="non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19233190"/>
        <c:auto val="1"/>
        <c:lblAlgn val="ctr"/>
        <c:lblOffset val="100"/>
        <c:noMultiLvlLbl val="0"/>
      </c:catAx>
      <c:valAx>
        <c:axId val="19233190"/>
        <c:scaling>
          <c:orientation val="minMax"/>
        </c:scaling>
        <c:delete val="1"/>
        <c:axPos val="l"/>
        <c:numFmt formatCode="0%" sourceLinked="1"/>
        <c:majorTickMark val="out"/>
        <c:minorTickMark val="none"/>
        <c:tickLblPos val="nextTo"/>
        <c:spPr>
          <a:ln w="6480">
            <a:solidFill>
              <a:srgbClr val="8b8b8b"/>
            </a:solidFill>
            <a:round/>
          </a:ln>
        </c:spPr>
        <c:txPr>
          <a:bodyPr/>
          <a:lstStyle/>
          <a:p>
            <a:pPr>
              <a:defRPr b="0" sz="1000" strike="noStrike" u="non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42693962"/>
        <c:crossBetween val="between"/>
      </c:valAx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0.918289423444063"/>
          <c:h val="0.99976348155156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00d2b9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e4e4f2"/>
              </a:solidFill>
              <a:ln w="0">
                <a:noFill/>
              </a:ln>
            </c:spPr>
          </c:dPt>
          <c:dLbls>
            <c:numFmt formatCode="0%" sourceLinked="0"/>
            <c:dLbl>
              <c:idx val="0"/>
              <c:numFmt formatCode="0%" sourceLinked="0"/>
              <c:txPr>
                <a:bodyPr wrap="square"/>
                <a:lstStyle/>
                <a:p>
                  <a:pPr>
                    <a:defRPr b="0" sz="1400" strike="noStrike" u="none">
                      <a:solidFill>
                        <a:srgbClr val="404040"/>
                      </a:solidFill>
                      <a:uFillTx/>
                      <a:latin typeface="Wix Madefor Display SemiBold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400" strike="noStrike" u="none">
                    <a:solidFill>
                      <a:srgbClr val="404040"/>
                    </a:solidFill>
                    <a:uFillTx/>
                    <a:latin typeface="Wix Madefor Display SemiBold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др</c:v>
                </c:pt>
                <c:pt idx="1">
                  <c:v>нет</c:v>
                </c:pt>
                <c:pt idx="2">
                  <c:v>нет но</c:v>
                </c:pt>
                <c:pt idx="3">
                  <c:v>да</c:v>
                </c:pt>
              </c:strCache>
            </c:strRef>
          </c:cat>
          <c:val>
            <c:numRef>
              <c:f>0</c:f>
              <c:numCache>
                <c:formatCode>0%</c:formatCode>
                <c:ptCount val="4"/>
                <c:pt idx="0">
                  <c:v>0.01</c:v>
                </c:pt>
                <c:pt idx="1">
                  <c:v>0.16</c:v>
                </c:pt>
                <c:pt idx="2">
                  <c:v>0.38</c:v>
                </c:pt>
                <c:pt idx="3">
                  <c:v>0.45</c:v>
                </c:pt>
              </c:numCache>
            </c:numRef>
          </c:val>
        </c:ser>
        <c:gapWidth val="300"/>
        <c:overlap val="0"/>
        <c:axId val="18057920"/>
        <c:axId val="67508011"/>
      </c:barChart>
      <c:catAx>
        <c:axId val="18057920"/>
        <c:scaling>
          <c:orientation val="minMax"/>
        </c:scaling>
        <c:delete val="1"/>
        <c:axPos val="b"/>
        <c:numFmt formatCode="[$-809]dd/mm/yyyy" sourceLinked="1"/>
        <c:majorTickMark val="out"/>
        <c:minorTickMark val="none"/>
        <c:tickLblPos val="low"/>
        <c:spPr>
          <a:ln w="6480">
            <a:solidFill>
              <a:srgbClr val="8b8b8b"/>
            </a:solidFill>
            <a:round/>
          </a:ln>
        </c:spPr>
        <c:txPr>
          <a:bodyPr/>
          <a:lstStyle/>
          <a:p>
            <a:pPr>
              <a:defRPr b="0" sz="1000" strike="noStrike" u="non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67508011"/>
        <c:auto val="1"/>
        <c:lblAlgn val="ctr"/>
        <c:lblOffset val="100"/>
        <c:noMultiLvlLbl val="0"/>
      </c:catAx>
      <c:valAx>
        <c:axId val="67508011"/>
        <c:scaling>
          <c:orientation val="minMax"/>
        </c:scaling>
        <c:delete val="1"/>
        <c:axPos val="l"/>
        <c:numFmt formatCode="0%" sourceLinked="1"/>
        <c:majorTickMark val="out"/>
        <c:minorTickMark val="none"/>
        <c:tickLblPos val="nextTo"/>
        <c:spPr>
          <a:ln w="6480">
            <a:solidFill>
              <a:srgbClr val="8b8b8b"/>
            </a:solidFill>
            <a:round/>
          </a:ln>
        </c:spPr>
        <c:txPr>
          <a:bodyPr/>
          <a:lstStyle/>
          <a:p>
            <a:pPr>
              <a:defRPr b="0" sz="1000" strike="noStrike" u="non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18057920"/>
        <c:crossBetween val="between"/>
      </c:valAx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"/>
          <c:y val="0.0392925430210325"/>
          <c:w val="0.996726515226664"/>
          <c:h val="0.960611854684512"/>
        </c:manualLayout>
      </c:layout>
      <c:doughnut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Продажи</c:v>
                </c:pt>
              </c:strCache>
            </c:strRef>
          </c:tx>
          <c:spPr>
            <a:solidFill>
              <a:srgbClr val="4472c4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fc84d7"/>
              </a:solidFill>
              <a:ln w="19080">
                <a:solidFill>
                  <a:srgbClr val="ffffff"/>
                </a:solidFill>
                <a:round/>
              </a:ln>
            </c:spPr>
          </c:dPt>
          <c:dPt>
            <c:idx val="1"/>
            <c:spPr>
              <a:solidFill>
                <a:srgbClr val="fa37bd"/>
              </a:solidFill>
              <a:ln w="19080">
                <a:solidFill>
                  <a:srgbClr val="ffffff"/>
                </a:solidFill>
                <a:round/>
              </a:ln>
            </c:spPr>
          </c:dPt>
          <c:dPt>
            <c:idx val="2"/>
            <c:spPr>
              <a:solidFill>
                <a:srgbClr val="960ac3"/>
              </a:solidFill>
              <a:ln w="19080">
                <a:solidFill>
                  <a:srgbClr val="ffffff"/>
                </a:solidFill>
                <a:round/>
              </a:ln>
            </c:spPr>
          </c:dPt>
          <c:dPt>
            <c:idx val="3"/>
            <c:spPr>
              <a:solidFill>
                <a:srgbClr val="5e0aba"/>
              </a:solidFill>
              <a:ln w="19080">
                <a:solidFill>
                  <a:srgbClr val="ffffff"/>
                </a:solidFill>
                <a:round/>
              </a:ln>
            </c:spPr>
          </c:dPt>
          <c:dPt>
            <c:idx val="4"/>
            <c:spPr>
              <a:solidFill>
                <a:srgbClr val="22187a"/>
              </a:solidFill>
              <a:ln w="19080">
                <a:solidFill>
                  <a:srgbClr val="ffffff"/>
                </a:solidFill>
                <a:round/>
              </a:ln>
            </c:spPr>
          </c:dPt>
          <c:dPt>
            <c:idx val="5"/>
            <c:spPr>
              <a:noFill/>
              <a:ln w="19080">
                <a:noFill/>
              </a:ln>
            </c:spPr>
          </c:dPt>
          <c:dLbls>
            <c:dLbl>
              <c:idx val="0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2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3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4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5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; </c:separator>
            <c:showLeaderLines val="1"/>
          </c:dLbls>
          <c:cat>
            <c:strRef>
              <c:f>categories</c:f>
              <c:strCache>
                <c:ptCount val="4"/>
                <c:pt idx="0">
                  <c:v>Кв. 1</c:v>
                </c:pt>
                <c:pt idx="1">
                  <c:v>Кв. 2</c:v>
                </c:pt>
                <c:pt idx="2">
                  <c:v>Кв. 3</c:v>
                </c:pt>
                <c:pt idx="3">
                  <c:v>Кв. 4</c:v>
                </c:pt>
              </c:strCache>
            </c:strRef>
          </c:cat>
          <c:val>
            <c:numRef>
              <c:f>0</c:f>
              <c:numCache>
                <c:formatCode>0%</c:formatCode>
                <c:ptCount val="6"/>
                <c:pt idx="0">
                  <c:v>0.035</c:v>
                </c:pt>
                <c:pt idx="1">
                  <c:v>0.05</c:v>
                </c:pt>
                <c:pt idx="2">
                  <c:v>0.035</c:v>
                </c:pt>
                <c:pt idx="3">
                  <c:v>0.005</c:v>
                </c:pt>
                <c:pt idx="4">
                  <c:v>0.375</c:v>
                </c:pt>
                <c:pt idx="5">
                  <c:v>0.5</c:v>
                </c:pt>
              </c:numCache>
            </c:numRef>
          </c:val>
        </c:ser>
        <c:firstSliceAng val="270"/>
        <c:holeSize val="50"/>
      </c:doughnutChart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"/>
          <c:y val="0.0392925430210325"/>
          <c:w val="0.996726515226664"/>
          <c:h val="0.960611854684512"/>
        </c:manualLayout>
      </c:layout>
      <c:doughnut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Продажи</c:v>
                </c:pt>
              </c:strCache>
            </c:strRef>
          </c:tx>
          <c:spPr>
            <a:solidFill>
              <a:srgbClr val="4472c4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ed7d31"/>
              </a:solidFill>
              <a:ln w="19080">
                <a:solidFill>
                  <a:srgbClr val="ffffff"/>
                </a:solidFill>
                <a:round/>
              </a:ln>
            </c:spPr>
          </c:dPt>
          <c:dPt>
            <c:idx val="1"/>
            <c:spPr>
              <a:solidFill>
                <a:srgbClr val="fc84d7"/>
              </a:solidFill>
              <a:ln w="19080">
                <a:solidFill>
                  <a:srgbClr val="ffffff"/>
                </a:solidFill>
                <a:round/>
              </a:ln>
            </c:spPr>
          </c:dPt>
          <c:dPt>
            <c:idx val="2"/>
            <c:spPr>
              <a:solidFill>
                <a:srgbClr val="fa37bd"/>
              </a:solidFill>
              <a:ln w="19080">
                <a:solidFill>
                  <a:srgbClr val="ffffff"/>
                </a:solidFill>
                <a:round/>
              </a:ln>
            </c:spPr>
          </c:dPt>
          <c:dPt>
            <c:idx val="3"/>
            <c:spPr>
              <a:solidFill>
                <a:srgbClr val="d42ac0"/>
              </a:solidFill>
              <a:ln w="19080">
                <a:solidFill>
                  <a:srgbClr val="ffffff"/>
                </a:solidFill>
                <a:round/>
              </a:ln>
            </c:spPr>
          </c:dPt>
          <c:dPt>
            <c:idx val="4"/>
            <c:spPr>
              <a:solidFill>
                <a:srgbClr val="960ac3"/>
              </a:solidFill>
              <a:ln w="19080">
                <a:solidFill>
                  <a:srgbClr val="ffffff"/>
                </a:solidFill>
                <a:round/>
              </a:ln>
            </c:spPr>
          </c:dPt>
          <c:dPt>
            <c:idx val="5"/>
            <c:spPr>
              <a:solidFill>
                <a:srgbClr val="5e0aba"/>
              </a:solidFill>
              <a:ln w="19080">
                <a:solidFill>
                  <a:srgbClr val="ffffff"/>
                </a:solidFill>
                <a:round/>
              </a:ln>
            </c:spPr>
          </c:dPt>
          <c:dPt>
            <c:idx val="6"/>
            <c:spPr>
              <a:solidFill>
                <a:srgbClr val="2f1d90"/>
              </a:solidFill>
              <a:ln w="19080">
                <a:solidFill>
                  <a:srgbClr val="ffffff"/>
                </a:solidFill>
                <a:round/>
              </a:ln>
            </c:spPr>
          </c:dPt>
          <c:dPt>
            <c:idx val="7"/>
            <c:spPr>
              <a:solidFill>
                <a:srgbClr val="6d33ff"/>
              </a:solidFill>
              <a:ln w="19080">
                <a:solidFill>
                  <a:srgbClr val="ffffff"/>
                </a:solidFill>
                <a:round/>
              </a:ln>
            </c:spPr>
          </c:dPt>
          <c:dPt>
            <c:idx val="8"/>
            <c:spPr>
              <a:noFill/>
              <a:ln w="19080">
                <a:noFill/>
              </a:ln>
            </c:spPr>
          </c:dPt>
          <c:dLbls>
            <c:dLbl>
              <c:idx val="0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2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3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4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5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6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7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8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; </c:separator>
            <c:showLeaderLines val="1"/>
          </c:dLbls>
          <c:cat>
            <c:strRef>
              <c:f>categories</c:f>
              <c:strCache>
                <c:ptCount val="4"/>
                <c:pt idx="0">
                  <c:v>Кв. 1</c:v>
                </c:pt>
                <c:pt idx="1">
                  <c:v>Кв. 2</c:v>
                </c:pt>
                <c:pt idx="2">
                  <c:v>Кв. 3</c:v>
                </c:pt>
                <c:pt idx="3">
                  <c:v>Кв. 4</c:v>
                </c:pt>
              </c:strCache>
            </c:strRef>
          </c:cat>
          <c:val>
            <c:numRef>
              <c:f>0</c:f>
              <c:numCache>
                <c:formatCode>0%</c:formatCode>
                <c:ptCount val="9"/>
                <c:pt idx="0">
                  <c:v>0</c:v>
                </c:pt>
                <c:pt idx="1">
                  <c:v>0.015</c:v>
                </c:pt>
                <c:pt idx="2">
                  <c:v>0.035</c:v>
                </c:pt>
                <c:pt idx="3">
                  <c:v>0.14</c:v>
                </c:pt>
                <c:pt idx="4">
                  <c:v>0.15</c:v>
                </c:pt>
                <c:pt idx="5">
                  <c:v>0.07</c:v>
                </c:pt>
                <c:pt idx="6">
                  <c:v>0.045</c:v>
                </c:pt>
                <c:pt idx="7">
                  <c:v>0.045</c:v>
                </c:pt>
                <c:pt idx="8">
                  <c:v>0.5</c:v>
                </c:pt>
              </c:numCache>
            </c:numRef>
          </c:val>
        </c:ser>
        <c:firstSliceAng val="270"/>
        <c:holeSize val="50"/>
      </c:doughnutChart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"/>
          <c:y val="0.00437375745526839"/>
          <c:w val="0.999598876855195"/>
          <c:h val="0.990854870775348"/>
        </c:manualLayout>
      </c:layout>
      <c:doughnut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Проценты</c:v>
                </c:pt>
              </c:strCache>
            </c:strRef>
          </c:tx>
          <c:spPr>
            <a:solidFill>
              <a:srgbClr val="4472c4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6d33ff"/>
              </a:solidFill>
              <a:ln w="19080">
                <a:solidFill>
                  <a:srgbClr val="ffffff"/>
                </a:solidFill>
                <a:round/>
              </a:ln>
            </c:spPr>
          </c:dPt>
          <c:dPt>
            <c:idx val="1"/>
            <c:spPr>
              <a:solidFill>
                <a:srgbClr val="cacae5"/>
              </a:solidFill>
              <a:ln w="19080">
                <a:solidFill>
                  <a:srgbClr val="ffffff"/>
                </a:solidFill>
                <a:round/>
              </a:ln>
            </c:spPr>
          </c:dPt>
          <c:dLbls>
            <c:dLbl>
              <c:idx val="0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; </c:separator>
            <c:showLeaderLines val="1"/>
          </c:dLbls>
          <c:cat>
            <c:strRef>
              <c:f>categories</c:f>
              <c:strCache>
                <c:ptCount val="2"/>
                <c:pt idx="0">
                  <c:v>1</c:v>
                </c:pt>
                <c:pt idx="1">
                  <c:v>2</c:v>
                </c:pt>
              </c:strCache>
            </c:strRef>
          </c:cat>
          <c:val>
            <c:numRef>
              <c:f>0</c:f>
              <c:numCache>
                <c:formatCode>0%</c:formatCode>
                <c:ptCount val="2"/>
                <c:pt idx="0">
                  <c:v>0.54</c:v>
                </c:pt>
                <c:pt idx="1">
                  <c:v>0.46</c:v>
                </c:pt>
              </c:numCache>
            </c:numRef>
          </c:val>
        </c:ser>
        <c:firstSliceAng val="0"/>
        <c:holeSize val="50"/>
      </c:doughnutChart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"/>
          <c:y val="0.00437375745526839"/>
          <c:w val="0.999598876855195"/>
          <c:h val="0.990854870775348"/>
        </c:manualLayout>
      </c:layout>
      <c:doughnut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Проценты</c:v>
                </c:pt>
              </c:strCache>
            </c:strRef>
          </c:tx>
          <c:spPr>
            <a:solidFill>
              <a:srgbClr val="4472c4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6d33ff"/>
              </a:solidFill>
              <a:ln w="19080">
                <a:solidFill>
                  <a:srgbClr val="ffffff"/>
                </a:solidFill>
                <a:round/>
              </a:ln>
            </c:spPr>
          </c:dPt>
          <c:dPt>
            <c:idx val="1"/>
            <c:spPr>
              <a:solidFill>
                <a:srgbClr val="cacae5"/>
              </a:solidFill>
              <a:ln w="19080">
                <a:solidFill>
                  <a:srgbClr val="ffffff"/>
                </a:solidFill>
                <a:round/>
              </a:ln>
            </c:spPr>
          </c:dPt>
          <c:dLbls>
            <c:dLbl>
              <c:idx val="0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; </c:separator>
            <c:showLeaderLines val="1"/>
          </c:dLbls>
          <c:cat>
            <c:strRef>
              <c:f>categories</c:f>
              <c:strCache>
                <c:ptCount val="2"/>
                <c:pt idx="0">
                  <c:v>1</c:v>
                </c:pt>
                <c:pt idx="1">
                  <c:v>2</c:v>
                </c:pt>
              </c:strCache>
            </c:strRef>
          </c:cat>
          <c:val>
            <c:numRef>
              <c:f>0</c:f>
              <c:numCache>
                <c:formatCode>0%</c:formatCode>
                <c:ptCount val="2"/>
                <c:pt idx="0">
                  <c:v>0.57</c:v>
                </c:pt>
                <c:pt idx="1">
                  <c:v>0.43</c:v>
                </c:pt>
              </c:numCache>
            </c:numRef>
          </c:val>
        </c:ser>
        <c:firstSliceAng val="0"/>
        <c:holeSize val="50"/>
      </c:doughnutChart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"/>
          <c:y val="0.0032815852581093"/>
          <c:w val="0.999957942549523"/>
          <c:h val="0.99659219992427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ef334b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cacae5"/>
              </a:solidFill>
              <a:ln w="19080">
                <a:noFill/>
              </a:ln>
            </c:spPr>
          </c:dPt>
          <c:dPt>
            <c:idx val="1"/>
            <c:invertIfNegative val="0"/>
            <c:spPr>
              <a:solidFill>
                <a:srgbClr val="00d2b9"/>
              </a:solidFill>
              <a:ln w="0">
                <a:noFill/>
              </a:ln>
            </c:spPr>
          </c:dPt>
          <c:dPt>
            <c:idx val="2"/>
            <c:invertIfNegative val="0"/>
            <c:spPr>
              <a:solidFill>
                <a:srgbClr val="00d2b9"/>
              </a:solidFill>
              <a:ln w="0">
                <a:noFill/>
              </a:ln>
            </c:spPr>
          </c:dPt>
          <c:dPt>
            <c:idx val="3"/>
            <c:invertIfNegative val="0"/>
            <c:spPr>
              <a:solidFill>
                <a:srgbClr val="00d2b9"/>
              </a:solidFill>
              <a:ln w="0">
                <a:noFill/>
              </a:ln>
            </c:spPr>
          </c:dPt>
          <c:dPt>
            <c:idx val="4"/>
            <c:invertIfNegative val="0"/>
            <c:spPr>
              <a:solidFill>
                <a:srgbClr val="00d2b9"/>
              </a:solidFill>
              <a:ln w="0">
                <a:noFill/>
              </a:ln>
            </c:spPr>
          </c:dPt>
          <c:dLbls>
            <c:numFmt formatCode="0%" sourceLinked="0"/>
            <c:dLbl>
              <c:idx val="0"/>
              <c:numFmt formatCode="0%" sourceLinked="0"/>
              <c:txPr>
                <a:bodyPr wrap="square"/>
                <a:lstStyle/>
                <a:p>
                  <a:pPr>
                    <a:defRPr b="0" sz="1400" strike="noStrike" u="none">
                      <a:solidFill>
                        <a:srgbClr val="404040"/>
                      </a:solidFill>
                      <a:uFillTx/>
                      <a:latin typeface="Wix Madefor Display SemiBold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"/>
              <c:numFmt formatCode="0%" sourceLinked="0"/>
              <c:txPr>
                <a:bodyPr wrap="square"/>
                <a:lstStyle/>
                <a:p>
                  <a:pPr>
                    <a:defRPr b="0" sz="1400" strike="noStrike" u="none">
                      <a:solidFill>
                        <a:srgbClr val="404040"/>
                      </a:solidFill>
                      <a:uFillTx/>
                      <a:latin typeface="Wix Madefor Display SemiBold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2"/>
              <c:numFmt formatCode="0%" sourceLinked="0"/>
              <c:txPr>
                <a:bodyPr wrap="square"/>
                <a:lstStyle/>
                <a:p>
                  <a:pPr>
                    <a:defRPr b="0" sz="1400" strike="noStrike" u="none">
                      <a:solidFill>
                        <a:srgbClr val="404040"/>
                      </a:solidFill>
                      <a:uFillTx/>
                      <a:latin typeface="Wix Madefor Display SemiBold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3"/>
              <c:numFmt formatCode="0%" sourceLinked="0"/>
              <c:txPr>
                <a:bodyPr wrap="square"/>
                <a:lstStyle/>
                <a:p>
                  <a:pPr>
                    <a:defRPr b="0" sz="1400" strike="noStrike" u="none">
                      <a:solidFill>
                        <a:srgbClr val="404040"/>
                      </a:solidFill>
                      <a:uFillTx/>
                      <a:latin typeface="Wix Madefor Display SemiBold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4"/>
              <c:numFmt formatCode="0%" sourceLinked="0"/>
              <c:txPr>
                <a:bodyPr wrap="square"/>
                <a:lstStyle/>
                <a:p>
                  <a:pPr>
                    <a:defRPr b="0" sz="1400" strike="noStrike" u="none">
                      <a:solidFill>
                        <a:srgbClr val="404040"/>
                      </a:solidFill>
                      <a:uFillTx/>
                      <a:latin typeface="Wix Madefor Display SemiBold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400" strike="noStrike" u="none">
                    <a:solidFill>
                      <a:srgbClr val="404040"/>
                    </a:solidFill>
                    <a:uFillTx/>
                    <a:latin typeface="Wix Madefor Display SemiBold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5"/>
                <c:pt idx="0">
                  <c:v>Другое</c:v>
                </c:pt>
                <c:pt idx="1">
                  <c:v>Проходил (-а) онлайн-курсы и тренинги на обучающих ресурсах</c:v>
                </c:pt>
                <c:pt idx="2">
                  <c:v>Научился (-ась) на рабочем месте</c:v>
                </c:pt>
                <c:pt idx="3">
                  <c:v>Проходил (-а) курсы повышения квалификации</c:v>
                </c:pt>
                <c:pt idx="4">
                  <c:v>Получил (-а) профильное высшее образование, связанное с ИТ</c:v>
                </c:pt>
              </c:strCache>
            </c:strRef>
          </c:cat>
          <c:val>
            <c:numRef>
              <c:f>0</c:f>
              <c:numCache>
                <c:formatCode>0%</c:formatCode>
                <c:ptCount val="5"/>
                <c:pt idx="0">
                  <c:v>0.0248565965583174</c:v>
                </c:pt>
                <c:pt idx="1">
                  <c:v>0.304015296367113</c:v>
                </c:pt>
                <c:pt idx="2">
                  <c:v>0.401529636711281</c:v>
                </c:pt>
                <c:pt idx="3">
                  <c:v>0.411089866156788</c:v>
                </c:pt>
                <c:pt idx="4">
                  <c:v>0.45697896749522</c:v>
                </c:pt>
              </c:numCache>
            </c:numRef>
          </c:val>
        </c:ser>
        <c:gapWidth val="300"/>
        <c:overlap val="0"/>
        <c:axId val="32161281"/>
        <c:axId val="15634615"/>
      </c:barChart>
      <c:catAx>
        <c:axId val="32161281"/>
        <c:scaling>
          <c:orientation val="minMax"/>
        </c:scaling>
        <c:delete val="1"/>
        <c:axPos val="b"/>
        <c:numFmt formatCode="[$-809]dd/mm/yyyy" sourceLinked="1"/>
        <c:majorTickMark val="none"/>
        <c:minorTickMark val="none"/>
        <c:tickLblPos val="nextTo"/>
        <c:spPr>
          <a:ln w="6480">
            <a:solidFill>
              <a:srgbClr val="8b8b8b"/>
            </a:solidFill>
            <a:round/>
          </a:ln>
        </c:spPr>
        <c:txPr>
          <a:bodyPr/>
          <a:lstStyle/>
          <a:p>
            <a:pPr>
              <a:defRPr b="0" sz="1000" strike="noStrike" u="non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15634615"/>
        <c:auto val="1"/>
        <c:lblAlgn val="ctr"/>
        <c:lblOffset val="100"/>
        <c:noMultiLvlLbl val="0"/>
      </c:catAx>
      <c:valAx>
        <c:axId val="15634615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spPr>
          <a:ln w="6480">
            <a:solidFill>
              <a:srgbClr val="8b8b8b"/>
            </a:solidFill>
            <a:round/>
          </a:ln>
        </c:spPr>
        <c:txPr>
          <a:bodyPr/>
          <a:lstStyle/>
          <a:p>
            <a:pPr>
              <a:defRPr b="0" sz="1000" strike="noStrike" u="non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32161281"/>
        <c:crossBetween val="between"/>
      </c:valAx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00859975718332659"/>
          <c:y val="0"/>
          <c:w val="0.947946175637394"/>
          <c:h val="0.99636074149892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Знаю и использую</c:v>
                </c:pt>
              </c:strCache>
            </c:strRef>
          </c:tx>
          <c:spPr>
            <a:solidFill>
              <a:srgbClr val="6d33ff"/>
            </a:solidFill>
            <a:ln w="19080">
              <a:noFill/>
            </a:ln>
          </c:spPr>
          <c:invertIfNegative val="0"/>
          <c:dLbls>
            <c:numFmt formatCode="0%" sourceLinked="0"/>
            <c:txPr>
              <a:bodyPr wrap="square"/>
              <a:lstStyle/>
              <a:p>
                <a:pPr>
                  <a:defRPr b="0" sz="1400" strike="noStrike" u="none">
                    <a:solidFill>
                      <a:srgbClr val="ffffff"/>
                    </a:solidFill>
                    <a:uFillTx/>
                    <a:latin typeface="Wix Madefor Display SemiBold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5"/>
                <c:pt idx="0">
                  <c:v>Компьютерное зрение</c:v>
                </c:pt>
                <c:pt idx="1">
                  <c:v>Обработка естественного языка</c:v>
                </c:pt>
                <c:pt idx="2">
                  <c:v>Системы поддержки принятия решений</c:v>
                </c:pt>
                <c:pt idx="3">
                  <c:v>Синтез и распознавание речи</c:v>
                </c:pt>
                <c:pt idx="4">
                  <c:v>Генеративный ИИ</c:v>
                </c:pt>
              </c:strCache>
            </c:strRef>
          </c:cat>
          <c:val>
            <c:numRef>
              <c:f>0</c:f>
              <c:numCache>
                <c:formatCode>0%</c:formatCode>
                <c:ptCount val="5"/>
                <c:pt idx="0">
                  <c:v>0.388888888888889</c:v>
                </c:pt>
                <c:pt idx="1">
                  <c:v>0.560185185185185</c:v>
                </c:pt>
                <c:pt idx="2">
                  <c:v>0.611111111111111</c:v>
                </c:pt>
                <c:pt idx="3">
                  <c:v>0.62037037037037</c:v>
                </c:pt>
                <c:pt idx="4">
                  <c:v>0.717592592592593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Знаю, но НЕ использую</c:v>
                </c:pt>
              </c:strCache>
            </c:strRef>
          </c:tx>
          <c:spPr>
            <a:solidFill>
              <a:srgbClr val="00d2b9"/>
            </a:solidFill>
            <a:ln w="19080">
              <a:noFill/>
            </a:ln>
          </c:spPr>
          <c:invertIfNegative val="0"/>
          <c:dLbls>
            <c:numFmt formatCode="0%" sourceLinked="0"/>
            <c:txPr>
              <a:bodyPr wrap="square"/>
              <a:lstStyle/>
              <a:p>
                <a:pPr>
                  <a:defRPr b="0" sz="1400" strike="noStrike" u="none">
                    <a:solidFill>
                      <a:srgbClr val="ffffff"/>
                    </a:solidFill>
                    <a:uFillTx/>
                    <a:latin typeface="Wix Madefor Display SemiBold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5"/>
                <c:pt idx="0">
                  <c:v>Компьютерное зрение</c:v>
                </c:pt>
                <c:pt idx="1">
                  <c:v>Обработка естественного языка</c:v>
                </c:pt>
                <c:pt idx="2">
                  <c:v>Системы поддержки принятия решений</c:v>
                </c:pt>
                <c:pt idx="3">
                  <c:v>Синтез и распознавание речи</c:v>
                </c:pt>
                <c:pt idx="4">
                  <c:v>Генеративный ИИ</c:v>
                </c:pt>
              </c:strCache>
            </c:strRef>
          </c:cat>
          <c:val>
            <c:numRef>
              <c:f>1</c:f>
              <c:numCache>
                <c:formatCode>0%</c:formatCode>
                <c:ptCount val="5"/>
                <c:pt idx="0">
                  <c:v>0.444444444444444</c:v>
                </c:pt>
                <c:pt idx="1">
                  <c:v>0.319444444444444</c:v>
                </c:pt>
                <c:pt idx="2">
                  <c:v>0.291666666666667</c:v>
                </c:pt>
                <c:pt idx="3">
                  <c:v>0.273148148148148</c:v>
                </c:pt>
                <c:pt idx="4">
                  <c:v>0.226851851851852</c:v>
                </c:pt>
              </c:numCache>
            </c:numRef>
          </c:val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НЕ знаю и НЕ использую</c:v>
                </c:pt>
              </c:strCache>
            </c:strRef>
          </c:tx>
          <c:spPr>
            <a:solidFill>
              <a:srgbClr val="fa37bd"/>
            </a:solidFill>
            <a:ln w="19080">
              <a:noFill/>
            </a:ln>
          </c:spPr>
          <c:invertIfNegative val="0"/>
          <c:dPt>
            <c:idx val="4"/>
            <c:invertIfNegative val="0"/>
            <c:spPr>
              <a:solidFill>
                <a:srgbClr val="fa37bd"/>
              </a:solidFill>
              <a:ln w="19080">
                <a:noFill/>
              </a:ln>
            </c:spPr>
          </c:dPt>
          <c:dLbls>
            <c:numFmt formatCode="0%" sourceLinked="0"/>
            <c:dLbl>
              <c:idx val="4"/>
              <c:layout>
                <c:manualLayout>
                  <c:x val="-0.000899818117617398"/>
                  <c:y val="-8.0371966790404E-018"/>
                </c:manualLayout>
              </c:layout>
              <c:numFmt formatCode="0%" sourceLinked="0"/>
              <c:txPr>
                <a:bodyPr wrap="square"/>
                <a:lstStyle/>
                <a:p>
                  <a:pPr>
                    <a:defRPr b="0" sz="1400" strike="noStrike" u="none">
                      <a:solidFill>
                        <a:srgbClr val="ffffff"/>
                      </a:solidFill>
                      <a:uFillTx/>
                      <a:latin typeface="Wix Madefor Display SemiBold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400" strike="noStrike" u="none">
                    <a:solidFill>
                      <a:srgbClr val="ffffff"/>
                    </a:solidFill>
                    <a:uFillTx/>
                    <a:latin typeface="Wix Madefor Display SemiBold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5"/>
                <c:pt idx="0">
                  <c:v>Компьютерное зрение</c:v>
                </c:pt>
                <c:pt idx="1">
                  <c:v>Обработка естественного языка</c:v>
                </c:pt>
                <c:pt idx="2">
                  <c:v>Системы поддержки принятия решений</c:v>
                </c:pt>
                <c:pt idx="3">
                  <c:v>Синтез и распознавание речи</c:v>
                </c:pt>
                <c:pt idx="4">
                  <c:v>Генеративный ИИ</c:v>
                </c:pt>
              </c:strCache>
            </c:strRef>
          </c:cat>
          <c:val>
            <c:numRef>
              <c:f>2</c:f>
              <c:numCache>
                <c:formatCode>0%</c:formatCode>
                <c:ptCount val="5"/>
                <c:pt idx="0">
                  <c:v>0.12962962962963</c:v>
                </c:pt>
                <c:pt idx="1">
                  <c:v>0.087962962962963</c:v>
                </c:pt>
                <c:pt idx="2">
                  <c:v>0.08</c:v>
                </c:pt>
                <c:pt idx="3">
                  <c:v>0.08</c:v>
                </c:pt>
                <c:pt idx="4">
                  <c:v>0.0324074074074074</c:v>
                </c:pt>
              </c:numCache>
            </c:numRef>
          </c:val>
        </c:ser>
        <c:ser>
          <c:idx val="3"/>
          <c:order val="3"/>
          <c:tx>
            <c:strRef>
              <c:f>label 3</c:f>
              <c:strCache>
                <c:ptCount val="1"/>
                <c:pt idx="0">
                  <c:v>Затрудняюсь ответить</c:v>
                </c:pt>
              </c:strCache>
            </c:strRef>
          </c:tx>
          <c:spPr>
            <a:solidFill>
              <a:srgbClr val="e4e4f2"/>
            </a:solidFill>
            <a:ln w="1908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e4e4f2"/>
              </a:solidFill>
              <a:ln w="19080">
                <a:noFill/>
              </a:ln>
            </c:spPr>
          </c:dPt>
          <c:dPt>
            <c:idx val="1"/>
            <c:invertIfNegative val="0"/>
            <c:spPr>
              <a:solidFill>
                <a:srgbClr val="e4e4f2"/>
              </a:solidFill>
              <a:ln w="19080">
                <a:noFill/>
              </a:ln>
            </c:spPr>
          </c:dPt>
          <c:dPt>
            <c:idx val="2"/>
            <c:invertIfNegative val="0"/>
            <c:spPr>
              <a:solidFill>
                <a:srgbClr val="e4e4f2"/>
              </a:solidFill>
              <a:ln w="19080">
                <a:noFill/>
              </a:ln>
            </c:spPr>
          </c:dPt>
          <c:dPt>
            <c:idx val="3"/>
            <c:invertIfNegative val="0"/>
            <c:spPr>
              <a:solidFill>
                <a:srgbClr val="e4e4f2"/>
              </a:solidFill>
              <a:ln w="19080">
                <a:noFill/>
              </a:ln>
            </c:spPr>
          </c:dPt>
          <c:dPt>
            <c:idx val="4"/>
            <c:invertIfNegative val="0"/>
            <c:spPr>
              <a:solidFill>
                <a:srgbClr val="e4e4f2"/>
              </a:solidFill>
              <a:ln w="19080">
                <a:noFill/>
              </a:ln>
            </c:spPr>
          </c:dPt>
          <c:dLbls>
            <c:numFmt formatCode="0%" sourceLinked="0"/>
            <c:dLbl>
              <c:idx val="0"/>
              <c:layout>
                <c:manualLayout>
                  <c:x val="0.0485685169332635"/>
                  <c:y val="0"/>
                </c:manualLayout>
              </c:layout>
              <c:numFmt formatCode="0%" sourceLinked="0"/>
              <c:txPr>
                <a:bodyPr wrap="square"/>
                <a:lstStyle/>
                <a:p>
                  <a:pPr>
                    <a:defRPr b="0" sz="1400" strike="noStrike" u="none">
                      <a:solidFill>
                        <a:srgbClr val="000000"/>
                      </a:solidFill>
                      <a:uFillTx/>
                      <a:latin typeface="Wix Madefor Display SemiBold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"/>
              <c:layout>
                <c:manualLayout>
                  <c:x val="0.0460122791999336"/>
                  <c:y val="0"/>
                </c:manualLayout>
              </c:layout>
              <c:numFmt formatCode="0%" sourceLinked="0"/>
              <c:txPr>
                <a:bodyPr wrap="square"/>
                <a:lstStyle/>
                <a:p>
                  <a:pPr>
                    <a:defRPr b="0" sz="1400" strike="noStrike" u="none">
                      <a:solidFill>
                        <a:srgbClr val="000000"/>
                      </a:solidFill>
                      <a:uFillTx/>
                      <a:latin typeface="Wix Madefor Display SemiBold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2"/>
              <c:layout>
                <c:manualLayout>
                  <c:x val="0.0408998037332745"/>
                  <c:y val="-5.38837961076557E-017"/>
                </c:manualLayout>
              </c:layout>
              <c:numFmt formatCode="0%" sourceLinked="0"/>
              <c:txPr>
                <a:bodyPr wrap="square"/>
                <a:lstStyle/>
                <a:p>
                  <a:pPr>
                    <a:defRPr b="0" sz="1400" strike="noStrike" u="none">
                      <a:solidFill>
                        <a:srgbClr val="000000"/>
                      </a:solidFill>
                      <a:uFillTx/>
                      <a:latin typeface="Wix Madefor Display SemiBold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3"/>
              <c:layout>
                <c:manualLayout>
                  <c:x val="0.0460122791999336"/>
                  <c:y val="0"/>
                </c:manualLayout>
              </c:layout>
              <c:numFmt formatCode="0%" sourceLinked="0"/>
              <c:txPr>
                <a:bodyPr wrap="square"/>
                <a:lstStyle/>
                <a:p>
                  <a:pPr>
                    <a:defRPr b="0" sz="1400" strike="noStrike" u="none">
                      <a:solidFill>
                        <a:srgbClr val="000000"/>
                      </a:solidFill>
                      <a:uFillTx/>
                      <a:latin typeface="Wix Madefor Display SemiBold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4"/>
              <c:layout>
                <c:manualLayout>
                  <c:x val="0.0416634545962865"/>
                  <c:y val="0"/>
                </c:manualLayout>
              </c:layout>
              <c:numFmt formatCode="0%" sourceLinked="0"/>
              <c:txPr>
                <a:bodyPr wrap="square"/>
                <a:lstStyle/>
                <a:p>
                  <a:pPr>
                    <a:defRPr b="0" sz="1400" strike="noStrike" u="none">
                      <a:solidFill>
                        <a:srgbClr val="000000"/>
                      </a:solidFill>
                      <a:uFillTx/>
                      <a:latin typeface="Wix Madefor Display SemiBold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400" strike="noStrike" u="none">
                    <a:solidFill>
                      <a:srgbClr val="000000"/>
                    </a:solidFill>
                    <a:uFillTx/>
                    <a:latin typeface="Wix Madefor Display SemiBold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5"/>
                <c:pt idx="0">
                  <c:v>Компьютерное зрение</c:v>
                </c:pt>
                <c:pt idx="1">
                  <c:v>Обработка естественного языка</c:v>
                </c:pt>
                <c:pt idx="2">
                  <c:v>Системы поддержки принятия решений</c:v>
                </c:pt>
                <c:pt idx="3">
                  <c:v>Синтез и распознавание речи</c:v>
                </c:pt>
                <c:pt idx="4">
                  <c:v>Генеративный ИИ</c:v>
                </c:pt>
              </c:strCache>
            </c:strRef>
          </c:cat>
          <c:val>
            <c:numRef>
              <c:f>3</c:f>
              <c:numCache>
                <c:formatCode>0%</c:formatCode>
                <c:ptCount val="5"/>
                <c:pt idx="0">
                  <c:v>0.037037037037037</c:v>
                </c:pt>
                <c:pt idx="1">
                  <c:v>0.0324074074074074</c:v>
                </c:pt>
                <c:pt idx="2">
                  <c:v>0.0231481481481481</c:v>
                </c:pt>
                <c:pt idx="3">
                  <c:v>0.0324074074074074</c:v>
                </c:pt>
                <c:pt idx="4">
                  <c:v>0.0231481481481481</c:v>
                </c:pt>
              </c:numCache>
            </c:numRef>
          </c:val>
        </c:ser>
        <c:gapWidth val="200"/>
        <c:overlap val="100"/>
        <c:axId val="12349921"/>
        <c:axId val="76469156"/>
      </c:barChart>
      <c:catAx>
        <c:axId val="12349921"/>
        <c:scaling>
          <c:orientation val="minMax"/>
        </c:scaling>
        <c:delete val="1"/>
        <c:axPos val="b"/>
        <c:numFmt formatCode="[$-809]dd/mm/yyyy" sourceLinked="1"/>
        <c:majorTickMark val="none"/>
        <c:minorTickMark val="none"/>
        <c:tickLblPos val="nextTo"/>
        <c:spPr>
          <a:ln w="6480">
            <a:solidFill>
              <a:srgbClr val="8b8b8b"/>
            </a:solidFill>
            <a:round/>
          </a:ln>
        </c:spPr>
        <c:txPr>
          <a:bodyPr/>
          <a:lstStyle/>
          <a:p>
            <a:pPr>
              <a:defRPr b="0" sz="1000" strike="noStrike" u="non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76469156"/>
        <c:auto val="1"/>
        <c:lblAlgn val="ctr"/>
        <c:lblOffset val="100"/>
        <c:noMultiLvlLbl val="0"/>
      </c:catAx>
      <c:valAx>
        <c:axId val="76469156"/>
        <c:scaling>
          <c:orientation val="minMax"/>
        </c:scaling>
        <c:delete val="1"/>
        <c:axPos val="l"/>
        <c:numFmt formatCode="[$-809]0%" sourceLinked="1"/>
        <c:majorTickMark val="none"/>
        <c:minorTickMark val="none"/>
        <c:tickLblPos val="nextTo"/>
        <c:spPr>
          <a:ln w="6480">
            <a:solidFill>
              <a:srgbClr val="8b8b8b"/>
            </a:solidFill>
            <a:round/>
          </a:ln>
        </c:spPr>
        <c:txPr>
          <a:bodyPr/>
          <a:lstStyle/>
          <a:p>
            <a:pPr>
              <a:defRPr b="0" sz="1000" strike="noStrike" u="non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12349921"/>
        <c:crossBetween val="between"/>
      </c:valAx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"/>
          <c:y val="0.00437375745526839"/>
          <c:w val="0.999598876855195"/>
          <c:h val="0.990854870775348"/>
        </c:manualLayout>
      </c:layout>
      <c:doughnut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Проценты</c:v>
                </c:pt>
              </c:strCache>
            </c:strRef>
          </c:tx>
          <c:spPr>
            <a:solidFill>
              <a:srgbClr val="4472c4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6d33ff"/>
              </a:solidFill>
              <a:ln w="19080">
                <a:solidFill>
                  <a:srgbClr val="ffffff"/>
                </a:solidFill>
                <a:round/>
              </a:ln>
            </c:spPr>
          </c:dPt>
          <c:dPt>
            <c:idx val="1"/>
            <c:spPr>
              <a:solidFill>
                <a:srgbClr val="cacae5"/>
              </a:solidFill>
              <a:ln w="19080">
                <a:solidFill>
                  <a:srgbClr val="ffffff"/>
                </a:solidFill>
                <a:round/>
              </a:ln>
            </c:spPr>
          </c:dPt>
          <c:dLbls>
            <c:dLbl>
              <c:idx val="0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; </c:separator>
            <c:showLeaderLines val="1"/>
          </c:dLbls>
          <c:cat>
            <c:strRef>
              <c:f>categories</c:f>
              <c:strCache>
                <c:ptCount val="2"/>
                <c:pt idx="0">
                  <c:v>1</c:v>
                </c:pt>
                <c:pt idx="1">
                  <c:v>2</c:v>
                </c:pt>
              </c:strCache>
            </c:strRef>
          </c:cat>
          <c:val>
            <c:numRef>
              <c:f>0</c:f>
              <c:numCache>
                <c:formatCode>0%</c:formatCode>
                <c:ptCount val="2"/>
                <c:pt idx="0">
                  <c:v>0.74</c:v>
                </c:pt>
                <c:pt idx="1">
                  <c:v>0.26</c:v>
                </c:pt>
              </c:numCache>
            </c:numRef>
          </c:val>
        </c:ser>
        <c:firstSliceAng val="0"/>
        <c:holeSize val="50"/>
      </c:doughnutChart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0.999931077262389"/>
          <c:h val="0.999916485719058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6d33ff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6d33ff"/>
              </a:solidFill>
              <a:ln w="0">
                <a:noFill/>
              </a:ln>
            </c:spPr>
          </c:dPt>
          <c:dPt>
            <c:idx val="1"/>
            <c:invertIfNegative val="0"/>
            <c:spPr>
              <a:solidFill>
                <a:srgbClr val="6d33ff"/>
              </a:solidFill>
              <a:ln w="0">
                <a:noFill/>
              </a:ln>
            </c:spPr>
          </c:dPt>
          <c:dPt>
            <c:idx val="2"/>
            <c:invertIfNegative val="0"/>
            <c:spPr>
              <a:solidFill>
                <a:srgbClr val="6d33ff"/>
              </a:solidFill>
              <a:ln w="0">
                <a:noFill/>
              </a:ln>
            </c:spPr>
          </c:dPt>
          <c:dPt>
            <c:idx val="3"/>
            <c:invertIfNegative val="0"/>
            <c:spPr>
              <a:solidFill>
                <a:srgbClr val="6d33ff"/>
              </a:solidFill>
              <a:ln w="0">
                <a:noFill/>
              </a:ln>
            </c:spPr>
          </c:dPt>
          <c:dLbls>
            <c:numFmt formatCode="0%" sourceLinked="0"/>
            <c:dLbl>
              <c:idx val="0"/>
              <c:numFmt formatCode="0%" sourceLinked="0"/>
              <c:txPr>
                <a:bodyPr wrap="square"/>
                <a:lstStyle/>
                <a:p>
                  <a:pPr>
                    <a:defRPr b="0" sz="1400" strike="noStrike" u="none">
                      <a:solidFill>
                        <a:srgbClr val="ffffff"/>
                      </a:solidFill>
                      <a:uFillTx/>
                      <a:latin typeface="Wix Madefor Display SemiBold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"/>
              <c:numFmt formatCode="0%" sourceLinked="0"/>
              <c:txPr>
                <a:bodyPr wrap="square"/>
                <a:lstStyle/>
                <a:p>
                  <a:pPr>
                    <a:defRPr b="0" sz="1400" strike="noStrike" u="none">
                      <a:solidFill>
                        <a:srgbClr val="ffffff"/>
                      </a:solidFill>
                      <a:uFillTx/>
                      <a:latin typeface="Wix Madefor Display SemiBold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2"/>
              <c:numFmt formatCode="0%" sourceLinked="0"/>
              <c:txPr>
                <a:bodyPr wrap="square"/>
                <a:lstStyle/>
                <a:p>
                  <a:pPr>
                    <a:defRPr b="0" sz="1400" strike="noStrike" u="none">
                      <a:solidFill>
                        <a:srgbClr val="ffffff"/>
                      </a:solidFill>
                      <a:uFillTx/>
                      <a:latin typeface="Wix Madefor Display SemiBold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3"/>
              <c:numFmt formatCode="0%" sourceLinked="0"/>
              <c:txPr>
                <a:bodyPr wrap="square"/>
                <a:lstStyle/>
                <a:p>
                  <a:pPr>
                    <a:defRPr b="0" sz="1400" strike="noStrike" u="none">
                      <a:solidFill>
                        <a:srgbClr val="ffffff"/>
                      </a:solidFill>
                      <a:uFillTx/>
                      <a:latin typeface="Wix Madefor Display SemiBold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400" strike="noStrike" u="none">
                    <a:solidFill>
                      <a:srgbClr val="ffffff"/>
                    </a:solidFill>
                    <a:uFillTx/>
                    <a:latin typeface="Wix Madefor Display SemiBold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Проходил (-а) онлайн-курсы и тренинги на обучающих ресурсах</c:v>
                </c:pt>
                <c:pt idx="1">
                  <c:v>Научился (-ась) на рабочем месте</c:v>
                </c:pt>
                <c:pt idx="2">
                  <c:v>Проходил (-а) курсы повышения квалификации</c:v>
                </c:pt>
                <c:pt idx="3">
                  <c:v>Получил (-а) профильное высшее образование, связанное с ИТ</c:v>
                </c:pt>
              </c:strCache>
            </c:strRef>
          </c:cat>
          <c:val>
            <c:numRef>
              <c:f>0</c:f>
              <c:numCache>
                <c:formatCode>0%</c:formatCode>
                <c:ptCount val="4"/>
                <c:pt idx="0">
                  <c:v>0.27</c:v>
                </c:pt>
                <c:pt idx="1">
                  <c:v>0.35</c:v>
                </c:pt>
                <c:pt idx="2">
                  <c:v>0.45</c:v>
                </c:pt>
                <c:pt idx="3">
                  <c:v>0.47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rgbClr val="00d2b9"/>
            </a:solidFill>
            <a:ln w="0">
              <a:noFill/>
            </a:ln>
          </c:spPr>
          <c:invertIfNegative val="0"/>
          <c:dLbls>
            <c:numFmt formatCode="0%" sourceLinked="0"/>
            <c:txPr>
              <a:bodyPr wrap="square"/>
              <a:lstStyle/>
              <a:p>
                <a:pPr>
                  <a:defRPr b="0" sz="1400" strike="noStrike" u="none">
                    <a:solidFill>
                      <a:srgbClr val="ffffff"/>
                    </a:solidFill>
                    <a:uFillTx/>
                    <a:latin typeface="Wix Madefor Display SemiBold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Проходил (-а) онлайн-курсы и тренинги на обучающих ресурсах</c:v>
                </c:pt>
                <c:pt idx="1">
                  <c:v>Научился (-ась) на рабочем месте</c:v>
                </c:pt>
                <c:pt idx="2">
                  <c:v>Проходил (-а) курсы повышения квалификации</c:v>
                </c:pt>
                <c:pt idx="3">
                  <c:v>Получил (-а) профильное высшее образование, связанное с ИТ</c:v>
                </c:pt>
              </c:strCache>
            </c:strRef>
          </c:cat>
          <c:val>
            <c:numRef>
              <c:f>1</c:f>
              <c:numCache>
                <c:formatCode>0%</c:formatCode>
                <c:ptCount val="4"/>
                <c:pt idx="0">
                  <c:v>0.15</c:v>
                </c:pt>
                <c:pt idx="1">
                  <c:v>0.19</c:v>
                </c:pt>
                <c:pt idx="2">
                  <c:v>0.28</c:v>
                </c:pt>
                <c:pt idx="3">
                  <c:v>0.31</c:v>
                </c:pt>
              </c:numCache>
            </c:numRef>
          </c:val>
        </c:ser>
        <c:gapWidth val="250"/>
        <c:overlap val="100"/>
        <c:axId val="54726430"/>
        <c:axId val="29245877"/>
      </c:barChart>
      <c:catAx>
        <c:axId val="54726430"/>
        <c:scaling>
          <c:orientation val="minMax"/>
        </c:scaling>
        <c:delete val="1"/>
        <c:axPos val="b"/>
        <c:numFmt formatCode="[$-809]dd/mm/yyyy" sourceLinked="1"/>
        <c:majorTickMark val="none"/>
        <c:minorTickMark val="none"/>
        <c:tickLblPos val="nextTo"/>
        <c:spPr>
          <a:ln w="6480">
            <a:solidFill>
              <a:srgbClr val="8b8b8b"/>
            </a:solidFill>
            <a:round/>
          </a:ln>
        </c:spPr>
        <c:txPr>
          <a:bodyPr/>
          <a:lstStyle/>
          <a:p>
            <a:pPr>
              <a:defRPr b="0" sz="1000" strike="noStrike" u="non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29245877"/>
        <c:auto val="1"/>
        <c:lblAlgn val="ctr"/>
        <c:lblOffset val="100"/>
        <c:noMultiLvlLbl val="0"/>
      </c:catAx>
      <c:valAx>
        <c:axId val="29245877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spPr>
          <a:ln w="6480">
            <a:solidFill>
              <a:srgbClr val="8b8b8b"/>
            </a:solidFill>
            <a:round/>
          </a:ln>
        </c:spPr>
        <c:txPr>
          <a:bodyPr/>
          <a:lstStyle/>
          <a:p>
            <a:pPr>
              <a:defRPr b="0" sz="1000" strike="noStrike" u="non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54726430"/>
        <c:crossBetween val="between"/>
      </c:valAx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"/>
          <c:y val="0.00323741007194245"/>
          <c:w val="0.999944781888459"/>
          <c:h val="0.99658273381295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ef334b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00d2b9"/>
              </a:solidFill>
              <a:ln w="19080">
                <a:noFill/>
              </a:ln>
            </c:spPr>
          </c:dPt>
          <c:dPt>
            <c:idx val="1"/>
            <c:invertIfNegative val="0"/>
            <c:spPr>
              <a:solidFill>
                <a:srgbClr val="00d2b9"/>
              </a:solidFill>
              <a:ln w="0">
                <a:noFill/>
              </a:ln>
            </c:spPr>
          </c:dPt>
          <c:dPt>
            <c:idx val="2"/>
            <c:invertIfNegative val="0"/>
            <c:spPr>
              <a:solidFill>
                <a:srgbClr val="00d2b9"/>
              </a:solidFill>
              <a:ln w="0">
                <a:noFill/>
              </a:ln>
            </c:spPr>
          </c:dPt>
          <c:dPt>
            <c:idx val="3"/>
            <c:invertIfNegative val="0"/>
            <c:spPr>
              <a:solidFill>
                <a:srgbClr val="00d2b9"/>
              </a:solidFill>
              <a:ln w="0">
                <a:noFill/>
              </a:ln>
            </c:spPr>
          </c:dPt>
          <c:dPt>
            <c:idx val="4"/>
            <c:invertIfNegative val="0"/>
            <c:spPr>
              <a:solidFill>
                <a:srgbClr val="00d2b9"/>
              </a:solidFill>
              <a:ln w="0">
                <a:noFill/>
              </a:ln>
            </c:spPr>
          </c:dPt>
          <c:dLbls>
            <c:numFmt formatCode="0%" sourceLinked="0"/>
            <c:dLbl>
              <c:idx val="0"/>
              <c:numFmt formatCode="0%" sourceLinked="0"/>
              <c:txPr>
                <a:bodyPr wrap="square"/>
                <a:lstStyle/>
                <a:p>
                  <a:pPr>
                    <a:defRPr b="0" sz="1400" strike="noStrike" u="none">
                      <a:solidFill>
                        <a:srgbClr val="404040"/>
                      </a:solidFill>
                      <a:uFillTx/>
                      <a:latin typeface="Wix Madefor Display SemiBold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"/>
              <c:numFmt formatCode="0%" sourceLinked="0"/>
              <c:txPr>
                <a:bodyPr wrap="square"/>
                <a:lstStyle/>
                <a:p>
                  <a:pPr>
                    <a:defRPr b="0" sz="1400" strike="noStrike" u="none">
                      <a:solidFill>
                        <a:srgbClr val="404040"/>
                      </a:solidFill>
                      <a:uFillTx/>
                      <a:latin typeface="Wix Madefor Display SemiBold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2"/>
              <c:numFmt formatCode="0%" sourceLinked="0"/>
              <c:txPr>
                <a:bodyPr wrap="square"/>
                <a:lstStyle/>
                <a:p>
                  <a:pPr>
                    <a:defRPr b="0" sz="1400" strike="noStrike" u="none">
                      <a:solidFill>
                        <a:srgbClr val="404040"/>
                      </a:solidFill>
                      <a:uFillTx/>
                      <a:latin typeface="Wix Madefor Display SemiBold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3"/>
              <c:numFmt formatCode="0%" sourceLinked="0"/>
              <c:txPr>
                <a:bodyPr wrap="square"/>
                <a:lstStyle/>
                <a:p>
                  <a:pPr>
                    <a:defRPr b="0" sz="1400" strike="noStrike" u="none">
                      <a:solidFill>
                        <a:srgbClr val="404040"/>
                      </a:solidFill>
                      <a:uFillTx/>
                      <a:latin typeface="Wix Madefor Display SemiBold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4"/>
              <c:numFmt formatCode="0%" sourceLinked="0"/>
              <c:txPr>
                <a:bodyPr wrap="square"/>
                <a:lstStyle/>
                <a:p>
                  <a:pPr>
                    <a:defRPr b="0" sz="1400" strike="noStrike" u="none">
                      <a:solidFill>
                        <a:srgbClr val="404040"/>
                      </a:solidFill>
                      <a:uFillTx/>
                      <a:latin typeface="Wix Madefor Display SemiBold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400" strike="noStrike" u="none">
                    <a:solidFill>
                      <a:srgbClr val="404040"/>
                    </a:solidFill>
                    <a:uFillTx/>
                    <a:latin typeface="Wix Madefor Display SemiBold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5"/>
                <c:pt idx="0">
                  <c:v>Другое</c:v>
                </c:pt>
                <c:pt idx="1">
                  <c:v>Проходил (-а) онлайн-курсы и тренинги на обучающих ресурсах</c:v>
                </c:pt>
                <c:pt idx="2">
                  <c:v>Научился (-ась) на рабочем месте</c:v>
                </c:pt>
                <c:pt idx="3">
                  <c:v>Проходил (-а) курсы повышения квалификации</c:v>
                </c:pt>
                <c:pt idx="4">
                  <c:v>Получил (-а) профильное высшее образование, связанное с ИТ</c:v>
                </c:pt>
              </c:strCache>
            </c:strRef>
          </c:cat>
          <c:val>
            <c:numRef>
              <c:f>0</c:f>
              <c:numCache>
                <c:formatCode>0%</c:formatCode>
                <c:ptCount val="5"/>
                <c:pt idx="0">
                  <c:v>0.26</c:v>
                </c:pt>
                <c:pt idx="1">
                  <c:v>0.28</c:v>
                </c:pt>
                <c:pt idx="2">
                  <c:v>0.28</c:v>
                </c:pt>
                <c:pt idx="3">
                  <c:v>0.33</c:v>
                </c:pt>
                <c:pt idx="4">
                  <c:v>0.48</c:v>
                </c:pt>
              </c:numCache>
            </c:numRef>
          </c:val>
        </c:ser>
        <c:gapWidth val="300"/>
        <c:overlap val="0"/>
        <c:axId val="70774060"/>
        <c:axId val="41369817"/>
      </c:barChart>
      <c:catAx>
        <c:axId val="70774060"/>
        <c:scaling>
          <c:orientation val="minMax"/>
        </c:scaling>
        <c:delete val="1"/>
        <c:axPos val="b"/>
        <c:numFmt formatCode="[$-809]dd/mm/yyyy" sourceLinked="1"/>
        <c:majorTickMark val="none"/>
        <c:minorTickMark val="none"/>
        <c:tickLblPos val="nextTo"/>
        <c:spPr>
          <a:ln w="6480">
            <a:solidFill>
              <a:srgbClr val="8b8b8b"/>
            </a:solidFill>
            <a:round/>
          </a:ln>
        </c:spPr>
        <c:txPr>
          <a:bodyPr/>
          <a:lstStyle/>
          <a:p>
            <a:pPr>
              <a:defRPr b="0" sz="1000" strike="noStrike" u="non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41369817"/>
        <c:auto val="1"/>
        <c:lblAlgn val="ctr"/>
        <c:lblOffset val="100"/>
        <c:noMultiLvlLbl val="0"/>
      </c:catAx>
      <c:valAx>
        <c:axId val="41369817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spPr>
          <a:ln w="6480">
            <a:solidFill>
              <a:srgbClr val="8b8b8b"/>
            </a:solidFill>
            <a:round/>
          </a:ln>
        </c:spPr>
        <c:txPr>
          <a:bodyPr/>
          <a:lstStyle/>
          <a:p>
            <a:pPr>
              <a:defRPr b="0" sz="1000" strike="noStrike" u="non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70774060"/>
        <c:crossBetween val="between"/>
      </c:valAx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"/>
          <c:y val="0.03931019235021"/>
          <c:w val="0.99674281061158"/>
          <c:h val="0.960645589210701"/>
        </c:manualLayout>
      </c:layout>
      <c:doughnut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Продажи</c:v>
                </c:pt>
              </c:strCache>
            </c:strRef>
          </c:tx>
          <c:spPr>
            <a:solidFill>
              <a:srgbClr val="2c4a7f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e4e4f2"/>
              </a:solidFill>
              <a:ln w="19080">
                <a:solidFill>
                  <a:srgbClr val="ffffff"/>
                </a:solidFill>
                <a:round/>
              </a:ln>
            </c:spPr>
          </c:dPt>
          <c:dPt>
            <c:idx val="1"/>
            <c:spPr>
              <a:solidFill>
                <a:srgbClr val="adb9ca"/>
              </a:solidFill>
              <a:ln w="19080">
                <a:solidFill>
                  <a:srgbClr val="ffffff"/>
                </a:solidFill>
                <a:round/>
              </a:ln>
            </c:spPr>
          </c:dPt>
          <c:dPt>
            <c:idx val="2"/>
            <c:spPr>
              <a:noFill/>
              <a:ln w="19080">
                <a:noFill/>
              </a:ln>
            </c:spPr>
          </c:dPt>
          <c:dLbls>
            <c:dLbl>
              <c:idx val="0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2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; </c:separator>
            <c:showLeaderLines val="1"/>
          </c:dLbls>
          <c:cat>
            <c:strRef>
              <c:f>categories</c:f>
              <c:strCache>
                <c:ptCount val="3"/>
                <c:pt idx="0">
                  <c:v>Кв. 1</c:v>
                </c:pt>
                <c:pt idx="1">
                  <c:v>Кв. 2</c:v>
                </c:pt>
                <c:pt idx="2">
                  <c:v>Кв. 3</c:v>
                </c:pt>
              </c:strCache>
            </c:strRef>
          </c:cat>
          <c:val>
            <c:numRef>
              <c:f>0</c:f>
              <c:numCache>
                <c:formatCode>0%</c:formatCode>
                <c:ptCount val="3"/>
                <c:pt idx="0">
                  <c:v>0.475</c:v>
                </c:pt>
                <c:pt idx="1">
                  <c:v>0.025</c:v>
                </c:pt>
                <c:pt idx="2">
                  <c:v>0.5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Столбец1</c:v>
                </c:pt>
              </c:strCache>
            </c:strRef>
          </c:tx>
          <c:spPr>
            <a:solidFill>
              <a:srgbClr val="2f508a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e4e4f2"/>
              </a:solidFill>
              <a:ln w="19080">
                <a:solidFill>
                  <a:srgbClr val="ffffff"/>
                </a:solidFill>
                <a:round/>
              </a:ln>
            </c:spPr>
          </c:dPt>
          <c:dPt>
            <c:idx val="1"/>
            <c:spPr>
              <a:solidFill>
                <a:srgbClr val="00d2b9"/>
              </a:solidFill>
              <a:ln w="19080">
                <a:solidFill>
                  <a:srgbClr val="ffffff"/>
                </a:solidFill>
                <a:round/>
              </a:ln>
            </c:spPr>
          </c:dPt>
          <c:dPt>
            <c:idx val="2"/>
            <c:spPr>
              <a:noFill/>
              <a:ln w="19080">
                <a:noFill/>
              </a:ln>
            </c:spPr>
          </c:dPt>
          <c:dLbls>
            <c:dLbl>
              <c:idx val="0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2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; </c:separator>
            <c:showLeaderLines val="1"/>
          </c:dLbls>
          <c:cat>
            <c:strRef>
              <c:f>categories</c:f>
              <c:strCache>
                <c:ptCount val="3"/>
                <c:pt idx="0">
                  <c:v>Кв. 1</c:v>
                </c:pt>
                <c:pt idx="1">
                  <c:v>Кв. 2</c:v>
                </c:pt>
                <c:pt idx="2">
                  <c:v>Кв. 3</c:v>
                </c:pt>
              </c:strCache>
            </c:strRef>
          </c:cat>
          <c:val>
            <c:numRef>
              <c:f>1</c:f>
              <c:numCache>
                <c:formatCode>0%</c:formatCode>
                <c:ptCount val="3"/>
                <c:pt idx="0">
                  <c:v>0.47</c:v>
                </c:pt>
                <c:pt idx="1">
                  <c:v>0.03</c:v>
                </c:pt>
                <c:pt idx="2">
                  <c:v>0.5</c:v>
                </c:pt>
              </c:numCache>
            </c:numRef>
          </c:val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Столбец2</c:v>
                </c:pt>
              </c:strCache>
            </c:strRef>
          </c:tx>
          <c:spPr>
            <a:solidFill>
              <a:srgbClr val="335593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e4e4f2"/>
              </a:solidFill>
              <a:ln w="19080">
                <a:solidFill>
                  <a:srgbClr val="ffffff"/>
                </a:solidFill>
                <a:round/>
              </a:ln>
            </c:spPr>
          </c:dPt>
          <c:dPt>
            <c:idx val="1"/>
            <c:spPr>
              <a:solidFill>
                <a:srgbClr val="00d2b9"/>
              </a:solidFill>
              <a:ln w="19080">
                <a:solidFill>
                  <a:srgbClr val="ffffff"/>
                </a:solidFill>
                <a:round/>
              </a:ln>
            </c:spPr>
          </c:dPt>
          <c:dPt>
            <c:idx val="2"/>
            <c:spPr>
              <a:noFill/>
              <a:ln w="19080">
                <a:noFill/>
              </a:ln>
            </c:spPr>
          </c:dPt>
          <c:dLbls>
            <c:dLbl>
              <c:idx val="0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2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; </c:separator>
            <c:showLeaderLines val="1"/>
          </c:dLbls>
          <c:cat>
            <c:strRef>
              <c:f>categories</c:f>
              <c:strCache>
                <c:ptCount val="3"/>
                <c:pt idx="0">
                  <c:v>Кв. 1</c:v>
                </c:pt>
                <c:pt idx="1">
                  <c:v>Кв. 2</c:v>
                </c:pt>
                <c:pt idx="2">
                  <c:v>Кв. 3</c:v>
                </c:pt>
              </c:strCache>
            </c:strRef>
          </c:cat>
          <c:val>
            <c:numRef>
              <c:f>2</c:f>
              <c:numCache>
                <c:formatCode>0%</c:formatCode>
                <c:ptCount val="3"/>
                <c:pt idx="0">
                  <c:v>0.47</c:v>
                </c:pt>
                <c:pt idx="1">
                  <c:v>0.03</c:v>
                </c:pt>
                <c:pt idx="2">
                  <c:v>0.5</c:v>
                </c:pt>
              </c:numCache>
            </c:numRef>
          </c:val>
        </c:ser>
        <c:ser>
          <c:idx val="3"/>
          <c:order val="3"/>
          <c:tx>
            <c:strRef>
              <c:f>label 3</c:f>
              <c:strCache>
                <c:ptCount val="1"/>
                <c:pt idx="0">
                  <c:v>Столбец3</c:v>
                </c:pt>
              </c:strCache>
            </c:strRef>
          </c:tx>
          <c:spPr>
            <a:solidFill>
              <a:srgbClr val="365a9c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e4e4f2"/>
              </a:solidFill>
              <a:ln w="19080">
                <a:solidFill>
                  <a:srgbClr val="ffffff"/>
                </a:solidFill>
                <a:round/>
              </a:ln>
            </c:spPr>
          </c:dPt>
          <c:dPt>
            <c:idx val="1"/>
            <c:spPr>
              <a:solidFill>
                <a:srgbClr val="00d2b9"/>
              </a:solidFill>
              <a:ln w="19080">
                <a:solidFill>
                  <a:srgbClr val="ffffff"/>
                </a:solidFill>
                <a:round/>
              </a:ln>
            </c:spPr>
          </c:dPt>
          <c:dPt>
            <c:idx val="2"/>
            <c:spPr>
              <a:noFill/>
              <a:ln w="19080">
                <a:noFill/>
              </a:ln>
            </c:spPr>
          </c:dPt>
          <c:dLbls>
            <c:dLbl>
              <c:idx val="0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2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; </c:separator>
            <c:showLeaderLines val="1"/>
          </c:dLbls>
          <c:cat>
            <c:strRef>
              <c:f>categories</c:f>
              <c:strCache>
                <c:ptCount val="3"/>
                <c:pt idx="0">
                  <c:v>Кв. 1</c:v>
                </c:pt>
                <c:pt idx="1">
                  <c:v>Кв. 2</c:v>
                </c:pt>
                <c:pt idx="2">
                  <c:v>Кв. 3</c:v>
                </c:pt>
              </c:strCache>
            </c:strRef>
          </c:cat>
          <c:val>
            <c:numRef>
              <c:f>3</c:f>
              <c:numCache>
                <c:formatCode>0%</c:formatCode>
                <c:ptCount val="3"/>
                <c:pt idx="0">
                  <c:v>0.46</c:v>
                </c:pt>
                <c:pt idx="1">
                  <c:v>0.04</c:v>
                </c:pt>
                <c:pt idx="2">
                  <c:v>0.5</c:v>
                </c:pt>
              </c:numCache>
            </c:numRef>
          </c:val>
        </c:ser>
        <c:ser>
          <c:idx val="4"/>
          <c:order val="4"/>
          <c:tx>
            <c:strRef>
              <c:f>label 4</c:f>
              <c:strCache>
                <c:ptCount val="1"/>
                <c:pt idx="0">
                  <c:v>Столбец4</c:v>
                </c:pt>
              </c:strCache>
            </c:strRef>
          </c:tx>
          <c:spPr>
            <a:solidFill>
              <a:srgbClr val="395fa4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e4e4f2"/>
              </a:solidFill>
              <a:ln w="19080">
                <a:solidFill>
                  <a:srgbClr val="ffffff"/>
                </a:solidFill>
                <a:round/>
              </a:ln>
            </c:spPr>
          </c:dPt>
          <c:dPt>
            <c:idx val="1"/>
            <c:spPr>
              <a:solidFill>
                <a:srgbClr val="00d2b9"/>
              </a:solidFill>
              <a:ln w="19080">
                <a:solidFill>
                  <a:srgbClr val="ffffff"/>
                </a:solidFill>
                <a:round/>
              </a:ln>
            </c:spPr>
          </c:dPt>
          <c:dPt>
            <c:idx val="2"/>
            <c:spPr>
              <a:noFill/>
              <a:ln w="19080">
                <a:noFill/>
              </a:ln>
            </c:spPr>
          </c:dPt>
          <c:dLbls>
            <c:dLbl>
              <c:idx val="0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2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; </c:separator>
            <c:showLeaderLines val="1"/>
          </c:dLbls>
          <c:cat>
            <c:strRef>
              <c:f>categories</c:f>
              <c:strCache>
                <c:ptCount val="3"/>
                <c:pt idx="0">
                  <c:v>Кв. 1</c:v>
                </c:pt>
                <c:pt idx="1">
                  <c:v>Кв. 2</c:v>
                </c:pt>
                <c:pt idx="2">
                  <c:v>Кв. 3</c:v>
                </c:pt>
              </c:strCache>
            </c:strRef>
          </c:cat>
          <c:val>
            <c:numRef>
              <c:f>4</c:f>
              <c:numCache>
                <c:formatCode>0%</c:formatCode>
                <c:ptCount val="3"/>
                <c:pt idx="0">
                  <c:v>0.455</c:v>
                </c:pt>
                <c:pt idx="1">
                  <c:v>0.045</c:v>
                </c:pt>
                <c:pt idx="2">
                  <c:v>0.5</c:v>
                </c:pt>
              </c:numCache>
            </c:numRef>
          </c:val>
        </c:ser>
        <c:ser>
          <c:idx val="5"/>
          <c:order val="5"/>
          <c:tx>
            <c:strRef>
              <c:f>label 5</c:f>
              <c:strCache>
                <c:ptCount val="1"/>
                <c:pt idx="0">
                  <c:v>Столбец5</c:v>
                </c:pt>
              </c:strCache>
            </c:strRef>
          </c:tx>
          <c:spPr>
            <a:solidFill>
              <a:srgbClr val="3b64ac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e4e4f2"/>
              </a:solidFill>
              <a:ln w="19080">
                <a:solidFill>
                  <a:srgbClr val="ffffff"/>
                </a:solidFill>
                <a:round/>
              </a:ln>
            </c:spPr>
          </c:dPt>
          <c:dPt>
            <c:idx val="1"/>
            <c:spPr>
              <a:solidFill>
                <a:srgbClr val="00d2b9"/>
              </a:solidFill>
              <a:ln w="19080">
                <a:solidFill>
                  <a:srgbClr val="ffffff"/>
                </a:solidFill>
                <a:round/>
              </a:ln>
            </c:spPr>
          </c:dPt>
          <c:dPt>
            <c:idx val="2"/>
            <c:spPr>
              <a:noFill/>
              <a:ln w="19080">
                <a:noFill/>
              </a:ln>
            </c:spPr>
          </c:dPt>
          <c:dLbls>
            <c:dLbl>
              <c:idx val="0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2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; </c:separator>
            <c:showLeaderLines val="1"/>
          </c:dLbls>
          <c:cat>
            <c:strRef>
              <c:f>categories</c:f>
              <c:strCache>
                <c:ptCount val="3"/>
                <c:pt idx="0">
                  <c:v>Кв. 1</c:v>
                </c:pt>
                <c:pt idx="1">
                  <c:v>Кв. 2</c:v>
                </c:pt>
                <c:pt idx="2">
                  <c:v>Кв. 3</c:v>
                </c:pt>
              </c:strCache>
            </c:strRef>
          </c:cat>
          <c:val>
            <c:numRef>
              <c:f>5</c:f>
              <c:numCache>
                <c:formatCode>0%</c:formatCode>
                <c:ptCount val="3"/>
                <c:pt idx="0">
                  <c:v>0.44</c:v>
                </c:pt>
                <c:pt idx="1">
                  <c:v>0.06</c:v>
                </c:pt>
                <c:pt idx="2">
                  <c:v>0.5</c:v>
                </c:pt>
              </c:numCache>
            </c:numRef>
          </c:val>
        </c:ser>
        <c:ser>
          <c:idx val="6"/>
          <c:order val="6"/>
          <c:tx>
            <c:strRef>
              <c:f>label 6</c:f>
              <c:strCache>
                <c:ptCount val="1"/>
                <c:pt idx="0">
                  <c:v>Столбец6</c:v>
                </c:pt>
              </c:strCache>
            </c:strRef>
          </c:tx>
          <c:spPr>
            <a:solidFill>
              <a:srgbClr val="3e68b3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e4e4f2"/>
              </a:solidFill>
              <a:ln w="19080">
                <a:solidFill>
                  <a:srgbClr val="ffffff"/>
                </a:solidFill>
                <a:round/>
              </a:ln>
            </c:spPr>
          </c:dPt>
          <c:dPt>
            <c:idx val="1"/>
            <c:spPr>
              <a:solidFill>
                <a:srgbClr val="00d2b9"/>
              </a:solidFill>
              <a:ln w="19080">
                <a:solidFill>
                  <a:srgbClr val="ffffff"/>
                </a:solidFill>
                <a:round/>
              </a:ln>
            </c:spPr>
          </c:dPt>
          <c:dPt>
            <c:idx val="2"/>
            <c:spPr>
              <a:noFill/>
              <a:ln w="19080">
                <a:noFill/>
              </a:ln>
            </c:spPr>
          </c:dPt>
          <c:dLbls>
            <c:dLbl>
              <c:idx val="0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2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; </c:separator>
            <c:showLeaderLines val="1"/>
          </c:dLbls>
          <c:cat>
            <c:strRef>
              <c:f>categories</c:f>
              <c:strCache>
                <c:ptCount val="3"/>
                <c:pt idx="0">
                  <c:v>Кв. 1</c:v>
                </c:pt>
                <c:pt idx="1">
                  <c:v>Кв. 2</c:v>
                </c:pt>
                <c:pt idx="2">
                  <c:v>Кв. 3</c:v>
                </c:pt>
              </c:strCache>
            </c:strRef>
          </c:cat>
          <c:val>
            <c:numRef>
              <c:f>6</c:f>
              <c:numCache>
                <c:formatCode>0%</c:formatCode>
                <c:ptCount val="3"/>
                <c:pt idx="0">
                  <c:v>0.41</c:v>
                </c:pt>
                <c:pt idx="1">
                  <c:v>0.09</c:v>
                </c:pt>
                <c:pt idx="2">
                  <c:v>0.5</c:v>
                </c:pt>
              </c:numCache>
            </c:numRef>
          </c:val>
        </c:ser>
        <c:ser>
          <c:idx val="7"/>
          <c:order val="7"/>
          <c:tx>
            <c:strRef>
              <c:f>label 7</c:f>
              <c:strCache>
                <c:ptCount val="1"/>
                <c:pt idx="0">
                  <c:v>Столбец7</c:v>
                </c:pt>
              </c:strCache>
            </c:strRef>
          </c:tx>
          <c:spPr>
            <a:solidFill>
              <a:srgbClr val="406cba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e4e4f2"/>
              </a:solidFill>
              <a:ln w="19080">
                <a:solidFill>
                  <a:srgbClr val="ffffff"/>
                </a:solidFill>
                <a:round/>
              </a:ln>
            </c:spPr>
          </c:dPt>
          <c:dPt>
            <c:idx val="1"/>
            <c:spPr>
              <a:solidFill>
                <a:srgbClr val="00d2b9"/>
              </a:solidFill>
              <a:ln w="19080">
                <a:solidFill>
                  <a:srgbClr val="ffffff"/>
                </a:solidFill>
                <a:round/>
              </a:ln>
            </c:spPr>
          </c:dPt>
          <c:dPt>
            <c:idx val="2"/>
            <c:spPr>
              <a:noFill/>
              <a:ln w="19080">
                <a:noFill/>
              </a:ln>
            </c:spPr>
          </c:dPt>
          <c:dLbls>
            <c:dLbl>
              <c:idx val="0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2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; </c:separator>
            <c:showLeaderLines val="1"/>
          </c:dLbls>
          <c:cat>
            <c:strRef>
              <c:f>categories</c:f>
              <c:strCache>
                <c:ptCount val="3"/>
                <c:pt idx="0">
                  <c:v>Кв. 1</c:v>
                </c:pt>
                <c:pt idx="1">
                  <c:v>Кв. 2</c:v>
                </c:pt>
                <c:pt idx="2">
                  <c:v>Кв. 3</c:v>
                </c:pt>
              </c:strCache>
            </c:strRef>
          </c:cat>
          <c:val>
            <c:numRef>
              <c:f>7</c:f>
              <c:numCache>
                <c:formatCode>0%</c:formatCode>
                <c:ptCount val="3"/>
                <c:pt idx="0">
                  <c:v>0.405</c:v>
                </c:pt>
                <c:pt idx="1">
                  <c:v>0.095</c:v>
                </c:pt>
                <c:pt idx="2">
                  <c:v>0.5</c:v>
                </c:pt>
              </c:numCache>
            </c:numRef>
          </c:val>
        </c:ser>
        <c:ser>
          <c:idx val="8"/>
          <c:order val="8"/>
          <c:tx>
            <c:strRef>
              <c:f>label 8</c:f>
              <c:strCache>
                <c:ptCount val="1"/>
                <c:pt idx="0">
                  <c:v>Столбец8</c:v>
                </c:pt>
              </c:strCache>
            </c:strRef>
          </c:tx>
          <c:spPr>
            <a:solidFill>
              <a:srgbClr val="4270c0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e4e4f2"/>
              </a:solidFill>
              <a:ln w="19080">
                <a:solidFill>
                  <a:srgbClr val="ffffff"/>
                </a:solidFill>
                <a:round/>
              </a:ln>
            </c:spPr>
          </c:dPt>
          <c:dPt>
            <c:idx val="1"/>
            <c:spPr>
              <a:solidFill>
                <a:srgbClr val="00d2b9"/>
              </a:solidFill>
              <a:ln w="19080">
                <a:solidFill>
                  <a:srgbClr val="ffffff"/>
                </a:solidFill>
                <a:round/>
              </a:ln>
            </c:spPr>
          </c:dPt>
          <c:dPt>
            <c:idx val="2"/>
            <c:spPr>
              <a:noFill/>
              <a:ln w="19080">
                <a:noFill/>
              </a:ln>
            </c:spPr>
          </c:dPt>
          <c:dLbls>
            <c:dLbl>
              <c:idx val="0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2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; </c:separator>
            <c:showLeaderLines val="1"/>
          </c:dLbls>
          <c:cat>
            <c:strRef>
              <c:f>categories</c:f>
              <c:strCache>
                <c:ptCount val="3"/>
                <c:pt idx="0">
                  <c:v>Кв. 1</c:v>
                </c:pt>
                <c:pt idx="1">
                  <c:v>Кв. 2</c:v>
                </c:pt>
                <c:pt idx="2">
                  <c:v>Кв. 3</c:v>
                </c:pt>
              </c:strCache>
            </c:strRef>
          </c:cat>
          <c:val>
            <c:numRef>
              <c:f>8</c:f>
              <c:numCache>
                <c:formatCode>0%</c:formatCode>
                <c:ptCount val="3"/>
                <c:pt idx="0">
                  <c:v>0.405</c:v>
                </c:pt>
                <c:pt idx="1">
                  <c:v>0.095</c:v>
                </c:pt>
                <c:pt idx="2">
                  <c:v>0.5</c:v>
                </c:pt>
              </c:numCache>
            </c:numRef>
          </c:val>
        </c:ser>
        <c:ser>
          <c:idx val="9"/>
          <c:order val="9"/>
          <c:tx>
            <c:strRef>
              <c:f>label 9</c:f>
              <c:strCache>
                <c:ptCount val="1"/>
                <c:pt idx="0">
                  <c:v>Столбец9</c:v>
                </c:pt>
              </c:strCache>
            </c:strRef>
          </c:tx>
          <c:spPr>
            <a:solidFill>
              <a:srgbClr val="567bc6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e4e4f2"/>
              </a:solidFill>
              <a:ln w="19080">
                <a:solidFill>
                  <a:srgbClr val="ffffff"/>
                </a:solidFill>
                <a:round/>
              </a:ln>
            </c:spPr>
          </c:dPt>
          <c:dPt>
            <c:idx val="1"/>
            <c:spPr>
              <a:solidFill>
                <a:srgbClr val="00d2b9"/>
              </a:solidFill>
              <a:ln w="19080">
                <a:solidFill>
                  <a:srgbClr val="ffffff"/>
                </a:solidFill>
                <a:round/>
              </a:ln>
            </c:spPr>
          </c:dPt>
          <c:dPt>
            <c:idx val="2"/>
            <c:spPr>
              <a:noFill/>
              <a:ln w="19080">
                <a:noFill/>
              </a:ln>
            </c:spPr>
          </c:dPt>
          <c:dLbls>
            <c:dLbl>
              <c:idx val="0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2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; </c:separator>
            <c:showLeaderLines val="1"/>
          </c:dLbls>
          <c:cat>
            <c:strRef>
              <c:f>categories</c:f>
              <c:strCache>
                <c:ptCount val="3"/>
                <c:pt idx="0">
                  <c:v>Кв. 1</c:v>
                </c:pt>
                <c:pt idx="1">
                  <c:v>Кв. 2</c:v>
                </c:pt>
                <c:pt idx="2">
                  <c:v>Кв. 3</c:v>
                </c:pt>
              </c:strCache>
            </c:strRef>
          </c:cat>
          <c:val>
            <c:numRef>
              <c:f>9</c:f>
              <c:numCache>
                <c:formatCode>0.00%</c:formatCode>
                <c:ptCount val="3"/>
                <c:pt idx="0">
                  <c:v>0.39</c:v>
                </c:pt>
                <c:pt idx="1">
                  <c:v>0.11</c:v>
                </c:pt>
                <c:pt idx="2">
                  <c:v>0.5</c:v>
                </c:pt>
              </c:numCache>
            </c:numRef>
          </c:val>
        </c:ser>
        <c:ser>
          <c:idx val="10"/>
          <c:order val="10"/>
          <c:tx>
            <c:strRef>
              <c:f>label 10</c:f>
              <c:strCache>
                <c:ptCount val="1"/>
                <c:pt idx="0">
                  <c:v>Столбец10</c:v>
                </c:pt>
              </c:strCache>
            </c:strRef>
          </c:tx>
          <c:spPr>
            <a:solidFill>
              <a:srgbClr val="708bcb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e4e4f2"/>
              </a:solidFill>
              <a:ln w="19080">
                <a:solidFill>
                  <a:srgbClr val="ffffff"/>
                </a:solidFill>
                <a:round/>
              </a:ln>
            </c:spPr>
          </c:dPt>
          <c:dPt>
            <c:idx val="1"/>
            <c:spPr>
              <a:solidFill>
                <a:srgbClr val="00d2b9"/>
              </a:solidFill>
              <a:ln w="19080">
                <a:solidFill>
                  <a:srgbClr val="ffffff"/>
                </a:solidFill>
                <a:round/>
              </a:ln>
            </c:spPr>
          </c:dPt>
          <c:dPt>
            <c:idx val="2"/>
            <c:spPr>
              <a:noFill/>
              <a:ln w="19080">
                <a:noFill/>
              </a:ln>
            </c:spPr>
          </c:dPt>
          <c:dLbls>
            <c:dLbl>
              <c:idx val="0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2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; </c:separator>
            <c:showLeaderLines val="1"/>
          </c:dLbls>
          <c:cat>
            <c:strRef>
              <c:f>categories</c:f>
              <c:strCache>
                <c:ptCount val="3"/>
                <c:pt idx="0">
                  <c:v>Кв. 1</c:v>
                </c:pt>
                <c:pt idx="1">
                  <c:v>Кв. 2</c:v>
                </c:pt>
                <c:pt idx="2">
                  <c:v>Кв. 3</c:v>
                </c:pt>
              </c:strCache>
            </c:strRef>
          </c:cat>
          <c:val>
            <c:numRef>
              <c:f>10</c:f>
              <c:numCache>
                <c:formatCode>0.00%</c:formatCode>
                <c:ptCount val="3"/>
                <c:pt idx="0">
                  <c:v>0.38</c:v>
                </c:pt>
                <c:pt idx="1">
                  <c:v>0.12</c:v>
                </c:pt>
                <c:pt idx="2">
                  <c:v>0.5</c:v>
                </c:pt>
              </c:numCache>
            </c:numRef>
          </c:val>
        </c:ser>
        <c:ser>
          <c:idx val="11"/>
          <c:order val="11"/>
          <c:tx>
            <c:strRef>
              <c:f>label 11</c:f>
              <c:strCache>
                <c:ptCount val="1"/>
                <c:pt idx="0">
                  <c:v>Столбец11</c:v>
                </c:pt>
              </c:strCache>
            </c:strRef>
          </c:tx>
          <c:spPr>
            <a:solidFill>
              <a:srgbClr val="8499d0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e4e4f2"/>
              </a:solidFill>
              <a:ln w="19080">
                <a:solidFill>
                  <a:srgbClr val="ffffff"/>
                </a:solidFill>
                <a:round/>
              </a:ln>
            </c:spPr>
          </c:dPt>
          <c:dPt>
            <c:idx val="1"/>
            <c:spPr>
              <a:solidFill>
                <a:srgbClr val="00d2b9"/>
              </a:solidFill>
              <a:ln w="19080">
                <a:solidFill>
                  <a:srgbClr val="ffffff"/>
                </a:solidFill>
                <a:round/>
              </a:ln>
            </c:spPr>
          </c:dPt>
          <c:dPt>
            <c:idx val="2"/>
            <c:spPr>
              <a:noFill/>
              <a:ln w="19080">
                <a:noFill/>
              </a:ln>
            </c:spPr>
          </c:dPt>
          <c:dLbls>
            <c:dLbl>
              <c:idx val="0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2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; </c:separator>
            <c:showLeaderLines val="1"/>
          </c:dLbls>
          <c:cat>
            <c:strRef>
              <c:f>categories</c:f>
              <c:strCache>
                <c:ptCount val="3"/>
                <c:pt idx="0">
                  <c:v>Кв. 1</c:v>
                </c:pt>
                <c:pt idx="1">
                  <c:v>Кв. 2</c:v>
                </c:pt>
                <c:pt idx="2">
                  <c:v>Кв. 3</c:v>
                </c:pt>
              </c:strCache>
            </c:strRef>
          </c:cat>
          <c:val>
            <c:numRef>
              <c:f>11</c:f>
              <c:numCache>
                <c:formatCode>0%</c:formatCode>
                <c:ptCount val="3"/>
                <c:pt idx="0">
                  <c:v>0.38</c:v>
                </c:pt>
                <c:pt idx="1">
                  <c:v>0.12</c:v>
                </c:pt>
                <c:pt idx="2">
                  <c:v>0.5</c:v>
                </c:pt>
              </c:numCache>
            </c:numRef>
          </c:val>
        </c:ser>
        <c:ser>
          <c:idx val="12"/>
          <c:order val="12"/>
          <c:tx>
            <c:strRef>
              <c:f>label 12</c:f>
              <c:strCache>
                <c:ptCount val="1"/>
                <c:pt idx="0">
                  <c:v>Столбец12</c:v>
                </c:pt>
              </c:strCache>
            </c:strRef>
          </c:tx>
          <c:spPr>
            <a:solidFill>
              <a:srgbClr val="95a6d5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e4e4f2"/>
              </a:solidFill>
              <a:ln w="19080">
                <a:solidFill>
                  <a:srgbClr val="ffffff"/>
                </a:solidFill>
                <a:round/>
              </a:ln>
            </c:spPr>
          </c:dPt>
          <c:dPt>
            <c:idx val="1"/>
            <c:spPr>
              <a:solidFill>
                <a:srgbClr val="00d2b9"/>
              </a:solidFill>
              <a:ln w="19080">
                <a:solidFill>
                  <a:srgbClr val="ffffff"/>
                </a:solidFill>
                <a:round/>
              </a:ln>
            </c:spPr>
          </c:dPt>
          <c:dPt>
            <c:idx val="2"/>
            <c:spPr>
              <a:noFill/>
              <a:ln w="19080">
                <a:noFill/>
              </a:ln>
            </c:spPr>
          </c:dPt>
          <c:dLbls>
            <c:dLbl>
              <c:idx val="0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2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; </c:separator>
            <c:showLeaderLines val="1"/>
          </c:dLbls>
          <c:cat>
            <c:strRef>
              <c:f>categories</c:f>
              <c:strCache>
                <c:ptCount val="3"/>
                <c:pt idx="0">
                  <c:v>Кв. 1</c:v>
                </c:pt>
                <c:pt idx="1">
                  <c:v>Кв. 2</c:v>
                </c:pt>
                <c:pt idx="2">
                  <c:v>Кв. 3</c:v>
                </c:pt>
              </c:strCache>
            </c:strRef>
          </c:cat>
          <c:val>
            <c:numRef>
              <c:f>12</c:f>
              <c:numCache>
                <c:formatCode>0%</c:formatCode>
                <c:ptCount val="3"/>
                <c:pt idx="0">
                  <c:v>0.35</c:v>
                </c:pt>
                <c:pt idx="1">
                  <c:v>0.15</c:v>
                </c:pt>
                <c:pt idx="2">
                  <c:v>0.5</c:v>
                </c:pt>
              </c:numCache>
            </c:numRef>
          </c:val>
        </c:ser>
        <c:ser>
          <c:idx val="13"/>
          <c:order val="13"/>
          <c:tx>
            <c:strRef>
              <c:f>label 13</c:f>
              <c:strCache>
                <c:ptCount val="1"/>
                <c:pt idx="0">
                  <c:v>Столбец13</c:v>
                </c:pt>
              </c:strCache>
            </c:strRef>
          </c:tx>
          <c:spPr>
            <a:solidFill>
              <a:srgbClr val="a4b1d9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e4e4f2"/>
              </a:solidFill>
              <a:ln w="19080">
                <a:solidFill>
                  <a:srgbClr val="ffffff"/>
                </a:solidFill>
                <a:round/>
              </a:ln>
            </c:spPr>
          </c:dPt>
          <c:dPt>
            <c:idx val="1"/>
            <c:spPr>
              <a:solidFill>
                <a:srgbClr val="00d2b9"/>
              </a:solidFill>
              <a:ln w="19080">
                <a:solidFill>
                  <a:srgbClr val="ffffff"/>
                </a:solidFill>
                <a:round/>
              </a:ln>
            </c:spPr>
          </c:dPt>
          <c:dPt>
            <c:idx val="2"/>
            <c:spPr>
              <a:noFill/>
              <a:ln w="19080">
                <a:noFill/>
              </a:ln>
            </c:spPr>
          </c:dPt>
          <c:dLbls>
            <c:dLbl>
              <c:idx val="0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2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; </c:separator>
            <c:showLeaderLines val="1"/>
          </c:dLbls>
          <c:cat>
            <c:strRef>
              <c:f>categories</c:f>
              <c:strCache>
                <c:ptCount val="3"/>
                <c:pt idx="0">
                  <c:v>Кв. 1</c:v>
                </c:pt>
                <c:pt idx="1">
                  <c:v>Кв. 2</c:v>
                </c:pt>
                <c:pt idx="2">
                  <c:v>Кв. 3</c:v>
                </c:pt>
              </c:strCache>
            </c:strRef>
          </c:cat>
          <c:val>
            <c:numRef>
              <c:f>13</c:f>
              <c:numCache>
                <c:formatCode>0.00%</c:formatCode>
                <c:ptCount val="3"/>
                <c:pt idx="0">
                  <c:v>0.35</c:v>
                </c:pt>
                <c:pt idx="1">
                  <c:v>0.15</c:v>
                </c:pt>
                <c:pt idx="2">
                  <c:v>0.5</c:v>
                </c:pt>
              </c:numCache>
            </c:numRef>
          </c:val>
        </c:ser>
        <c:ser>
          <c:idx val="14"/>
          <c:order val="14"/>
          <c:tx>
            <c:strRef>
              <c:f>label 14</c:f>
              <c:strCache>
                <c:ptCount val="1"/>
                <c:pt idx="0">
                  <c:v>Столбец14</c:v>
                </c:pt>
              </c:strCache>
            </c:strRef>
          </c:tx>
          <c:spPr>
            <a:solidFill>
              <a:srgbClr val="b1bcde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e4e4f2"/>
              </a:solidFill>
              <a:ln w="19080">
                <a:solidFill>
                  <a:srgbClr val="ffffff"/>
                </a:solidFill>
                <a:round/>
              </a:ln>
            </c:spPr>
          </c:dPt>
          <c:dPt>
            <c:idx val="1"/>
            <c:spPr>
              <a:solidFill>
                <a:srgbClr val="00d2b9"/>
              </a:solidFill>
              <a:ln w="19080">
                <a:solidFill>
                  <a:srgbClr val="ffffff"/>
                </a:solidFill>
                <a:round/>
              </a:ln>
            </c:spPr>
          </c:dPt>
          <c:dPt>
            <c:idx val="2"/>
            <c:spPr>
              <a:noFill/>
              <a:ln w="19080">
                <a:noFill/>
              </a:ln>
            </c:spPr>
          </c:dPt>
          <c:dLbls>
            <c:dLbl>
              <c:idx val="0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2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; </c:separator>
            <c:showLeaderLines val="1"/>
          </c:dLbls>
          <c:cat>
            <c:strRef>
              <c:f>categories</c:f>
              <c:strCache>
                <c:ptCount val="3"/>
                <c:pt idx="0">
                  <c:v>Кв. 1</c:v>
                </c:pt>
                <c:pt idx="1">
                  <c:v>Кв. 2</c:v>
                </c:pt>
                <c:pt idx="2">
                  <c:v>Кв. 3</c:v>
                </c:pt>
              </c:strCache>
            </c:strRef>
          </c:cat>
          <c:val>
            <c:numRef>
              <c:f>14</c:f>
              <c:numCache>
                <c:formatCode>0%</c:formatCode>
                <c:ptCount val="3"/>
                <c:pt idx="0">
                  <c:v>0.32</c:v>
                </c:pt>
                <c:pt idx="1">
                  <c:v>0.18</c:v>
                </c:pt>
                <c:pt idx="2">
                  <c:v>0.5</c:v>
                </c:pt>
              </c:numCache>
            </c:numRef>
          </c:val>
        </c:ser>
        <c:ser>
          <c:idx val="15"/>
          <c:order val="15"/>
          <c:tx>
            <c:strRef>
              <c:f>label 15</c:f>
              <c:strCache>
                <c:ptCount val="1"/>
                <c:pt idx="0">
                  <c:v>Столбец15</c:v>
                </c:pt>
              </c:strCache>
            </c:strRef>
          </c:tx>
          <c:spPr>
            <a:solidFill>
              <a:srgbClr val="bdc6e2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e4e4f2"/>
              </a:solidFill>
              <a:ln w="19080">
                <a:solidFill>
                  <a:srgbClr val="ffffff"/>
                </a:solidFill>
                <a:round/>
              </a:ln>
            </c:spPr>
          </c:dPt>
          <c:dPt>
            <c:idx val="1"/>
            <c:spPr>
              <a:solidFill>
                <a:srgbClr val="00d2b9"/>
              </a:solidFill>
              <a:ln w="19080">
                <a:solidFill>
                  <a:srgbClr val="ffffff"/>
                </a:solidFill>
                <a:round/>
              </a:ln>
            </c:spPr>
          </c:dPt>
          <c:dPt>
            <c:idx val="2"/>
            <c:spPr>
              <a:noFill/>
              <a:ln w="19080">
                <a:noFill/>
              </a:ln>
            </c:spPr>
          </c:dPt>
          <c:dLbls>
            <c:dLbl>
              <c:idx val="0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2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; </c:separator>
            <c:showLeaderLines val="1"/>
          </c:dLbls>
          <c:cat>
            <c:strRef>
              <c:f>categories</c:f>
              <c:strCache>
                <c:ptCount val="3"/>
                <c:pt idx="0">
                  <c:v>Кв. 1</c:v>
                </c:pt>
                <c:pt idx="1">
                  <c:v>Кв. 2</c:v>
                </c:pt>
                <c:pt idx="2">
                  <c:v>Кв. 3</c:v>
                </c:pt>
              </c:strCache>
            </c:strRef>
          </c:cat>
          <c:val>
            <c:numRef>
              <c:f>15</c:f>
              <c:numCache>
                <c:formatCode>0%</c:formatCode>
                <c:ptCount val="3"/>
                <c:pt idx="0">
                  <c:v>0.32</c:v>
                </c:pt>
                <c:pt idx="1">
                  <c:v>0.18</c:v>
                </c:pt>
                <c:pt idx="2">
                  <c:v>0.5</c:v>
                </c:pt>
              </c:numCache>
            </c:numRef>
          </c:val>
        </c:ser>
        <c:ser>
          <c:idx val="16"/>
          <c:order val="16"/>
          <c:tx>
            <c:strRef>
              <c:f>label 16</c:f>
              <c:strCache>
                <c:ptCount val="1"/>
                <c:pt idx="0">
                  <c:v>Столбец16</c:v>
                </c:pt>
              </c:strCache>
            </c:strRef>
          </c:tx>
          <c:spPr>
            <a:solidFill>
              <a:srgbClr val="c8cfe7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e4e4f2"/>
              </a:solidFill>
              <a:ln w="19080">
                <a:solidFill>
                  <a:srgbClr val="ffffff"/>
                </a:solidFill>
                <a:round/>
              </a:ln>
            </c:spPr>
          </c:dPt>
          <c:dPt>
            <c:idx val="1"/>
            <c:spPr>
              <a:solidFill>
                <a:srgbClr val="00d2b9"/>
              </a:solidFill>
              <a:ln w="19080">
                <a:solidFill>
                  <a:srgbClr val="ffffff"/>
                </a:solidFill>
                <a:round/>
              </a:ln>
            </c:spPr>
          </c:dPt>
          <c:dPt>
            <c:idx val="2"/>
            <c:spPr>
              <a:noFill/>
              <a:ln w="19080">
                <a:noFill/>
              </a:ln>
            </c:spPr>
          </c:dPt>
          <c:dLbls>
            <c:dLbl>
              <c:idx val="0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2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; </c:separator>
            <c:showLeaderLines val="1"/>
          </c:dLbls>
          <c:cat>
            <c:strRef>
              <c:f>categories</c:f>
              <c:strCache>
                <c:ptCount val="3"/>
                <c:pt idx="0">
                  <c:v>Кв. 1</c:v>
                </c:pt>
                <c:pt idx="1">
                  <c:v>Кв. 2</c:v>
                </c:pt>
                <c:pt idx="2">
                  <c:v>Кв. 3</c:v>
                </c:pt>
              </c:strCache>
            </c:strRef>
          </c:cat>
          <c:val>
            <c:numRef>
              <c:f>16</c:f>
              <c:numCache>
                <c:formatCode>0%</c:formatCode>
                <c:ptCount val="3"/>
                <c:pt idx="0">
                  <c:v>0.27</c:v>
                </c:pt>
                <c:pt idx="1">
                  <c:v>0.23</c:v>
                </c:pt>
                <c:pt idx="2">
                  <c:v>0.5</c:v>
                </c:pt>
              </c:numCache>
            </c:numRef>
          </c:val>
        </c:ser>
        <c:ser>
          <c:idx val="17"/>
          <c:order val="17"/>
          <c:tx>
            <c:strRef>
              <c:f>label 17</c:f>
              <c:strCache>
                <c:ptCount val="1"/>
                <c:pt idx="0">
                  <c:v>Столбец17</c:v>
                </c:pt>
              </c:strCache>
            </c:strRef>
          </c:tx>
          <c:spPr>
            <a:solidFill>
              <a:srgbClr val="d2d8eb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e4e4f2"/>
              </a:solidFill>
              <a:ln w="19080">
                <a:solidFill>
                  <a:srgbClr val="ffffff"/>
                </a:solidFill>
                <a:round/>
              </a:ln>
            </c:spPr>
          </c:dPt>
          <c:dPt>
            <c:idx val="1"/>
            <c:spPr>
              <a:solidFill>
                <a:srgbClr val="00d2b9"/>
              </a:solidFill>
              <a:ln w="19080">
                <a:solidFill>
                  <a:srgbClr val="ffffff"/>
                </a:solidFill>
                <a:round/>
              </a:ln>
            </c:spPr>
          </c:dPt>
          <c:dPt>
            <c:idx val="2"/>
            <c:spPr>
              <a:noFill/>
              <a:ln w="19080">
                <a:noFill/>
              </a:ln>
            </c:spPr>
          </c:dPt>
          <c:dLbls>
            <c:dLbl>
              <c:idx val="0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2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; </c:separator>
            <c:showLeaderLines val="1"/>
          </c:dLbls>
          <c:cat>
            <c:strRef>
              <c:f>categories</c:f>
              <c:strCache>
                <c:ptCount val="3"/>
                <c:pt idx="0">
                  <c:v>Кв. 1</c:v>
                </c:pt>
                <c:pt idx="1">
                  <c:v>Кв. 2</c:v>
                </c:pt>
                <c:pt idx="2">
                  <c:v>Кв. 3</c:v>
                </c:pt>
              </c:strCache>
            </c:strRef>
          </c:cat>
          <c:val>
            <c:numRef>
              <c:f>17</c:f>
              <c:numCache>
                <c:formatCode>0.00%</c:formatCode>
                <c:ptCount val="3"/>
                <c:pt idx="0">
                  <c:v>0.22</c:v>
                </c:pt>
                <c:pt idx="1">
                  <c:v>0.28</c:v>
                </c:pt>
                <c:pt idx="2">
                  <c:v>0.5</c:v>
                </c:pt>
              </c:numCache>
            </c:numRef>
          </c:val>
        </c:ser>
        <c:firstSliceAng val="180"/>
        <c:holeSize val="50"/>
      </c:doughnutChart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"/>
          <c:y val="0.00437375745526839"/>
          <c:w val="0.999598876855195"/>
          <c:h val="0.990854870775348"/>
        </c:manualLayout>
      </c:layout>
      <c:doughnut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Проценты</c:v>
                </c:pt>
              </c:strCache>
            </c:strRef>
          </c:tx>
          <c:spPr>
            <a:solidFill>
              <a:srgbClr val="4472c4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6d33ff"/>
              </a:solidFill>
              <a:ln w="19080">
                <a:solidFill>
                  <a:srgbClr val="ffffff"/>
                </a:solidFill>
                <a:round/>
              </a:ln>
            </c:spPr>
          </c:dPt>
          <c:dPt>
            <c:idx val="1"/>
            <c:spPr>
              <a:solidFill>
                <a:srgbClr val="cacae5"/>
              </a:solidFill>
              <a:ln w="19080">
                <a:solidFill>
                  <a:srgbClr val="ffffff"/>
                </a:solidFill>
                <a:round/>
              </a:ln>
            </c:spPr>
          </c:dPt>
          <c:dLbls>
            <c:dLbl>
              <c:idx val="0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; </c:separator>
            <c:showLeaderLines val="1"/>
          </c:dLbls>
          <c:cat>
            <c:strRef>
              <c:f>categories</c:f>
              <c:strCache>
                <c:ptCount val="2"/>
                <c:pt idx="0">
                  <c:v>1</c:v>
                </c:pt>
                <c:pt idx="1">
                  <c:v>2</c:v>
                </c:pt>
              </c:strCache>
            </c:strRef>
          </c:cat>
          <c:val>
            <c:numRef>
              <c:f>0</c:f>
              <c:numCache>
                <c:formatCode>0%</c:formatCode>
                <c:ptCount val="2"/>
                <c:pt idx="0">
                  <c:v>0.16</c:v>
                </c:pt>
                <c:pt idx="1">
                  <c:v>0.84</c:v>
                </c:pt>
              </c:numCache>
            </c:numRef>
          </c:val>
        </c:ser>
        <c:firstSliceAng val="0"/>
        <c:holeSize val="50"/>
      </c:doughnutChart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0.853166714001704"/>
          <c:h val="0.999879081015719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00d2b9"/>
            </a:solidFill>
            <a:ln w="0">
              <a:noFill/>
            </a:ln>
          </c:spPr>
          <c:invertIfNegative val="0"/>
          <c:dLbls>
            <c:numFmt formatCode="0%" sourceLinked="0"/>
            <c:txPr>
              <a:bodyPr wrap="square"/>
              <a:lstStyle/>
              <a:p>
                <a:pPr>
                  <a:defRPr b="0" sz="1200" strike="noStrike" u="none">
                    <a:solidFill>
                      <a:srgbClr val="404040"/>
                    </a:solidFill>
                    <a:uFillTx/>
                    <a:latin typeface="Wix Madefor Display SemiBold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5"/>
                <c:pt idx="0">
                  <c:v>Полноценная зона отдыха_x005F_x000b_в офисе</c:v>
                </c:pt>
                <c:pt idx="1">
                  <c:v>Производительное, современное оборудование</c:v>
                </c:pt>
                <c:pt idx="2">
                  <c:v>ДМС для сотрудников</c:v>
                </c:pt>
                <c:pt idx="3">
                  <c:v>Гибкий (свободный) рабочий график</c:v>
                </c:pt>
                <c:pt idx="4">
                  <c:v>Возможность работать удаленно </c:v>
                </c:pt>
              </c:strCache>
            </c:strRef>
          </c:cat>
          <c:val>
            <c:numRef>
              <c:f>0</c:f>
              <c:numCache>
                <c:formatCode>0%</c:formatCode>
                <c:ptCount val="5"/>
                <c:pt idx="0">
                  <c:v>0.29</c:v>
                </c:pt>
                <c:pt idx="1">
                  <c:v>0.31</c:v>
                </c:pt>
                <c:pt idx="2">
                  <c:v>0.33</c:v>
                </c:pt>
                <c:pt idx="3">
                  <c:v>0.47</c:v>
                </c:pt>
                <c:pt idx="4">
                  <c:v>0.55</c:v>
                </c:pt>
              </c:numCache>
            </c:numRef>
          </c:val>
        </c:ser>
        <c:gapWidth val="300"/>
        <c:overlap val="0"/>
        <c:axId val="47527323"/>
        <c:axId val="92208184"/>
      </c:barChart>
      <c:catAx>
        <c:axId val="47527323"/>
        <c:scaling>
          <c:orientation val="minMax"/>
        </c:scaling>
        <c:delete val="1"/>
        <c:axPos val="b"/>
        <c:numFmt formatCode="[$-809]dd/mm/yyyy" sourceLinked="1"/>
        <c:majorTickMark val="out"/>
        <c:minorTickMark val="none"/>
        <c:tickLblPos val="low"/>
        <c:spPr>
          <a:ln w="6480">
            <a:solidFill>
              <a:srgbClr val="8b8b8b"/>
            </a:solidFill>
            <a:round/>
          </a:ln>
        </c:spPr>
        <c:txPr>
          <a:bodyPr/>
          <a:lstStyle/>
          <a:p>
            <a:pPr>
              <a:defRPr b="0" sz="1000" strike="noStrike" u="non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92208184"/>
        <c:auto val="1"/>
        <c:lblAlgn val="ctr"/>
        <c:lblOffset val="100"/>
        <c:noMultiLvlLbl val="0"/>
      </c:catAx>
      <c:valAx>
        <c:axId val="92208184"/>
        <c:scaling>
          <c:orientation val="minMax"/>
        </c:scaling>
        <c:delete val="1"/>
        <c:axPos val="l"/>
        <c:numFmt formatCode="0%" sourceLinked="1"/>
        <c:majorTickMark val="out"/>
        <c:minorTickMark val="none"/>
        <c:tickLblPos val="nextTo"/>
        <c:spPr>
          <a:ln w="6480">
            <a:solidFill>
              <a:srgbClr val="8b8b8b"/>
            </a:solidFill>
            <a:round/>
          </a:ln>
        </c:spPr>
        <c:txPr>
          <a:bodyPr/>
          <a:lstStyle/>
          <a:p>
            <a:pPr>
              <a:defRPr b="0" sz="1000" strike="noStrike" u="non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47527323"/>
        <c:crossBetween val="between"/>
      </c:valAx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0.853166714001704"/>
          <c:h val="0.999879081015719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fa37bd"/>
            </a:solidFill>
            <a:ln w="0">
              <a:noFill/>
            </a:ln>
          </c:spPr>
          <c:invertIfNegative val="0"/>
          <c:dLbls>
            <c:numFmt formatCode="0%" sourceLinked="0"/>
            <c:txPr>
              <a:bodyPr wrap="square"/>
              <a:lstStyle/>
              <a:p>
                <a:pPr>
                  <a:defRPr b="0" sz="1200" strike="noStrike" u="none">
                    <a:solidFill>
                      <a:srgbClr val="404040"/>
                    </a:solidFill>
                    <a:uFillTx/>
                    <a:latin typeface="Wix Madefor Display SemiBold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5"/>
                <c:pt idx="0">
                  <c:v>Полноценная зона отдыха_x005F_x000b_в офисе</c:v>
                </c:pt>
                <c:pt idx="1">
                  <c:v>Производительное, современное оборудование</c:v>
                </c:pt>
                <c:pt idx="2">
                  <c:v>ДМС для сотрудников</c:v>
                </c:pt>
                <c:pt idx="3">
                  <c:v>Гибкий (свободный) рабочий график</c:v>
                </c:pt>
                <c:pt idx="4">
                  <c:v>Возможность работать удаленно </c:v>
                </c:pt>
              </c:strCache>
            </c:strRef>
          </c:cat>
          <c:val>
            <c:numRef>
              <c:f>0</c:f>
              <c:numCache>
                <c:formatCode>0%</c:formatCode>
                <c:ptCount val="5"/>
                <c:pt idx="0">
                  <c:v>0.31</c:v>
                </c:pt>
                <c:pt idx="1">
                  <c:v>0.32</c:v>
                </c:pt>
                <c:pt idx="2">
                  <c:v>0.4</c:v>
                </c:pt>
                <c:pt idx="3">
                  <c:v>0.51</c:v>
                </c:pt>
                <c:pt idx="4">
                  <c:v>0.52</c:v>
                </c:pt>
              </c:numCache>
            </c:numRef>
          </c:val>
        </c:ser>
        <c:gapWidth val="300"/>
        <c:overlap val="0"/>
        <c:axId val="90040520"/>
        <c:axId val="88349597"/>
      </c:barChart>
      <c:catAx>
        <c:axId val="90040520"/>
        <c:scaling>
          <c:orientation val="minMax"/>
        </c:scaling>
        <c:delete val="1"/>
        <c:axPos val="b"/>
        <c:numFmt formatCode="[$-809]dd/mm/yyyy" sourceLinked="1"/>
        <c:majorTickMark val="out"/>
        <c:minorTickMark val="none"/>
        <c:tickLblPos val="low"/>
        <c:spPr>
          <a:ln w="6480">
            <a:solidFill>
              <a:srgbClr val="8b8b8b"/>
            </a:solidFill>
            <a:round/>
          </a:ln>
        </c:spPr>
        <c:txPr>
          <a:bodyPr/>
          <a:lstStyle/>
          <a:p>
            <a:pPr>
              <a:defRPr b="0" sz="1000" strike="noStrike" u="non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88349597"/>
        <c:auto val="1"/>
        <c:lblAlgn val="ctr"/>
        <c:lblOffset val="100"/>
        <c:noMultiLvlLbl val="0"/>
      </c:catAx>
      <c:valAx>
        <c:axId val="88349597"/>
        <c:scaling>
          <c:orientation val="minMax"/>
        </c:scaling>
        <c:delete val="1"/>
        <c:axPos val="l"/>
        <c:numFmt formatCode="0%" sourceLinked="1"/>
        <c:majorTickMark val="out"/>
        <c:minorTickMark val="none"/>
        <c:tickLblPos val="nextTo"/>
        <c:spPr>
          <a:ln w="6480">
            <a:solidFill>
              <a:srgbClr val="8b8b8b"/>
            </a:solidFill>
            <a:round/>
          </a:ln>
        </c:spPr>
        <c:txPr>
          <a:bodyPr/>
          <a:lstStyle/>
          <a:p>
            <a:pPr>
              <a:defRPr b="0" sz="1000" strike="noStrike" u="non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90040520"/>
        <c:crossBetween val="between"/>
      </c:valAx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0.998342541436464"/>
          <c:h val="0.999879081015719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960ac3"/>
            </a:solidFill>
            <a:ln w="0">
              <a:noFill/>
            </a:ln>
          </c:spPr>
          <c:invertIfNegative val="0"/>
          <c:dLbls>
            <c:numFmt formatCode="0%" sourceLinked="0"/>
            <c:txPr>
              <a:bodyPr wrap="square"/>
              <a:lstStyle/>
              <a:p>
                <a:pPr>
                  <a:defRPr b="0" sz="1200" strike="noStrike" u="none">
                    <a:solidFill>
                      <a:srgbClr val="404040"/>
                    </a:solidFill>
                    <a:uFillTx/>
                    <a:latin typeface="Wix Madefor Display SemiBold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5"/>
                <c:pt idx="0">
                  <c:v>Полноценная зона отдыха_x005F_x000b_в офисе</c:v>
                </c:pt>
                <c:pt idx="1">
                  <c:v>Производительное, современное оборудование</c:v>
                </c:pt>
                <c:pt idx="2">
                  <c:v>ДМС для сотрудников</c:v>
                </c:pt>
                <c:pt idx="3">
                  <c:v>Гибкий (свободный) рабочий график</c:v>
                </c:pt>
                <c:pt idx="4">
                  <c:v>Возможность работать удаленно </c:v>
                </c:pt>
              </c:strCache>
            </c:strRef>
          </c:cat>
          <c:val>
            <c:numRef>
              <c:f>0</c:f>
              <c:numCache>
                <c:formatCode>0%</c:formatCode>
                <c:ptCount val="5"/>
                <c:pt idx="0">
                  <c:v>0.31</c:v>
                </c:pt>
                <c:pt idx="1">
                  <c:v>0.33</c:v>
                </c:pt>
                <c:pt idx="2">
                  <c:v>0.39</c:v>
                </c:pt>
                <c:pt idx="3">
                  <c:v>0.57</c:v>
                </c:pt>
                <c:pt idx="4">
                  <c:v>0.61</c:v>
                </c:pt>
              </c:numCache>
            </c:numRef>
          </c:val>
        </c:ser>
        <c:gapWidth val="300"/>
        <c:overlap val="0"/>
        <c:axId val="16026691"/>
        <c:axId val="58744590"/>
      </c:barChart>
      <c:catAx>
        <c:axId val="16026691"/>
        <c:scaling>
          <c:orientation val="minMax"/>
        </c:scaling>
        <c:delete val="1"/>
        <c:axPos val="b"/>
        <c:numFmt formatCode="[$-809]dd/mm/yyyy" sourceLinked="1"/>
        <c:majorTickMark val="out"/>
        <c:minorTickMark val="none"/>
        <c:tickLblPos val="low"/>
        <c:spPr>
          <a:ln w="6480">
            <a:solidFill>
              <a:srgbClr val="8b8b8b"/>
            </a:solidFill>
            <a:round/>
          </a:ln>
        </c:spPr>
        <c:txPr>
          <a:bodyPr/>
          <a:lstStyle/>
          <a:p>
            <a:pPr>
              <a:defRPr b="0" sz="1000" strike="noStrike" u="non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58744590"/>
        <c:auto val="1"/>
        <c:lblAlgn val="ctr"/>
        <c:lblOffset val="100"/>
        <c:noMultiLvlLbl val="0"/>
      </c:catAx>
      <c:valAx>
        <c:axId val="58744590"/>
        <c:scaling>
          <c:orientation val="minMax"/>
        </c:scaling>
        <c:delete val="1"/>
        <c:axPos val="l"/>
        <c:numFmt formatCode="0%" sourceLinked="1"/>
        <c:majorTickMark val="out"/>
        <c:minorTickMark val="none"/>
        <c:tickLblPos val="nextTo"/>
        <c:spPr>
          <a:ln w="6480">
            <a:solidFill>
              <a:srgbClr val="8b8b8b"/>
            </a:solidFill>
            <a:round/>
          </a:ln>
        </c:spPr>
        <c:txPr>
          <a:bodyPr/>
          <a:lstStyle/>
          <a:p>
            <a:pPr>
              <a:defRPr b="0" sz="1000" strike="noStrike" u="non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16026691"/>
        <c:crossBetween val="between"/>
      </c:valAx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0.960810274063286"/>
          <c:h val="0.999919491184285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6d33ff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6d33ff"/>
              </a:solidFill>
              <a:ln w="0">
                <a:noFill/>
              </a:ln>
            </c:spPr>
          </c:dPt>
          <c:dPt>
            <c:idx val="1"/>
            <c:invertIfNegative val="0"/>
            <c:spPr>
              <a:solidFill>
                <a:srgbClr val="6d33ff"/>
              </a:solidFill>
              <a:ln w="0">
                <a:noFill/>
              </a:ln>
            </c:spPr>
          </c:dPt>
          <c:dPt>
            <c:idx val="2"/>
            <c:invertIfNegative val="0"/>
            <c:spPr>
              <a:solidFill>
                <a:srgbClr val="6d33ff"/>
              </a:solidFill>
              <a:ln w="0">
                <a:noFill/>
              </a:ln>
            </c:spPr>
          </c:dPt>
          <c:dPt>
            <c:idx val="3"/>
            <c:invertIfNegative val="0"/>
            <c:spPr>
              <a:solidFill>
                <a:srgbClr val="6d33ff"/>
              </a:solidFill>
              <a:ln w="0">
                <a:noFill/>
              </a:ln>
            </c:spPr>
          </c:dPt>
          <c:dLbls>
            <c:numFmt formatCode="0%" sourceLinked="0"/>
            <c:dLbl>
              <c:idx val="0"/>
              <c:numFmt formatCode="0%" sourceLinked="0"/>
              <c:txPr>
                <a:bodyPr wrap="square"/>
                <a:lstStyle/>
                <a:p>
                  <a:pPr>
                    <a:defRPr b="0" sz="1400" strike="noStrike" u="none">
                      <a:solidFill>
                        <a:srgbClr val="ffffff"/>
                      </a:solidFill>
                      <a:uFillTx/>
                      <a:latin typeface="Wix Madefor Display SemiBold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"/>
              <c:numFmt formatCode="0%" sourceLinked="0"/>
              <c:txPr>
                <a:bodyPr wrap="square"/>
                <a:lstStyle/>
                <a:p>
                  <a:pPr>
                    <a:defRPr b="0" sz="1400" strike="noStrike" u="none">
                      <a:solidFill>
                        <a:srgbClr val="ffffff"/>
                      </a:solidFill>
                      <a:uFillTx/>
                      <a:latin typeface="Wix Madefor Display SemiBold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2"/>
              <c:numFmt formatCode="0%" sourceLinked="0"/>
              <c:txPr>
                <a:bodyPr wrap="square"/>
                <a:lstStyle/>
                <a:p>
                  <a:pPr>
                    <a:defRPr b="0" sz="1400" strike="noStrike" u="none">
                      <a:solidFill>
                        <a:srgbClr val="ffffff"/>
                      </a:solidFill>
                      <a:uFillTx/>
                      <a:latin typeface="Wix Madefor Display SemiBold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3"/>
              <c:numFmt formatCode="0%" sourceLinked="0"/>
              <c:txPr>
                <a:bodyPr wrap="square"/>
                <a:lstStyle/>
                <a:p>
                  <a:pPr>
                    <a:defRPr b="0" sz="1400" strike="noStrike" u="none">
                      <a:solidFill>
                        <a:srgbClr val="ffffff"/>
                      </a:solidFill>
                      <a:uFillTx/>
                      <a:latin typeface="Wix Madefor Display SemiBold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400" strike="noStrike" u="none">
                    <a:solidFill>
                      <a:srgbClr val="ffffff"/>
                    </a:solidFill>
                    <a:uFillTx/>
                    <a:latin typeface="Wix Madefor Display SemiBold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Проходил (-а) онлайн-курсы и тренинги на обучающих ресурсах</c:v>
                </c:pt>
                <c:pt idx="1">
                  <c:v>Научился (-ась) на рабочем месте</c:v>
                </c:pt>
                <c:pt idx="2">
                  <c:v>Проходил (-а) курсы повышения квалификации</c:v>
                </c:pt>
                <c:pt idx="3">
                  <c:v>Получил (-а) профильное высшее образование, связанное с ИТ</c:v>
                </c:pt>
              </c:strCache>
            </c:strRef>
          </c:cat>
          <c:val>
            <c:numRef>
              <c:f>0</c:f>
              <c:numCache>
                <c:formatCode>0%</c:formatCode>
                <c:ptCount val="4"/>
                <c:pt idx="0">
                  <c:v>0.44</c:v>
                </c:pt>
                <c:pt idx="1">
                  <c:v>0.43</c:v>
                </c:pt>
                <c:pt idx="2">
                  <c:v>0.48</c:v>
                </c:pt>
                <c:pt idx="3">
                  <c:v>0.45697896749522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rgbClr val="00d2b9"/>
            </a:solidFill>
            <a:ln w="0">
              <a:noFill/>
            </a:ln>
          </c:spPr>
          <c:invertIfNegative val="0"/>
          <c:dLbls>
            <c:numFmt formatCode="0%" sourceLinked="0"/>
            <c:txPr>
              <a:bodyPr wrap="square"/>
              <a:lstStyle/>
              <a:p>
                <a:pPr>
                  <a:defRPr b="0" sz="1400" strike="noStrike" u="none">
                    <a:solidFill>
                      <a:srgbClr val="ffffff"/>
                    </a:solidFill>
                    <a:uFillTx/>
                    <a:latin typeface="Wix Madefor Display SemiBold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Проходил (-а) онлайн-курсы и тренинги на обучающих ресурсах</c:v>
                </c:pt>
                <c:pt idx="1">
                  <c:v>Научился (-ась) на рабочем месте</c:v>
                </c:pt>
                <c:pt idx="2">
                  <c:v>Проходил (-а) курсы повышения квалификации</c:v>
                </c:pt>
                <c:pt idx="3">
                  <c:v>Получил (-а) профильное высшее образование, связанное с ИТ</c:v>
                </c:pt>
              </c:strCache>
            </c:strRef>
          </c:cat>
          <c:val>
            <c:numRef>
              <c:f>1</c:f>
              <c:numCache>
                <c:formatCode>0%</c:formatCode>
                <c:ptCount val="4"/>
                <c:pt idx="0">
                  <c:v>0.23</c:v>
                </c:pt>
                <c:pt idx="1">
                  <c:v>0.32</c:v>
                </c:pt>
                <c:pt idx="2">
                  <c:v>0.3</c:v>
                </c:pt>
                <c:pt idx="3">
                  <c:v>0.33</c:v>
                </c:pt>
              </c:numCache>
            </c:numRef>
          </c:val>
        </c:ser>
        <c:gapWidth val="430"/>
        <c:overlap val="100"/>
        <c:axId val="16247428"/>
        <c:axId val="17869507"/>
      </c:barChart>
      <c:catAx>
        <c:axId val="16247428"/>
        <c:scaling>
          <c:orientation val="minMax"/>
        </c:scaling>
        <c:delete val="1"/>
        <c:axPos val="b"/>
        <c:numFmt formatCode="[$-809]dd/mm/yyyy" sourceLinked="1"/>
        <c:majorTickMark val="none"/>
        <c:minorTickMark val="none"/>
        <c:tickLblPos val="nextTo"/>
        <c:spPr>
          <a:ln w="6480">
            <a:solidFill>
              <a:srgbClr val="8b8b8b"/>
            </a:solidFill>
            <a:round/>
          </a:ln>
        </c:spPr>
        <c:txPr>
          <a:bodyPr/>
          <a:lstStyle/>
          <a:p>
            <a:pPr>
              <a:defRPr b="0" sz="1000" strike="noStrike" u="non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17869507"/>
        <c:auto val="1"/>
        <c:lblAlgn val="ctr"/>
        <c:lblOffset val="100"/>
        <c:noMultiLvlLbl val="0"/>
      </c:catAx>
      <c:valAx>
        <c:axId val="17869507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spPr>
          <a:ln w="6480">
            <a:solidFill>
              <a:srgbClr val="8b8b8b"/>
            </a:solidFill>
            <a:round/>
          </a:ln>
        </c:spPr>
        <c:txPr>
          <a:bodyPr/>
          <a:lstStyle/>
          <a:p>
            <a:pPr>
              <a:defRPr b="0" sz="1000" strike="noStrike" u="non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16247428"/>
        <c:crossBetween val="between"/>
      </c:valAx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"/>
          <c:y val="0.0392925430210325"/>
          <c:w val="0.996726515226664"/>
          <c:h val="0.960611854684512"/>
        </c:manualLayout>
      </c:layout>
      <c:doughnut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Продажи</c:v>
                </c:pt>
              </c:strCache>
            </c:strRef>
          </c:tx>
          <c:spPr>
            <a:solidFill>
              <a:srgbClr val="4472c4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fa37bd"/>
              </a:solidFill>
              <a:ln w="19080">
                <a:solidFill>
                  <a:srgbClr val="ffffff"/>
                </a:solidFill>
                <a:round/>
              </a:ln>
            </c:spPr>
          </c:dPt>
          <c:dPt>
            <c:idx val="1"/>
            <c:spPr>
              <a:solidFill>
                <a:srgbClr val="960ac3"/>
              </a:solidFill>
              <a:ln w="19080">
                <a:solidFill>
                  <a:srgbClr val="ffffff"/>
                </a:solidFill>
                <a:round/>
              </a:ln>
            </c:spPr>
          </c:dPt>
          <c:dPt>
            <c:idx val="2"/>
            <c:spPr>
              <a:solidFill>
                <a:srgbClr val="5e0aba"/>
              </a:solidFill>
              <a:ln w="19080">
                <a:solidFill>
                  <a:srgbClr val="ffffff"/>
                </a:solidFill>
                <a:round/>
              </a:ln>
            </c:spPr>
          </c:dPt>
          <c:dPt>
            <c:idx val="3"/>
            <c:spPr>
              <a:solidFill>
                <a:srgbClr val="22187a"/>
              </a:solidFill>
              <a:ln w="19080">
                <a:solidFill>
                  <a:srgbClr val="ffffff"/>
                </a:solidFill>
                <a:round/>
              </a:ln>
            </c:spPr>
          </c:dPt>
          <c:dPt>
            <c:idx val="4"/>
            <c:spPr>
              <a:noFill/>
              <a:ln w="19080">
                <a:noFill/>
              </a:ln>
            </c:spPr>
          </c:dPt>
          <c:dLbls>
            <c:dLbl>
              <c:idx val="0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2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3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4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; </c:separator>
            <c:showLeaderLines val="1"/>
          </c:dLbls>
          <c:cat>
            <c:strRef>
              <c:f>categories</c:f>
              <c:strCache>
                <c:ptCount val="4"/>
                <c:pt idx="0">
                  <c:v>Кв. 1</c:v>
                </c:pt>
                <c:pt idx="1">
                  <c:v>Кв. 2</c:v>
                </c:pt>
                <c:pt idx="2">
                  <c:v>Кв. 3</c:v>
                </c:pt>
                <c:pt idx="3">
                  <c:v>Кв. 4</c:v>
                </c:pt>
              </c:strCache>
            </c:strRef>
          </c:cat>
          <c:val>
            <c:numRef>
              <c:f>0</c:f>
              <c:numCache>
                <c:formatCode>0%</c:formatCode>
                <c:ptCount val="5"/>
                <c:pt idx="0">
                  <c:v>0.05</c:v>
                </c:pt>
                <c:pt idx="1">
                  <c:v>0.12</c:v>
                </c:pt>
                <c:pt idx="2">
                  <c:v>0.16</c:v>
                </c:pt>
                <c:pt idx="3">
                  <c:v>0.17</c:v>
                </c:pt>
                <c:pt idx="4">
                  <c:v>0.5</c:v>
                </c:pt>
              </c:numCache>
            </c:numRef>
          </c:val>
        </c:ser>
        <c:firstSliceAng val="270"/>
        <c:holeSize val="50"/>
      </c:doughnutChart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"/>
          <c:y val="0.0412341951311568"/>
          <c:w val="0.999955972350636"/>
          <c:h val="0.955368937535384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00d2b9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cacae5"/>
              </a:solidFill>
              <a:ln w="19080">
                <a:noFill/>
              </a:ln>
            </c:spPr>
          </c:dPt>
          <c:dPt>
            <c:idx val="1"/>
            <c:invertIfNegative val="0"/>
            <c:spPr>
              <a:solidFill>
                <a:srgbClr val="cacae5"/>
              </a:solidFill>
              <a:ln w="0">
                <a:noFill/>
              </a:ln>
            </c:spPr>
          </c:dPt>
          <c:dPt>
            <c:idx val="2"/>
            <c:invertIfNegative val="0"/>
            <c:spPr>
              <a:solidFill>
                <a:srgbClr val="00d2b9"/>
              </a:solidFill>
              <a:ln w="0">
                <a:noFill/>
              </a:ln>
            </c:spPr>
          </c:dPt>
          <c:dPt>
            <c:idx val="3"/>
            <c:invertIfNegative val="0"/>
            <c:spPr>
              <a:solidFill>
                <a:srgbClr val="00d2b9"/>
              </a:solidFill>
              <a:ln w="0">
                <a:noFill/>
              </a:ln>
            </c:spPr>
          </c:dPt>
          <c:dPt>
            <c:idx val="4"/>
            <c:invertIfNegative val="0"/>
            <c:spPr>
              <a:solidFill>
                <a:srgbClr val="00d2b9"/>
              </a:solidFill>
              <a:ln w="0">
                <a:noFill/>
              </a:ln>
            </c:spPr>
          </c:dPt>
          <c:dLbls>
            <c:numFmt formatCode="0%" sourceLinked="0"/>
            <c:dLbl>
              <c:idx val="0"/>
              <c:numFmt formatCode="0%" sourceLinked="0"/>
              <c:txPr>
                <a:bodyPr wrap="square"/>
                <a:lstStyle/>
                <a:p>
                  <a:pPr>
                    <a:defRPr b="0" sz="1400" strike="noStrike" u="none">
                      <a:solidFill>
                        <a:srgbClr val="404040"/>
                      </a:solidFill>
                      <a:uFillTx/>
                      <a:latin typeface="Wix Madefor Display SemiBold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"/>
              <c:numFmt formatCode="0%" sourceLinked="0"/>
              <c:txPr>
                <a:bodyPr wrap="square"/>
                <a:lstStyle/>
                <a:p>
                  <a:pPr>
                    <a:defRPr b="0" sz="1400" strike="noStrike" u="none">
                      <a:solidFill>
                        <a:srgbClr val="404040"/>
                      </a:solidFill>
                      <a:uFillTx/>
                      <a:latin typeface="Wix Madefor Display SemiBold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2"/>
              <c:numFmt formatCode="0%" sourceLinked="0"/>
              <c:txPr>
                <a:bodyPr wrap="square"/>
                <a:lstStyle/>
                <a:p>
                  <a:pPr>
                    <a:defRPr b="0" sz="1400" strike="noStrike" u="none">
                      <a:solidFill>
                        <a:srgbClr val="404040"/>
                      </a:solidFill>
                      <a:uFillTx/>
                      <a:latin typeface="Wix Madefor Display SemiBold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3"/>
              <c:numFmt formatCode="0%" sourceLinked="0"/>
              <c:txPr>
                <a:bodyPr wrap="square"/>
                <a:lstStyle/>
                <a:p>
                  <a:pPr>
                    <a:defRPr b="0" sz="1400" strike="noStrike" u="none">
                      <a:solidFill>
                        <a:srgbClr val="404040"/>
                      </a:solidFill>
                      <a:uFillTx/>
                      <a:latin typeface="Wix Madefor Display SemiBold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4"/>
              <c:numFmt formatCode="0%" sourceLinked="0"/>
              <c:txPr>
                <a:bodyPr wrap="square"/>
                <a:lstStyle/>
                <a:p>
                  <a:pPr>
                    <a:defRPr b="0" sz="1400" strike="noStrike" u="none">
                      <a:solidFill>
                        <a:srgbClr val="404040"/>
                      </a:solidFill>
                      <a:uFillTx/>
                      <a:latin typeface="Wix Madefor Display SemiBold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400" strike="noStrike" u="none">
                    <a:solidFill>
                      <a:srgbClr val="404040"/>
                    </a:solidFill>
                    <a:uFillTx/>
                    <a:latin typeface="Wix Madefor Display SemiBold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5"/>
                <c:pt idx="0">
                  <c:v>Другое</c:v>
                </c:pt>
                <c:pt idx="1">
                  <c:v>Проходил (-а) онлайн-курсы и тренинги на обучающих ресурсах</c:v>
                </c:pt>
                <c:pt idx="2">
                  <c:v>Научился (-ась) на рабочем месте</c:v>
                </c:pt>
                <c:pt idx="3">
                  <c:v>Проходил (-а) курсы повышения квалификации</c:v>
                </c:pt>
                <c:pt idx="4">
                  <c:v>Получил (-а) профильное высшее образование, связанное с ИТ</c:v>
                </c:pt>
              </c:strCache>
            </c:strRef>
          </c:cat>
          <c:val>
            <c:numRef>
              <c:f>0</c:f>
              <c:numCache>
                <c:formatCode>0%</c:formatCode>
                <c:ptCount val="8"/>
                <c:pt idx="0">
                  <c:v>0.01</c:v>
                </c:pt>
                <c:pt idx="1">
                  <c:v>0.08</c:v>
                </c:pt>
                <c:pt idx="2">
                  <c:v>0.26</c:v>
                </c:pt>
                <c:pt idx="3">
                  <c:v>0.29</c:v>
                </c:pt>
                <c:pt idx="4">
                  <c:v>0.3</c:v>
                </c:pt>
                <c:pt idx="5">
                  <c:v>0.36</c:v>
                </c:pt>
                <c:pt idx="6">
                  <c:v>0.46</c:v>
                </c:pt>
                <c:pt idx="7">
                  <c:v>0.49</c:v>
                </c:pt>
              </c:numCache>
            </c:numRef>
          </c:val>
        </c:ser>
        <c:gapWidth val="200"/>
        <c:overlap val="0"/>
        <c:axId val="29890895"/>
        <c:axId val="33348600"/>
      </c:barChart>
      <c:catAx>
        <c:axId val="29890895"/>
        <c:scaling>
          <c:orientation val="minMax"/>
        </c:scaling>
        <c:delete val="1"/>
        <c:axPos val="b"/>
        <c:numFmt formatCode="[$-809]dd/mm/yyyy" sourceLinked="1"/>
        <c:majorTickMark val="none"/>
        <c:minorTickMark val="none"/>
        <c:tickLblPos val="nextTo"/>
        <c:spPr>
          <a:ln w="6480">
            <a:solidFill>
              <a:srgbClr val="8b8b8b"/>
            </a:solidFill>
            <a:round/>
          </a:ln>
        </c:spPr>
        <c:txPr>
          <a:bodyPr/>
          <a:lstStyle/>
          <a:p>
            <a:pPr>
              <a:defRPr b="0" sz="1000" strike="noStrike" u="non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33348600"/>
        <c:auto val="1"/>
        <c:lblAlgn val="ctr"/>
        <c:lblOffset val="100"/>
        <c:noMultiLvlLbl val="0"/>
      </c:catAx>
      <c:valAx>
        <c:axId val="33348600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spPr>
          <a:ln w="6480">
            <a:solidFill>
              <a:srgbClr val="8b8b8b"/>
            </a:solidFill>
            <a:round/>
          </a:ln>
        </c:spPr>
        <c:txPr>
          <a:bodyPr/>
          <a:lstStyle/>
          <a:p>
            <a:pPr>
              <a:defRPr b="0" sz="1000" strike="noStrike" u="non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29890895"/>
        <c:crossBetween val="between"/>
      </c:valAx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"/>
          <c:y val="0.00437375745526839"/>
          <c:w val="0.999598876855195"/>
          <c:h val="0.990854870775348"/>
        </c:manualLayout>
      </c:layout>
      <c:doughnut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Проценты</c:v>
                </c:pt>
              </c:strCache>
            </c:strRef>
          </c:tx>
          <c:spPr>
            <a:solidFill>
              <a:srgbClr val="4472c4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6d33ff"/>
              </a:solidFill>
              <a:ln w="19080">
                <a:solidFill>
                  <a:srgbClr val="ffffff"/>
                </a:solidFill>
                <a:round/>
              </a:ln>
            </c:spPr>
          </c:dPt>
          <c:dPt>
            <c:idx val="1"/>
            <c:spPr>
              <a:solidFill>
                <a:srgbClr val="cacae5"/>
              </a:solidFill>
              <a:ln w="19080">
                <a:solidFill>
                  <a:srgbClr val="ffffff"/>
                </a:solidFill>
                <a:round/>
              </a:ln>
            </c:spPr>
          </c:dPt>
          <c:dLbls>
            <c:dLbl>
              <c:idx val="0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; </c:separator>
            <c:showLeaderLines val="1"/>
          </c:dLbls>
          <c:cat>
            <c:strRef>
              <c:f>categories</c:f>
              <c:strCache>
                <c:ptCount val="2"/>
                <c:pt idx="0">
                  <c:v>1</c:v>
                </c:pt>
                <c:pt idx="1">
                  <c:v>2</c:v>
                </c:pt>
              </c:strCache>
            </c:strRef>
          </c:cat>
          <c:val>
            <c:numRef>
              <c:f>0</c:f>
              <c:numCache>
                <c:formatCode>0%</c:formatCode>
                <c:ptCount val="2"/>
                <c:pt idx="0">
                  <c:v>0.62</c:v>
                </c:pt>
                <c:pt idx="1">
                  <c:v>0.38</c:v>
                </c:pt>
              </c:numCache>
            </c:numRef>
          </c:val>
        </c:ser>
        <c:firstSliceAng val="0"/>
        <c:holeSize val="50"/>
      </c:doughnutChart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0327277584825003"/>
          <c:y val="0.0367276393489846"/>
          <c:w val="0.99672722415175"/>
          <c:h val="0.960607806423736"/>
        </c:manualLayout>
      </c:layout>
      <c:doughnut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Продажи</c:v>
                </c:pt>
              </c:strCache>
            </c:strRef>
          </c:tx>
          <c:spPr>
            <a:solidFill>
              <a:srgbClr val="4472c4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fc84d7"/>
              </a:solidFill>
              <a:ln w="19080">
                <a:solidFill>
                  <a:srgbClr val="ffffff"/>
                </a:solidFill>
                <a:round/>
              </a:ln>
            </c:spPr>
          </c:dPt>
          <c:dPt>
            <c:idx val="1"/>
            <c:spPr>
              <a:solidFill>
                <a:srgbClr val="fa37bd"/>
              </a:solidFill>
              <a:ln w="19080">
                <a:solidFill>
                  <a:srgbClr val="ffffff"/>
                </a:solidFill>
                <a:round/>
              </a:ln>
            </c:spPr>
          </c:dPt>
          <c:dPt>
            <c:idx val="2"/>
            <c:spPr>
              <a:solidFill>
                <a:srgbClr val="d42ac0"/>
              </a:solidFill>
              <a:ln w="19080">
                <a:solidFill>
                  <a:srgbClr val="ffffff"/>
                </a:solidFill>
                <a:round/>
              </a:ln>
            </c:spPr>
          </c:dPt>
          <c:dPt>
            <c:idx val="3"/>
            <c:spPr>
              <a:solidFill>
                <a:srgbClr val="960ac3"/>
              </a:solidFill>
              <a:ln w="19080">
                <a:solidFill>
                  <a:srgbClr val="ffffff"/>
                </a:solidFill>
                <a:round/>
              </a:ln>
            </c:spPr>
          </c:dPt>
          <c:dPt>
            <c:idx val="4"/>
            <c:spPr>
              <a:solidFill>
                <a:srgbClr val="5e0aba"/>
              </a:solidFill>
              <a:ln w="19080">
                <a:solidFill>
                  <a:srgbClr val="ffffff"/>
                </a:solidFill>
                <a:round/>
              </a:ln>
            </c:spPr>
          </c:dPt>
          <c:dPt>
            <c:idx val="5"/>
            <c:spPr>
              <a:noFill/>
              <a:ln w="19080">
                <a:noFill/>
              </a:ln>
            </c:spPr>
          </c:dPt>
          <c:dLbls>
            <c:dLbl>
              <c:idx val="0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2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3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4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5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; </c:separator>
            <c:showLeaderLines val="1"/>
          </c:dLbls>
          <c:cat>
            <c:strRef>
              <c:f>categories</c:f>
              <c:strCache>
                <c:ptCount val="4"/>
                <c:pt idx="0">
                  <c:v>Кв. 1</c:v>
                </c:pt>
                <c:pt idx="1">
                  <c:v>Кв. 2</c:v>
                </c:pt>
                <c:pt idx="2">
                  <c:v>Кв. 3</c:v>
                </c:pt>
                <c:pt idx="3">
                  <c:v>Кв. 4</c:v>
                </c:pt>
              </c:strCache>
            </c:strRef>
          </c:cat>
          <c:val>
            <c:numRef>
              <c:f>0</c:f>
              <c:numCache>
                <c:formatCode>0%</c:formatCode>
                <c:ptCount val="6"/>
                <c:pt idx="0">
                  <c:v>0.185</c:v>
                </c:pt>
                <c:pt idx="1">
                  <c:v>0.17</c:v>
                </c:pt>
                <c:pt idx="2">
                  <c:v>0.065</c:v>
                </c:pt>
                <c:pt idx="3">
                  <c:v>0.06</c:v>
                </c:pt>
                <c:pt idx="4">
                  <c:v>0.02</c:v>
                </c:pt>
                <c:pt idx="5">
                  <c:v>0.5</c:v>
                </c:pt>
              </c:numCache>
            </c:numRef>
          </c:val>
        </c:ser>
        <c:firstSliceAng val="270"/>
        <c:holeSize val="50"/>
      </c:doughnutChart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"/>
          <c:y val="0.00437375745526839"/>
          <c:w val="0.999598876855195"/>
          <c:h val="0.990854870775348"/>
        </c:manualLayout>
      </c:layout>
      <c:doughnut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Проценты</c:v>
                </c:pt>
              </c:strCache>
            </c:strRef>
          </c:tx>
          <c:spPr>
            <a:solidFill>
              <a:srgbClr val="4472c4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6d33ff"/>
              </a:solidFill>
              <a:ln w="19080">
                <a:solidFill>
                  <a:srgbClr val="ffffff"/>
                </a:solidFill>
                <a:round/>
              </a:ln>
            </c:spPr>
          </c:dPt>
          <c:dPt>
            <c:idx val="1"/>
            <c:spPr>
              <a:solidFill>
                <a:srgbClr val="cacae5"/>
              </a:solidFill>
              <a:ln w="19080">
                <a:solidFill>
                  <a:srgbClr val="ffffff"/>
                </a:solidFill>
                <a:round/>
              </a:ln>
            </c:spPr>
          </c:dPt>
          <c:dLbls>
            <c:dLbl>
              <c:idx val="0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; </c:separator>
            <c:showLeaderLines val="1"/>
          </c:dLbls>
          <c:cat>
            <c:strRef>
              <c:f>categories</c:f>
              <c:strCache>
                <c:ptCount val="2"/>
                <c:pt idx="0">
                  <c:v>1</c:v>
                </c:pt>
                <c:pt idx="1">
                  <c:v>2</c:v>
                </c:pt>
              </c:strCache>
            </c:strRef>
          </c:cat>
          <c:val>
            <c:numRef>
              <c:f>0</c:f>
              <c:numCache>
                <c:formatCode>0%</c:formatCode>
                <c:ptCount val="2"/>
                <c:pt idx="0">
                  <c:v>0.62</c:v>
                </c:pt>
                <c:pt idx="1">
                  <c:v>0.38</c:v>
                </c:pt>
              </c:numCache>
            </c:numRef>
          </c:val>
        </c:ser>
        <c:firstSliceAng val="0"/>
        <c:holeSize val="50"/>
      </c:doughnutChart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"/>
          <c:y val="0.00437375745526839"/>
          <c:w val="0.999598876855195"/>
          <c:h val="0.990854870775348"/>
        </c:manualLayout>
      </c:layout>
      <c:doughnut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Проценты</c:v>
                </c:pt>
              </c:strCache>
            </c:strRef>
          </c:tx>
          <c:spPr>
            <a:solidFill>
              <a:srgbClr val="4472c4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6d33ff"/>
              </a:solidFill>
              <a:ln w="19080">
                <a:solidFill>
                  <a:srgbClr val="ffffff"/>
                </a:solidFill>
                <a:round/>
              </a:ln>
            </c:spPr>
          </c:dPt>
          <c:dPt>
            <c:idx val="1"/>
            <c:spPr>
              <a:solidFill>
                <a:srgbClr val="cacae5"/>
              </a:solidFill>
              <a:ln w="19080">
                <a:solidFill>
                  <a:srgbClr val="ffffff"/>
                </a:solidFill>
                <a:round/>
              </a:ln>
            </c:spPr>
          </c:dPt>
          <c:dLbls>
            <c:dLbl>
              <c:idx val="0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; </c:separator>
            <c:showLeaderLines val="1"/>
          </c:dLbls>
          <c:cat>
            <c:strRef>
              <c:f>categories</c:f>
              <c:strCache>
                <c:ptCount val="2"/>
                <c:pt idx="0">
                  <c:v>1</c:v>
                </c:pt>
                <c:pt idx="1">
                  <c:v>2</c:v>
                </c:pt>
              </c:strCache>
            </c:strRef>
          </c:cat>
          <c:val>
            <c:numRef>
              <c:f>0</c:f>
              <c:numCache>
                <c:formatCode>0%</c:formatCode>
                <c:ptCount val="2"/>
                <c:pt idx="0">
                  <c:v>0.27</c:v>
                </c:pt>
                <c:pt idx="1">
                  <c:v>0.73</c:v>
                </c:pt>
              </c:numCache>
            </c:numRef>
          </c:val>
        </c:ser>
        <c:firstSliceAng val="0"/>
        <c:holeSize val="50"/>
      </c:doughnutChart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"/>
          <c:y val="0.00437375745526839"/>
          <c:w val="0.999598876855195"/>
          <c:h val="0.990854870775348"/>
        </c:manualLayout>
      </c:layout>
      <c:doughnut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Проценты</c:v>
                </c:pt>
              </c:strCache>
            </c:strRef>
          </c:tx>
          <c:spPr>
            <a:solidFill>
              <a:srgbClr val="4472c4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6d33ff"/>
              </a:solidFill>
              <a:ln w="19080">
                <a:solidFill>
                  <a:srgbClr val="ffffff"/>
                </a:solidFill>
                <a:round/>
              </a:ln>
            </c:spPr>
          </c:dPt>
          <c:dPt>
            <c:idx val="1"/>
            <c:spPr>
              <a:solidFill>
                <a:srgbClr val="cacae5"/>
              </a:solidFill>
              <a:ln w="19080">
                <a:solidFill>
                  <a:srgbClr val="ffffff"/>
                </a:solidFill>
                <a:round/>
              </a:ln>
            </c:spPr>
          </c:dPt>
          <c:dLbls>
            <c:dLbl>
              <c:idx val="0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squar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; </c:separator>
            <c:showLeaderLines val="1"/>
          </c:dLbls>
          <c:cat>
            <c:strRef>
              <c:f>categories</c:f>
              <c:strCache>
                <c:ptCount val="2"/>
                <c:pt idx="0">
                  <c:v>1</c:v>
                </c:pt>
                <c:pt idx="1">
                  <c:v>2</c:v>
                </c:pt>
              </c:strCache>
            </c:strRef>
          </c:cat>
          <c:val>
            <c:numRef>
              <c:f>0</c:f>
              <c:numCache>
                <c:formatCode>0%</c:formatCode>
                <c:ptCount val="2"/>
                <c:pt idx="0">
                  <c:v>0.34</c:v>
                </c:pt>
                <c:pt idx="1">
                  <c:v>0.66</c:v>
                </c:pt>
              </c:numCache>
            </c:numRef>
          </c:val>
        </c:ser>
        <c:firstSliceAng val="0"/>
        <c:holeSize val="50"/>
      </c:doughnutChart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1250B05E-06D4-449B-BACF-28F17F59575C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B70B130-094C-49D1-A1C4-E395A2E8BC0F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Click to edit the title text format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Click to edit the outline text format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Second Outline Level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Third Outline Level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Fourth Outline Level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Fifth Outline Level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Sixth Outline Level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Seventh Outline Level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149120" y="406080"/>
            <a:ext cx="10101240" cy="38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2800" strike="noStrike" u="none">
                <a:solidFill>
                  <a:srgbClr val="262b28"/>
                </a:solidFill>
                <a:uFillTx/>
                <a:latin typeface="Wix Madefor Display SemiBold"/>
              </a:rPr>
              <a:t>Образец заголовка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pic>
        <p:nvPicPr>
          <p:cNvPr id="3" name="Рисунок 7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42800" y="407880"/>
            <a:ext cx="311040" cy="54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2"/>
          <p:cNvSpPr>
            <a:spLocks noGrp="1"/>
          </p:cNvSpPr>
          <p:nvPr>
            <p:ph type="sldNum" idx="1"/>
          </p:nvPr>
        </p:nvSpPr>
        <p:spPr>
          <a:xfrm>
            <a:off x="11277720" y="380160"/>
            <a:ext cx="511200" cy="2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400" strike="noStrike" u="none">
                <a:solidFill>
                  <a:schemeClr val="dk1">
                    <a:tint val="75000"/>
                  </a:schemeClr>
                </a:solidFill>
                <a:uFillTx/>
                <a:latin typeface="Wix Madefor Display Medium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5C3A18B-82C8-4C0B-B646-3F3CEE94E09C}" type="slidenum">
              <a:rPr b="0" lang="ru-RU" sz="1400" strike="noStrike" u="none">
                <a:solidFill>
                  <a:schemeClr val="dk1">
                    <a:tint val="75000"/>
                  </a:schemeClr>
                </a:solidFill>
                <a:uFillTx/>
                <a:latin typeface="Wix Madefor Display Medium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Click to edit the outline text format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Second Outline Level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Third Outline Level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Fourth Outline Level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Fifth Outline Level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Sixth Outline Level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Seventh Outline Level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149120" y="406080"/>
            <a:ext cx="10101240" cy="38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2800" strike="noStrike" u="none">
                <a:solidFill>
                  <a:srgbClr val="262b28"/>
                </a:solidFill>
                <a:uFillTx/>
                <a:latin typeface="Wix Madefor Display SemiBold"/>
              </a:rPr>
              <a:t>Образец заголовка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pic>
        <p:nvPicPr>
          <p:cNvPr id="7" name="Рисунок 7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42800" y="407880"/>
            <a:ext cx="311040" cy="54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PlaceHolder 2"/>
          <p:cNvSpPr>
            <a:spLocks noGrp="1"/>
          </p:cNvSpPr>
          <p:nvPr>
            <p:ph type="sldNum" idx="2"/>
          </p:nvPr>
        </p:nvSpPr>
        <p:spPr>
          <a:xfrm>
            <a:off x="11277720" y="380160"/>
            <a:ext cx="511200" cy="2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400" strike="noStrike" u="none">
                <a:solidFill>
                  <a:schemeClr val="dk1">
                    <a:tint val="75000"/>
                  </a:schemeClr>
                </a:solidFill>
                <a:uFillTx/>
                <a:latin typeface="Wix Madefor Display Medium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C753696-2ECF-4E46-932B-2E934B12DEE4}" type="slidenum">
              <a:rPr b="0" lang="ru-RU" sz="1400" strike="noStrike" u="none">
                <a:solidFill>
                  <a:schemeClr val="dk1">
                    <a:tint val="75000"/>
                  </a:schemeClr>
                </a:solidFill>
                <a:uFillTx/>
                <a:latin typeface="Wix Madefor Display Medium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Relationship Id="rId4" Type="http://schemas.openxmlformats.org/officeDocument/2006/relationships/chart" Target="../charts/chart5.xml"/><Relationship Id="rId5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chart" Target="../charts/chart6.xml"/><Relationship Id="rId2" Type="http://schemas.openxmlformats.org/officeDocument/2006/relationships/chart" Target="../charts/chart7.xml"/><Relationship Id="rId3" Type="http://schemas.openxmlformats.org/officeDocument/2006/relationships/chart" Target="../charts/chart8.xml"/><Relationship Id="rId4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chart" Target="../charts/chart9.xml"/><Relationship Id="rId2" Type="http://schemas.openxmlformats.org/officeDocument/2006/relationships/chart" Target="../charts/chart10.xml"/><Relationship Id="rId3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chart" Target="../charts/chart11.xml"/><Relationship Id="rId2" Type="http://schemas.openxmlformats.org/officeDocument/2006/relationships/chart" Target="../charts/chart12.xml"/><Relationship Id="rId3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chart" Target="../charts/chart13.xml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chart" Target="../charts/chart14.xml"/><Relationship Id="rId2" Type="http://schemas.openxmlformats.org/officeDocument/2006/relationships/chart" Target="../charts/chart15.xml"/><Relationship Id="rId3" Type="http://schemas.openxmlformats.org/officeDocument/2006/relationships/chart" Target="../charts/chart16.xml"/><Relationship Id="rId4" Type="http://schemas.openxmlformats.org/officeDocument/2006/relationships/chart" Target="../charts/chart17.xml"/><Relationship Id="rId5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chart" Target="../charts/chart18.xml"/><Relationship Id="rId2" Type="http://schemas.openxmlformats.org/officeDocument/2006/relationships/chart" Target="../charts/chart19.xml"/><Relationship Id="rId3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chart" Target="../charts/chart20.xml"/><Relationship Id="rId4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chart" Target="../charts/chart21.xml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chart" Target="../charts/chart22.xml"/><Relationship Id="rId2" Type="http://schemas.openxmlformats.org/officeDocument/2006/relationships/chart" Target="../charts/chart23.xml"/><Relationship Id="rId3" Type="http://schemas.openxmlformats.org/officeDocument/2006/relationships/chart" Target="../charts/chart24.xml"/><Relationship Id="rId4" Type="http://schemas.openxmlformats.org/officeDocument/2006/relationships/chart" Target="../charts/chart25.xml"/><Relationship Id="rId5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: скругленные углы 3"/>
          <p:cNvSpPr/>
          <p:nvPr/>
        </p:nvSpPr>
        <p:spPr>
          <a:xfrm>
            <a:off x="442800" y="1160640"/>
            <a:ext cx="2705040" cy="5221080"/>
          </a:xfrm>
          <a:prstGeom prst="roundRect">
            <a:avLst>
              <a:gd name="adj" fmla="val 2286"/>
            </a:avLst>
          </a:prstGeom>
          <a:solidFill>
            <a:srgbClr val="cacae5">
              <a:alpha val="50000"/>
            </a:srgb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0" name="Прямоугольник: скругленные верхние углы 2"/>
          <p:cNvSpPr/>
          <p:nvPr/>
        </p:nvSpPr>
        <p:spPr>
          <a:xfrm>
            <a:off x="442800" y="1160640"/>
            <a:ext cx="2705040" cy="2049480"/>
          </a:xfrm>
          <a:prstGeom prst="round2SameRect">
            <a:avLst>
              <a:gd name="adj1" fmla="val 3025"/>
              <a:gd name="adj2" fmla="val 0"/>
            </a:avLst>
          </a:prstGeom>
          <a:solidFill>
            <a:srgbClr val="6d33ff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1" name="Прямоугольник: скругленные углы 13"/>
          <p:cNvSpPr/>
          <p:nvPr/>
        </p:nvSpPr>
        <p:spPr>
          <a:xfrm>
            <a:off x="3323160" y="1160640"/>
            <a:ext cx="2705040" cy="5221080"/>
          </a:xfrm>
          <a:prstGeom prst="roundRect">
            <a:avLst>
              <a:gd name="adj" fmla="val 2286"/>
            </a:avLst>
          </a:prstGeom>
          <a:solidFill>
            <a:srgbClr val="cacae5">
              <a:alpha val="50000"/>
            </a:srgb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2" name="Прямоугольник: скругленные углы 21"/>
          <p:cNvSpPr/>
          <p:nvPr/>
        </p:nvSpPr>
        <p:spPr>
          <a:xfrm>
            <a:off x="6203520" y="1160640"/>
            <a:ext cx="2705040" cy="5221080"/>
          </a:xfrm>
          <a:prstGeom prst="roundRect">
            <a:avLst>
              <a:gd name="adj" fmla="val 2286"/>
            </a:avLst>
          </a:prstGeom>
          <a:solidFill>
            <a:srgbClr val="cacae5">
              <a:alpha val="50000"/>
            </a:srgb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3" name="Прямоугольник: скругленные углы 23"/>
          <p:cNvSpPr/>
          <p:nvPr/>
        </p:nvSpPr>
        <p:spPr>
          <a:xfrm>
            <a:off x="9083520" y="1160640"/>
            <a:ext cx="2705040" cy="5221080"/>
          </a:xfrm>
          <a:prstGeom prst="roundRect">
            <a:avLst>
              <a:gd name="adj" fmla="val 2286"/>
            </a:avLst>
          </a:prstGeom>
          <a:solidFill>
            <a:srgbClr val="cacae5">
              <a:alpha val="50000"/>
            </a:srgb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4" name="Прямоугольник: скругленные верхние углы 4"/>
          <p:cNvSpPr/>
          <p:nvPr/>
        </p:nvSpPr>
        <p:spPr>
          <a:xfrm>
            <a:off x="3323160" y="1160640"/>
            <a:ext cx="2705040" cy="2049480"/>
          </a:xfrm>
          <a:prstGeom prst="round2SameRect">
            <a:avLst>
              <a:gd name="adj1" fmla="val 3025"/>
              <a:gd name="adj2" fmla="val 0"/>
            </a:avLst>
          </a:prstGeom>
          <a:solidFill>
            <a:srgbClr val="6d33ff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5" name="Прямоугольник: скругленные верхние углы 5"/>
          <p:cNvSpPr/>
          <p:nvPr/>
        </p:nvSpPr>
        <p:spPr>
          <a:xfrm>
            <a:off x="6203520" y="1160640"/>
            <a:ext cx="2705040" cy="2049480"/>
          </a:xfrm>
          <a:prstGeom prst="round2SameRect">
            <a:avLst>
              <a:gd name="adj1" fmla="val 3025"/>
              <a:gd name="adj2" fmla="val 0"/>
            </a:avLst>
          </a:prstGeom>
          <a:solidFill>
            <a:srgbClr val="6d33ff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6" name="Прямоугольник: скругленные верхние углы 6"/>
          <p:cNvSpPr/>
          <p:nvPr/>
        </p:nvSpPr>
        <p:spPr>
          <a:xfrm>
            <a:off x="9083520" y="1160640"/>
            <a:ext cx="2705040" cy="2049480"/>
          </a:xfrm>
          <a:prstGeom prst="round2SameRect">
            <a:avLst>
              <a:gd name="adj1" fmla="val 3025"/>
              <a:gd name="adj2" fmla="val 0"/>
            </a:avLst>
          </a:prstGeom>
          <a:solidFill>
            <a:srgbClr val="6d33ff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1149120" y="404640"/>
            <a:ext cx="10515240" cy="38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2800" strike="noStrike" u="none">
                <a:solidFill>
                  <a:srgbClr val="262b28"/>
                </a:solidFill>
                <a:uFillTx/>
                <a:latin typeface="Wix Madefor Display SemiBold"/>
              </a:rPr>
              <a:t>Выводы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8" name="Заголовок 3"/>
          <p:cNvSpPr/>
          <p:nvPr/>
        </p:nvSpPr>
        <p:spPr>
          <a:xfrm>
            <a:off x="731880" y="3452400"/>
            <a:ext cx="2265480" cy="237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  <a:spcAft>
                <a:spcPts val="300"/>
              </a:spcAft>
            </a:pPr>
            <a:r>
              <a:rPr b="0" lang="ru-RU" sz="1200" strike="noStrike" u="none">
                <a:solidFill>
                  <a:schemeClr val="dk1"/>
                </a:solidFill>
                <a:uFillTx/>
                <a:latin typeface="Wix Madefor Display Medium"/>
              </a:rPr>
              <a:t>Большой процент сменивших профессию свидетельствует </a:t>
            </a:r>
            <a:br>
              <a:rPr sz="1200"/>
            </a:br>
            <a:r>
              <a:rPr b="0" lang="ru-RU" sz="1200" strike="noStrike" u="none">
                <a:solidFill>
                  <a:schemeClr val="dk1"/>
                </a:solidFill>
                <a:uFillTx/>
                <a:latin typeface="Wix Madefor Display Medium"/>
              </a:rPr>
              <a:t>о перетоке кадров между отраслями.</a:t>
            </a: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90000"/>
              </a:lnSpc>
              <a:spcAft>
                <a:spcPts val="300"/>
              </a:spcAft>
            </a:pPr>
            <a:r>
              <a:rPr b="0" lang="ru-RU" sz="1200" strike="noStrike" u="none">
                <a:solidFill>
                  <a:schemeClr val="dk1"/>
                </a:solidFill>
                <a:uFillTx/>
                <a:latin typeface="Wix Madefor Display Medium"/>
              </a:rPr>
              <a:t>54% специалистов </a:t>
            </a:r>
            <a:br>
              <a:rPr sz="1200"/>
            </a:br>
            <a:r>
              <a:rPr b="0" lang="ru-RU" sz="1200" strike="noStrike" u="none">
                <a:solidFill>
                  <a:schemeClr val="dk1"/>
                </a:solidFill>
                <a:uFillTx/>
                <a:latin typeface="Wix Madefor Display Medium"/>
              </a:rPr>
              <a:t>не получали профильного образования. Меняют профессию не только молодые специалисты – порог вхождения в ИТ </a:t>
            </a:r>
            <a:br>
              <a:rPr sz="1200"/>
            </a:br>
            <a:r>
              <a:rPr b="0" lang="ru-RU" sz="1200" strike="noStrike" u="none">
                <a:solidFill>
                  <a:schemeClr val="dk1"/>
                </a:solidFill>
                <a:uFillTx/>
                <a:latin typeface="Wix Madefor Display Medium"/>
              </a:rPr>
              <a:t>не зависит от возраста</a:t>
            </a: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90000"/>
              </a:lnSpc>
              <a:spcAft>
                <a:spcPts val="300"/>
              </a:spcAft>
            </a:pPr>
            <a:r>
              <a:rPr b="0" lang="ru-RU" sz="1200" strike="noStrike" u="none">
                <a:solidFill>
                  <a:schemeClr val="dk1"/>
                </a:solidFill>
                <a:uFillTx/>
                <a:latin typeface="Wix Madefor Display Medium"/>
              </a:rPr>
              <a:t>Средний возраст, в котором ИТ-специалисты меняли профессию - </a:t>
            </a:r>
            <a:r>
              <a:rPr b="0" lang="ru-RU" sz="1200" strike="noStrike" u="none">
                <a:solidFill>
                  <a:schemeClr val="dk1"/>
                </a:solidFill>
                <a:uFillTx/>
                <a:latin typeface="Wix Madefor Display Bold"/>
                <a:ea typeface="PT Root UI Bold"/>
              </a:rPr>
              <a:t>36 лет</a:t>
            </a: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" name="Заголовок 3"/>
          <p:cNvSpPr/>
          <p:nvPr/>
        </p:nvSpPr>
        <p:spPr>
          <a:xfrm>
            <a:off x="731880" y="1953360"/>
            <a:ext cx="2183400" cy="98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  <a:spcAft>
                <a:spcPts val="300"/>
              </a:spcAft>
            </a:pPr>
            <a:r>
              <a:rPr b="0" lang="ru-RU" sz="1800" strike="noStrike" u="none">
                <a:solidFill>
                  <a:schemeClr val="lt1"/>
                </a:solidFill>
                <a:uFillTx/>
                <a:latin typeface="Wix Madefor Display Medium"/>
              </a:rPr>
              <a:t>специалистов работали</a:t>
            </a:r>
            <a:br>
              <a:rPr sz="1800"/>
            </a:br>
            <a:r>
              <a:rPr b="0" lang="ru-RU" sz="1800" strike="noStrike" u="none">
                <a:solidFill>
                  <a:schemeClr val="lt1"/>
                </a:solidFill>
                <a:uFillTx/>
                <a:latin typeface="Wix Madefor Display Medium"/>
              </a:rPr>
              <a:t>до ИТ по другой профессии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" name="Заголовок 3"/>
          <p:cNvSpPr/>
          <p:nvPr/>
        </p:nvSpPr>
        <p:spPr>
          <a:xfrm>
            <a:off x="3612240" y="3452400"/>
            <a:ext cx="2183400" cy="267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  <a:spcAft>
                <a:spcPts val="300"/>
              </a:spcAft>
            </a:pPr>
            <a:r>
              <a:rPr b="0" lang="ru-RU" sz="1200" strike="noStrike" u="none">
                <a:solidFill>
                  <a:schemeClr val="dk1"/>
                </a:solidFill>
                <a:uFillTx/>
                <a:latin typeface="Wix Madefor Display Medium"/>
              </a:rPr>
              <a:t>43% </a:t>
            </a:r>
            <a:r>
              <a:rPr b="0" lang="ru-RU" sz="1200" strike="noStrike" u="none">
                <a:solidFill>
                  <a:schemeClr val="dk1"/>
                </a:solidFill>
                <a:uFillTx/>
                <a:latin typeface="Wix Madefor Display Bold"/>
              </a:rPr>
              <a:t>планируют использовать. </a:t>
            </a:r>
            <a:r>
              <a:rPr b="0" lang="ru-RU" sz="1200" strike="noStrike" u="none">
                <a:solidFill>
                  <a:schemeClr val="dk1"/>
                </a:solidFill>
                <a:uFillTx/>
                <a:latin typeface="Wix Madefor Display Medium"/>
              </a:rPr>
              <a:t>Среди типов технологий самые часто используемые – генеративный ИИ (72%) </a:t>
            </a:r>
            <a:br>
              <a:rPr sz="1200"/>
            </a:br>
            <a:r>
              <a:rPr b="0" lang="ru-RU" sz="1200" strike="noStrike" u="none">
                <a:solidFill>
                  <a:schemeClr val="dk1"/>
                </a:solidFill>
                <a:uFillTx/>
                <a:latin typeface="Wix Madefor Display Medium"/>
              </a:rPr>
              <a:t>и синтез и распознавание речи (62%)</a:t>
            </a: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90000"/>
              </a:lnSpc>
              <a:spcAft>
                <a:spcPts val="300"/>
              </a:spcAft>
            </a:pPr>
            <a:r>
              <a:rPr b="0" lang="ru-RU" sz="1200" strike="noStrike" u="none">
                <a:solidFill>
                  <a:schemeClr val="dk1"/>
                </a:solidFill>
                <a:uFillTx/>
                <a:latin typeface="Wix Madefor Display Medium"/>
              </a:rPr>
              <a:t>Большая часть опрошенных настроена позитивно относительно влияния </a:t>
            </a:r>
            <a:br>
              <a:rPr sz="1200"/>
            </a:br>
            <a:r>
              <a:rPr b="0" lang="ru-RU" sz="1200" strike="noStrike" u="none">
                <a:solidFill>
                  <a:schemeClr val="dk1"/>
                </a:solidFill>
                <a:uFillTx/>
                <a:latin typeface="Wix Madefor Display Medium"/>
              </a:rPr>
              <a:t>ИИ на их работу </a:t>
            </a:r>
            <a:br>
              <a:rPr sz="1200"/>
            </a:br>
            <a:r>
              <a:rPr b="0" lang="ru-RU" sz="1200" strike="noStrike" u="none">
                <a:solidFill>
                  <a:schemeClr val="dk1"/>
                </a:solidFill>
                <a:uFillTx/>
                <a:latin typeface="Wix Madefor Display Medium"/>
              </a:rPr>
              <a:t>в обозримом будущем, </a:t>
            </a:r>
            <a:br>
              <a:rPr sz="1200"/>
            </a:br>
            <a:r>
              <a:rPr b="0" lang="ru-RU" sz="1200" strike="noStrike" u="none">
                <a:solidFill>
                  <a:schemeClr val="dk1"/>
                </a:solidFill>
                <a:uFillTx/>
                <a:latin typeface="Wix Madefor Display Medium"/>
              </a:rPr>
              <a:t>54% согласны с тем, </a:t>
            </a:r>
            <a:br>
              <a:rPr sz="1200"/>
            </a:br>
            <a:r>
              <a:rPr b="0" lang="ru-RU" sz="1200" strike="noStrike" u="none">
                <a:solidFill>
                  <a:schemeClr val="dk1"/>
                </a:solidFill>
                <a:uFillTx/>
                <a:latin typeface="Wix Madefor Display Medium"/>
              </a:rPr>
              <a:t>что ИИ может полностью заменить часть специалистов</a:t>
            </a: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" name="Заголовок 3"/>
          <p:cNvSpPr/>
          <p:nvPr/>
        </p:nvSpPr>
        <p:spPr>
          <a:xfrm>
            <a:off x="6492240" y="3452400"/>
            <a:ext cx="2183400" cy="230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  <a:spcAft>
                <a:spcPts val="300"/>
              </a:spcAft>
            </a:pPr>
            <a:r>
              <a:rPr b="0" lang="ru-RU" sz="1200" strike="noStrike" u="none">
                <a:solidFill>
                  <a:schemeClr val="dk1"/>
                </a:solidFill>
                <a:uFillTx/>
                <a:latin typeface="Wix Madefor Display Medium"/>
              </a:rPr>
              <a:t>В целом ИТ-специалисты удовлетворены текущим местом работы – атмосферой на рабочем месте, функционалом, </a:t>
            </a:r>
            <a:br>
              <a:rPr sz="1200"/>
            </a:br>
            <a:r>
              <a:rPr b="0" lang="ru-RU" sz="1200" strike="noStrike" u="none">
                <a:solidFill>
                  <a:schemeClr val="dk1"/>
                </a:solidFill>
                <a:uFillTx/>
                <a:latin typeface="Wix Madefor Display Medium"/>
              </a:rPr>
              <a:t>при этом </a:t>
            </a:r>
            <a:r>
              <a:rPr b="0" lang="ru-RU" sz="1200" strike="noStrike" u="none">
                <a:solidFill>
                  <a:schemeClr val="dk1"/>
                </a:solidFill>
                <a:uFillTx/>
                <a:latin typeface="Wix Madefor Display Bold"/>
              </a:rPr>
              <a:t>32%</a:t>
            </a:r>
            <a:r>
              <a:rPr b="0" lang="ru-RU" sz="1200" strike="noStrike" u="none">
                <a:solidFill>
                  <a:schemeClr val="dk1"/>
                </a:solidFill>
                <a:uFillTx/>
                <a:latin typeface="Wix Madefor Display Medium"/>
              </a:rPr>
              <a:t> находятся </a:t>
            </a:r>
            <a:br>
              <a:rPr sz="1200"/>
            </a:br>
            <a:r>
              <a:rPr b="1" lang="ru-RU" sz="1200" strike="noStrike" u="none">
                <a:solidFill>
                  <a:schemeClr val="dk1"/>
                </a:solidFill>
                <a:uFillTx/>
                <a:latin typeface="Wix Madefor Display Medium"/>
              </a:rPr>
              <a:t>в </a:t>
            </a:r>
            <a:r>
              <a:rPr b="0" lang="ru-RU" sz="1200" strike="noStrike" u="none">
                <a:solidFill>
                  <a:schemeClr val="dk1"/>
                </a:solidFill>
                <a:uFillTx/>
                <a:latin typeface="Wix Madefor Display Bold"/>
              </a:rPr>
              <a:t>активном поиске</a:t>
            </a:r>
            <a:r>
              <a:rPr b="0" lang="ru-RU" sz="1200" strike="noStrike" u="none">
                <a:solidFill>
                  <a:schemeClr val="dk1"/>
                </a:solidFill>
                <a:uFillTx/>
                <a:latin typeface="Wix Madefor Display ExtraBold"/>
              </a:rPr>
              <a:t> </a:t>
            </a:r>
            <a:r>
              <a:rPr b="0" lang="ru-RU" sz="1200" strike="noStrike" u="none">
                <a:solidFill>
                  <a:schemeClr val="dk1"/>
                </a:solidFill>
                <a:uFillTx/>
                <a:latin typeface="Wix Madefor Display Medium"/>
              </a:rPr>
              <a:t>работы или подработки, а </a:t>
            </a:r>
            <a:r>
              <a:rPr b="0" lang="ru-RU" sz="1200" strike="noStrike" u="none">
                <a:solidFill>
                  <a:schemeClr val="dk1"/>
                </a:solidFill>
                <a:uFillTx/>
                <a:latin typeface="Wix Madefor Display Bold"/>
              </a:rPr>
              <a:t>35% </a:t>
            </a:r>
            <a:r>
              <a:rPr b="0" lang="ru-RU" sz="1200" strike="noStrike" u="none">
                <a:solidFill>
                  <a:schemeClr val="dk1"/>
                </a:solidFill>
                <a:uFillTx/>
                <a:latin typeface="Wix Madefor Display Medium"/>
              </a:rPr>
              <a:t>находятся </a:t>
            </a:r>
            <a:r>
              <a:rPr b="1" lang="ru-RU" sz="1200" strike="noStrike" u="none">
                <a:solidFill>
                  <a:schemeClr val="dk1"/>
                </a:solidFill>
                <a:uFillTx/>
                <a:latin typeface="Wix Madefor Display Medium"/>
              </a:rPr>
              <a:t>в </a:t>
            </a:r>
            <a:r>
              <a:rPr b="0" lang="ru-RU" sz="1200" strike="noStrike" u="none">
                <a:solidFill>
                  <a:schemeClr val="dk1"/>
                </a:solidFill>
                <a:uFillTx/>
                <a:latin typeface="Wix Madefor Display Bold"/>
              </a:rPr>
              <a:t>пассивном поиске: </a:t>
            </a:r>
            <a:r>
              <a:rPr b="0" lang="ru-RU" sz="1200" strike="noStrike" u="none">
                <a:solidFill>
                  <a:schemeClr val="dk1"/>
                </a:solidFill>
                <a:uFillTx/>
                <a:latin typeface="Wix Madefor Display Medium"/>
              </a:rPr>
              <a:t>не ищут работу, </a:t>
            </a:r>
            <a:br>
              <a:rPr sz="1200"/>
            </a:br>
            <a:r>
              <a:rPr b="0" lang="ru-RU" sz="1200" strike="noStrike" u="none">
                <a:solidFill>
                  <a:schemeClr val="dk1"/>
                </a:solidFill>
                <a:uFillTx/>
                <a:latin typeface="Wix Madefor Display Medium"/>
              </a:rPr>
              <a:t>но следят за актуальными вакансиями </a:t>
            </a:r>
            <a:br>
              <a:rPr sz="1200"/>
            </a:br>
            <a:r>
              <a:rPr b="0" lang="ru-RU" sz="1200" strike="noStrike" u="none">
                <a:solidFill>
                  <a:schemeClr val="dk1"/>
                </a:solidFill>
                <a:uFillTx/>
                <a:latin typeface="Wix Madefor Display Medium"/>
              </a:rPr>
              <a:t>и рассматривают </a:t>
            </a:r>
            <a:br>
              <a:rPr sz="1200"/>
            </a:br>
            <a:r>
              <a:rPr b="0" lang="ru-RU" sz="1200" strike="noStrike" u="none">
                <a:solidFill>
                  <a:schemeClr val="dk1"/>
                </a:solidFill>
                <a:uFillTx/>
                <a:latin typeface="Wix Madefor Display Medium"/>
              </a:rPr>
              <a:t>входящие предложения </a:t>
            </a: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" name="Заголовок 3"/>
          <p:cNvSpPr/>
          <p:nvPr/>
        </p:nvSpPr>
        <p:spPr>
          <a:xfrm>
            <a:off x="9372600" y="3452400"/>
            <a:ext cx="2183400" cy="131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  <a:spcAft>
                <a:spcPts val="300"/>
              </a:spcAft>
            </a:pPr>
            <a:r>
              <a:rPr b="0" lang="ru-RU" sz="1200" strike="noStrike" u="none">
                <a:solidFill>
                  <a:schemeClr val="dk1"/>
                </a:solidFill>
                <a:uFillTx/>
                <a:latin typeface="Wix Madefor Display Medium"/>
              </a:rPr>
              <a:t>37% из них повысили заработную плату на 10-20%</a:t>
            </a:r>
            <a:br>
              <a:rPr sz="1200"/>
            </a:br>
            <a:r>
              <a:rPr b="0" lang="ru-RU" sz="1200" strike="noStrike" u="none">
                <a:solidFill>
                  <a:schemeClr val="dk1"/>
                </a:solidFill>
                <a:uFillTx/>
                <a:latin typeface="Wix Madefor Display Medium"/>
              </a:rPr>
              <a:t>Те, у кого заработная плата выросла за последний год, на 24 п.п. более позитивно оцениваюткарьерные/профессиональные перспективы </a:t>
            </a:r>
            <a:br>
              <a:rPr sz="1200"/>
            </a:br>
            <a:r>
              <a:rPr b="0" lang="ru-RU" sz="1200" strike="noStrike" u="none">
                <a:solidFill>
                  <a:schemeClr val="dk1"/>
                </a:solidFill>
                <a:uFillTx/>
                <a:latin typeface="Wix Madefor Display Medium"/>
              </a:rPr>
              <a:t>в отрасли</a:t>
            </a: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" name="Заголовок 3"/>
          <p:cNvSpPr/>
          <p:nvPr/>
        </p:nvSpPr>
        <p:spPr>
          <a:xfrm>
            <a:off x="731880" y="1407240"/>
            <a:ext cx="953640" cy="49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90000"/>
              </a:lnSpc>
            </a:pPr>
            <a:r>
              <a:rPr b="0" lang="ru-RU" sz="3600" strike="noStrike" u="none">
                <a:solidFill>
                  <a:schemeClr val="lt1"/>
                </a:solidFill>
                <a:uFillTx/>
                <a:latin typeface="Wix Madefor Display SemiBold"/>
              </a:rPr>
              <a:t>57</a:t>
            </a:r>
            <a:r>
              <a:rPr b="0" lang="en-US" sz="3600" strike="noStrike" u="none">
                <a:solidFill>
                  <a:schemeClr val="lt1"/>
                </a:solidFill>
                <a:uFillTx/>
                <a:latin typeface="Wix Madefor Display SemiBold"/>
              </a:rPr>
              <a:t>%</a:t>
            </a:r>
            <a:endParaRPr b="0" lang="en-GB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" name="Заголовок 3"/>
          <p:cNvSpPr/>
          <p:nvPr/>
        </p:nvSpPr>
        <p:spPr>
          <a:xfrm>
            <a:off x="3612240" y="1407240"/>
            <a:ext cx="953640" cy="49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90000"/>
              </a:lnSpc>
            </a:pPr>
            <a:r>
              <a:rPr b="0" lang="ru-RU" sz="3600" strike="noStrike" u="none">
                <a:solidFill>
                  <a:schemeClr val="lt1"/>
                </a:solidFill>
                <a:uFillTx/>
                <a:latin typeface="Wix Madefor Display SemiBold"/>
              </a:rPr>
              <a:t>41</a:t>
            </a:r>
            <a:r>
              <a:rPr b="0" lang="en-US" sz="3600" strike="noStrike" u="none">
                <a:solidFill>
                  <a:schemeClr val="lt1"/>
                </a:solidFill>
                <a:uFillTx/>
                <a:latin typeface="Wix Madefor Display SemiBold"/>
              </a:rPr>
              <a:t>%</a:t>
            </a:r>
            <a:endParaRPr b="0" lang="en-GB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" name="Заголовок 3"/>
          <p:cNvSpPr/>
          <p:nvPr/>
        </p:nvSpPr>
        <p:spPr>
          <a:xfrm>
            <a:off x="6492240" y="1402560"/>
            <a:ext cx="2183400" cy="49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</a:pPr>
            <a:r>
              <a:rPr b="0" lang="ru-RU" sz="1800" strike="noStrike" u="none">
                <a:solidFill>
                  <a:schemeClr val="lt1"/>
                </a:solidFill>
                <a:uFillTx/>
                <a:latin typeface="Wix Madefor Display SemiBold"/>
              </a:rPr>
              <a:t>Только </a:t>
            </a:r>
            <a:r>
              <a:rPr b="0" lang="ru-RU" sz="3600" strike="noStrike" u="none">
                <a:solidFill>
                  <a:schemeClr val="lt1"/>
                </a:solidFill>
                <a:uFillTx/>
                <a:latin typeface="Wix Madefor Display SemiBold"/>
              </a:rPr>
              <a:t>33</a:t>
            </a:r>
            <a:r>
              <a:rPr b="0" lang="en-US" sz="3600" strike="noStrike" u="none">
                <a:solidFill>
                  <a:schemeClr val="lt1"/>
                </a:solidFill>
                <a:uFillTx/>
                <a:latin typeface="Wix Madefor Display SemiBold"/>
              </a:rPr>
              <a:t>%</a:t>
            </a:r>
            <a:endParaRPr b="0" lang="en-GB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" name="Заголовок 3"/>
          <p:cNvSpPr/>
          <p:nvPr/>
        </p:nvSpPr>
        <p:spPr>
          <a:xfrm>
            <a:off x="9372600" y="1407240"/>
            <a:ext cx="1530360" cy="49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</a:pPr>
            <a:r>
              <a:rPr b="0" lang="ru-RU" sz="1800" strike="noStrike" u="none">
                <a:solidFill>
                  <a:schemeClr val="lt1"/>
                </a:solidFill>
                <a:uFillTx/>
                <a:latin typeface="Wix Madefor Display SemiBold"/>
              </a:rPr>
              <a:t>у</a:t>
            </a:r>
            <a:r>
              <a:rPr b="0" lang="ru-RU" sz="2400" strike="noStrike" u="none">
                <a:solidFill>
                  <a:schemeClr val="lt1"/>
                </a:solidFill>
                <a:uFillTx/>
                <a:latin typeface="Wix Madefor Display SemiBold"/>
              </a:rPr>
              <a:t> </a:t>
            </a:r>
            <a:r>
              <a:rPr b="0" lang="ru-RU" sz="3600" strike="noStrike" u="none">
                <a:solidFill>
                  <a:schemeClr val="lt1"/>
                </a:solidFill>
                <a:uFillTx/>
                <a:latin typeface="Wix Madefor Display SemiBold"/>
              </a:rPr>
              <a:t>62</a:t>
            </a:r>
            <a:r>
              <a:rPr b="0" lang="en-US" sz="3600" strike="noStrike" u="none">
                <a:solidFill>
                  <a:schemeClr val="lt1"/>
                </a:solidFill>
                <a:uFillTx/>
                <a:latin typeface="Wix Madefor Display SemiBold"/>
              </a:rPr>
              <a:t>%</a:t>
            </a:r>
            <a:endParaRPr b="0" lang="en-GB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" name="Заголовок 3"/>
          <p:cNvSpPr/>
          <p:nvPr/>
        </p:nvSpPr>
        <p:spPr>
          <a:xfrm>
            <a:off x="3612240" y="1953360"/>
            <a:ext cx="2183400" cy="98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  <a:spcAft>
                <a:spcPts val="300"/>
              </a:spcAft>
            </a:pPr>
            <a:r>
              <a:rPr b="0" lang="ru-RU" sz="1800" strike="noStrike" u="none">
                <a:solidFill>
                  <a:schemeClr val="lt1"/>
                </a:solidFill>
                <a:uFillTx/>
                <a:latin typeface="Wix Madefor Display Medium"/>
              </a:rPr>
              <a:t>ИТ-специалистов </a:t>
            </a:r>
            <a:r>
              <a:rPr b="0" lang="ru-RU" sz="1800" strike="noStrike" u="none">
                <a:solidFill>
                  <a:schemeClr val="lt1"/>
                </a:solidFill>
                <a:uFillTx/>
                <a:latin typeface="Wix Madefor Display Bold"/>
              </a:rPr>
              <a:t>используют</a:t>
            </a:r>
            <a:r>
              <a:rPr b="0" lang="ru-RU" sz="1800" strike="noStrike" u="none">
                <a:solidFill>
                  <a:schemeClr val="lt1"/>
                </a:solidFill>
                <a:uFillTx/>
                <a:latin typeface="Wix Madefor Display Medium"/>
              </a:rPr>
              <a:t> инструменты с ИИ</a:t>
            </a:r>
            <a:br>
              <a:rPr sz="1800"/>
            </a:br>
            <a:r>
              <a:rPr b="0" lang="ru-RU" sz="1800" strike="noStrike" u="none">
                <a:solidFill>
                  <a:schemeClr val="lt1"/>
                </a:solidFill>
                <a:uFillTx/>
                <a:latin typeface="Wix Madefor Display Medium"/>
              </a:rPr>
              <a:t>в своей работе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" name="Заголовок 3"/>
          <p:cNvSpPr/>
          <p:nvPr/>
        </p:nvSpPr>
        <p:spPr>
          <a:xfrm>
            <a:off x="6492240" y="1957320"/>
            <a:ext cx="2183400" cy="49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 defTabSz="914400">
              <a:lnSpc>
                <a:spcPct val="90000"/>
              </a:lnSpc>
              <a:spcAft>
                <a:spcPts val="300"/>
              </a:spcAft>
            </a:pPr>
            <a:r>
              <a:rPr b="0" lang="ru-RU" sz="1800" strike="noStrike" u="none">
                <a:solidFill>
                  <a:schemeClr val="lt1"/>
                </a:solidFill>
                <a:uFillTx/>
                <a:latin typeface="Wix Madefor Display Bold"/>
              </a:rPr>
              <a:t>НЕ</a:t>
            </a:r>
            <a:r>
              <a:rPr b="0" lang="ru-RU" sz="1800" strike="noStrike" u="none">
                <a:solidFill>
                  <a:schemeClr val="lt1"/>
                </a:solidFill>
                <a:uFillTx/>
                <a:latin typeface="Wix Madefor Display Medium"/>
              </a:rPr>
              <a:t> ищут работу или подработку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" name="Заголовок 3"/>
          <p:cNvSpPr/>
          <p:nvPr/>
        </p:nvSpPr>
        <p:spPr>
          <a:xfrm>
            <a:off x="9372600" y="1953360"/>
            <a:ext cx="2183400" cy="98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  <a:spcAft>
                <a:spcPts val="300"/>
              </a:spcAft>
            </a:pPr>
            <a:r>
              <a:rPr b="0" lang="ru-RU" sz="1800" strike="noStrike" u="none">
                <a:solidFill>
                  <a:schemeClr val="lt1"/>
                </a:solidFill>
                <a:uFillTx/>
                <a:latin typeface="Wix Madefor Display Medium"/>
              </a:rPr>
              <a:t>специалистов выросла заработная плата за последний год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EE5C2182-DAED-4E8F-A231-96A1FC4129F8}" type="slidenum">
              <a:t>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Прямоугольник: скругленные углы 6"/>
          <p:cNvSpPr/>
          <p:nvPr/>
        </p:nvSpPr>
        <p:spPr>
          <a:xfrm>
            <a:off x="442800" y="1160640"/>
            <a:ext cx="11340720" cy="2053440"/>
          </a:xfrm>
          <a:prstGeom prst="roundRect">
            <a:avLst>
              <a:gd name="adj" fmla="val 2286"/>
            </a:avLst>
          </a:prstGeom>
          <a:solidFill>
            <a:srgbClr val="cacae5">
              <a:alpha val="50000"/>
            </a:srgb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149120" y="404640"/>
            <a:ext cx="10515240" cy="38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2800" strike="noStrike" u="none">
                <a:solidFill>
                  <a:srgbClr val="262b28"/>
                </a:solidFill>
                <a:uFillTx/>
                <a:latin typeface="Wix Madefor Display SemiBold"/>
              </a:rPr>
              <a:t>Методология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2" name="Заголовок 3"/>
          <p:cNvSpPr/>
          <p:nvPr/>
        </p:nvSpPr>
        <p:spPr>
          <a:xfrm>
            <a:off x="2899800" y="4570920"/>
            <a:ext cx="1815120" cy="74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</a:pPr>
            <a:r>
              <a:rPr b="0" lang="ru-RU" sz="1800" strike="noStrike" u="none">
                <a:solidFill>
                  <a:srgbClr val="262b28"/>
                </a:solidFill>
                <a:uFillTx/>
                <a:latin typeface="Wix Madefor Display Medium"/>
              </a:rPr>
              <a:t>Доверительная </a:t>
            </a:r>
            <a:br>
              <a:rPr sz="1800"/>
            </a:br>
            <a:r>
              <a:rPr b="0" lang="ru-RU" sz="1800" strike="noStrike" u="none">
                <a:solidFill>
                  <a:srgbClr val="262b28"/>
                </a:solidFill>
                <a:uFillTx/>
                <a:latin typeface="Wix Madefor Display Medium"/>
              </a:rPr>
              <a:t>вероятность </a:t>
            </a:r>
            <a:br>
              <a:rPr sz="1800"/>
            </a:br>
            <a:r>
              <a:rPr b="0" lang="ru-RU" sz="1800" strike="noStrike" u="none">
                <a:solidFill>
                  <a:srgbClr val="262b28"/>
                </a:solidFill>
                <a:uFillTx/>
                <a:latin typeface="Wix Madefor Display Medium"/>
              </a:rPr>
              <a:t>выборки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aphicFrame>
        <p:nvGraphicFramePr>
          <p:cNvPr id="33" name="Диаграмма 9"/>
          <p:cNvGraphicFramePr/>
          <p:nvPr/>
        </p:nvGraphicFramePr>
        <p:xfrm>
          <a:off x="446400" y="3786120"/>
          <a:ext cx="2296440" cy="2316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4" name="Заголовок 3"/>
          <p:cNvSpPr/>
          <p:nvPr/>
        </p:nvSpPr>
        <p:spPr>
          <a:xfrm>
            <a:off x="1117800" y="4753440"/>
            <a:ext cx="953640" cy="49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90000"/>
              </a:lnSpc>
            </a:pPr>
            <a:r>
              <a:rPr b="0" lang="ru-RU" sz="3600" strike="noStrike" u="none">
                <a:solidFill>
                  <a:schemeClr val="dk1"/>
                </a:solidFill>
                <a:uFillTx/>
                <a:latin typeface="Wix Madefor Display SemiBold"/>
              </a:rPr>
              <a:t>95</a:t>
            </a:r>
            <a:r>
              <a:rPr b="0" lang="en-US" sz="3600" strike="noStrike" u="none">
                <a:solidFill>
                  <a:schemeClr val="dk1"/>
                </a:solidFill>
                <a:uFillTx/>
                <a:latin typeface="Wix Madefor Display SemiBold"/>
              </a:rPr>
              <a:t>%</a:t>
            </a:r>
            <a:endParaRPr b="0" lang="en-GB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" name="Заголовок 3"/>
          <p:cNvSpPr/>
          <p:nvPr/>
        </p:nvSpPr>
        <p:spPr>
          <a:xfrm>
            <a:off x="5448240" y="3787200"/>
            <a:ext cx="5744160" cy="149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400" strike="noStrike" u="none">
                <a:solidFill>
                  <a:schemeClr val="dk1"/>
                </a:solidFill>
                <a:uFillTx/>
                <a:latin typeface="Wix Madefor Display Bold"/>
              </a:rPr>
              <a:t>ИТ-специалисты</a:t>
            </a:r>
            <a:r>
              <a:rPr b="1" lang="ru-RU" sz="1400" strike="noStrike" u="none">
                <a:solidFill>
                  <a:schemeClr val="dk1"/>
                </a:solidFill>
                <a:uFillTx/>
                <a:latin typeface="Wix Madefor Display Bold"/>
              </a:rPr>
              <a:t> </a:t>
            </a:r>
            <a:r>
              <a:rPr b="1" lang="ru-RU" sz="1400" strike="noStrike" u="none">
                <a:solidFill>
                  <a:schemeClr val="dk1"/>
                </a:solidFill>
                <a:uFillTx/>
                <a:latin typeface="Wix Madefor Display Medium"/>
              </a:rPr>
              <a:t>– </a:t>
            </a:r>
            <a:r>
              <a:rPr b="0" lang="ru-RU" sz="1400" strike="noStrike" u="none">
                <a:solidFill>
                  <a:schemeClr val="dk1"/>
                </a:solidFill>
                <a:uFillTx/>
                <a:latin typeface="Wix Madefor Display Medium"/>
              </a:rPr>
              <a:t>специалисты, чья текущая профессия, должность, бизнес или в целом то, чем они занимаются, связаны с ИТ или информационно-коммуникационными технологиями – разработчики ПО, тестировщики, системные администраторы, руководители продуктов и проектов, аналитики и др. </a:t>
            </a:r>
            <a:br>
              <a:rPr sz="1400"/>
            </a:br>
            <a:r>
              <a:rPr b="0" lang="ru-RU" sz="1400" strike="noStrike" u="none">
                <a:solidFill>
                  <a:schemeClr val="dk1"/>
                </a:solidFill>
                <a:uFillTx/>
                <a:latin typeface="Wix Madefor Display Medium"/>
              </a:rPr>
              <a:t>В исследовании опрашивались наемные сотрудники, </a:t>
            </a:r>
            <a:br>
              <a:rPr sz="1400"/>
            </a:br>
            <a:r>
              <a:rPr b="0" lang="ru-RU" sz="1400" strike="noStrike" u="none">
                <a:solidFill>
                  <a:schemeClr val="dk1"/>
                </a:solidFill>
                <a:uFillTx/>
                <a:latin typeface="Wix Madefor Display Medium"/>
              </a:rPr>
              <a:t>владельцы бизнеса, фрилансеры, самозанятые специалисты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36" name="Группа 8"/>
          <p:cNvGrpSpPr/>
          <p:nvPr/>
        </p:nvGrpSpPr>
        <p:grpSpPr>
          <a:xfrm>
            <a:off x="672120" y="1403280"/>
            <a:ext cx="10847520" cy="1520280"/>
            <a:chOff x="672120" y="1403280"/>
            <a:chExt cx="10847520" cy="1520280"/>
          </a:xfrm>
        </p:grpSpPr>
        <p:sp>
          <p:nvSpPr>
            <p:cNvPr id="37" name="Заголовок 3"/>
            <p:cNvSpPr/>
            <p:nvPr/>
          </p:nvSpPr>
          <p:spPr>
            <a:xfrm>
              <a:off x="672120" y="1403280"/>
              <a:ext cx="3031200" cy="988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ct val="90000"/>
                </a:lnSpc>
              </a:pPr>
              <a:r>
                <a:rPr b="0" lang="ru-RU" sz="1800" strike="noStrike" u="none">
                  <a:solidFill>
                    <a:schemeClr val="dk1"/>
                  </a:solidFill>
                  <a:uFillTx/>
                  <a:latin typeface="Wix Madefor Display Medium"/>
                </a:rPr>
                <a:t>В октябре 2024 г. проведен онлайн-опрос ИТ-специалистов города Москвы старше 18 лет</a:t>
              </a:r>
              <a:endParaRPr b="0" lang="en-GB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38" name="Заголовок 3"/>
            <p:cNvSpPr/>
            <p:nvPr/>
          </p:nvSpPr>
          <p:spPr>
            <a:xfrm>
              <a:off x="5448240" y="1403280"/>
              <a:ext cx="6071400" cy="1520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ct val="90000"/>
                </a:lnSpc>
                <a:spcAft>
                  <a:spcPts val="300"/>
                </a:spcAft>
              </a:pPr>
              <a:r>
                <a:rPr b="0" lang="ru-RU" sz="1800" strike="noStrike" u="none">
                  <a:solidFill>
                    <a:schemeClr val="dk1"/>
                  </a:solidFill>
                  <a:uFillTx/>
                  <a:latin typeface="Wix Madefor Display Bold"/>
                </a:rPr>
                <a:t>Цель исследования:</a:t>
              </a:r>
              <a:endParaRPr b="0" lang="en-GB" sz="1800" strike="noStrike" u="none">
                <a:solidFill>
                  <a:srgbClr val="000000"/>
                </a:solidFill>
                <a:uFillTx/>
                <a:latin typeface="Arial"/>
              </a:endParaRPr>
            </a:p>
            <a:p>
              <a:pPr defTabSz="914400">
                <a:lnSpc>
                  <a:spcPct val="90000"/>
                </a:lnSpc>
                <a:spcAft>
                  <a:spcPts val="300"/>
                </a:spcAft>
              </a:pPr>
              <a:r>
                <a:rPr b="0" lang="ru-RU" sz="1800" strike="noStrike" u="none">
                  <a:solidFill>
                    <a:schemeClr val="dk1"/>
                  </a:solidFill>
                  <a:uFillTx/>
                  <a:latin typeface="Wix Madefor Display Medium"/>
                </a:rPr>
                <a:t>Выявить как ИТ-специалисты воспринимают свои карьерные и профессиональные перспективы, статус поиска работы, а также оценить какие корпоративные программы для сотрудников популярны на рынке труда</a:t>
              </a:r>
              <a:endParaRPr b="0" lang="en-GB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grpSp>
        <p:nvGrpSpPr>
          <p:cNvPr id="39" name="Группа 15"/>
          <p:cNvGrpSpPr/>
          <p:nvPr/>
        </p:nvGrpSpPr>
        <p:grpSpPr>
          <a:xfrm>
            <a:off x="2554200" y="3834720"/>
            <a:ext cx="690840" cy="411840"/>
            <a:chOff x="2554200" y="3834720"/>
            <a:chExt cx="690840" cy="411840"/>
          </a:xfrm>
        </p:grpSpPr>
        <p:sp>
          <p:nvSpPr>
            <p:cNvPr id="40" name="Прямоугольник: скругленные углы 13"/>
            <p:cNvSpPr/>
            <p:nvPr/>
          </p:nvSpPr>
          <p:spPr>
            <a:xfrm>
              <a:off x="2554200" y="3834720"/>
              <a:ext cx="690840" cy="411840"/>
            </a:xfrm>
            <a:prstGeom prst="roundRect">
              <a:avLst>
                <a:gd name="adj" fmla="val 16649"/>
              </a:avLst>
            </a:prstGeom>
            <a:solidFill>
              <a:srgbClr val="cacae5">
                <a:alpha val="50000"/>
              </a:srgb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RU" sz="1800" strike="noStrike" u="none">
                <a:solidFill>
                  <a:schemeClr val="lt1"/>
                </a:solidFill>
                <a:uFillTx/>
                <a:latin typeface="Calibri"/>
              </a:endParaRPr>
            </a:p>
          </p:txBody>
        </p:sp>
        <p:sp>
          <p:nvSpPr>
            <p:cNvPr id="41" name="Заголовок 3"/>
            <p:cNvSpPr/>
            <p:nvPr/>
          </p:nvSpPr>
          <p:spPr>
            <a:xfrm>
              <a:off x="2554200" y="3924000"/>
              <a:ext cx="690840" cy="247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 defTabSz="914400">
                <a:lnSpc>
                  <a:spcPct val="90000"/>
                </a:lnSpc>
              </a:pPr>
              <a:r>
                <a:rPr b="0" lang="ru-RU" sz="1800" strike="noStrike" u="none">
                  <a:solidFill>
                    <a:schemeClr val="dk1"/>
                  </a:solidFill>
                  <a:uFillTx/>
                  <a:latin typeface="Wix Madefor Display Medium"/>
                </a:rPr>
                <a:t>± 5%</a:t>
              </a:r>
              <a:endParaRPr b="0" lang="en-GB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sp>
        <p:nvSpPr>
          <p:cNvPr id="42" name="Заголовок 3"/>
          <p:cNvSpPr/>
          <p:nvPr/>
        </p:nvSpPr>
        <p:spPr>
          <a:xfrm>
            <a:off x="5448240" y="5502240"/>
            <a:ext cx="6335280" cy="64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400" strike="noStrike" u="none">
                <a:solidFill>
                  <a:schemeClr val="dk1"/>
                </a:solidFill>
                <a:uFillTx/>
                <a:latin typeface="Wix Madefor Display Bold"/>
              </a:rPr>
              <a:t>Начинающие и специалисты среднего уровня </a:t>
            </a:r>
            <a:r>
              <a:rPr b="0" lang="ru-RU" sz="1400" strike="noStrike" u="none">
                <a:solidFill>
                  <a:schemeClr val="dk1"/>
                </a:solidFill>
                <a:uFillTx/>
                <a:latin typeface="Wix Madefor Display Medium"/>
              </a:rPr>
              <a:t>– работают </a:t>
            </a:r>
            <a:br>
              <a:rPr sz="1400"/>
            </a:br>
            <a:r>
              <a:rPr b="0" lang="ru-RU" sz="1400" strike="noStrike" u="none">
                <a:solidFill>
                  <a:schemeClr val="dk1"/>
                </a:solidFill>
                <a:uFillTx/>
                <a:latin typeface="Wix Madefor Display Medium"/>
              </a:rPr>
              <a:t>по профессии до 5 лет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ru-RU" sz="1400" strike="noStrike" u="none">
                <a:solidFill>
                  <a:schemeClr val="dk1"/>
                </a:solidFill>
                <a:uFillTx/>
                <a:latin typeface="Wix Madefor Display Bold"/>
              </a:rPr>
              <a:t>Опытные специалисты</a:t>
            </a:r>
            <a:r>
              <a:rPr b="1" lang="ru-RU" sz="1400" strike="noStrike" u="none">
                <a:solidFill>
                  <a:schemeClr val="dk1"/>
                </a:solidFill>
                <a:uFillTx/>
                <a:latin typeface="Wix Madefor Display Bold"/>
              </a:rPr>
              <a:t> </a:t>
            </a:r>
            <a:r>
              <a:rPr b="0" lang="ru-RU" sz="1400" strike="noStrike" u="none">
                <a:solidFill>
                  <a:schemeClr val="dk1"/>
                </a:solidFill>
                <a:uFillTx/>
                <a:latin typeface="Wix Madefor Display Medium"/>
              </a:rPr>
              <a:t>– работают по профессии более 5 лет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D4AF5190-CCD2-4422-B155-06FBE43D5C99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1149120" y="404640"/>
            <a:ext cx="9779760" cy="38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2800" strike="noStrike" u="none">
                <a:solidFill>
                  <a:srgbClr val="262b28"/>
                </a:solidFill>
                <a:uFillTx/>
                <a:latin typeface="Wix Madefor Display SemiBold"/>
              </a:rPr>
              <a:t>Характеристика опрошенных ИТ-специалистов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graphicFrame>
        <p:nvGraphicFramePr>
          <p:cNvPr id="44" name="Диаграмма 18"/>
          <p:cNvGraphicFramePr/>
          <p:nvPr/>
        </p:nvGraphicFramePr>
        <p:xfrm>
          <a:off x="442800" y="1533960"/>
          <a:ext cx="3771000" cy="2459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5" name="Заголовок 3"/>
          <p:cNvSpPr/>
          <p:nvPr/>
        </p:nvSpPr>
        <p:spPr>
          <a:xfrm>
            <a:off x="442800" y="1160640"/>
            <a:ext cx="377100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</a:pPr>
            <a:r>
              <a:rPr b="0" lang="ru-RU" sz="1800" strike="noStrike" u="none">
                <a:solidFill>
                  <a:srgbClr val="262b28"/>
                </a:solidFill>
                <a:uFillTx/>
                <a:latin typeface="Wix Madefor Display SemiBold"/>
              </a:rPr>
              <a:t>Опыт работы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" name="Заголовок 3"/>
          <p:cNvSpPr/>
          <p:nvPr/>
        </p:nvSpPr>
        <p:spPr>
          <a:xfrm>
            <a:off x="442800" y="1502640"/>
            <a:ext cx="113292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</a:pPr>
            <a:r>
              <a:rPr b="0" lang="ru-RU" sz="1200" strike="noStrike" u="none">
                <a:solidFill>
                  <a:srgbClr val="262b28"/>
                </a:solidFill>
                <a:uFillTx/>
                <a:latin typeface="Wix Madefor Display Medium"/>
              </a:rPr>
              <a:t>Более 15 лет</a:t>
            </a: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" name="Заголовок 3"/>
          <p:cNvSpPr/>
          <p:nvPr/>
        </p:nvSpPr>
        <p:spPr>
          <a:xfrm>
            <a:off x="442800" y="1909440"/>
            <a:ext cx="84348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</a:pPr>
            <a:r>
              <a:rPr b="0" lang="ru-RU" sz="1200" strike="noStrike" u="none">
                <a:solidFill>
                  <a:srgbClr val="262b28"/>
                </a:solidFill>
                <a:uFillTx/>
                <a:latin typeface="Wix Madefor Display Medium"/>
              </a:rPr>
              <a:t>10-15 лет</a:t>
            </a: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" name="Заголовок 3"/>
          <p:cNvSpPr/>
          <p:nvPr/>
        </p:nvSpPr>
        <p:spPr>
          <a:xfrm>
            <a:off x="442800" y="2328480"/>
            <a:ext cx="73944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</a:pPr>
            <a:r>
              <a:rPr b="0" lang="ru-RU" sz="1200" strike="noStrike" u="none">
                <a:solidFill>
                  <a:srgbClr val="262b28"/>
                </a:solidFill>
                <a:uFillTx/>
                <a:latin typeface="Wix Madefor Display Medium"/>
              </a:rPr>
              <a:t>5-10 лет</a:t>
            </a: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" name="Заголовок 3"/>
          <p:cNvSpPr/>
          <p:nvPr/>
        </p:nvSpPr>
        <p:spPr>
          <a:xfrm>
            <a:off x="442800" y="2733840"/>
            <a:ext cx="73944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</a:pPr>
            <a:r>
              <a:rPr b="0" lang="ru-RU" sz="1200" strike="noStrike" u="none">
                <a:solidFill>
                  <a:srgbClr val="262b28"/>
                </a:solidFill>
                <a:uFillTx/>
                <a:latin typeface="Wix Madefor Display Medium"/>
              </a:rPr>
              <a:t>2-5 лет</a:t>
            </a: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" name="Заголовок 3"/>
          <p:cNvSpPr/>
          <p:nvPr/>
        </p:nvSpPr>
        <p:spPr>
          <a:xfrm>
            <a:off x="442800" y="3551040"/>
            <a:ext cx="113292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</a:pPr>
            <a:r>
              <a:rPr b="0" lang="ru-RU" sz="1200" strike="noStrike" u="none">
                <a:solidFill>
                  <a:srgbClr val="262b28"/>
                </a:solidFill>
                <a:uFillTx/>
                <a:latin typeface="Wix Madefor Display Medium"/>
              </a:rPr>
              <a:t>Менее 1 года</a:t>
            </a: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" name="Заголовок 3"/>
          <p:cNvSpPr/>
          <p:nvPr/>
        </p:nvSpPr>
        <p:spPr>
          <a:xfrm>
            <a:off x="442800" y="3145680"/>
            <a:ext cx="121392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</a:pPr>
            <a:r>
              <a:rPr b="0" lang="ru-RU" sz="1200" strike="noStrike" u="none">
                <a:solidFill>
                  <a:srgbClr val="262b28"/>
                </a:solidFill>
                <a:uFillTx/>
                <a:latin typeface="Wix Madefor Display Medium"/>
              </a:rPr>
              <a:t>1-2 года</a:t>
            </a: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aphicFrame>
        <p:nvGraphicFramePr>
          <p:cNvPr id="52" name="Диаграмма 36"/>
          <p:cNvGraphicFramePr/>
          <p:nvPr/>
        </p:nvGraphicFramePr>
        <p:xfrm>
          <a:off x="442800" y="4969080"/>
          <a:ext cx="3771000" cy="152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3" name="Заголовок 3"/>
          <p:cNvSpPr/>
          <p:nvPr/>
        </p:nvSpPr>
        <p:spPr>
          <a:xfrm>
            <a:off x="442800" y="4929120"/>
            <a:ext cx="113292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</a:pPr>
            <a:r>
              <a:rPr b="0" lang="ru-RU" sz="1200" strike="noStrike" u="none">
                <a:solidFill>
                  <a:srgbClr val="262b28"/>
                </a:solidFill>
                <a:uFillTx/>
                <a:latin typeface="Wix Madefor Display Medium"/>
              </a:rPr>
              <a:t>Да</a:t>
            </a: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" name="Заголовок 3"/>
          <p:cNvSpPr/>
          <p:nvPr/>
        </p:nvSpPr>
        <p:spPr>
          <a:xfrm>
            <a:off x="442800" y="5313600"/>
            <a:ext cx="226944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</a:pPr>
            <a:r>
              <a:rPr b="0" lang="ru-RU" sz="1200" strike="noStrike" u="none">
                <a:solidFill>
                  <a:srgbClr val="262b28"/>
                </a:solidFill>
                <a:uFillTx/>
                <a:latin typeface="Wix Madefor Display Medium"/>
              </a:rPr>
              <a:t>Нет, но есть ИТ-проекты</a:t>
            </a: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" name="Заголовок 3"/>
          <p:cNvSpPr/>
          <p:nvPr/>
        </p:nvSpPr>
        <p:spPr>
          <a:xfrm>
            <a:off x="442800" y="5693400"/>
            <a:ext cx="73944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</a:pPr>
            <a:r>
              <a:rPr b="0" lang="ru-RU" sz="1200" strike="noStrike" u="none">
                <a:solidFill>
                  <a:srgbClr val="262b28"/>
                </a:solidFill>
                <a:uFillTx/>
                <a:latin typeface="Wix Madefor Display Medium"/>
              </a:rPr>
              <a:t>Нет</a:t>
            </a: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" name="Заголовок 3"/>
          <p:cNvSpPr/>
          <p:nvPr/>
        </p:nvSpPr>
        <p:spPr>
          <a:xfrm>
            <a:off x="442800" y="6053760"/>
            <a:ext cx="73944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</a:pPr>
            <a:r>
              <a:rPr b="0" lang="ru-RU" sz="1200" strike="noStrike" u="none">
                <a:solidFill>
                  <a:srgbClr val="262b28"/>
                </a:solidFill>
                <a:uFillTx/>
                <a:latin typeface="Wix Madefor Display Medium"/>
              </a:rPr>
              <a:t>Другое</a:t>
            </a: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" name="Заголовок 3"/>
          <p:cNvSpPr/>
          <p:nvPr/>
        </p:nvSpPr>
        <p:spPr>
          <a:xfrm>
            <a:off x="442800" y="4210920"/>
            <a:ext cx="385452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</a:pPr>
            <a:r>
              <a:rPr b="0" lang="ru-RU" sz="1800" strike="noStrike" u="none">
                <a:solidFill>
                  <a:srgbClr val="262b28"/>
                </a:solidFill>
                <a:uFillTx/>
                <a:latin typeface="Wix Madefor Display SemiBold"/>
              </a:rPr>
              <a:t>Принадлежность компании к ИТ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" name="Заголовок 3"/>
          <p:cNvSpPr/>
          <p:nvPr/>
        </p:nvSpPr>
        <p:spPr>
          <a:xfrm>
            <a:off x="442800" y="4511160"/>
            <a:ext cx="3041640" cy="32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</a:pPr>
            <a:r>
              <a:rPr b="0" lang="ru-RU" sz="1200" strike="noStrike" u="none">
                <a:solidFill>
                  <a:schemeClr val="dk1"/>
                </a:solidFill>
                <a:uFillTx/>
                <a:latin typeface="Wix Madefor Display Medium"/>
              </a:rPr>
              <a:t>вопрос задавался тем, чья форма занятости – наемный сотрудник </a:t>
            </a: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aphicFrame>
        <p:nvGraphicFramePr>
          <p:cNvPr id="59" name="Диаграмма 65"/>
          <p:cNvGraphicFramePr/>
          <p:nvPr/>
        </p:nvGraphicFramePr>
        <p:xfrm>
          <a:off x="7888320" y="1081800"/>
          <a:ext cx="3628800" cy="3765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0" name="Заголовок 3"/>
          <p:cNvSpPr/>
          <p:nvPr/>
        </p:nvSpPr>
        <p:spPr>
          <a:xfrm>
            <a:off x="5454720" y="1161000"/>
            <a:ext cx="218772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</a:pPr>
            <a:r>
              <a:rPr b="0" lang="ru-RU" sz="1800" strike="noStrike" u="none">
                <a:solidFill>
                  <a:srgbClr val="262b28"/>
                </a:solidFill>
                <a:uFillTx/>
                <a:latin typeface="Wix Madefor Display SemiBold"/>
              </a:rPr>
              <a:t>Форма занятости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" name="Заголовок 3"/>
          <p:cNvSpPr/>
          <p:nvPr/>
        </p:nvSpPr>
        <p:spPr>
          <a:xfrm>
            <a:off x="7457400" y="2777760"/>
            <a:ext cx="336240" cy="19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14400">
              <a:lnSpc>
                <a:spcPct val="90000"/>
              </a:lnSpc>
            </a:pPr>
            <a:r>
              <a:rPr b="0" lang="ru-RU" sz="1400" strike="noStrike" u="none">
                <a:solidFill>
                  <a:schemeClr val="dk1"/>
                </a:solidFill>
                <a:uFillTx/>
                <a:latin typeface="Wix Madefor Display SemiBold"/>
              </a:rPr>
              <a:t>7</a:t>
            </a:r>
            <a:r>
              <a:rPr b="0" lang="en-US" sz="1400" strike="noStrike" u="none">
                <a:solidFill>
                  <a:schemeClr val="dk1"/>
                </a:solidFill>
                <a:uFillTx/>
                <a:latin typeface="Wix Madefor Display SemiBold"/>
              </a:rPr>
              <a:t>%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" name="Заголовок 3"/>
          <p:cNvSpPr/>
          <p:nvPr/>
        </p:nvSpPr>
        <p:spPr>
          <a:xfrm>
            <a:off x="7552440" y="2215440"/>
            <a:ext cx="354600" cy="19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14400">
              <a:lnSpc>
                <a:spcPct val="90000"/>
              </a:lnSpc>
            </a:pPr>
            <a:r>
              <a:rPr b="0" lang="ru-RU" sz="1400" strike="noStrike" u="none">
                <a:solidFill>
                  <a:schemeClr val="dk1"/>
                </a:solidFill>
                <a:uFillTx/>
                <a:latin typeface="Wix Madefor Display SemiBold"/>
              </a:rPr>
              <a:t>10</a:t>
            </a:r>
            <a:r>
              <a:rPr b="0" lang="en-US" sz="1400" strike="noStrike" u="none">
                <a:solidFill>
                  <a:schemeClr val="dk1"/>
                </a:solidFill>
                <a:uFillTx/>
                <a:latin typeface="Wix Madefor Display SemiBold"/>
              </a:rPr>
              <a:t>%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3" name="Заголовок 3"/>
          <p:cNvSpPr/>
          <p:nvPr/>
        </p:nvSpPr>
        <p:spPr>
          <a:xfrm>
            <a:off x="7859160" y="1805760"/>
            <a:ext cx="288000" cy="19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14400">
              <a:lnSpc>
                <a:spcPct val="90000"/>
              </a:lnSpc>
            </a:pPr>
            <a:r>
              <a:rPr b="0" lang="ru-RU" sz="1400" strike="noStrike" u="none">
                <a:solidFill>
                  <a:schemeClr val="dk1"/>
                </a:solidFill>
                <a:uFillTx/>
                <a:latin typeface="Wix Madefor Display SemiBold"/>
              </a:rPr>
              <a:t>7</a:t>
            </a:r>
            <a:r>
              <a:rPr b="0" lang="en-US" sz="1400" strike="noStrike" u="none">
                <a:solidFill>
                  <a:schemeClr val="dk1"/>
                </a:solidFill>
                <a:uFillTx/>
                <a:latin typeface="Wix Madefor Display SemiBold"/>
              </a:rPr>
              <a:t>%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4" name="Заголовок 3"/>
          <p:cNvSpPr/>
          <p:nvPr/>
        </p:nvSpPr>
        <p:spPr>
          <a:xfrm>
            <a:off x="11019600" y="1552680"/>
            <a:ext cx="462600" cy="19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</a:pPr>
            <a:r>
              <a:rPr b="0" lang="ru-RU" sz="1400" strike="noStrike" u="none">
                <a:solidFill>
                  <a:schemeClr val="dk1"/>
                </a:solidFill>
                <a:uFillTx/>
                <a:latin typeface="Wix Madefor Display SemiBold"/>
              </a:rPr>
              <a:t>75</a:t>
            </a:r>
            <a:r>
              <a:rPr b="0" lang="en-US" sz="1400" strike="noStrike" u="none">
                <a:solidFill>
                  <a:schemeClr val="dk1"/>
                </a:solidFill>
                <a:uFillTx/>
                <a:latin typeface="Wix Madefor Display SemiBold"/>
              </a:rPr>
              <a:t>%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65" name="Группа 210"/>
          <p:cNvGrpSpPr/>
          <p:nvPr/>
        </p:nvGrpSpPr>
        <p:grpSpPr>
          <a:xfrm>
            <a:off x="5458680" y="1605960"/>
            <a:ext cx="1488600" cy="199800"/>
            <a:chOff x="5458680" y="1605960"/>
            <a:chExt cx="1488600" cy="199800"/>
          </a:xfrm>
        </p:grpSpPr>
        <p:sp>
          <p:nvSpPr>
            <p:cNvPr id="66" name="Заголовок 3"/>
            <p:cNvSpPr/>
            <p:nvPr/>
          </p:nvSpPr>
          <p:spPr>
            <a:xfrm>
              <a:off x="5740560" y="1650960"/>
              <a:ext cx="1206720" cy="11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ct val="80000"/>
                </a:lnSpc>
              </a:pPr>
              <a:r>
                <a:rPr b="0" lang="ru-RU" sz="900" strike="noStrike" u="none">
                  <a:solidFill>
                    <a:schemeClr val="dk1"/>
                  </a:solidFill>
                  <a:uFillTx/>
                  <a:latin typeface="Wix Madefor Display Medium"/>
                </a:rPr>
                <a:t>Владелец бизнеса</a:t>
              </a:r>
              <a:endParaRPr b="0" lang="en-GB" sz="9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67" name="Прямоугольник 76"/>
            <p:cNvSpPr/>
            <p:nvPr/>
          </p:nvSpPr>
          <p:spPr>
            <a:xfrm>
              <a:off x="5458680" y="1605960"/>
              <a:ext cx="199800" cy="199800"/>
            </a:xfrm>
            <a:prstGeom prst="rect">
              <a:avLst/>
            </a:prstGeom>
            <a:solidFill>
              <a:srgbClr val="fc84d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RU" sz="1800" strike="noStrike" u="none">
                <a:solidFill>
                  <a:schemeClr val="lt1"/>
                </a:solidFill>
                <a:uFillTx/>
                <a:latin typeface="Calibri"/>
              </a:endParaRPr>
            </a:p>
          </p:txBody>
        </p:sp>
      </p:grpSp>
      <p:grpSp>
        <p:nvGrpSpPr>
          <p:cNvPr id="68" name="Группа 209"/>
          <p:cNvGrpSpPr/>
          <p:nvPr/>
        </p:nvGrpSpPr>
        <p:grpSpPr>
          <a:xfrm>
            <a:off x="5458680" y="1917360"/>
            <a:ext cx="1594440" cy="199800"/>
            <a:chOff x="5458680" y="1917360"/>
            <a:chExt cx="1594440" cy="199800"/>
          </a:xfrm>
        </p:grpSpPr>
        <p:sp>
          <p:nvSpPr>
            <p:cNvPr id="69" name="Заголовок 3"/>
            <p:cNvSpPr/>
            <p:nvPr/>
          </p:nvSpPr>
          <p:spPr>
            <a:xfrm>
              <a:off x="5740560" y="1962000"/>
              <a:ext cx="1312560" cy="11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ct val="80000"/>
                </a:lnSpc>
              </a:pPr>
              <a:r>
                <a:rPr b="0" lang="ru-RU" sz="900" strike="noStrike" u="none">
                  <a:solidFill>
                    <a:schemeClr val="dk1"/>
                  </a:solidFill>
                  <a:uFillTx/>
                  <a:latin typeface="Wix Madefor Display Medium"/>
                </a:rPr>
                <a:t>Самозанятый</a:t>
              </a:r>
              <a:endParaRPr b="0" lang="en-GB" sz="9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70" name="Прямоугольник 77"/>
            <p:cNvSpPr/>
            <p:nvPr/>
          </p:nvSpPr>
          <p:spPr>
            <a:xfrm>
              <a:off x="5458680" y="1917360"/>
              <a:ext cx="199800" cy="199800"/>
            </a:xfrm>
            <a:prstGeom prst="rect">
              <a:avLst/>
            </a:prstGeom>
            <a:solidFill>
              <a:srgbClr val="fa37b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RU" sz="1800" strike="noStrike" u="none">
                <a:solidFill>
                  <a:schemeClr val="lt1"/>
                </a:solidFill>
                <a:uFillTx/>
                <a:latin typeface="Calibri"/>
              </a:endParaRPr>
            </a:p>
          </p:txBody>
        </p:sp>
      </p:grpSp>
      <p:grpSp>
        <p:nvGrpSpPr>
          <p:cNvPr id="71" name="Группа 208"/>
          <p:cNvGrpSpPr/>
          <p:nvPr/>
        </p:nvGrpSpPr>
        <p:grpSpPr>
          <a:xfrm>
            <a:off x="5458680" y="2228400"/>
            <a:ext cx="1488600" cy="199800"/>
            <a:chOff x="5458680" y="2228400"/>
            <a:chExt cx="1488600" cy="199800"/>
          </a:xfrm>
        </p:grpSpPr>
        <p:sp>
          <p:nvSpPr>
            <p:cNvPr id="72" name="Заголовок 3"/>
            <p:cNvSpPr/>
            <p:nvPr/>
          </p:nvSpPr>
          <p:spPr>
            <a:xfrm>
              <a:off x="5727600" y="2273040"/>
              <a:ext cx="1219680" cy="11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ct val="80000"/>
                </a:lnSpc>
              </a:pPr>
              <a:r>
                <a:rPr b="0" lang="ru-RU" sz="900" strike="noStrike" u="none">
                  <a:solidFill>
                    <a:schemeClr val="dk1"/>
                  </a:solidFill>
                  <a:uFillTx/>
                  <a:latin typeface="Wix Madefor Display Medium"/>
                </a:rPr>
                <a:t>Фрилансер</a:t>
              </a:r>
              <a:endParaRPr b="0" lang="en-GB" sz="9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73" name="Прямоугольник 78"/>
            <p:cNvSpPr/>
            <p:nvPr/>
          </p:nvSpPr>
          <p:spPr>
            <a:xfrm>
              <a:off x="5458680" y="2228400"/>
              <a:ext cx="199800" cy="199800"/>
            </a:xfrm>
            <a:prstGeom prst="rect">
              <a:avLst/>
            </a:prstGeom>
            <a:solidFill>
              <a:srgbClr val="960ac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RU" sz="1800" strike="noStrike" u="none">
                <a:solidFill>
                  <a:schemeClr val="lt1"/>
                </a:solidFill>
                <a:uFillTx/>
                <a:latin typeface="Calibri"/>
              </a:endParaRPr>
            </a:p>
          </p:txBody>
        </p:sp>
      </p:grpSp>
      <p:grpSp>
        <p:nvGrpSpPr>
          <p:cNvPr id="74" name="Группа 207"/>
          <p:cNvGrpSpPr/>
          <p:nvPr/>
        </p:nvGrpSpPr>
        <p:grpSpPr>
          <a:xfrm>
            <a:off x="5458680" y="2539440"/>
            <a:ext cx="2171160" cy="199800"/>
            <a:chOff x="5458680" y="2539440"/>
            <a:chExt cx="2171160" cy="199800"/>
          </a:xfrm>
        </p:grpSpPr>
        <p:sp>
          <p:nvSpPr>
            <p:cNvPr id="75" name="Заголовок 3"/>
            <p:cNvSpPr/>
            <p:nvPr/>
          </p:nvSpPr>
          <p:spPr>
            <a:xfrm>
              <a:off x="5727600" y="2584080"/>
              <a:ext cx="1902240" cy="11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ct val="80000"/>
                </a:lnSpc>
              </a:pPr>
              <a:r>
                <a:rPr b="0" lang="ru-RU" sz="900" strike="noStrike" u="none">
                  <a:solidFill>
                    <a:schemeClr val="dk1"/>
                  </a:solidFill>
                  <a:uFillTx/>
                  <a:latin typeface="Wix Madefor Display Medium"/>
                </a:rPr>
                <a:t>Временно не работаю</a:t>
              </a:r>
              <a:endParaRPr b="0" lang="en-GB" sz="9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76" name="Прямоугольник 79"/>
            <p:cNvSpPr/>
            <p:nvPr/>
          </p:nvSpPr>
          <p:spPr>
            <a:xfrm>
              <a:off x="5458680" y="2539440"/>
              <a:ext cx="199800" cy="199800"/>
            </a:xfrm>
            <a:prstGeom prst="rect">
              <a:avLst/>
            </a:prstGeom>
            <a:solidFill>
              <a:srgbClr val="5e0ab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RU" sz="1800" strike="noStrike" u="none">
                <a:solidFill>
                  <a:schemeClr val="lt1"/>
                </a:solidFill>
                <a:uFillTx/>
                <a:latin typeface="Calibri"/>
              </a:endParaRPr>
            </a:p>
          </p:txBody>
        </p:sp>
      </p:grpSp>
      <p:grpSp>
        <p:nvGrpSpPr>
          <p:cNvPr id="77" name="Группа 206"/>
          <p:cNvGrpSpPr/>
          <p:nvPr/>
        </p:nvGrpSpPr>
        <p:grpSpPr>
          <a:xfrm>
            <a:off x="5458680" y="2850480"/>
            <a:ext cx="2171160" cy="199800"/>
            <a:chOff x="5458680" y="2850480"/>
            <a:chExt cx="2171160" cy="199800"/>
          </a:xfrm>
        </p:grpSpPr>
        <p:sp>
          <p:nvSpPr>
            <p:cNvPr id="78" name="Заголовок 3"/>
            <p:cNvSpPr/>
            <p:nvPr/>
          </p:nvSpPr>
          <p:spPr>
            <a:xfrm>
              <a:off x="5727600" y="2895120"/>
              <a:ext cx="1902240" cy="11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ct val="80000"/>
                </a:lnSpc>
              </a:pPr>
              <a:r>
                <a:rPr b="0" lang="ru-RU" sz="900" strike="noStrike" u="none">
                  <a:solidFill>
                    <a:schemeClr val="dk1"/>
                  </a:solidFill>
                  <a:uFillTx/>
                  <a:latin typeface="Wix Madefor Display Medium"/>
                </a:rPr>
                <a:t>Наемный сотрудник</a:t>
              </a:r>
              <a:endParaRPr b="0" lang="en-GB" sz="9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79" name="Прямоугольник 168"/>
            <p:cNvSpPr/>
            <p:nvPr/>
          </p:nvSpPr>
          <p:spPr>
            <a:xfrm>
              <a:off x="5458680" y="2850480"/>
              <a:ext cx="199800" cy="199800"/>
            </a:xfrm>
            <a:prstGeom prst="rect">
              <a:avLst/>
            </a:prstGeom>
            <a:solidFill>
              <a:srgbClr val="2218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RU" sz="1800" strike="noStrike" u="none">
                <a:solidFill>
                  <a:schemeClr val="lt1"/>
                </a:solidFill>
                <a:uFillTx/>
                <a:latin typeface="Calibri"/>
              </a:endParaRPr>
            </a:p>
          </p:txBody>
        </p:sp>
      </p:grpSp>
      <p:sp>
        <p:nvSpPr>
          <p:cNvPr id="80" name="Заголовок 3"/>
          <p:cNvSpPr/>
          <p:nvPr/>
        </p:nvSpPr>
        <p:spPr>
          <a:xfrm>
            <a:off x="7938720" y="1552680"/>
            <a:ext cx="416520" cy="19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14400">
              <a:lnSpc>
                <a:spcPct val="90000"/>
              </a:lnSpc>
            </a:pPr>
            <a:r>
              <a:rPr b="0" lang="ru-RU" sz="1400" strike="noStrike" u="none">
                <a:solidFill>
                  <a:schemeClr val="dk1"/>
                </a:solidFill>
                <a:uFillTx/>
                <a:latin typeface="Wix Madefor Display SemiBold"/>
              </a:rPr>
              <a:t>1</a:t>
            </a:r>
            <a:r>
              <a:rPr b="0" lang="en-US" sz="1400" strike="noStrike" u="none">
                <a:solidFill>
                  <a:schemeClr val="dk1"/>
                </a:solidFill>
                <a:uFillTx/>
                <a:latin typeface="Wix Madefor Display SemiBold"/>
              </a:rPr>
              <a:t>%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aphicFrame>
        <p:nvGraphicFramePr>
          <p:cNvPr id="81" name="Диаграмма 186"/>
          <p:cNvGraphicFramePr/>
          <p:nvPr/>
        </p:nvGraphicFramePr>
        <p:xfrm>
          <a:off x="7894440" y="4414680"/>
          <a:ext cx="3628800" cy="3765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2" name="Заголовок 3"/>
          <p:cNvSpPr/>
          <p:nvPr/>
        </p:nvSpPr>
        <p:spPr>
          <a:xfrm>
            <a:off x="5454720" y="3597120"/>
            <a:ext cx="267768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</a:pPr>
            <a:r>
              <a:rPr b="0" lang="ru-RU" sz="1800" strike="noStrike" u="none">
                <a:solidFill>
                  <a:srgbClr val="262b28"/>
                </a:solidFill>
                <a:uFillTx/>
                <a:latin typeface="Wix Madefor Display SemiBold"/>
              </a:rPr>
              <a:t>Размер организации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3" name="Заголовок 3"/>
          <p:cNvSpPr/>
          <p:nvPr/>
        </p:nvSpPr>
        <p:spPr>
          <a:xfrm>
            <a:off x="5740560" y="4242240"/>
            <a:ext cx="1428120" cy="11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80000"/>
              </a:lnSpc>
            </a:pPr>
            <a:r>
              <a:rPr b="0" lang="ru-RU" sz="900" strike="noStrike" u="none">
                <a:solidFill>
                  <a:schemeClr val="dk1"/>
                </a:solidFill>
                <a:uFillTx/>
                <a:latin typeface="Wix Madefor Display Medium"/>
              </a:rPr>
              <a:t>Только 1 сотрудник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4" name="Заголовок 3"/>
          <p:cNvSpPr/>
          <p:nvPr/>
        </p:nvSpPr>
        <p:spPr>
          <a:xfrm>
            <a:off x="5727600" y="4520160"/>
            <a:ext cx="1312560" cy="11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80000"/>
              </a:lnSpc>
            </a:pPr>
            <a:r>
              <a:rPr b="0" lang="ru-RU" sz="900" strike="noStrike" u="none">
                <a:solidFill>
                  <a:schemeClr val="dk1"/>
                </a:solidFill>
                <a:uFillTx/>
                <a:latin typeface="Wix Madefor Display Medium"/>
              </a:rPr>
              <a:t>2-5 сотрудников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5" name="Заголовок 3"/>
          <p:cNvSpPr/>
          <p:nvPr/>
        </p:nvSpPr>
        <p:spPr>
          <a:xfrm>
            <a:off x="5727600" y="4790520"/>
            <a:ext cx="1219680" cy="11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80000"/>
              </a:lnSpc>
            </a:pPr>
            <a:r>
              <a:rPr b="0" lang="ru-RU" sz="900" strike="noStrike" u="none">
                <a:solidFill>
                  <a:schemeClr val="dk1"/>
                </a:solidFill>
                <a:uFillTx/>
                <a:latin typeface="Wix Madefor Display Medium"/>
              </a:rPr>
              <a:t>6-10 сотрудников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6" name="Заголовок 3"/>
          <p:cNvSpPr/>
          <p:nvPr/>
        </p:nvSpPr>
        <p:spPr>
          <a:xfrm>
            <a:off x="5727600" y="5070600"/>
            <a:ext cx="1902240" cy="11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80000"/>
              </a:lnSpc>
            </a:pPr>
            <a:r>
              <a:rPr b="0" lang="ru-RU" sz="900" strike="noStrike" u="none">
                <a:solidFill>
                  <a:schemeClr val="dk1"/>
                </a:solidFill>
                <a:uFillTx/>
                <a:latin typeface="Wix Madefor Display Medium"/>
              </a:rPr>
              <a:t>11-100 сотрудников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7" name="Прямоугольник 196"/>
          <p:cNvSpPr/>
          <p:nvPr/>
        </p:nvSpPr>
        <p:spPr>
          <a:xfrm>
            <a:off x="5456520" y="4194720"/>
            <a:ext cx="182520" cy="182520"/>
          </a:xfrm>
          <a:prstGeom prst="rect">
            <a:avLst/>
          </a:prstGeom>
          <a:noFill/>
          <a:ln w="19050">
            <a:solidFill>
              <a:srgbClr val="fa37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88" name="Прямоугольник 197"/>
          <p:cNvSpPr/>
          <p:nvPr/>
        </p:nvSpPr>
        <p:spPr>
          <a:xfrm>
            <a:off x="5445720" y="4461120"/>
            <a:ext cx="199800" cy="199800"/>
          </a:xfrm>
          <a:prstGeom prst="rect">
            <a:avLst/>
          </a:prstGeom>
          <a:solidFill>
            <a:srgbClr val="fc84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89" name="Прямоугольник 198"/>
          <p:cNvSpPr/>
          <p:nvPr/>
        </p:nvSpPr>
        <p:spPr>
          <a:xfrm>
            <a:off x="5445720" y="4745880"/>
            <a:ext cx="199800" cy="199800"/>
          </a:xfrm>
          <a:prstGeom prst="rect">
            <a:avLst/>
          </a:prstGeom>
          <a:solidFill>
            <a:srgbClr val="fa37b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90" name="Прямоугольник 199"/>
          <p:cNvSpPr/>
          <p:nvPr/>
        </p:nvSpPr>
        <p:spPr>
          <a:xfrm>
            <a:off x="5445720" y="5025600"/>
            <a:ext cx="199800" cy="199800"/>
          </a:xfrm>
          <a:prstGeom prst="rect">
            <a:avLst/>
          </a:prstGeom>
          <a:solidFill>
            <a:srgbClr val="d42a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91" name="Заголовок 3"/>
          <p:cNvSpPr/>
          <p:nvPr/>
        </p:nvSpPr>
        <p:spPr>
          <a:xfrm>
            <a:off x="5727600" y="5331960"/>
            <a:ext cx="1902240" cy="11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80000"/>
              </a:lnSpc>
            </a:pPr>
            <a:r>
              <a:rPr b="0" lang="ru-RU" sz="900" strike="noStrike" u="none">
                <a:solidFill>
                  <a:schemeClr val="dk1"/>
                </a:solidFill>
                <a:uFillTx/>
                <a:latin typeface="Wix Madefor Display Medium"/>
              </a:rPr>
              <a:t>101-500 сотрудников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2" name="Прямоугольник 201"/>
          <p:cNvSpPr/>
          <p:nvPr/>
        </p:nvSpPr>
        <p:spPr>
          <a:xfrm>
            <a:off x="5445720" y="5290920"/>
            <a:ext cx="199800" cy="199800"/>
          </a:xfrm>
          <a:prstGeom prst="rect">
            <a:avLst/>
          </a:prstGeom>
          <a:solidFill>
            <a:srgbClr val="960ac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93" name="Заголовок 3"/>
          <p:cNvSpPr/>
          <p:nvPr/>
        </p:nvSpPr>
        <p:spPr>
          <a:xfrm>
            <a:off x="5461920" y="3901320"/>
            <a:ext cx="652680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</a:pPr>
            <a:r>
              <a:rPr b="0" lang="ru-RU" sz="1200" spc="-11" strike="noStrike" u="none">
                <a:solidFill>
                  <a:schemeClr val="dk1"/>
                </a:solidFill>
                <a:uFillTx/>
                <a:latin typeface="Wix Madefor Display Medium"/>
              </a:rPr>
              <a:t>вопрос задавался тем, чья форма занятости – наемный сотрудник, владелец бизнеса </a:t>
            </a: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4" name="Заголовок 3"/>
          <p:cNvSpPr/>
          <p:nvPr/>
        </p:nvSpPr>
        <p:spPr>
          <a:xfrm>
            <a:off x="5727600" y="5620320"/>
            <a:ext cx="1902240" cy="11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80000"/>
              </a:lnSpc>
            </a:pPr>
            <a:r>
              <a:rPr b="0" lang="ru-RU" sz="900" strike="noStrike" u="none">
                <a:solidFill>
                  <a:schemeClr val="dk1"/>
                </a:solidFill>
                <a:uFillTx/>
                <a:latin typeface="Wix Madefor Display Medium"/>
              </a:rPr>
              <a:t>501-1 000 сотрудников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5" name="Прямоугольник 212"/>
          <p:cNvSpPr/>
          <p:nvPr/>
        </p:nvSpPr>
        <p:spPr>
          <a:xfrm>
            <a:off x="5445720" y="5579280"/>
            <a:ext cx="199800" cy="199800"/>
          </a:xfrm>
          <a:prstGeom prst="rect">
            <a:avLst/>
          </a:prstGeom>
          <a:solidFill>
            <a:srgbClr val="5e0ab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96" name="Заголовок 3"/>
          <p:cNvSpPr/>
          <p:nvPr/>
        </p:nvSpPr>
        <p:spPr>
          <a:xfrm>
            <a:off x="5727600" y="5903280"/>
            <a:ext cx="1902240" cy="11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80000"/>
              </a:lnSpc>
            </a:pPr>
            <a:r>
              <a:rPr b="0" lang="ru-RU" sz="900" strike="noStrike" u="none">
                <a:solidFill>
                  <a:schemeClr val="dk1"/>
                </a:solidFill>
                <a:uFillTx/>
                <a:latin typeface="Wix Madefor Display Medium"/>
              </a:rPr>
              <a:t>1 001-5 000 сотрудников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7" name="Прямоугольник 214"/>
          <p:cNvSpPr/>
          <p:nvPr/>
        </p:nvSpPr>
        <p:spPr>
          <a:xfrm>
            <a:off x="5445720" y="5862240"/>
            <a:ext cx="199800" cy="199800"/>
          </a:xfrm>
          <a:prstGeom prst="rect">
            <a:avLst/>
          </a:prstGeom>
          <a:solidFill>
            <a:srgbClr val="2218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98" name="Заголовок 3"/>
          <p:cNvSpPr/>
          <p:nvPr/>
        </p:nvSpPr>
        <p:spPr>
          <a:xfrm>
            <a:off x="5727600" y="6186960"/>
            <a:ext cx="1902240" cy="11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80000"/>
              </a:lnSpc>
            </a:pPr>
            <a:r>
              <a:rPr b="0" lang="ru-RU" sz="900" strike="noStrike" u="none">
                <a:solidFill>
                  <a:schemeClr val="dk1"/>
                </a:solidFill>
                <a:uFillTx/>
                <a:latin typeface="Wix Madefor Display Medium"/>
              </a:rPr>
              <a:t>Более 5 000 сотрудников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9" name="Прямоугольник 216"/>
          <p:cNvSpPr/>
          <p:nvPr/>
        </p:nvSpPr>
        <p:spPr>
          <a:xfrm>
            <a:off x="5445720" y="6145920"/>
            <a:ext cx="199800" cy="199800"/>
          </a:xfrm>
          <a:prstGeom prst="rect">
            <a:avLst/>
          </a:prstGeom>
          <a:solidFill>
            <a:srgbClr val="6d33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00" name="Заголовок 3"/>
          <p:cNvSpPr/>
          <p:nvPr/>
        </p:nvSpPr>
        <p:spPr>
          <a:xfrm>
            <a:off x="7497720" y="6199200"/>
            <a:ext cx="336240" cy="19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90000"/>
              </a:lnSpc>
            </a:pPr>
            <a:r>
              <a:rPr b="0" lang="ru-RU" sz="1400" strike="noStrike" u="none">
                <a:solidFill>
                  <a:schemeClr val="lt2">
                    <a:lumMod val="10000"/>
                  </a:schemeClr>
                </a:solidFill>
                <a:uFillTx/>
                <a:latin typeface="Wix Madefor Display SemiBold"/>
              </a:rPr>
              <a:t>3</a:t>
            </a:r>
            <a:r>
              <a:rPr b="0" lang="en-US" sz="1400" strike="noStrike" u="none">
                <a:solidFill>
                  <a:schemeClr val="lt2">
                    <a:lumMod val="10000"/>
                  </a:schemeClr>
                </a:solidFill>
                <a:uFillTx/>
                <a:latin typeface="Wix Madefor Display SemiBold"/>
              </a:rPr>
              <a:t>%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1" name="Заголовок 3"/>
          <p:cNvSpPr/>
          <p:nvPr/>
        </p:nvSpPr>
        <p:spPr>
          <a:xfrm>
            <a:off x="7551720" y="5881320"/>
            <a:ext cx="336240" cy="19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90000"/>
              </a:lnSpc>
            </a:pPr>
            <a:r>
              <a:rPr b="0" lang="ru-RU" sz="1400" strike="noStrike" u="none">
                <a:solidFill>
                  <a:schemeClr val="lt2">
                    <a:lumMod val="10000"/>
                  </a:schemeClr>
                </a:solidFill>
                <a:uFillTx/>
                <a:latin typeface="Wix Madefor Display SemiBold"/>
              </a:rPr>
              <a:t>7</a:t>
            </a:r>
            <a:r>
              <a:rPr b="0" lang="en-US" sz="1400" strike="noStrike" u="none">
                <a:solidFill>
                  <a:schemeClr val="lt2">
                    <a:lumMod val="10000"/>
                  </a:schemeClr>
                </a:solidFill>
                <a:uFillTx/>
                <a:latin typeface="Wix Madefor Display SemiBold"/>
              </a:rPr>
              <a:t>%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2" name="Заголовок 3"/>
          <p:cNvSpPr/>
          <p:nvPr/>
        </p:nvSpPr>
        <p:spPr>
          <a:xfrm>
            <a:off x="7892280" y="4999680"/>
            <a:ext cx="452160" cy="19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90000"/>
              </a:lnSpc>
            </a:pPr>
            <a:r>
              <a:rPr b="0" lang="ru-RU" sz="1400" strike="noStrike" u="none">
                <a:solidFill>
                  <a:schemeClr val="lt2">
                    <a:lumMod val="10000"/>
                  </a:schemeClr>
                </a:solidFill>
                <a:uFillTx/>
                <a:latin typeface="Wix Madefor Display SemiBold"/>
              </a:rPr>
              <a:t>28</a:t>
            </a:r>
            <a:r>
              <a:rPr b="0" lang="en-US" sz="1400" strike="noStrike" u="none">
                <a:solidFill>
                  <a:schemeClr val="lt2">
                    <a:lumMod val="10000"/>
                  </a:schemeClr>
                </a:solidFill>
                <a:uFillTx/>
                <a:latin typeface="Wix Madefor Display SemiBold"/>
              </a:rPr>
              <a:t>%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3" name="Заголовок 3"/>
          <p:cNvSpPr/>
          <p:nvPr/>
        </p:nvSpPr>
        <p:spPr>
          <a:xfrm>
            <a:off x="10280520" y="4457880"/>
            <a:ext cx="452160" cy="19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90000"/>
              </a:lnSpc>
            </a:pPr>
            <a:r>
              <a:rPr b="0" lang="ru-RU" sz="1400" strike="noStrike" u="none">
                <a:solidFill>
                  <a:schemeClr val="lt2">
                    <a:lumMod val="10000"/>
                  </a:schemeClr>
                </a:solidFill>
                <a:uFillTx/>
                <a:latin typeface="Wix Madefor Display SemiBold"/>
              </a:rPr>
              <a:t>30</a:t>
            </a:r>
            <a:r>
              <a:rPr b="0" lang="en-US" sz="1400" strike="noStrike" u="none">
                <a:solidFill>
                  <a:schemeClr val="lt2">
                    <a:lumMod val="10000"/>
                  </a:schemeClr>
                </a:solidFill>
                <a:uFillTx/>
                <a:latin typeface="Wix Madefor Display SemiBold"/>
              </a:rPr>
              <a:t>%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4" name="Заголовок 3"/>
          <p:cNvSpPr/>
          <p:nvPr/>
        </p:nvSpPr>
        <p:spPr>
          <a:xfrm>
            <a:off x="10993320" y="4880520"/>
            <a:ext cx="452160" cy="19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</a:pPr>
            <a:r>
              <a:rPr b="0" lang="ru-RU" sz="1400" strike="noStrike" u="none">
                <a:solidFill>
                  <a:schemeClr val="lt2">
                    <a:lumMod val="10000"/>
                  </a:schemeClr>
                </a:solidFill>
                <a:uFillTx/>
                <a:latin typeface="Wix Madefor Display SemiBold"/>
              </a:rPr>
              <a:t>14</a:t>
            </a:r>
            <a:r>
              <a:rPr b="0" lang="en-US" sz="1400" strike="noStrike" u="none">
                <a:solidFill>
                  <a:schemeClr val="lt2">
                    <a:lumMod val="10000"/>
                  </a:schemeClr>
                </a:solidFill>
                <a:uFillTx/>
                <a:latin typeface="Wix Madefor Display SemiBold"/>
              </a:rPr>
              <a:t>%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5" name="Заголовок 3"/>
          <p:cNvSpPr/>
          <p:nvPr/>
        </p:nvSpPr>
        <p:spPr>
          <a:xfrm>
            <a:off x="11357280" y="5404320"/>
            <a:ext cx="452160" cy="19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</a:pPr>
            <a:r>
              <a:rPr b="0" lang="ru-RU" sz="1400" strike="noStrike" u="none">
                <a:solidFill>
                  <a:schemeClr val="lt2">
                    <a:lumMod val="10000"/>
                  </a:schemeClr>
                </a:solidFill>
                <a:uFillTx/>
                <a:latin typeface="Wix Madefor Display SemiBold"/>
              </a:rPr>
              <a:t>9</a:t>
            </a:r>
            <a:r>
              <a:rPr b="0" lang="en-US" sz="1400" strike="noStrike" u="none">
                <a:solidFill>
                  <a:schemeClr val="lt2">
                    <a:lumMod val="10000"/>
                  </a:schemeClr>
                </a:solidFill>
                <a:uFillTx/>
                <a:latin typeface="Wix Madefor Display SemiBold"/>
              </a:rPr>
              <a:t>%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6" name="Заголовок 3"/>
          <p:cNvSpPr/>
          <p:nvPr/>
        </p:nvSpPr>
        <p:spPr>
          <a:xfrm>
            <a:off x="11544480" y="6013440"/>
            <a:ext cx="452160" cy="19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</a:pPr>
            <a:r>
              <a:rPr b="0" lang="ru-RU" sz="1400" strike="noStrike" u="none">
                <a:solidFill>
                  <a:schemeClr val="lt2">
                    <a:lumMod val="10000"/>
                  </a:schemeClr>
                </a:solidFill>
                <a:uFillTx/>
                <a:latin typeface="Wix Madefor Display SemiBold"/>
              </a:rPr>
              <a:t>9</a:t>
            </a:r>
            <a:r>
              <a:rPr b="0" lang="en-US" sz="1400" strike="noStrike" u="none">
                <a:solidFill>
                  <a:schemeClr val="lt2">
                    <a:lumMod val="10000"/>
                  </a:schemeClr>
                </a:solidFill>
                <a:uFillTx/>
                <a:latin typeface="Wix Madefor Display SemiBold"/>
              </a:rPr>
              <a:t>%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7B8CA5E8-FE64-4B6C-8800-9CDE16776D3B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1149120" y="404640"/>
            <a:ext cx="7929360" cy="38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2800" strike="noStrike" u="none">
                <a:solidFill>
                  <a:srgbClr val="262b28"/>
                </a:solidFill>
                <a:uFillTx/>
                <a:latin typeface="Wix Madefor Display SemiBold"/>
              </a:rPr>
              <a:t>Профессиональный путь ИТ-специалистов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grpSp>
        <p:nvGrpSpPr>
          <p:cNvPr id="108" name="Группа 14"/>
          <p:cNvGrpSpPr/>
          <p:nvPr/>
        </p:nvGrpSpPr>
        <p:grpSpPr>
          <a:xfrm>
            <a:off x="9090000" y="1111680"/>
            <a:ext cx="2679120" cy="905040"/>
            <a:chOff x="9090000" y="1111680"/>
            <a:chExt cx="2679120" cy="905040"/>
          </a:xfrm>
        </p:grpSpPr>
        <p:sp>
          <p:nvSpPr>
            <p:cNvPr id="109" name="Овал 11"/>
            <p:cNvSpPr/>
            <p:nvPr/>
          </p:nvSpPr>
          <p:spPr>
            <a:xfrm>
              <a:off x="9090000" y="1111680"/>
              <a:ext cx="905040" cy="905040"/>
            </a:xfrm>
            <a:prstGeom prst="ellipse">
              <a:avLst/>
            </a:prstGeom>
            <a:solidFill>
              <a:srgbClr val="6d33ff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RU" sz="1800" strike="noStrike" u="none">
                <a:solidFill>
                  <a:schemeClr val="lt1"/>
                </a:solidFill>
                <a:uFillTx/>
                <a:latin typeface="Calibri"/>
              </a:endParaRPr>
            </a:p>
          </p:txBody>
        </p:sp>
        <p:sp>
          <p:nvSpPr>
            <p:cNvPr id="110" name="Заголовок 3"/>
            <p:cNvSpPr/>
            <p:nvPr/>
          </p:nvSpPr>
          <p:spPr>
            <a:xfrm>
              <a:off x="10133640" y="1370520"/>
              <a:ext cx="1635480" cy="38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ct val="90000"/>
                </a:lnSpc>
              </a:pPr>
              <a:r>
                <a:rPr b="0" lang="ru-RU" sz="1400" strike="noStrike" u="none">
                  <a:solidFill>
                    <a:srgbClr val="262b28"/>
                  </a:solidFill>
                  <a:uFillTx/>
                  <a:latin typeface="Wix Madefor Display Medium"/>
                </a:rPr>
                <a:t>– </a:t>
              </a:r>
              <a:r>
                <a:rPr b="0" lang="ru-RU" sz="1400" strike="noStrike" u="none">
                  <a:solidFill>
                    <a:srgbClr val="262b28"/>
                  </a:solidFill>
                  <a:uFillTx/>
                  <a:latin typeface="Wix Madefor Display Medium"/>
                </a:rPr>
                <a:t>средний возраст </a:t>
              </a:r>
              <a:br>
                <a:rPr sz="1400"/>
              </a:br>
              <a:r>
                <a:rPr b="0" lang="ru-RU" sz="1400" strike="noStrike" u="none">
                  <a:solidFill>
                    <a:srgbClr val="262b28"/>
                  </a:solidFill>
                  <a:uFillTx/>
                  <a:latin typeface="Wix Madefor Display Medium"/>
                </a:rPr>
                <a:t>смены профессии</a:t>
              </a:r>
              <a:endParaRPr b="0" lang="en-GB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11" name="Заголовок 3"/>
            <p:cNvSpPr/>
            <p:nvPr/>
          </p:nvSpPr>
          <p:spPr>
            <a:xfrm>
              <a:off x="9308520" y="1320840"/>
              <a:ext cx="468000" cy="494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 defTabSz="914400">
                <a:lnSpc>
                  <a:spcPct val="90000"/>
                </a:lnSpc>
              </a:pPr>
              <a:r>
                <a:rPr b="0" lang="en-US" sz="1800" strike="noStrike" u="none">
                  <a:solidFill>
                    <a:schemeClr val="lt1"/>
                  </a:solidFill>
                  <a:uFillTx/>
                  <a:latin typeface="Wix Madefor Display SemiBold"/>
                </a:rPr>
                <a:t>36 </a:t>
              </a:r>
              <a:br>
                <a:rPr sz="1800"/>
              </a:br>
              <a:r>
                <a:rPr b="0" lang="ru-RU" sz="1800" strike="noStrike" u="none">
                  <a:solidFill>
                    <a:schemeClr val="lt1"/>
                  </a:solidFill>
                  <a:uFillTx/>
                  <a:latin typeface="Wix Madefor Display SemiBold"/>
                </a:rPr>
                <a:t>лет</a:t>
              </a:r>
              <a:endParaRPr b="0" lang="en-GB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sp>
        <p:nvSpPr>
          <p:cNvPr id="112" name="Заголовок 3"/>
          <p:cNvSpPr/>
          <p:nvPr/>
        </p:nvSpPr>
        <p:spPr>
          <a:xfrm>
            <a:off x="1478880" y="1306440"/>
            <a:ext cx="261756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</a:pPr>
            <a:r>
              <a:rPr b="0" lang="ru-RU" sz="1400" strike="noStrike" u="none">
                <a:solidFill>
                  <a:srgbClr val="262b28"/>
                </a:solidFill>
                <a:uFillTx/>
                <a:latin typeface="Wix Madefor Display Medium"/>
              </a:rPr>
              <a:t>специалистов НЕ получали профильное высшее образование, связанное с ИТ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3" name="Заголовок 3"/>
          <p:cNvSpPr/>
          <p:nvPr/>
        </p:nvSpPr>
        <p:spPr>
          <a:xfrm>
            <a:off x="626400" y="1492200"/>
            <a:ext cx="53064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90000"/>
              </a:lnSpc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Wix Madefor Display SemiBold"/>
              </a:rPr>
              <a:t>54%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aphicFrame>
        <p:nvGraphicFramePr>
          <p:cNvPr id="114" name="Диаграмма 9"/>
          <p:cNvGraphicFramePr/>
          <p:nvPr/>
        </p:nvGraphicFramePr>
        <p:xfrm>
          <a:off x="443520" y="1144800"/>
          <a:ext cx="897120" cy="905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pSp>
        <p:nvGrpSpPr>
          <p:cNvPr id="115" name="Группа 13"/>
          <p:cNvGrpSpPr/>
          <p:nvPr/>
        </p:nvGrpSpPr>
        <p:grpSpPr>
          <a:xfrm>
            <a:off x="5009760" y="1144800"/>
            <a:ext cx="3166920" cy="905040"/>
            <a:chOff x="5009760" y="1144800"/>
            <a:chExt cx="3166920" cy="905040"/>
          </a:xfrm>
        </p:grpSpPr>
        <p:graphicFrame>
          <p:nvGraphicFramePr>
            <p:cNvPr id="116" name="Диаграмма 10"/>
            <p:cNvGraphicFramePr/>
            <p:nvPr/>
          </p:nvGraphicFramePr>
          <p:xfrm>
            <a:off x="5009760" y="1144800"/>
            <a:ext cx="897120" cy="90504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117" name="Заголовок 3"/>
            <p:cNvSpPr/>
            <p:nvPr/>
          </p:nvSpPr>
          <p:spPr>
            <a:xfrm>
              <a:off x="6045480" y="1273320"/>
              <a:ext cx="2131200" cy="577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ct val="90000"/>
                </a:lnSpc>
              </a:pPr>
              <a:r>
                <a:rPr b="0" lang="ru-RU" sz="1400" strike="noStrike" u="none">
                  <a:solidFill>
                    <a:srgbClr val="262b28"/>
                  </a:solidFill>
                  <a:uFillTx/>
                  <a:latin typeface="Wix Madefor Display Medium"/>
                </a:rPr>
                <a:t>специалистов работали </a:t>
              </a:r>
              <a:br>
                <a:rPr sz="1400"/>
              </a:br>
              <a:r>
                <a:rPr b="0" lang="ru-RU" sz="1400" strike="noStrike" u="none">
                  <a:solidFill>
                    <a:srgbClr val="262b28"/>
                  </a:solidFill>
                  <a:uFillTx/>
                  <a:latin typeface="Wix Madefor Display Medium"/>
                </a:rPr>
                <a:t>до этого по другой профессии</a:t>
              </a:r>
              <a:endParaRPr b="0" lang="en-GB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18" name="Заголовок 3"/>
            <p:cNvSpPr/>
            <p:nvPr/>
          </p:nvSpPr>
          <p:spPr>
            <a:xfrm>
              <a:off x="5214240" y="1489680"/>
              <a:ext cx="487800" cy="247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 defTabSz="914400">
                <a:lnSpc>
                  <a:spcPct val="90000"/>
                </a:lnSpc>
              </a:pPr>
              <a:r>
                <a:rPr b="0" lang="en-US" sz="1800" strike="noStrike" u="none">
                  <a:solidFill>
                    <a:schemeClr val="dk1"/>
                  </a:solidFill>
                  <a:uFillTx/>
                  <a:latin typeface="Wix Madefor Display SemiBold"/>
                </a:rPr>
                <a:t>57%</a:t>
              </a:r>
              <a:endParaRPr b="0" lang="en-GB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sp>
        <p:nvSpPr>
          <p:cNvPr id="119" name="Заголовок 3"/>
          <p:cNvSpPr/>
          <p:nvPr/>
        </p:nvSpPr>
        <p:spPr>
          <a:xfrm>
            <a:off x="442800" y="2530800"/>
            <a:ext cx="733500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</a:pPr>
            <a:r>
              <a:rPr b="0" lang="ru-RU" sz="1800" strike="noStrike" u="none">
                <a:solidFill>
                  <a:srgbClr val="262b28"/>
                </a:solidFill>
                <a:uFillTx/>
                <a:latin typeface="Wix Madefor Display SemiBold"/>
              </a:rPr>
              <a:t>Как Вы обучались для работы по своей текущей профессии?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aphicFrame>
        <p:nvGraphicFramePr>
          <p:cNvPr id="120" name="Диаграмма 15"/>
          <p:cNvGraphicFramePr/>
          <p:nvPr/>
        </p:nvGraphicFramePr>
        <p:xfrm>
          <a:off x="442800" y="3274200"/>
          <a:ext cx="8559360" cy="285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1" name="Заголовок 3"/>
          <p:cNvSpPr/>
          <p:nvPr/>
        </p:nvSpPr>
        <p:spPr>
          <a:xfrm>
            <a:off x="442800" y="2831400"/>
            <a:ext cx="261756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</a:pPr>
            <a:r>
              <a:rPr b="0" lang="ru-RU" sz="1200" strike="noStrike" u="none">
                <a:solidFill>
                  <a:schemeClr val="dk1"/>
                </a:solidFill>
                <a:uFillTx/>
                <a:latin typeface="Wix Madefor Display Medium"/>
              </a:rPr>
              <a:t>(множественный выбор)</a:t>
            </a: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2" name="Заголовок 3"/>
          <p:cNvSpPr/>
          <p:nvPr/>
        </p:nvSpPr>
        <p:spPr>
          <a:xfrm>
            <a:off x="442800" y="3259080"/>
            <a:ext cx="5602320" cy="19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</a:pPr>
            <a:r>
              <a:rPr b="0" lang="ru-RU" sz="1400" strike="noStrike" u="none">
                <a:solidFill>
                  <a:srgbClr val="262b28"/>
                </a:solidFill>
                <a:uFillTx/>
                <a:latin typeface="Wix Madefor Display Medium"/>
              </a:rPr>
              <a:t>Получил (-а) профильное высшее образование, связанное с ИТ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3" name="Заголовок 3"/>
          <p:cNvSpPr/>
          <p:nvPr/>
        </p:nvSpPr>
        <p:spPr>
          <a:xfrm>
            <a:off x="442800" y="3824280"/>
            <a:ext cx="5463720" cy="19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</a:pPr>
            <a:r>
              <a:rPr b="0" lang="ru-RU" sz="1400" strike="noStrike" u="none">
                <a:solidFill>
                  <a:srgbClr val="262b28"/>
                </a:solidFill>
                <a:uFillTx/>
                <a:latin typeface="Wix Madefor Display Medium"/>
              </a:rPr>
              <a:t>Проходил (-а) курсы повышения квалификации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4" name="Заголовок 3"/>
          <p:cNvSpPr/>
          <p:nvPr/>
        </p:nvSpPr>
        <p:spPr>
          <a:xfrm>
            <a:off x="442800" y="4390200"/>
            <a:ext cx="3040560" cy="19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</a:pPr>
            <a:r>
              <a:rPr b="0" lang="ru-RU" sz="1400" strike="noStrike" u="none">
                <a:solidFill>
                  <a:srgbClr val="262b28"/>
                </a:solidFill>
                <a:uFillTx/>
                <a:latin typeface="Wix Madefor Display Medium"/>
              </a:rPr>
              <a:t>Научился (-ась) на рабочем месте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5" name="Заголовок 3"/>
          <p:cNvSpPr/>
          <p:nvPr/>
        </p:nvSpPr>
        <p:spPr>
          <a:xfrm>
            <a:off x="442800" y="4973400"/>
            <a:ext cx="5767200" cy="19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</a:pPr>
            <a:r>
              <a:rPr b="0" lang="ru-RU" sz="1400" strike="noStrike" u="none">
                <a:solidFill>
                  <a:srgbClr val="262b28"/>
                </a:solidFill>
                <a:uFillTx/>
                <a:latin typeface="Wix Madefor Display Medium"/>
              </a:rPr>
              <a:t>Проходил (-а) онлайн-курсы и тренинги на обучающих ресурсах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6" name="Заголовок 3"/>
          <p:cNvSpPr/>
          <p:nvPr/>
        </p:nvSpPr>
        <p:spPr>
          <a:xfrm>
            <a:off x="442800" y="5525640"/>
            <a:ext cx="3040560" cy="19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</a:pPr>
            <a:r>
              <a:rPr b="0" lang="ru-RU" sz="1400" strike="noStrike" u="none">
                <a:solidFill>
                  <a:srgbClr val="262b28"/>
                </a:solidFill>
                <a:uFillTx/>
                <a:latin typeface="Wix Madefor Display Medium"/>
              </a:rPr>
              <a:t>Другое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7" name="Прямоугольник: скругленные углы 7"/>
          <p:cNvSpPr/>
          <p:nvPr/>
        </p:nvSpPr>
        <p:spPr>
          <a:xfrm>
            <a:off x="9100800" y="2457360"/>
            <a:ext cx="2682720" cy="3924000"/>
          </a:xfrm>
          <a:prstGeom prst="roundRect">
            <a:avLst>
              <a:gd name="adj" fmla="val 4321"/>
            </a:avLst>
          </a:prstGeom>
          <a:solidFill>
            <a:srgbClr val="cacae5">
              <a:alpha val="50000"/>
            </a:srgb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28" name="Заголовок 3"/>
          <p:cNvSpPr/>
          <p:nvPr/>
        </p:nvSpPr>
        <p:spPr>
          <a:xfrm>
            <a:off x="9380160" y="2655720"/>
            <a:ext cx="2223720" cy="24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</a:pPr>
            <a:r>
              <a:rPr b="0" lang="ru-RU" sz="1400" strike="noStrike" u="none">
                <a:solidFill>
                  <a:schemeClr val="dk1"/>
                </a:solidFill>
                <a:uFillTx/>
                <a:latin typeface="Wix Madefor Display Medium"/>
              </a:rPr>
              <a:t>Начинающие специалисты* отдают предпочтение </a:t>
            </a:r>
            <a:br>
              <a:rPr sz="1400"/>
            </a:br>
            <a:r>
              <a:rPr b="0" lang="ru-RU" sz="1400" strike="noStrike" u="none">
                <a:solidFill>
                  <a:schemeClr val="dk1"/>
                </a:solidFill>
                <a:uFillTx/>
                <a:latin typeface="Wix Madefor Display Medium"/>
              </a:rPr>
              <a:t>онлайн-курсам, </a:t>
            </a:r>
            <a:br>
              <a:rPr sz="1400"/>
            </a:br>
            <a:r>
              <a:rPr b="0" lang="ru-RU" sz="1400" strike="noStrike" u="none">
                <a:solidFill>
                  <a:schemeClr val="dk1"/>
                </a:solidFill>
                <a:uFillTx/>
                <a:latin typeface="Wix Madefor Display Medium"/>
              </a:rPr>
              <a:t>их проходили 34% </a:t>
            </a:r>
            <a:br>
              <a:rPr sz="1400"/>
            </a:br>
            <a:r>
              <a:rPr b="0" lang="ru-RU" sz="1400" strike="noStrike" u="none">
                <a:solidFill>
                  <a:schemeClr val="dk1"/>
                </a:solidFill>
                <a:uFillTx/>
                <a:latin typeface="Wix Madefor Display Medium"/>
              </a:rPr>
              <a:t>(на 7 п.п. больше, </a:t>
            </a:r>
            <a:br>
              <a:rPr sz="1400"/>
            </a:br>
            <a:r>
              <a:rPr b="0" lang="ru-RU" sz="1400" strike="noStrike" u="none">
                <a:solidFill>
                  <a:schemeClr val="dk1"/>
                </a:solidFill>
                <a:uFillTx/>
                <a:latin typeface="Wix Madefor Display Medium"/>
              </a:rPr>
              <a:t>чем среди опытных специалистов**)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90000"/>
              </a:lnSpc>
            </a:pP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b="0" lang="ru-RU" sz="1400" strike="noStrike" u="none">
                <a:solidFill>
                  <a:schemeClr val="dk1"/>
                </a:solidFill>
                <a:uFillTx/>
                <a:latin typeface="Wix Madefor Display Medium"/>
              </a:rPr>
              <a:t>Среди ИТ-специалистов </a:t>
            </a:r>
            <a:br>
              <a:rPr sz="1400"/>
            </a:br>
            <a:r>
              <a:rPr b="0" lang="ru-RU" sz="1400" strike="noStrike" u="none">
                <a:solidFill>
                  <a:schemeClr val="dk1"/>
                </a:solidFill>
                <a:uFillTx/>
                <a:latin typeface="Wix Madefor Display Medium"/>
              </a:rPr>
              <a:t>с профильным образованием на 10 п.п. больше разработчиков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9" name="TextBox 16"/>
          <p:cNvSpPr/>
          <p:nvPr/>
        </p:nvSpPr>
        <p:spPr>
          <a:xfrm>
            <a:off x="442800" y="6141240"/>
            <a:ext cx="5764680" cy="27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900" strike="noStrike" u="none">
                <a:solidFill>
                  <a:srgbClr val="262b28"/>
                </a:solidFill>
                <a:uFillTx/>
                <a:latin typeface="Wix Madefor Display Medium"/>
              </a:rPr>
              <a:t>*начинающие и специалисты среднего уровня – работают по профессии до 5 лет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ru-RU" sz="900" strike="noStrike" u="none">
                <a:solidFill>
                  <a:srgbClr val="262b28"/>
                </a:solidFill>
                <a:uFillTx/>
                <a:latin typeface="Wix Madefor Display Medium"/>
              </a:rPr>
              <a:t>**Опытные специалисты – работают по профессии более 5 лет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2ADBC4E2-0C92-4FC3-B66C-FE5C74CB6710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Рисунок 72" descr=""/>
          <p:cNvPicPr/>
          <p:nvPr/>
        </p:nvPicPr>
        <p:blipFill>
          <a:blip r:embed="rId1"/>
          <a:srcRect l="0" t="2800" r="0" b="26875"/>
          <a:stretch/>
        </p:blipFill>
        <p:spPr>
          <a:xfrm>
            <a:off x="4583520" y="1745280"/>
            <a:ext cx="6871320" cy="514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1" name="Прямоугольник: скругленные углы 9"/>
          <p:cNvSpPr/>
          <p:nvPr/>
        </p:nvSpPr>
        <p:spPr>
          <a:xfrm>
            <a:off x="442800" y="1160640"/>
            <a:ext cx="3527640" cy="5221080"/>
          </a:xfrm>
          <a:prstGeom prst="roundRect">
            <a:avLst>
              <a:gd name="adj" fmla="val 2286"/>
            </a:avLst>
          </a:prstGeom>
          <a:solidFill>
            <a:srgbClr val="cacae5">
              <a:alpha val="50000"/>
            </a:srgb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1149120" y="404640"/>
            <a:ext cx="7929360" cy="38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2800" strike="noStrike" u="none">
                <a:solidFill>
                  <a:srgbClr val="262b28"/>
                </a:solidFill>
                <a:uFillTx/>
                <a:latin typeface="Wix Madefor Display SemiBold"/>
              </a:rPr>
              <a:t>Использование искусственного интеллекта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33" name="Заголовок 3"/>
          <p:cNvSpPr/>
          <p:nvPr/>
        </p:nvSpPr>
        <p:spPr>
          <a:xfrm>
            <a:off x="672120" y="4932720"/>
            <a:ext cx="953640" cy="49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90000"/>
              </a:lnSpc>
            </a:pPr>
            <a:r>
              <a:rPr b="0" lang="ru-RU" sz="3600" strike="noStrike" u="none">
                <a:solidFill>
                  <a:srgbClr val="6d33ff"/>
                </a:solidFill>
                <a:uFillTx/>
                <a:latin typeface="Wix Madefor Display SemiBold"/>
              </a:rPr>
              <a:t>65%</a:t>
            </a:r>
            <a:endParaRPr b="0" lang="en-GB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4" name="Заголовок 3"/>
          <p:cNvSpPr/>
          <p:nvPr/>
        </p:nvSpPr>
        <p:spPr>
          <a:xfrm>
            <a:off x="731880" y="1953360"/>
            <a:ext cx="3079800" cy="148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</a:pPr>
            <a:r>
              <a:rPr b="0" lang="ru-RU" sz="1800" strike="noStrike" u="none">
                <a:solidFill>
                  <a:srgbClr val="262b28"/>
                </a:solidFill>
                <a:uFillTx/>
                <a:latin typeface="Wix Madefor Display Medium"/>
                <a:ea typeface="PT Root UI"/>
              </a:rPr>
              <a:t>опрошенных </a:t>
            </a:r>
            <a:br>
              <a:rPr sz="1800"/>
            </a:br>
            <a:r>
              <a:rPr b="0" lang="ru-RU" sz="1800" strike="noStrike" u="none">
                <a:solidFill>
                  <a:srgbClr val="262b28"/>
                </a:solidFill>
                <a:uFillTx/>
                <a:latin typeface="Wix Madefor Display Medium"/>
                <a:ea typeface="PT Root UI"/>
              </a:rPr>
              <a:t>ИТ-специалистов </a:t>
            </a:r>
            <a:br>
              <a:rPr sz="1800"/>
            </a:br>
            <a:r>
              <a:rPr b="0" lang="ru-RU" sz="1800" strike="noStrike" u="none">
                <a:solidFill>
                  <a:srgbClr val="262b28"/>
                </a:solidFill>
                <a:uFillTx/>
                <a:latin typeface="Wix Madefor Display Bold"/>
                <a:ea typeface="PT Root UI"/>
              </a:rPr>
              <a:t>используют</a:t>
            </a:r>
            <a:r>
              <a:rPr b="0" lang="ru-RU" sz="1800" strike="noStrike" u="none">
                <a:solidFill>
                  <a:srgbClr val="262b28"/>
                </a:solidFill>
                <a:uFillTx/>
                <a:latin typeface="Wix Madefor Display Medium"/>
                <a:ea typeface="PT Root UI"/>
              </a:rPr>
              <a:t> инструменты </a:t>
            </a:r>
            <a:br>
              <a:rPr sz="1800"/>
            </a:br>
            <a:r>
              <a:rPr b="0" lang="ru-RU" sz="1800" strike="noStrike" u="none">
                <a:solidFill>
                  <a:srgbClr val="262b28"/>
                </a:solidFill>
                <a:uFillTx/>
                <a:latin typeface="Wix Madefor Display Medium"/>
                <a:ea typeface="PT Root UI"/>
              </a:rPr>
              <a:t>с ИИ в своей работе </a:t>
            </a:r>
            <a:br>
              <a:rPr sz="1800"/>
            </a:br>
            <a:r>
              <a:rPr b="0" lang="ru-RU" sz="1800" strike="noStrike" u="none">
                <a:solidFill>
                  <a:srgbClr val="262b28"/>
                </a:solidFill>
                <a:uFillTx/>
                <a:latin typeface="Wix Madefor Display Medium"/>
                <a:ea typeface="PT Root UI"/>
              </a:rPr>
              <a:t>43% </a:t>
            </a:r>
            <a:r>
              <a:rPr b="0" lang="ru-RU" sz="1800" strike="noStrike" u="none">
                <a:solidFill>
                  <a:srgbClr val="262b28"/>
                </a:solidFill>
                <a:uFillTx/>
                <a:latin typeface="Wix Madefor Display Bold"/>
                <a:ea typeface="PT Root UI"/>
              </a:rPr>
              <a:t>планируют </a:t>
            </a:r>
            <a:br>
              <a:rPr sz="1800"/>
            </a:br>
            <a:r>
              <a:rPr b="0" lang="ru-RU" sz="1800" strike="noStrike" u="none">
                <a:solidFill>
                  <a:srgbClr val="262b28"/>
                </a:solidFill>
                <a:uFillTx/>
                <a:latin typeface="Wix Madefor Display Bold"/>
                <a:ea typeface="PT Root UI"/>
              </a:rPr>
              <a:t>их использовать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5" name="Заголовок 3"/>
          <p:cNvSpPr/>
          <p:nvPr/>
        </p:nvSpPr>
        <p:spPr>
          <a:xfrm>
            <a:off x="731880" y="1407240"/>
            <a:ext cx="953640" cy="49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90000"/>
              </a:lnSpc>
            </a:pPr>
            <a:r>
              <a:rPr b="0" lang="ru-RU" sz="3600" strike="noStrike" u="none">
                <a:solidFill>
                  <a:srgbClr val="6d33ff"/>
                </a:solidFill>
                <a:uFillTx/>
                <a:latin typeface="Wix Madefor Display SemiBold"/>
              </a:rPr>
              <a:t>41%</a:t>
            </a:r>
            <a:endParaRPr b="0" lang="en-GB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6" name="Заголовок 3"/>
          <p:cNvSpPr/>
          <p:nvPr/>
        </p:nvSpPr>
        <p:spPr>
          <a:xfrm>
            <a:off x="736560" y="3817080"/>
            <a:ext cx="2803680" cy="98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</a:pPr>
            <a:r>
              <a:rPr b="0" lang="ru-RU" sz="1800" strike="noStrike" u="none">
                <a:solidFill>
                  <a:srgbClr val="262b28"/>
                </a:solidFill>
                <a:uFillTx/>
                <a:latin typeface="Wix Madefor Display Medium"/>
                <a:ea typeface="PT Root UI"/>
              </a:rPr>
              <a:t>Инструменты с ИИ чаще использует молодое </a:t>
            </a:r>
            <a:br>
              <a:rPr sz="1800"/>
            </a:br>
            <a:r>
              <a:rPr b="0" lang="ru-RU" sz="1800" strike="noStrike" u="none">
                <a:solidFill>
                  <a:srgbClr val="262b28"/>
                </a:solidFill>
                <a:uFillTx/>
                <a:latin typeface="Wix Madefor Display Medium"/>
                <a:ea typeface="PT Root UI"/>
              </a:rPr>
              <a:t>поколение в возрасте </a:t>
            </a:r>
            <a:br>
              <a:rPr sz="1800"/>
            </a:br>
            <a:r>
              <a:rPr b="0" lang="ru-RU" sz="1800" strike="noStrike" u="none">
                <a:solidFill>
                  <a:srgbClr val="262b28"/>
                </a:solidFill>
                <a:uFillTx/>
                <a:latin typeface="Wix Madefor Display Medium"/>
                <a:ea typeface="PT Root UI"/>
              </a:rPr>
              <a:t>18-25 лет –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7" name="Заголовок 3"/>
          <p:cNvSpPr/>
          <p:nvPr/>
        </p:nvSpPr>
        <p:spPr>
          <a:xfrm>
            <a:off x="4330800" y="1166400"/>
            <a:ext cx="7457760" cy="49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</a:pPr>
            <a:r>
              <a:rPr b="0" lang="ru-RU" sz="1800" strike="noStrike" u="none">
                <a:solidFill>
                  <a:schemeClr val="dk1">
                    <a:lumMod val="95000"/>
                    <a:lumOff val="5000"/>
                  </a:schemeClr>
                </a:solidFill>
                <a:uFillTx/>
                <a:latin typeface="Wix Madefor Display SemiBold"/>
              </a:rPr>
              <a:t>Используете ли Вы инструменты</a:t>
            </a:r>
            <a:r>
              <a:rPr b="0" lang="en-US" sz="1800" strike="noStrike" u="none">
                <a:solidFill>
                  <a:schemeClr val="dk1">
                    <a:lumMod val="95000"/>
                    <a:lumOff val="5000"/>
                  </a:schemeClr>
                </a:solidFill>
                <a:uFillTx/>
                <a:latin typeface="Wix Madefor Display SemiBold"/>
              </a:rPr>
              <a:t> </a:t>
            </a:r>
            <a:r>
              <a:rPr b="0" lang="ru-RU" sz="1800" strike="noStrike" u="none">
                <a:solidFill>
                  <a:schemeClr val="dk1">
                    <a:lumMod val="95000"/>
                    <a:lumOff val="5000"/>
                  </a:schemeClr>
                </a:solidFill>
                <a:uFillTx/>
                <a:latin typeface="Wix Madefor Display SemiBold"/>
              </a:rPr>
              <a:t>с искусственным </a:t>
            </a:r>
            <a:br>
              <a:rPr sz="1800"/>
            </a:br>
            <a:r>
              <a:rPr b="0" lang="ru-RU" sz="1800" strike="noStrike" u="none">
                <a:solidFill>
                  <a:schemeClr val="dk1">
                    <a:lumMod val="95000"/>
                    <a:lumOff val="5000"/>
                  </a:schemeClr>
                </a:solidFill>
                <a:uFillTx/>
                <a:latin typeface="Wix Madefor Display SemiBold"/>
              </a:rPr>
              <a:t>интеллектом</a:t>
            </a:r>
            <a:r>
              <a:rPr b="0" lang="en-US" sz="1800" strike="noStrike" u="none">
                <a:solidFill>
                  <a:schemeClr val="dk1">
                    <a:lumMod val="95000"/>
                    <a:lumOff val="5000"/>
                  </a:schemeClr>
                </a:solidFill>
                <a:uFillTx/>
                <a:latin typeface="Wix Madefor Display SemiBold"/>
              </a:rPr>
              <a:t> </a:t>
            </a:r>
            <a:r>
              <a:rPr b="0" lang="ru-RU" sz="1800" strike="noStrike" u="none">
                <a:solidFill>
                  <a:schemeClr val="dk1">
                    <a:lumMod val="95000"/>
                    <a:lumOff val="5000"/>
                  </a:schemeClr>
                </a:solidFill>
                <a:uFillTx/>
                <a:latin typeface="Wix Madefor Display SemiBold"/>
              </a:rPr>
              <a:t>в своей работе?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138" name="Группа 2"/>
          <p:cNvGrpSpPr/>
          <p:nvPr/>
        </p:nvGrpSpPr>
        <p:grpSpPr>
          <a:xfrm>
            <a:off x="4330800" y="1871640"/>
            <a:ext cx="1104480" cy="694080"/>
            <a:chOff x="4330800" y="1871640"/>
            <a:chExt cx="1104480" cy="694080"/>
          </a:xfrm>
        </p:grpSpPr>
        <p:sp>
          <p:nvSpPr>
            <p:cNvPr id="139" name="Заголовок 3"/>
            <p:cNvSpPr/>
            <p:nvPr/>
          </p:nvSpPr>
          <p:spPr>
            <a:xfrm>
              <a:off x="4330800" y="2329560"/>
              <a:ext cx="844920" cy="236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72000" anchor="t">
              <a:spAutoFit/>
            </a:bodyPr>
            <a:p>
              <a:pPr defTabSz="914400">
                <a:lnSpc>
                  <a:spcPct val="90000"/>
                </a:lnSpc>
                <a:spcAft>
                  <a:spcPts val="300"/>
                </a:spcAft>
              </a:pPr>
              <a:r>
                <a:rPr b="0" lang="ru-RU" sz="1200" strike="noStrike" u="none">
                  <a:solidFill>
                    <a:schemeClr val="dk1">
                      <a:lumMod val="95000"/>
                      <a:lumOff val="5000"/>
                    </a:schemeClr>
                  </a:solidFill>
                  <a:uFillTx/>
                  <a:latin typeface="Wix Madefor Display Medium"/>
                </a:rPr>
                <a:t>Да</a:t>
              </a:r>
              <a:endParaRPr b="0" lang="en-GB" sz="12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40" name="Заголовок 3"/>
            <p:cNvSpPr/>
            <p:nvPr/>
          </p:nvSpPr>
          <p:spPr>
            <a:xfrm>
              <a:off x="4330800" y="1871640"/>
              <a:ext cx="1104480" cy="494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ct val="90000"/>
                </a:lnSpc>
              </a:pPr>
              <a:r>
                <a:rPr b="0" lang="ru-RU" sz="3600" strike="noStrike" u="none">
                  <a:solidFill>
                    <a:srgbClr val="fa32bc"/>
                  </a:solidFill>
                  <a:uFillTx/>
                  <a:latin typeface="Wix Madefor Display SemiBold"/>
                </a:rPr>
                <a:t>41</a:t>
              </a:r>
              <a:r>
                <a:rPr b="0" lang="en-US" sz="3600" strike="noStrike" u="none">
                  <a:solidFill>
                    <a:srgbClr val="fa32bc"/>
                  </a:solidFill>
                  <a:uFillTx/>
                  <a:latin typeface="Wix Madefor Display SemiBold"/>
                </a:rPr>
                <a:t>%</a:t>
              </a:r>
              <a:endParaRPr b="0" lang="en-GB" sz="36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grpSp>
        <p:nvGrpSpPr>
          <p:cNvPr id="141" name="Группа 16"/>
          <p:cNvGrpSpPr/>
          <p:nvPr/>
        </p:nvGrpSpPr>
        <p:grpSpPr>
          <a:xfrm>
            <a:off x="6183360" y="1871640"/>
            <a:ext cx="1348200" cy="868680"/>
            <a:chOff x="6183360" y="1871640"/>
            <a:chExt cx="1348200" cy="868680"/>
          </a:xfrm>
        </p:grpSpPr>
        <p:sp>
          <p:nvSpPr>
            <p:cNvPr id="142" name="Заголовок 3"/>
            <p:cNvSpPr/>
            <p:nvPr/>
          </p:nvSpPr>
          <p:spPr>
            <a:xfrm>
              <a:off x="6183360" y="2339640"/>
              <a:ext cx="1348200" cy="400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72000" anchor="t">
              <a:spAutoFit/>
            </a:bodyPr>
            <a:p>
              <a:pPr defTabSz="914400">
                <a:lnSpc>
                  <a:spcPct val="90000"/>
                </a:lnSpc>
                <a:spcAft>
                  <a:spcPts val="300"/>
                </a:spcAft>
              </a:pPr>
              <a:r>
                <a:rPr b="0" lang="ru-RU" sz="1200" strike="noStrike" u="none">
                  <a:solidFill>
                    <a:schemeClr val="dk1">
                      <a:lumMod val="95000"/>
                      <a:lumOff val="5000"/>
                    </a:schemeClr>
                  </a:solidFill>
                  <a:uFillTx/>
                  <a:latin typeface="Wix Madefor Display Medium"/>
                </a:rPr>
                <a:t>Нет, но планирую </a:t>
              </a:r>
              <a:br>
                <a:rPr sz="1200"/>
              </a:br>
              <a:r>
                <a:rPr b="0" lang="ru-RU" sz="1200" strike="noStrike" u="none">
                  <a:solidFill>
                    <a:schemeClr val="dk1">
                      <a:lumMod val="95000"/>
                      <a:lumOff val="5000"/>
                    </a:schemeClr>
                  </a:solidFill>
                  <a:uFillTx/>
                  <a:latin typeface="Wix Madefor Display Medium"/>
                </a:rPr>
                <a:t>использовать</a:t>
              </a:r>
              <a:endParaRPr b="0" lang="en-GB" sz="12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43" name="Заголовок 3"/>
            <p:cNvSpPr/>
            <p:nvPr/>
          </p:nvSpPr>
          <p:spPr>
            <a:xfrm>
              <a:off x="6183360" y="1871640"/>
              <a:ext cx="1104480" cy="494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ct val="90000"/>
                </a:lnSpc>
              </a:pPr>
              <a:r>
                <a:rPr b="0" lang="ru-RU" sz="3600" strike="noStrike" u="none">
                  <a:solidFill>
                    <a:srgbClr val="6d33ff"/>
                  </a:solidFill>
                  <a:uFillTx/>
                  <a:latin typeface="Wix Madefor Display SemiBold"/>
                </a:rPr>
                <a:t>43</a:t>
              </a:r>
              <a:r>
                <a:rPr b="0" lang="en-US" sz="3600" strike="noStrike" u="none">
                  <a:solidFill>
                    <a:srgbClr val="6d33ff"/>
                  </a:solidFill>
                  <a:uFillTx/>
                  <a:latin typeface="Wix Madefor Display SemiBold"/>
                </a:rPr>
                <a:t>%</a:t>
              </a:r>
              <a:endParaRPr b="0" lang="en-GB" sz="36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grpSp>
        <p:nvGrpSpPr>
          <p:cNvPr id="144" name="Группа 19"/>
          <p:cNvGrpSpPr/>
          <p:nvPr/>
        </p:nvGrpSpPr>
        <p:grpSpPr>
          <a:xfrm>
            <a:off x="8279640" y="1871640"/>
            <a:ext cx="1493640" cy="1043280"/>
            <a:chOff x="8279640" y="1871640"/>
            <a:chExt cx="1493640" cy="1043280"/>
          </a:xfrm>
        </p:grpSpPr>
        <p:sp>
          <p:nvSpPr>
            <p:cNvPr id="145" name="Заголовок 3"/>
            <p:cNvSpPr/>
            <p:nvPr/>
          </p:nvSpPr>
          <p:spPr>
            <a:xfrm>
              <a:off x="8279640" y="2349720"/>
              <a:ext cx="1493640" cy="565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72000" anchor="t">
              <a:spAutoFit/>
            </a:bodyPr>
            <a:p>
              <a:pPr defTabSz="914400">
                <a:lnSpc>
                  <a:spcPct val="90000"/>
                </a:lnSpc>
                <a:spcAft>
                  <a:spcPts val="300"/>
                </a:spcAft>
              </a:pPr>
              <a:r>
                <a:rPr b="0" lang="ru-RU" sz="1200" strike="noStrike" u="none">
                  <a:solidFill>
                    <a:schemeClr val="dk1">
                      <a:lumMod val="95000"/>
                      <a:lumOff val="5000"/>
                    </a:schemeClr>
                  </a:solidFill>
                  <a:uFillTx/>
                  <a:latin typeface="Wix Madefor Display Medium"/>
                </a:rPr>
                <a:t>Нет, и НЕ планирую </a:t>
              </a:r>
              <a:br>
                <a:rPr sz="1200"/>
              </a:br>
              <a:r>
                <a:rPr b="0" lang="ru-RU" sz="1200" strike="noStrike" u="none">
                  <a:solidFill>
                    <a:schemeClr val="dk1">
                      <a:lumMod val="95000"/>
                      <a:lumOff val="5000"/>
                    </a:schemeClr>
                  </a:solidFill>
                  <a:uFillTx/>
                  <a:latin typeface="Wix Madefor Display Medium"/>
                </a:rPr>
                <a:t>использовать</a:t>
              </a:r>
              <a:endParaRPr b="0" lang="en-GB" sz="12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46" name="Заголовок 3"/>
            <p:cNvSpPr/>
            <p:nvPr/>
          </p:nvSpPr>
          <p:spPr>
            <a:xfrm>
              <a:off x="8279640" y="1871640"/>
              <a:ext cx="1104480" cy="494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ct val="90000"/>
                </a:lnSpc>
              </a:pPr>
              <a:r>
                <a:rPr b="0" lang="ru-RU" sz="3600" strike="noStrike" u="none">
                  <a:solidFill>
                    <a:srgbClr val="16017d"/>
                  </a:solidFill>
                  <a:uFillTx/>
                  <a:latin typeface="Wix Madefor Display SemiBold"/>
                </a:rPr>
                <a:t>12</a:t>
              </a:r>
              <a:r>
                <a:rPr b="0" lang="en-US" sz="3600" strike="noStrike" u="none">
                  <a:solidFill>
                    <a:srgbClr val="16017d"/>
                  </a:solidFill>
                  <a:uFillTx/>
                  <a:latin typeface="Wix Madefor Display SemiBold"/>
                </a:rPr>
                <a:t>%</a:t>
              </a:r>
              <a:endParaRPr b="0" lang="en-GB" sz="36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grpSp>
        <p:nvGrpSpPr>
          <p:cNvPr id="147" name="Группа 22"/>
          <p:cNvGrpSpPr/>
          <p:nvPr/>
        </p:nvGrpSpPr>
        <p:grpSpPr>
          <a:xfrm>
            <a:off x="10521360" y="1871640"/>
            <a:ext cx="1011600" cy="883440"/>
            <a:chOff x="10521360" y="1871640"/>
            <a:chExt cx="1011600" cy="883440"/>
          </a:xfrm>
        </p:grpSpPr>
        <p:sp>
          <p:nvSpPr>
            <p:cNvPr id="148" name="Заголовок 3"/>
            <p:cNvSpPr/>
            <p:nvPr/>
          </p:nvSpPr>
          <p:spPr>
            <a:xfrm>
              <a:off x="10521360" y="2354400"/>
              <a:ext cx="1011600" cy="400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72000" anchor="t">
              <a:spAutoFit/>
            </a:bodyPr>
            <a:p>
              <a:pPr defTabSz="914400">
                <a:lnSpc>
                  <a:spcPct val="90000"/>
                </a:lnSpc>
                <a:spcAft>
                  <a:spcPts val="300"/>
                </a:spcAft>
              </a:pPr>
              <a:r>
                <a:rPr b="0" lang="ru-RU" sz="1200" strike="noStrike" u="none">
                  <a:solidFill>
                    <a:schemeClr val="dk1">
                      <a:lumMod val="95000"/>
                      <a:lumOff val="5000"/>
                    </a:schemeClr>
                  </a:solidFill>
                  <a:uFillTx/>
                  <a:latin typeface="Wix Madefor Display Medium"/>
                </a:rPr>
                <a:t>Затрудняюсь ответить</a:t>
              </a:r>
              <a:endParaRPr b="0" lang="en-GB" sz="12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49" name="Заголовок 3"/>
            <p:cNvSpPr/>
            <p:nvPr/>
          </p:nvSpPr>
          <p:spPr>
            <a:xfrm>
              <a:off x="10521360" y="1871640"/>
              <a:ext cx="1011600" cy="494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ct val="90000"/>
                </a:lnSpc>
              </a:pPr>
              <a:r>
                <a:rPr b="0" lang="ru-RU" sz="3600" strike="noStrike" u="none">
                  <a:solidFill>
                    <a:srgbClr val="8a80be"/>
                  </a:solidFill>
                  <a:uFillTx/>
                  <a:latin typeface="Wix Madefor Display SemiBold"/>
                </a:rPr>
                <a:t>4</a:t>
              </a:r>
              <a:r>
                <a:rPr b="0" lang="en-US" sz="3600" strike="noStrike" u="none">
                  <a:solidFill>
                    <a:srgbClr val="8a80be"/>
                  </a:solidFill>
                  <a:uFillTx/>
                  <a:latin typeface="Wix Madefor Display SemiBold"/>
                </a:rPr>
                <a:t>%</a:t>
              </a:r>
              <a:endParaRPr b="0" lang="en-GB" sz="36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cxnSp>
        <p:nvCxnSpPr>
          <p:cNvPr id="150" name="Прямая соединительная линия 25"/>
          <p:cNvCxnSpPr/>
          <p:nvPr/>
        </p:nvCxnSpPr>
        <p:spPr>
          <a:xfrm>
            <a:off x="6897960" y="2744640"/>
            <a:ext cx="360" cy="2613960"/>
          </a:xfrm>
          <a:prstGeom prst="straightConnector1">
            <a:avLst/>
          </a:prstGeom>
          <a:ln w="19050">
            <a:solidFill>
              <a:srgbClr val="6b31fc"/>
            </a:solidFill>
          </a:ln>
        </p:spPr>
      </p:cxnSp>
      <p:cxnSp>
        <p:nvCxnSpPr>
          <p:cNvPr id="151" name="Прямая соединительная линия 32"/>
          <p:cNvCxnSpPr/>
          <p:nvPr/>
        </p:nvCxnSpPr>
        <p:spPr>
          <a:xfrm>
            <a:off x="4445640" y="2568240"/>
            <a:ext cx="360" cy="1790280"/>
          </a:xfrm>
          <a:prstGeom prst="straightConnector1">
            <a:avLst/>
          </a:prstGeom>
          <a:ln w="19050">
            <a:solidFill>
              <a:srgbClr val="fa32bc"/>
            </a:solidFill>
          </a:ln>
        </p:spPr>
      </p:cxnSp>
      <p:cxnSp>
        <p:nvCxnSpPr>
          <p:cNvPr id="152" name="Прямая соединительная линия 34"/>
          <p:cNvCxnSpPr/>
          <p:nvPr/>
        </p:nvCxnSpPr>
        <p:spPr>
          <a:xfrm>
            <a:off x="4445640" y="4358160"/>
            <a:ext cx="595800" cy="360"/>
          </a:xfrm>
          <a:prstGeom prst="straightConnector1">
            <a:avLst/>
          </a:prstGeom>
          <a:ln w="19050">
            <a:solidFill>
              <a:srgbClr val="fa32bc"/>
            </a:solidFill>
          </a:ln>
        </p:spPr>
      </p:cxnSp>
      <p:cxnSp>
        <p:nvCxnSpPr>
          <p:cNvPr id="153" name="Прямая соединительная линия 43"/>
          <p:cNvCxnSpPr/>
          <p:nvPr/>
        </p:nvCxnSpPr>
        <p:spPr>
          <a:xfrm>
            <a:off x="10635840" y="2744640"/>
            <a:ext cx="360" cy="1809360"/>
          </a:xfrm>
          <a:prstGeom prst="straightConnector1">
            <a:avLst/>
          </a:prstGeom>
          <a:ln w="19050">
            <a:solidFill>
              <a:srgbClr val="8a80be"/>
            </a:solidFill>
          </a:ln>
        </p:spPr>
      </p:cxnSp>
      <p:cxnSp>
        <p:nvCxnSpPr>
          <p:cNvPr id="154" name="Прямая соединительная линия 45"/>
          <p:cNvCxnSpPr/>
          <p:nvPr/>
        </p:nvCxnSpPr>
        <p:spPr>
          <a:xfrm>
            <a:off x="8793360" y="2744640"/>
            <a:ext cx="360" cy="704880"/>
          </a:xfrm>
          <a:prstGeom prst="straightConnector1">
            <a:avLst/>
          </a:prstGeom>
          <a:ln w="19050">
            <a:solidFill>
              <a:srgbClr val="16017d"/>
            </a:solidFill>
          </a:ln>
        </p:spPr>
      </p:cxn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09FF896C-B3B7-4940-A3FB-D21AC6717B99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5" name="Диаграмма 51"/>
          <p:cNvGraphicFramePr/>
          <p:nvPr/>
        </p:nvGraphicFramePr>
        <p:xfrm>
          <a:off x="442800" y="2976120"/>
          <a:ext cx="7116120" cy="3165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1149120" y="367200"/>
            <a:ext cx="7929360" cy="38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2800" strike="noStrike" u="none">
                <a:solidFill>
                  <a:srgbClr val="262b28"/>
                </a:solidFill>
                <a:uFillTx/>
                <a:latin typeface="Wix Madefor Display SemiBold"/>
              </a:rPr>
              <a:t>Технологии искусственного интеллекта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57" name="Заголовок 3"/>
          <p:cNvSpPr/>
          <p:nvPr/>
        </p:nvSpPr>
        <p:spPr>
          <a:xfrm>
            <a:off x="1149120" y="824760"/>
            <a:ext cx="10599840" cy="19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</a:pPr>
            <a:r>
              <a:rPr b="0" lang="ru-RU" sz="1400" strike="noStrike" u="none">
                <a:solidFill>
                  <a:srgbClr val="262b28"/>
                </a:solidFill>
                <a:uFillTx/>
                <a:latin typeface="Wix Madefor Display Bold"/>
              </a:rPr>
              <a:t>Самые часто используемые технологии – генеративный ИИ (72%) и синтез и распознавание речи (62%)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8" name="Заголовок 3"/>
          <p:cNvSpPr/>
          <p:nvPr/>
        </p:nvSpPr>
        <p:spPr>
          <a:xfrm>
            <a:off x="442800" y="1334160"/>
            <a:ext cx="5198760" cy="49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</a:pPr>
            <a:r>
              <a:rPr b="0" lang="ru-RU" sz="1800" strike="noStrike" u="none">
                <a:solidFill>
                  <a:srgbClr val="262b28"/>
                </a:solidFill>
                <a:uFillTx/>
                <a:latin typeface="Wix Madefor Display SemiBold"/>
              </a:rPr>
              <a:t>Какой тип технологий искусственного интеллекта Вы используете в своей работе? 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9" name="Заголовок 3"/>
          <p:cNvSpPr/>
          <p:nvPr/>
        </p:nvSpPr>
        <p:spPr>
          <a:xfrm>
            <a:off x="442800" y="1926360"/>
            <a:ext cx="454716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</a:pPr>
            <a:r>
              <a:rPr b="0" lang="ru-RU" sz="1200" strike="noStrike" u="none">
                <a:solidFill>
                  <a:schemeClr val="dk1"/>
                </a:solidFill>
                <a:uFillTx/>
                <a:latin typeface="Wix Madefor Display Medium"/>
              </a:rPr>
              <a:t>вопрос задавался тем, кто использует ИИ в работе</a:t>
            </a: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0" name="Заголовок 3"/>
          <p:cNvSpPr/>
          <p:nvPr/>
        </p:nvSpPr>
        <p:spPr>
          <a:xfrm>
            <a:off x="442800" y="5485680"/>
            <a:ext cx="203940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80000"/>
              </a:lnSpc>
            </a:pPr>
            <a:r>
              <a:rPr b="0" lang="ru-RU" sz="1400" strike="noStrike" u="none">
                <a:solidFill>
                  <a:schemeClr val="dk1"/>
                </a:solidFill>
                <a:uFillTx/>
                <a:latin typeface="Wix Madefor Display Medium"/>
              </a:rPr>
              <a:t>Компьютерное зрение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1" name="Заголовок 3"/>
          <p:cNvSpPr/>
          <p:nvPr/>
        </p:nvSpPr>
        <p:spPr>
          <a:xfrm>
            <a:off x="442800" y="4867560"/>
            <a:ext cx="289944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80000"/>
              </a:lnSpc>
            </a:pPr>
            <a:r>
              <a:rPr b="0" lang="ru-RU" sz="1400" strike="noStrike" u="none">
                <a:solidFill>
                  <a:schemeClr val="dk1"/>
                </a:solidFill>
                <a:uFillTx/>
                <a:latin typeface="Wix Madefor Display Medium"/>
              </a:rPr>
              <a:t>Обработка естественного языка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2" name="Заголовок 3"/>
          <p:cNvSpPr/>
          <p:nvPr/>
        </p:nvSpPr>
        <p:spPr>
          <a:xfrm>
            <a:off x="442800" y="4234680"/>
            <a:ext cx="359028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80000"/>
              </a:lnSpc>
            </a:pPr>
            <a:r>
              <a:rPr b="0" lang="ru-RU" sz="1400" strike="noStrike" u="none">
                <a:solidFill>
                  <a:schemeClr val="dk1"/>
                </a:solidFill>
                <a:uFillTx/>
                <a:latin typeface="Wix Madefor Display Medium"/>
              </a:rPr>
              <a:t>Системы поддержки принятия решений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3" name="Заголовок 3"/>
          <p:cNvSpPr/>
          <p:nvPr/>
        </p:nvSpPr>
        <p:spPr>
          <a:xfrm>
            <a:off x="442800" y="3602520"/>
            <a:ext cx="263520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80000"/>
              </a:lnSpc>
            </a:pPr>
            <a:r>
              <a:rPr b="0" lang="ru-RU" sz="1400" strike="noStrike" u="none">
                <a:solidFill>
                  <a:schemeClr val="dk1"/>
                </a:solidFill>
                <a:uFillTx/>
                <a:latin typeface="Wix Madefor Display Medium"/>
              </a:rPr>
              <a:t>Синтез и распознавание речи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4" name="Заголовок 3"/>
          <p:cNvSpPr/>
          <p:nvPr/>
        </p:nvSpPr>
        <p:spPr>
          <a:xfrm>
            <a:off x="442800" y="2973240"/>
            <a:ext cx="188928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80000"/>
              </a:lnSpc>
            </a:pPr>
            <a:r>
              <a:rPr b="0" lang="ru-RU" sz="1400" strike="noStrike" u="none">
                <a:solidFill>
                  <a:schemeClr val="dk1"/>
                </a:solidFill>
                <a:uFillTx/>
                <a:latin typeface="Wix Madefor Display Medium"/>
              </a:rPr>
              <a:t>Генеративный ИИ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165" name="Группа 52"/>
          <p:cNvGrpSpPr/>
          <p:nvPr/>
        </p:nvGrpSpPr>
        <p:grpSpPr>
          <a:xfrm>
            <a:off x="450000" y="2277000"/>
            <a:ext cx="3764520" cy="475200"/>
            <a:chOff x="450000" y="2277000"/>
            <a:chExt cx="3764520" cy="475200"/>
          </a:xfrm>
        </p:grpSpPr>
        <p:sp>
          <p:nvSpPr>
            <p:cNvPr id="166" name="Прямоугольник 53"/>
            <p:cNvSpPr/>
            <p:nvPr/>
          </p:nvSpPr>
          <p:spPr>
            <a:xfrm>
              <a:off x="450000" y="2277000"/>
              <a:ext cx="199800" cy="199800"/>
            </a:xfrm>
            <a:prstGeom prst="rect">
              <a:avLst/>
            </a:prstGeom>
            <a:solidFill>
              <a:srgbClr val="6d33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RU" sz="1800" strike="noStrike" u="none">
                <a:solidFill>
                  <a:schemeClr val="lt1"/>
                </a:solidFill>
                <a:uFillTx/>
                <a:latin typeface="Calibri"/>
              </a:endParaRPr>
            </a:p>
          </p:txBody>
        </p:sp>
        <p:sp>
          <p:nvSpPr>
            <p:cNvPr id="167" name="Прямоугольник 54"/>
            <p:cNvSpPr/>
            <p:nvPr/>
          </p:nvSpPr>
          <p:spPr>
            <a:xfrm>
              <a:off x="2490120" y="2277000"/>
              <a:ext cx="199800" cy="199800"/>
            </a:xfrm>
            <a:prstGeom prst="rect">
              <a:avLst/>
            </a:prstGeom>
            <a:solidFill>
              <a:srgbClr val="00d2b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RU" sz="1800" strike="noStrike" u="none">
                <a:solidFill>
                  <a:schemeClr val="lt1"/>
                </a:solidFill>
                <a:uFillTx/>
                <a:latin typeface="Calibri"/>
              </a:endParaRPr>
            </a:p>
          </p:txBody>
        </p:sp>
        <p:sp>
          <p:nvSpPr>
            <p:cNvPr id="168" name="Заголовок 3"/>
            <p:cNvSpPr/>
            <p:nvPr/>
          </p:nvSpPr>
          <p:spPr>
            <a:xfrm>
              <a:off x="743400" y="2315160"/>
              <a:ext cx="1107360" cy="124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ct val="90000"/>
                </a:lnSpc>
              </a:pPr>
              <a:r>
                <a:rPr b="0" lang="ru-RU" sz="900" strike="noStrike" u="none">
                  <a:solidFill>
                    <a:schemeClr val="dk1"/>
                  </a:solidFill>
                  <a:uFillTx/>
                  <a:latin typeface="Wix Madefor Display Medium"/>
                </a:rPr>
                <a:t>Знаю и использую</a:t>
              </a:r>
              <a:endParaRPr b="0" lang="en-GB" sz="9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69" name="Заголовок 3"/>
            <p:cNvSpPr/>
            <p:nvPr/>
          </p:nvSpPr>
          <p:spPr>
            <a:xfrm>
              <a:off x="2779560" y="2315160"/>
              <a:ext cx="1434960" cy="124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ct val="90000"/>
                </a:lnSpc>
              </a:pPr>
              <a:r>
                <a:rPr b="0" lang="ru-RU" sz="900" strike="noStrike" u="none">
                  <a:solidFill>
                    <a:schemeClr val="dk1"/>
                  </a:solidFill>
                  <a:uFillTx/>
                  <a:latin typeface="Wix Madefor Display Medium"/>
                </a:rPr>
                <a:t>Знаю, но не использую</a:t>
              </a:r>
              <a:endParaRPr b="0" lang="en-GB" sz="9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70" name="Прямоугольник 59"/>
            <p:cNvSpPr/>
            <p:nvPr/>
          </p:nvSpPr>
          <p:spPr>
            <a:xfrm>
              <a:off x="450000" y="2545920"/>
              <a:ext cx="199800" cy="199800"/>
            </a:xfrm>
            <a:prstGeom prst="rect">
              <a:avLst/>
            </a:prstGeom>
            <a:solidFill>
              <a:srgbClr val="fa37b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RU" sz="1800" strike="noStrike" u="none">
                <a:solidFill>
                  <a:schemeClr val="lt1"/>
                </a:solidFill>
                <a:uFillTx/>
                <a:latin typeface="Calibri"/>
              </a:endParaRPr>
            </a:p>
          </p:txBody>
        </p:sp>
        <p:sp>
          <p:nvSpPr>
            <p:cNvPr id="171" name="Заголовок 3"/>
            <p:cNvSpPr/>
            <p:nvPr/>
          </p:nvSpPr>
          <p:spPr>
            <a:xfrm>
              <a:off x="739800" y="2584440"/>
              <a:ext cx="1434960" cy="124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ct val="90000"/>
                </a:lnSpc>
              </a:pPr>
              <a:r>
                <a:rPr b="0" lang="ru-RU" sz="900" strike="noStrike" u="none">
                  <a:solidFill>
                    <a:schemeClr val="dk1"/>
                  </a:solidFill>
                  <a:uFillTx/>
                  <a:latin typeface="Wix Madefor Display Medium"/>
                </a:rPr>
                <a:t>НЕ знаю, и НЕ использую</a:t>
              </a:r>
              <a:endParaRPr b="0" lang="en-GB" sz="9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72" name="Прямоугольник 64"/>
            <p:cNvSpPr/>
            <p:nvPr/>
          </p:nvSpPr>
          <p:spPr>
            <a:xfrm>
              <a:off x="2490120" y="2552400"/>
              <a:ext cx="199800" cy="199800"/>
            </a:xfrm>
            <a:prstGeom prst="rect">
              <a:avLst/>
            </a:prstGeom>
            <a:solidFill>
              <a:srgbClr val="e4e4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RU" sz="1800" strike="noStrike" u="none">
                <a:solidFill>
                  <a:schemeClr val="lt1"/>
                </a:solidFill>
                <a:uFillTx/>
                <a:latin typeface="Calibri"/>
              </a:endParaRPr>
            </a:p>
          </p:txBody>
        </p:sp>
        <p:sp>
          <p:nvSpPr>
            <p:cNvPr id="173" name="Заголовок 3"/>
            <p:cNvSpPr/>
            <p:nvPr/>
          </p:nvSpPr>
          <p:spPr>
            <a:xfrm>
              <a:off x="2779560" y="2590920"/>
              <a:ext cx="1434960" cy="124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ct val="90000"/>
                </a:lnSpc>
              </a:pPr>
              <a:r>
                <a:rPr b="0" lang="ru-RU" sz="900" strike="noStrike" u="none">
                  <a:solidFill>
                    <a:schemeClr val="dk1"/>
                  </a:solidFill>
                  <a:uFillTx/>
                  <a:latin typeface="Wix Madefor Display Medium"/>
                </a:rPr>
                <a:t>Затрудняюсь ответить</a:t>
              </a:r>
              <a:endParaRPr b="0" lang="en-GB" sz="9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sp>
        <p:nvSpPr>
          <p:cNvPr id="174" name="Заголовок 3"/>
          <p:cNvSpPr/>
          <p:nvPr/>
        </p:nvSpPr>
        <p:spPr>
          <a:xfrm>
            <a:off x="9078840" y="1344600"/>
            <a:ext cx="266256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</a:pPr>
            <a:r>
              <a:rPr b="0" lang="ru-RU" sz="1400" strike="noStrike" u="none">
                <a:solidFill>
                  <a:srgbClr val="262b28"/>
                </a:solidFill>
                <a:uFillTx/>
                <a:latin typeface="Wix Madefor Display Medium"/>
              </a:rPr>
              <a:t>специалистов, которые используют ИИ, </a:t>
            </a:r>
            <a:r>
              <a:rPr b="0" lang="ru-RU" sz="1400" strike="noStrike" u="none">
                <a:solidFill>
                  <a:srgbClr val="262b28"/>
                </a:solidFill>
                <a:uFillTx/>
                <a:latin typeface="Wix Madefor Display Bold"/>
              </a:rPr>
              <a:t>знают</a:t>
            </a:r>
            <a:br>
              <a:rPr sz="1400"/>
            </a:br>
            <a:r>
              <a:rPr b="0" lang="ru-RU" sz="1400" strike="noStrike" u="none">
                <a:solidFill>
                  <a:srgbClr val="262b28"/>
                </a:solidFill>
                <a:uFillTx/>
                <a:latin typeface="Wix Madefor Display Bold"/>
              </a:rPr>
              <a:t>о всех 5 типах технологий искусственного интеллекта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5" name="Прямоугольник: скругленные углы 77"/>
          <p:cNvSpPr/>
          <p:nvPr/>
        </p:nvSpPr>
        <p:spPr>
          <a:xfrm>
            <a:off x="7969680" y="2739240"/>
            <a:ext cx="3808800" cy="3620880"/>
          </a:xfrm>
          <a:prstGeom prst="roundRect">
            <a:avLst>
              <a:gd name="adj" fmla="val 2286"/>
            </a:avLst>
          </a:prstGeom>
          <a:solidFill>
            <a:srgbClr val="cacae5">
              <a:alpha val="50000"/>
            </a:srgb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76" name="Заголовок 3"/>
          <p:cNvSpPr/>
          <p:nvPr/>
        </p:nvSpPr>
        <p:spPr>
          <a:xfrm>
            <a:off x="8254440" y="2976120"/>
            <a:ext cx="3239280" cy="219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  <a:spcAft>
                <a:spcPts val="601"/>
              </a:spcAft>
            </a:pPr>
            <a:r>
              <a:rPr b="0" lang="ru-RU" sz="1400" strike="noStrike" u="none">
                <a:solidFill>
                  <a:schemeClr val="dk1"/>
                </a:solidFill>
                <a:uFillTx/>
                <a:latin typeface="Wix Madefor Display Medium"/>
              </a:rPr>
              <a:t>В целом ИИ чаще используют начинающие и специалисты среднего уровня* специалисты – 45%, что на 7 п.п. выше, чем среди опытных специалистов **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90000"/>
              </a:lnSpc>
              <a:spcAft>
                <a:spcPts val="601"/>
              </a:spcAft>
            </a:pPr>
            <a:r>
              <a:rPr b="0" lang="ru-RU" sz="1400" strike="noStrike" u="none">
                <a:solidFill>
                  <a:schemeClr val="dk1"/>
                </a:solidFill>
                <a:uFillTx/>
                <a:latin typeface="Wix Madefor Display Medium"/>
              </a:rPr>
              <a:t>При этом </a:t>
            </a:r>
            <a:r>
              <a:rPr b="0" lang="ru-RU" sz="1400" strike="noStrike" u="none">
                <a:solidFill>
                  <a:schemeClr val="dk1"/>
                </a:solidFill>
                <a:uFillTx/>
                <a:latin typeface="Wix Madefor Display Bold"/>
              </a:rPr>
              <a:t>все 5 типов технологий </a:t>
            </a:r>
            <a:r>
              <a:rPr b="0" lang="ru-RU" sz="1400" strike="noStrike" u="none">
                <a:solidFill>
                  <a:schemeClr val="dk1"/>
                </a:solidFill>
                <a:uFillTx/>
                <a:latin typeface="Wix Madefor Display Medium"/>
              </a:rPr>
              <a:t>искусственного интеллекта как правило </a:t>
            </a:r>
            <a:r>
              <a:rPr b="0" lang="ru-RU" sz="1400" strike="noStrike" u="none">
                <a:solidFill>
                  <a:schemeClr val="dk1"/>
                </a:solidFill>
                <a:uFillTx/>
                <a:latin typeface="Wix Madefor Display Bold"/>
              </a:rPr>
              <a:t>используют</a:t>
            </a:r>
            <a:r>
              <a:rPr b="1" lang="ru-RU" sz="1400" strike="noStrike" u="none">
                <a:solidFill>
                  <a:schemeClr val="dk1"/>
                </a:solidFill>
                <a:uFillTx/>
                <a:latin typeface="Wix Madefor Display Medium"/>
              </a:rPr>
              <a:t> </a:t>
            </a:r>
            <a:r>
              <a:rPr b="0" lang="ru-RU" sz="1400" strike="noStrike" u="none">
                <a:solidFill>
                  <a:schemeClr val="dk1"/>
                </a:solidFill>
                <a:uFillTx/>
                <a:latin typeface="Wix Madefor Display Medium"/>
              </a:rPr>
              <a:t>именно</a:t>
            </a:r>
            <a:r>
              <a:rPr b="1" lang="ru-RU" sz="1400" strike="noStrike" u="none">
                <a:solidFill>
                  <a:schemeClr val="dk1"/>
                </a:solidFill>
                <a:uFillTx/>
                <a:latin typeface="Wix Madefor Display Medium"/>
              </a:rPr>
              <a:t> </a:t>
            </a:r>
            <a:r>
              <a:rPr b="0" lang="ru-RU" sz="1400" strike="noStrike" u="none">
                <a:solidFill>
                  <a:schemeClr val="dk1"/>
                </a:solidFill>
                <a:uFillTx/>
                <a:latin typeface="Wix Madefor Display Medium"/>
              </a:rPr>
              <a:t>опытные специалисты** – 26%, </a:t>
            </a:r>
            <a:br>
              <a:rPr sz="1400"/>
            </a:br>
            <a:r>
              <a:rPr b="0" lang="ru-RU" sz="1400" strike="noStrike" u="none">
                <a:solidFill>
                  <a:schemeClr val="dk1"/>
                </a:solidFill>
                <a:uFillTx/>
                <a:latin typeface="Wix Madefor Display Medium"/>
              </a:rPr>
              <a:t>что на 14 п.п. больше, чем среди начинающих специалистов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aphicFrame>
        <p:nvGraphicFramePr>
          <p:cNvPr id="177" name="Диаграмма 80"/>
          <p:cNvGraphicFramePr/>
          <p:nvPr/>
        </p:nvGraphicFramePr>
        <p:xfrm>
          <a:off x="7974720" y="1338840"/>
          <a:ext cx="897120" cy="905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78" name="Заголовок 3"/>
          <p:cNvSpPr/>
          <p:nvPr/>
        </p:nvSpPr>
        <p:spPr>
          <a:xfrm>
            <a:off x="8066520" y="1686240"/>
            <a:ext cx="71388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90000"/>
              </a:lnSpc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Wix Madefor Display SemiBold"/>
              </a:rPr>
              <a:t>74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Wix Madefor Display SemiBold"/>
              </a:rPr>
              <a:t>%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9" name="TextBox 2"/>
          <p:cNvSpPr/>
          <p:nvPr/>
        </p:nvSpPr>
        <p:spPr>
          <a:xfrm>
            <a:off x="442800" y="6141240"/>
            <a:ext cx="5764680" cy="27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900" strike="noStrike" u="none">
                <a:solidFill>
                  <a:srgbClr val="262b28"/>
                </a:solidFill>
                <a:uFillTx/>
                <a:latin typeface="Wix Madefor Display Medium"/>
              </a:rPr>
              <a:t>*начинающие и специалисты среднего уровня – работают по профессии до 5 лет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ru-RU" sz="900" strike="noStrike" u="none">
                <a:solidFill>
                  <a:srgbClr val="262b28"/>
                </a:solidFill>
                <a:uFillTx/>
                <a:latin typeface="Wix Madefor Display Medium"/>
              </a:rPr>
              <a:t>**Опытные специалисты – работают по профессии более 5 лет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9B057B0F-C79B-4D20-BC0D-FD20392322C1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1149120" y="404640"/>
            <a:ext cx="7929360" cy="38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2800" strike="noStrike" u="none">
                <a:solidFill>
                  <a:srgbClr val="262b28"/>
                </a:solidFill>
                <a:uFillTx/>
                <a:latin typeface="Wix Madefor Display SemiBold"/>
              </a:rPr>
              <a:t>Отношение к искусственному интеллекту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graphicFrame>
        <p:nvGraphicFramePr>
          <p:cNvPr id="181" name="Диаграмма 42"/>
          <p:cNvGraphicFramePr/>
          <p:nvPr/>
        </p:nvGraphicFramePr>
        <p:xfrm>
          <a:off x="6763320" y="2460960"/>
          <a:ext cx="5222880" cy="431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82" name="Заголовок 3"/>
          <p:cNvSpPr/>
          <p:nvPr/>
        </p:nvSpPr>
        <p:spPr>
          <a:xfrm>
            <a:off x="6762600" y="2471400"/>
            <a:ext cx="4019760" cy="32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</a:pPr>
            <a:r>
              <a:rPr b="0" lang="ru-RU" sz="1200" strike="noStrike" u="none">
                <a:solidFill>
                  <a:srgbClr val="262b28"/>
                </a:solidFill>
                <a:uFillTx/>
                <a:latin typeface="Wix Madefor Display Medium"/>
              </a:rPr>
              <a:t>ИИ позволит автоматизировать рутинные задачи, освободится время для более важных задач</a:t>
            </a: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3" name="Заголовок 3"/>
          <p:cNvSpPr/>
          <p:nvPr/>
        </p:nvSpPr>
        <p:spPr>
          <a:xfrm>
            <a:off x="6762600" y="3377160"/>
            <a:ext cx="4199400" cy="49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</a:pPr>
            <a:r>
              <a:rPr b="0" lang="ru-RU" sz="1200" strike="noStrike" u="none">
                <a:solidFill>
                  <a:srgbClr val="262b28"/>
                </a:solidFill>
                <a:uFillTx/>
                <a:latin typeface="Wix Madefor Display Medium"/>
              </a:rPr>
              <a:t>ИИ будет использоваться для проверки результатов работы, чтобы снизить количество ошибок, зависящих от человеческого фактора </a:t>
            </a: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4" name="Заголовок 3"/>
          <p:cNvSpPr/>
          <p:nvPr/>
        </p:nvSpPr>
        <p:spPr>
          <a:xfrm>
            <a:off x="6762600" y="4623480"/>
            <a:ext cx="4019760" cy="32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</a:pPr>
            <a:r>
              <a:rPr b="0" lang="ru-RU" sz="1200" strike="noStrike" u="none">
                <a:solidFill>
                  <a:srgbClr val="262b28"/>
                </a:solidFill>
                <a:uFillTx/>
                <a:latin typeface="Wix Madefor Display Medium"/>
              </a:rPr>
              <a:t>ИИ может полностью заменить </a:t>
            </a:r>
            <a:br>
              <a:rPr sz="1200"/>
            </a:br>
            <a:r>
              <a:rPr b="0" lang="ru-RU" sz="1200" strike="noStrike" u="none">
                <a:solidFill>
                  <a:srgbClr val="262b28"/>
                </a:solidFill>
                <a:uFillTx/>
                <a:latin typeface="Wix Madefor Display Medium"/>
              </a:rPr>
              <a:t>часть специалистов</a:t>
            </a: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5" name="Заголовок 3"/>
          <p:cNvSpPr/>
          <p:nvPr/>
        </p:nvSpPr>
        <p:spPr>
          <a:xfrm>
            <a:off x="6762600" y="5540760"/>
            <a:ext cx="4102920" cy="49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</a:pPr>
            <a:r>
              <a:rPr b="0" lang="ru-RU" sz="1200" strike="noStrike" u="none">
                <a:solidFill>
                  <a:srgbClr val="262b28"/>
                </a:solidFill>
                <a:uFillTx/>
                <a:latin typeface="Wix Madefor Display Medium"/>
              </a:rPr>
              <a:t>ИИ никак не повлияет на мою </a:t>
            </a:r>
            <a:br>
              <a:rPr sz="1200"/>
            </a:br>
            <a:r>
              <a:rPr b="0" lang="ru-RU" sz="1200" strike="noStrike" u="none">
                <a:solidFill>
                  <a:srgbClr val="262b28"/>
                </a:solidFill>
                <a:uFillTx/>
                <a:latin typeface="Wix Madefor Display Medium"/>
              </a:rPr>
              <a:t>работу и профессиональную </a:t>
            </a:r>
            <a:br>
              <a:rPr sz="1200"/>
            </a:br>
            <a:r>
              <a:rPr b="0" lang="ru-RU" sz="1200" strike="noStrike" u="none">
                <a:solidFill>
                  <a:srgbClr val="262b28"/>
                </a:solidFill>
                <a:uFillTx/>
                <a:latin typeface="Wix Madefor Display Medium"/>
              </a:rPr>
              <a:t>область в ближайшем будущем</a:t>
            </a: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6" name="Заголовок 3"/>
          <p:cNvSpPr/>
          <p:nvPr/>
        </p:nvSpPr>
        <p:spPr>
          <a:xfrm>
            <a:off x="6762600" y="1140840"/>
            <a:ext cx="5021280" cy="74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</a:pPr>
            <a:r>
              <a:rPr b="0" lang="ru-RU" sz="1800" strike="noStrike" u="none">
                <a:solidFill>
                  <a:srgbClr val="262b28"/>
                </a:solidFill>
                <a:uFillTx/>
                <a:latin typeface="Wix Madefor Display SemiBold"/>
              </a:rPr>
              <a:t>Согласны ли Вы со следующими утверждениями про влияние ИИ </a:t>
            </a:r>
            <a:br>
              <a:rPr sz="1800"/>
            </a:br>
            <a:r>
              <a:rPr b="0" lang="ru-RU" sz="1800" strike="noStrike" u="none">
                <a:solidFill>
                  <a:srgbClr val="262b28"/>
                </a:solidFill>
                <a:uFillTx/>
                <a:latin typeface="Wix Madefor Display SemiBold"/>
              </a:rPr>
              <a:t>на Вашу работу в обозримом будущем?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7" name="Заголовок 3"/>
          <p:cNvSpPr/>
          <p:nvPr/>
        </p:nvSpPr>
        <p:spPr>
          <a:xfrm>
            <a:off x="11372760" y="2909880"/>
            <a:ext cx="398160" cy="19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90000"/>
              </a:lnSpc>
            </a:pPr>
            <a:r>
              <a:rPr b="0" lang="en-US" sz="1400" strike="noStrike" u="none">
                <a:solidFill>
                  <a:schemeClr val="dk1"/>
                </a:solidFill>
                <a:uFillTx/>
                <a:latin typeface="Wix Madefor Display SemiBold"/>
              </a:rPr>
              <a:t>7</a:t>
            </a:r>
            <a:r>
              <a:rPr b="0" lang="ru-RU" sz="1400" strike="noStrike" u="none">
                <a:solidFill>
                  <a:schemeClr val="dk1"/>
                </a:solidFill>
                <a:uFillTx/>
                <a:latin typeface="Wix Madefor Display SemiBold"/>
              </a:rPr>
              <a:t>8</a:t>
            </a:r>
            <a:r>
              <a:rPr b="0" lang="en-US" sz="1400" strike="noStrike" u="none">
                <a:solidFill>
                  <a:schemeClr val="dk1"/>
                </a:solidFill>
                <a:uFillTx/>
                <a:latin typeface="Wix Madefor Display SemiBold"/>
              </a:rPr>
              <a:t>%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8" name="Заголовок 3"/>
          <p:cNvSpPr/>
          <p:nvPr/>
        </p:nvSpPr>
        <p:spPr>
          <a:xfrm>
            <a:off x="11074680" y="3990600"/>
            <a:ext cx="387000" cy="19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90000"/>
              </a:lnSpc>
            </a:pPr>
            <a:r>
              <a:rPr b="0" lang="en-US" sz="1400" strike="noStrike" u="none">
                <a:solidFill>
                  <a:schemeClr val="dk1"/>
                </a:solidFill>
                <a:uFillTx/>
                <a:latin typeface="Wix Madefor Display SemiBold"/>
              </a:rPr>
              <a:t>7</a:t>
            </a:r>
            <a:r>
              <a:rPr b="0" lang="ru-RU" sz="1400" strike="noStrike" u="none">
                <a:solidFill>
                  <a:schemeClr val="dk1"/>
                </a:solidFill>
                <a:uFillTx/>
                <a:latin typeface="Wix Madefor Display SemiBold"/>
              </a:rPr>
              <a:t>3</a:t>
            </a:r>
            <a:r>
              <a:rPr b="0" lang="en-US" sz="1400" strike="noStrike" u="none">
                <a:solidFill>
                  <a:schemeClr val="dk1"/>
                </a:solidFill>
                <a:uFillTx/>
                <a:latin typeface="Wix Madefor Display SemiBold"/>
              </a:rPr>
              <a:t>%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9" name="Заголовок 3"/>
          <p:cNvSpPr/>
          <p:nvPr/>
        </p:nvSpPr>
        <p:spPr>
          <a:xfrm>
            <a:off x="9981720" y="5070960"/>
            <a:ext cx="387000" cy="19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90000"/>
              </a:lnSpc>
            </a:pPr>
            <a:r>
              <a:rPr b="0" lang="ru-RU" sz="1400" strike="noStrike" u="none">
                <a:solidFill>
                  <a:schemeClr val="dk1"/>
                </a:solidFill>
                <a:uFillTx/>
                <a:latin typeface="Wix Madefor Display SemiBold"/>
              </a:rPr>
              <a:t>54</a:t>
            </a:r>
            <a:r>
              <a:rPr b="0" lang="en-US" sz="1400" strike="noStrike" u="none">
                <a:solidFill>
                  <a:schemeClr val="dk1"/>
                </a:solidFill>
                <a:uFillTx/>
                <a:latin typeface="Wix Madefor Display SemiBold"/>
              </a:rPr>
              <a:t>%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0" name="Заголовок 3"/>
          <p:cNvSpPr/>
          <p:nvPr/>
        </p:nvSpPr>
        <p:spPr>
          <a:xfrm>
            <a:off x="9250560" y="6140520"/>
            <a:ext cx="387000" cy="19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90000"/>
              </a:lnSpc>
            </a:pPr>
            <a:r>
              <a:rPr b="0" lang="ru-RU" sz="1400" strike="noStrike" u="none">
                <a:solidFill>
                  <a:schemeClr val="dk1"/>
                </a:solidFill>
                <a:uFillTx/>
                <a:latin typeface="Wix Madefor Display SemiBold"/>
              </a:rPr>
              <a:t>42</a:t>
            </a:r>
            <a:r>
              <a:rPr b="0" lang="en-US" sz="1400" strike="noStrike" u="none">
                <a:solidFill>
                  <a:schemeClr val="dk1"/>
                </a:solidFill>
                <a:uFillTx/>
                <a:latin typeface="Wix Madefor Display SemiBold"/>
              </a:rPr>
              <a:t>%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191" name="Группа 57"/>
          <p:cNvGrpSpPr/>
          <p:nvPr/>
        </p:nvGrpSpPr>
        <p:grpSpPr>
          <a:xfrm>
            <a:off x="6762600" y="2034360"/>
            <a:ext cx="3449160" cy="199800"/>
            <a:chOff x="6762600" y="2034360"/>
            <a:chExt cx="3449160" cy="199800"/>
          </a:xfrm>
        </p:grpSpPr>
        <p:sp>
          <p:nvSpPr>
            <p:cNvPr id="192" name="Прямоугольник 58"/>
            <p:cNvSpPr/>
            <p:nvPr/>
          </p:nvSpPr>
          <p:spPr>
            <a:xfrm>
              <a:off x="6762600" y="2034360"/>
              <a:ext cx="199800" cy="199800"/>
            </a:xfrm>
            <a:prstGeom prst="rect">
              <a:avLst/>
            </a:prstGeom>
            <a:solidFill>
              <a:srgbClr val="6d33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RU" sz="1800" strike="noStrike" u="none">
                <a:solidFill>
                  <a:schemeClr val="lt1"/>
                </a:solidFill>
                <a:uFillTx/>
                <a:latin typeface="Calibri"/>
              </a:endParaRPr>
            </a:p>
          </p:txBody>
        </p:sp>
        <p:sp>
          <p:nvSpPr>
            <p:cNvPr id="193" name="Прямоугольник 59"/>
            <p:cNvSpPr/>
            <p:nvPr/>
          </p:nvSpPr>
          <p:spPr>
            <a:xfrm>
              <a:off x="8487360" y="2034360"/>
              <a:ext cx="199800" cy="199800"/>
            </a:xfrm>
            <a:prstGeom prst="rect">
              <a:avLst/>
            </a:prstGeom>
            <a:solidFill>
              <a:srgbClr val="00d2b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RU" sz="1800" strike="noStrike" u="none">
                <a:solidFill>
                  <a:schemeClr val="lt1"/>
                </a:solidFill>
                <a:uFillTx/>
                <a:latin typeface="Calibri"/>
              </a:endParaRPr>
            </a:p>
          </p:txBody>
        </p:sp>
        <p:sp>
          <p:nvSpPr>
            <p:cNvPr id="194" name="Заголовок 3"/>
            <p:cNvSpPr/>
            <p:nvPr/>
          </p:nvSpPr>
          <p:spPr>
            <a:xfrm>
              <a:off x="7055640" y="2072520"/>
              <a:ext cx="1107360" cy="124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ct val="90000"/>
                </a:lnSpc>
              </a:pPr>
              <a:r>
                <a:rPr b="0" lang="ru-RU" sz="900" strike="noStrike" u="none">
                  <a:solidFill>
                    <a:schemeClr val="dk1"/>
                  </a:solidFill>
                  <a:uFillTx/>
                  <a:latin typeface="Wix Madefor Display Medium"/>
                </a:rPr>
                <a:t>Скорее согласен</a:t>
              </a:r>
              <a:endParaRPr b="0" lang="en-GB" sz="9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95" name="Заголовок 3"/>
            <p:cNvSpPr/>
            <p:nvPr/>
          </p:nvSpPr>
          <p:spPr>
            <a:xfrm>
              <a:off x="8776800" y="2072520"/>
              <a:ext cx="1434960" cy="124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ct val="90000"/>
                </a:lnSpc>
              </a:pPr>
              <a:r>
                <a:rPr b="0" lang="ru-RU" sz="900" strike="noStrike" u="none">
                  <a:solidFill>
                    <a:schemeClr val="dk1"/>
                  </a:solidFill>
                  <a:uFillTx/>
                  <a:latin typeface="Wix Madefor Display Medium"/>
                </a:rPr>
                <a:t>Полностью согласен</a:t>
              </a:r>
              <a:endParaRPr b="0" lang="en-GB" sz="9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grpSp>
        <p:nvGrpSpPr>
          <p:cNvPr id="196" name="Группа 10"/>
          <p:cNvGrpSpPr/>
          <p:nvPr/>
        </p:nvGrpSpPr>
        <p:grpSpPr>
          <a:xfrm>
            <a:off x="448560" y="1160640"/>
            <a:ext cx="5646960" cy="2001240"/>
            <a:chOff x="448560" y="1160640"/>
            <a:chExt cx="5646960" cy="2001240"/>
          </a:xfrm>
        </p:grpSpPr>
        <p:sp>
          <p:nvSpPr>
            <p:cNvPr id="197" name="Прямоугольник: скругленные углы 62"/>
            <p:cNvSpPr/>
            <p:nvPr/>
          </p:nvSpPr>
          <p:spPr>
            <a:xfrm>
              <a:off x="448560" y="1160640"/>
              <a:ext cx="5646960" cy="2001240"/>
            </a:xfrm>
            <a:prstGeom prst="roundRect">
              <a:avLst>
                <a:gd name="adj" fmla="val 2036"/>
              </a:avLst>
            </a:prstGeom>
            <a:solidFill>
              <a:srgbClr val="cacae5">
                <a:alpha val="50000"/>
              </a:srgb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RU" sz="1800" strike="noStrike" u="none">
                <a:solidFill>
                  <a:schemeClr val="lt1"/>
                </a:solidFill>
                <a:uFillTx/>
                <a:latin typeface="Calibri"/>
              </a:endParaRPr>
            </a:p>
          </p:txBody>
        </p:sp>
        <p:sp>
          <p:nvSpPr>
            <p:cNvPr id="198" name="Заголовок 3"/>
            <p:cNvSpPr/>
            <p:nvPr/>
          </p:nvSpPr>
          <p:spPr>
            <a:xfrm>
              <a:off x="624600" y="2429640"/>
              <a:ext cx="2771280" cy="493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ct val="90000"/>
                </a:lnSpc>
              </a:pPr>
              <a:r>
                <a:rPr b="0" lang="ru-RU" sz="1200" strike="noStrike" u="none">
                  <a:solidFill>
                    <a:srgbClr val="262b28"/>
                  </a:solidFill>
                  <a:uFillTx/>
                  <a:latin typeface="Wix Madefor Display Medium"/>
                </a:rPr>
                <a:t>специалистов согласны с тем, что ИИ в обозримом будущем позволит автоматизировать рутинные задачи</a:t>
              </a:r>
              <a:endParaRPr b="0" lang="en-GB" sz="12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99" name="Заголовок 3"/>
            <p:cNvSpPr/>
            <p:nvPr/>
          </p:nvSpPr>
          <p:spPr>
            <a:xfrm>
              <a:off x="618480" y="2239560"/>
              <a:ext cx="530640" cy="19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ct val="90000"/>
                </a:lnSpc>
              </a:pPr>
              <a:r>
                <a:rPr b="0" lang="ru-RU" sz="1400" strike="noStrike" u="none">
                  <a:solidFill>
                    <a:schemeClr val="dk1"/>
                  </a:solidFill>
                  <a:uFillTx/>
                  <a:latin typeface="Wix Madefor Display Bold"/>
                </a:rPr>
                <a:t>78</a:t>
              </a:r>
              <a:r>
                <a:rPr b="0" lang="en-US" sz="1400" strike="noStrike" u="none">
                  <a:solidFill>
                    <a:schemeClr val="dk1"/>
                  </a:solidFill>
                  <a:uFillTx/>
                  <a:latin typeface="Wix Madefor Display Bold"/>
                </a:rPr>
                <a:t>%</a:t>
              </a:r>
              <a:endParaRPr b="0" lang="en-GB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00" name="Заголовок 3"/>
            <p:cNvSpPr/>
            <p:nvPr/>
          </p:nvSpPr>
          <p:spPr>
            <a:xfrm>
              <a:off x="618480" y="1344240"/>
              <a:ext cx="5247000" cy="658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ct val="90000"/>
                </a:lnSpc>
              </a:pPr>
              <a:r>
                <a:rPr b="0" lang="ru-RU" sz="1200" strike="noStrike" u="none">
                  <a:solidFill>
                    <a:srgbClr val="262b28"/>
                  </a:solidFill>
                  <a:uFillTx/>
                  <a:latin typeface="Wix Madefor Display Medium"/>
                </a:rPr>
                <a:t>Почти половина опрошенных ИТ-специалистов считает </a:t>
              </a:r>
              <a:br>
                <a:rPr sz="1200"/>
              </a:br>
              <a:r>
                <a:rPr b="0" lang="ru-RU" sz="1200" strike="noStrike" u="none">
                  <a:solidFill>
                    <a:srgbClr val="262b28"/>
                  </a:solidFill>
                  <a:uFillTx/>
                  <a:latin typeface="Wix Madefor Display Medium"/>
                </a:rPr>
                <a:t>ИТ-сектор, телекоммуникации сферой, в которой наиболее </a:t>
              </a:r>
              <a:br>
                <a:rPr sz="1200"/>
              </a:br>
              <a:r>
                <a:rPr b="0" lang="ru-RU" sz="1200" strike="noStrike" u="none">
                  <a:solidFill>
                    <a:srgbClr val="262b28"/>
                  </a:solidFill>
                  <a:uFillTx/>
                  <a:latin typeface="Wix Madefor Display Medium"/>
                </a:rPr>
                <a:t>успешно применяют ИИ  – 48%, на втором месте – маркетинг </a:t>
              </a:r>
              <a:br>
                <a:rPr sz="1200"/>
              </a:br>
              <a:r>
                <a:rPr b="0" lang="ru-RU" sz="1200" strike="noStrike" u="none">
                  <a:solidFill>
                    <a:srgbClr val="262b28"/>
                  </a:solidFill>
                  <a:uFillTx/>
                  <a:latin typeface="Wix Madefor Display Medium"/>
                </a:rPr>
                <a:t>и маркетинговые исследования / реклама / PR</a:t>
              </a:r>
              <a:endParaRPr b="0" lang="en-GB" sz="12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01" name="Заголовок 3"/>
            <p:cNvSpPr/>
            <p:nvPr/>
          </p:nvSpPr>
          <p:spPr>
            <a:xfrm>
              <a:off x="3744360" y="2432880"/>
              <a:ext cx="2239560" cy="493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ct val="90000"/>
                </a:lnSpc>
              </a:pPr>
              <a:r>
                <a:rPr b="0" lang="ru-RU" sz="1200" strike="noStrike" u="none">
                  <a:solidFill>
                    <a:srgbClr val="262b28"/>
                  </a:solidFill>
                  <a:uFillTx/>
                  <a:latin typeface="Wix Madefor Display Medium"/>
                </a:rPr>
                <a:t>согласны с тем, что ИИ может </a:t>
              </a:r>
              <a:r>
                <a:rPr b="0" lang="ru-RU" sz="1200" strike="noStrike" u="none">
                  <a:solidFill>
                    <a:srgbClr val="262b28"/>
                  </a:solidFill>
                  <a:uFillTx/>
                  <a:latin typeface="Wix Madefor Display Bold"/>
                </a:rPr>
                <a:t>полностью заменить часть специалистов</a:t>
              </a:r>
              <a:endParaRPr b="0" lang="en-GB" sz="12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02" name="Заголовок 3"/>
            <p:cNvSpPr/>
            <p:nvPr/>
          </p:nvSpPr>
          <p:spPr>
            <a:xfrm>
              <a:off x="3744360" y="2235600"/>
              <a:ext cx="530640" cy="19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ct val="90000"/>
                </a:lnSpc>
              </a:pPr>
              <a:r>
                <a:rPr b="0" lang="ru-RU" sz="1400" strike="noStrike" u="none">
                  <a:solidFill>
                    <a:schemeClr val="dk1"/>
                  </a:solidFill>
                  <a:uFillTx/>
                  <a:latin typeface="Wix Madefor Display Bold"/>
                </a:rPr>
                <a:t>54</a:t>
              </a:r>
              <a:r>
                <a:rPr b="0" lang="en-US" sz="1400" strike="noStrike" u="none">
                  <a:solidFill>
                    <a:schemeClr val="dk1"/>
                  </a:solidFill>
                  <a:uFillTx/>
                  <a:latin typeface="Wix Madefor Display Bold"/>
                </a:rPr>
                <a:t>%</a:t>
              </a:r>
              <a:endParaRPr b="0" lang="en-GB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sp>
        <p:nvSpPr>
          <p:cNvPr id="203" name="Заголовок 3"/>
          <p:cNvSpPr/>
          <p:nvPr/>
        </p:nvSpPr>
        <p:spPr>
          <a:xfrm>
            <a:off x="442800" y="4147200"/>
            <a:ext cx="261756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</a:pPr>
            <a:r>
              <a:rPr b="0" lang="ru-RU" sz="1200" strike="noStrike" u="none">
                <a:solidFill>
                  <a:schemeClr val="dk1"/>
                </a:solidFill>
                <a:uFillTx/>
                <a:latin typeface="Wix Madefor Display Medium"/>
              </a:rPr>
              <a:t>(множественный выбор)</a:t>
            </a: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204" name="Группа 11"/>
          <p:cNvGrpSpPr/>
          <p:nvPr/>
        </p:nvGrpSpPr>
        <p:grpSpPr>
          <a:xfrm>
            <a:off x="442800" y="4503240"/>
            <a:ext cx="6519240" cy="2034000"/>
            <a:chOff x="442800" y="4503240"/>
            <a:chExt cx="6519240" cy="2034000"/>
          </a:xfrm>
        </p:grpSpPr>
        <p:graphicFrame>
          <p:nvGraphicFramePr>
            <p:cNvPr id="205" name="Диаграмма 15"/>
            <p:cNvGraphicFramePr/>
            <p:nvPr/>
          </p:nvGraphicFramePr>
          <p:xfrm>
            <a:off x="442800" y="4536000"/>
            <a:ext cx="6519240" cy="200124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206" name="Заголовок 3"/>
            <p:cNvSpPr/>
            <p:nvPr/>
          </p:nvSpPr>
          <p:spPr>
            <a:xfrm>
              <a:off x="442800" y="4503240"/>
              <a:ext cx="2370960" cy="164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ct val="90000"/>
                </a:lnSpc>
              </a:pPr>
              <a:r>
                <a:rPr b="0" lang="ru-RU" sz="1200" strike="noStrike" u="none">
                  <a:solidFill>
                    <a:srgbClr val="262b28"/>
                  </a:solidFill>
                  <a:uFillTx/>
                  <a:latin typeface="Wix Madefor Display Medium"/>
                </a:rPr>
                <a:t>ИТ-сектор, телекоммуникации</a:t>
              </a:r>
              <a:endParaRPr b="0" lang="en-GB" sz="12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07" name="Заголовок 3"/>
            <p:cNvSpPr/>
            <p:nvPr/>
          </p:nvSpPr>
          <p:spPr>
            <a:xfrm>
              <a:off x="442800" y="4901760"/>
              <a:ext cx="4336920" cy="164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ct val="90000"/>
                </a:lnSpc>
              </a:pPr>
              <a:r>
                <a:rPr b="0" lang="ru-RU" sz="1200" strike="noStrike" u="none">
                  <a:solidFill>
                    <a:srgbClr val="262b28"/>
                  </a:solidFill>
                  <a:uFillTx/>
                  <a:latin typeface="Wix Madefor Display Medium"/>
                </a:rPr>
                <a:t>Маркетинг и маркетинговые исследования, реклама, PR</a:t>
              </a:r>
              <a:endParaRPr b="0" lang="en-GB" sz="12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08" name="Заголовок 3"/>
            <p:cNvSpPr/>
            <p:nvPr/>
          </p:nvSpPr>
          <p:spPr>
            <a:xfrm>
              <a:off x="442800" y="5298840"/>
              <a:ext cx="2045880" cy="164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ct val="90000"/>
                </a:lnSpc>
              </a:pPr>
              <a:r>
                <a:rPr b="0" lang="ru-RU" sz="1200" strike="noStrike" u="none">
                  <a:solidFill>
                    <a:srgbClr val="262b28"/>
                  </a:solidFill>
                  <a:uFillTx/>
                  <a:latin typeface="Wix Madefor Display Medium"/>
                </a:rPr>
                <a:t>Медицина / фармацевтика</a:t>
              </a:r>
              <a:endParaRPr b="0" lang="en-GB" sz="12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09" name="Заголовок 3"/>
            <p:cNvSpPr/>
            <p:nvPr/>
          </p:nvSpPr>
          <p:spPr>
            <a:xfrm>
              <a:off x="442800" y="5700960"/>
              <a:ext cx="1100880" cy="164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ct val="90000"/>
                </a:lnSpc>
              </a:pPr>
              <a:r>
                <a:rPr b="0" lang="ru-RU" sz="1200" strike="noStrike" u="none">
                  <a:solidFill>
                    <a:srgbClr val="262b28"/>
                  </a:solidFill>
                  <a:uFillTx/>
                  <a:latin typeface="Wix Madefor Display Medium"/>
                </a:rPr>
                <a:t>Образование</a:t>
              </a:r>
              <a:endParaRPr b="0" lang="en-GB" sz="12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10" name="Заголовок 3"/>
            <p:cNvSpPr/>
            <p:nvPr/>
          </p:nvSpPr>
          <p:spPr>
            <a:xfrm>
              <a:off x="442800" y="6105600"/>
              <a:ext cx="2797920" cy="164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ct val="90000"/>
                </a:lnSpc>
              </a:pPr>
              <a:r>
                <a:rPr b="0" lang="ru-RU" sz="1200" strike="noStrike" u="none">
                  <a:solidFill>
                    <a:srgbClr val="262b28"/>
                  </a:solidFill>
                  <a:uFillTx/>
                  <a:latin typeface="Wix Madefor Display Medium"/>
                </a:rPr>
                <a:t>Финансы / экономика / страхование</a:t>
              </a:r>
              <a:endParaRPr b="0" lang="en-GB" sz="12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sp>
        <p:nvSpPr>
          <p:cNvPr id="211" name="Заголовок 3"/>
          <p:cNvSpPr/>
          <p:nvPr/>
        </p:nvSpPr>
        <p:spPr>
          <a:xfrm>
            <a:off x="442800" y="3336480"/>
            <a:ext cx="5767200" cy="74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</a:pPr>
            <a:r>
              <a:rPr b="0" lang="ru-RU" sz="1800" strike="noStrike" u="none">
                <a:solidFill>
                  <a:srgbClr val="262b28"/>
                </a:solidFill>
                <a:uFillTx/>
                <a:latin typeface="Wix Madefor Display SemiBold"/>
              </a:rPr>
              <a:t>ТОП-5 отраслей, в которых наиболее успешно применяется ИИ по мнению опрошенных </a:t>
            </a:r>
            <a:br>
              <a:rPr sz="1800"/>
            </a:br>
            <a:r>
              <a:rPr b="0" lang="ru-RU" sz="1800" strike="noStrike" u="none">
                <a:solidFill>
                  <a:srgbClr val="262b28"/>
                </a:solidFill>
                <a:uFillTx/>
                <a:latin typeface="Wix Madefor Display SemiBold"/>
              </a:rPr>
              <a:t>ИТ-специалистов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8CE425FA-A119-4346-A498-73D4512A2D2D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2" name="Диаграмма 4"/>
          <p:cNvGraphicFramePr/>
          <p:nvPr/>
        </p:nvGraphicFramePr>
        <p:xfrm>
          <a:off x="153720" y="1611720"/>
          <a:ext cx="8399520" cy="8141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1149120" y="404640"/>
            <a:ext cx="7929360" cy="38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2800" strike="noStrike" u="none">
                <a:solidFill>
                  <a:srgbClr val="262b28"/>
                </a:solidFill>
                <a:uFillTx/>
                <a:latin typeface="Wix Madefor Display SemiBold"/>
              </a:rPr>
              <a:t>Корпоративные программы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14" name="Заголовок 3"/>
          <p:cNvSpPr/>
          <p:nvPr/>
        </p:nvSpPr>
        <p:spPr>
          <a:xfrm>
            <a:off x="442800" y="1113120"/>
            <a:ext cx="9684720" cy="49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</a:pPr>
            <a:r>
              <a:rPr b="0" lang="ru-RU" sz="1800" strike="noStrike" u="none">
                <a:solidFill>
                  <a:srgbClr val="262b28"/>
                </a:solidFill>
                <a:uFillTx/>
                <a:latin typeface="Wix Madefor Display SemiBold"/>
              </a:rPr>
              <a:t>Какие из перечисленных условий для </a:t>
            </a:r>
            <a:br>
              <a:rPr sz="1800"/>
            </a:br>
            <a:r>
              <a:rPr b="0" lang="ru-RU" sz="1800" strike="noStrike" u="none">
                <a:solidFill>
                  <a:srgbClr val="262b28"/>
                </a:solidFill>
                <a:uFillTx/>
                <a:latin typeface="Wix Madefor Display SemiBold"/>
              </a:rPr>
              <a:t>сотрудников есть в Вашей компании? 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5" name="Заголовок 3"/>
          <p:cNvSpPr/>
          <p:nvPr/>
        </p:nvSpPr>
        <p:spPr>
          <a:xfrm>
            <a:off x="442800" y="1689480"/>
            <a:ext cx="261756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</a:pPr>
            <a:r>
              <a:rPr b="0" lang="ru-RU" sz="1200" strike="noStrike" u="none">
                <a:solidFill>
                  <a:schemeClr val="dk1"/>
                </a:solidFill>
                <a:uFillTx/>
                <a:latin typeface="Wix Madefor Display Medium"/>
              </a:rPr>
              <a:t>(множественные выборы)</a:t>
            </a: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216" name="Группа 59"/>
          <p:cNvGrpSpPr/>
          <p:nvPr/>
        </p:nvGrpSpPr>
        <p:grpSpPr>
          <a:xfrm>
            <a:off x="4818240" y="1957680"/>
            <a:ext cx="4085280" cy="3218760"/>
            <a:chOff x="4818240" y="1957680"/>
            <a:chExt cx="4085280" cy="3218760"/>
          </a:xfrm>
        </p:grpSpPr>
        <p:sp>
          <p:nvSpPr>
            <p:cNvPr id="217" name="Заголовок 3"/>
            <p:cNvSpPr/>
            <p:nvPr/>
          </p:nvSpPr>
          <p:spPr>
            <a:xfrm>
              <a:off x="4818240" y="1957680"/>
              <a:ext cx="210780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ct val="90000"/>
                </a:lnSpc>
              </a:pPr>
              <a:r>
                <a:rPr b="0" lang="ru-RU" sz="1000" strike="noStrike" u="none">
                  <a:solidFill>
                    <a:srgbClr val="262b28"/>
                  </a:solidFill>
                  <a:uFillTx/>
                  <a:latin typeface="Wix Madefor Display Medium"/>
                </a:rPr>
                <a:t>Возможность работать удаленно</a:t>
              </a:r>
              <a:endParaRPr b="0" lang="en-GB" sz="10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18" name="Заголовок 3"/>
            <p:cNvSpPr/>
            <p:nvPr/>
          </p:nvSpPr>
          <p:spPr>
            <a:xfrm>
              <a:off x="4818240" y="2139120"/>
              <a:ext cx="142200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ct val="90000"/>
                </a:lnSpc>
              </a:pPr>
              <a:r>
                <a:rPr b="0" lang="ru-RU" sz="1000" strike="noStrike" u="none">
                  <a:solidFill>
                    <a:srgbClr val="262b28"/>
                  </a:solidFill>
                  <a:uFillTx/>
                  <a:latin typeface="Wix Madefor Display Medium"/>
                </a:rPr>
                <a:t>ДМС для сотрудников</a:t>
              </a:r>
              <a:endParaRPr b="0" lang="en-GB" sz="10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19" name="Заголовок 3"/>
            <p:cNvSpPr/>
            <p:nvPr/>
          </p:nvSpPr>
          <p:spPr>
            <a:xfrm>
              <a:off x="4818240" y="2320200"/>
              <a:ext cx="383400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ct val="90000"/>
                </a:lnSpc>
              </a:pPr>
              <a:r>
                <a:rPr b="0" lang="ru-RU" sz="1000" strike="noStrike" u="none">
                  <a:solidFill>
                    <a:srgbClr val="262b28"/>
                  </a:solidFill>
                  <a:uFillTx/>
                  <a:latin typeface="Wix Madefor Display Medium"/>
                </a:rPr>
                <a:t>Производительное, современное оборудование для работы</a:t>
              </a:r>
              <a:endParaRPr b="0" lang="en-GB" sz="10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20" name="Заголовок 3"/>
            <p:cNvSpPr/>
            <p:nvPr/>
          </p:nvSpPr>
          <p:spPr>
            <a:xfrm>
              <a:off x="4818240" y="2501280"/>
              <a:ext cx="231372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ct val="90000"/>
                </a:lnSpc>
              </a:pPr>
              <a:r>
                <a:rPr b="0" lang="ru-RU" sz="1000" strike="noStrike" u="none">
                  <a:solidFill>
                    <a:srgbClr val="262b28"/>
                  </a:solidFill>
                  <a:uFillTx/>
                  <a:latin typeface="Wix Madefor Display Medium"/>
                </a:rPr>
                <a:t>Гибкий (свободный) рабочий график</a:t>
              </a:r>
              <a:endParaRPr b="0" lang="en-GB" sz="10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21" name="Заголовок 3"/>
            <p:cNvSpPr/>
            <p:nvPr/>
          </p:nvSpPr>
          <p:spPr>
            <a:xfrm>
              <a:off x="4818240" y="2682720"/>
              <a:ext cx="220716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ct val="90000"/>
                </a:lnSpc>
              </a:pPr>
              <a:r>
                <a:rPr b="0" lang="ru-RU" sz="1000" strike="noStrike" u="none">
                  <a:solidFill>
                    <a:srgbClr val="262b28"/>
                  </a:solidFill>
                  <a:uFillTx/>
                  <a:latin typeface="Wix Madefor Display Medium"/>
                </a:rPr>
                <a:t>Полноценная зона отдыха в офисе</a:t>
              </a:r>
              <a:endParaRPr b="0" lang="en-GB" sz="10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22" name="Заголовок 3"/>
            <p:cNvSpPr/>
            <p:nvPr/>
          </p:nvSpPr>
          <p:spPr>
            <a:xfrm>
              <a:off x="4818240" y="2863800"/>
              <a:ext cx="404604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ct val="90000"/>
                </a:lnSpc>
              </a:pPr>
              <a:r>
                <a:rPr b="0" lang="ru-RU" sz="1000" strike="noStrike" u="none">
                  <a:solidFill>
                    <a:srgbClr val="262b28"/>
                  </a:solidFill>
                  <a:uFillTx/>
                  <a:latin typeface="Wix Madefor Display Medium"/>
                </a:rPr>
                <a:t>Компенсация расходов на обучение / корпоративное обучение</a:t>
              </a:r>
              <a:endParaRPr b="0" lang="en-GB" sz="10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23" name="Заголовок 3"/>
            <p:cNvSpPr/>
            <p:nvPr/>
          </p:nvSpPr>
          <p:spPr>
            <a:xfrm>
              <a:off x="4818240" y="3045240"/>
              <a:ext cx="359748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ct val="90000"/>
                </a:lnSpc>
              </a:pPr>
              <a:r>
                <a:rPr b="0" lang="ru-RU" sz="1000" strike="noStrike" u="none">
                  <a:solidFill>
                    <a:srgbClr val="262b28"/>
                  </a:solidFill>
                  <a:uFillTx/>
                  <a:latin typeface="Wix Madefor Display Medium"/>
                </a:rPr>
                <a:t>Льготные условия по ДМС для членов семьи сотрудника</a:t>
              </a:r>
              <a:endParaRPr b="0" lang="en-GB" sz="10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24" name="Заголовок 3"/>
            <p:cNvSpPr/>
            <p:nvPr/>
          </p:nvSpPr>
          <p:spPr>
            <a:xfrm>
              <a:off x="4818240" y="3226320"/>
              <a:ext cx="279792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ct val="90000"/>
                </a:lnSpc>
              </a:pPr>
              <a:r>
                <a:rPr b="0" lang="ru-RU" sz="1000" strike="noStrike" u="none">
                  <a:solidFill>
                    <a:srgbClr val="262b28"/>
                  </a:solidFill>
                  <a:uFillTx/>
                  <a:latin typeface="Wix Madefor Display Medium"/>
                </a:rPr>
                <a:t>Полная или частичная компенсация обедов</a:t>
              </a:r>
              <a:endParaRPr b="0" lang="en-GB" sz="10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25" name="Заголовок 3"/>
            <p:cNvSpPr/>
            <p:nvPr/>
          </p:nvSpPr>
          <p:spPr>
            <a:xfrm>
              <a:off x="4818240" y="3407400"/>
              <a:ext cx="284724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ct val="90000"/>
                </a:lnSpc>
              </a:pPr>
              <a:r>
                <a:rPr b="0" lang="ru-RU" sz="1000" strike="noStrike" u="none">
                  <a:solidFill>
                    <a:srgbClr val="262b28"/>
                  </a:solidFill>
                  <a:uFillTx/>
                  <a:latin typeface="Wix Madefor Display Medium"/>
                </a:rPr>
                <a:t>Полная или частичная компенсация проезда</a:t>
              </a:r>
              <a:endParaRPr b="0" lang="en-GB" sz="10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26" name="Заголовок 3"/>
            <p:cNvSpPr/>
            <p:nvPr/>
          </p:nvSpPr>
          <p:spPr>
            <a:xfrm>
              <a:off x="4818240" y="3588840"/>
              <a:ext cx="374256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ct val="90000"/>
                </a:lnSpc>
              </a:pPr>
              <a:r>
                <a:rPr b="0" lang="ru-RU" sz="1000" strike="noStrike" u="none">
                  <a:solidFill>
                    <a:srgbClr val="262b28"/>
                  </a:solidFill>
                  <a:uFillTx/>
                  <a:latin typeface="Wix Madefor Display Medium"/>
                </a:rPr>
                <a:t>Компенсация расходов на спорт, корпоративный спортзал</a:t>
              </a:r>
              <a:endParaRPr b="0" lang="en-GB" sz="10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27" name="Заголовок 3"/>
            <p:cNvSpPr/>
            <p:nvPr/>
          </p:nvSpPr>
          <p:spPr>
            <a:xfrm>
              <a:off x="4818240" y="3769920"/>
              <a:ext cx="294228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ct val="90000"/>
                </a:lnSpc>
              </a:pPr>
              <a:r>
                <a:rPr b="0" lang="ru-RU" sz="1000" strike="noStrike" u="none">
                  <a:solidFill>
                    <a:srgbClr val="262b28"/>
                  </a:solidFill>
                  <a:uFillTx/>
                  <a:latin typeface="Wix Madefor Display Medium"/>
                </a:rPr>
                <a:t>Оплата посещений профильных конференций</a:t>
              </a:r>
              <a:endParaRPr b="0" lang="en-GB" sz="10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28" name="Заголовок 3"/>
            <p:cNvSpPr/>
            <p:nvPr/>
          </p:nvSpPr>
          <p:spPr>
            <a:xfrm>
              <a:off x="4818240" y="3951360"/>
              <a:ext cx="393660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ct val="90000"/>
                </a:lnSpc>
              </a:pPr>
              <a:r>
                <a:rPr b="0" lang="ru-RU" sz="1000" strike="noStrike" u="none">
                  <a:solidFill>
                    <a:srgbClr val="262b28"/>
                  </a:solidFill>
                  <a:uFillTx/>
                  <a:latin typeface="Wix Madefor Display Medium"/>
                </a:rPr>
                <a:t>Доплата к больничному листу до оклада / среднего заработка</a:t>
              </a:r>
              <a:endParaRPr b="0" lang="en-GB" sz="10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29" name="Заголовок 3"/>
            <p:cNvSpPr/>
            <p:nvPr/>
          </p:nvSpPr>
          <p:spPr>
            <a:xfrm>
              <a:off x="4818240" y="4132440"/>
              <a:ext cx="318240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ct val="90000"/>
                </a:lnSpc>
              </a:pPr>
              <a:r>
                <a:rPr b="0" lang="ru-RU" sz="1000" strike="noStrike" u="none">
                  <a:solidFill>
                    <a:srgbClr val="262b28"/>
                  </a:solidFill>
                  <a:uFillTx/>
                  <a:latin typeface="Wix Madefor Display Medium"/>
                </a:rPr>
                <a:t>Льготные условия кредитования для сотрудников</a:t>
              </a:r>
              <a:endParaRPr b="0" lang="en-GB" sz="10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30" name="Заголовок 3"/>
            <p:cNvSpPr/>
            <p:nvPr/>
          </p:nvSpPr>
          <p:spPr>
            <a:xfrm>
              <a:off x="4818240" y="4313520"/>
              <a:ext cx="171540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ct val="90000"/>
                </a:lnSpc>
              </a:pPr>
              <a:r>
                <a:rPr b="0" lang="ru-RU" sz="1000" strike="noStrike" u="none">
                  <a:solidFill>
                    <a:srgbClr val="262b28"/>
                  </a:solidFill>
                  <a:uFillTx/>
                  <a:latin typeface="Wix Madefor Display Medium"/>
                </a:rPr>
                <a:t>Опционы для сотрудников</a:t>
              </a:r>
              <a:endParaRPr b="0" lang="en-GB" sz="10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31" name="Заголовок 3"/>
            <p:cNvSpPr/>
            <p:nvPr/>
          </p:nvSpPr>
          <p:spPr>
            <a:xfrm>
              <a:off x="4818240" y="4494960"/>
              <a:ext cx="359748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ct val="90000"/>
                </a:lnSpc>
              </a:pPr>
              <a:r>
                <a:rPr b="0" lang="ru-RU" sz="1000" strike="noStrike" u="none">
                  <a:solidFill>
                    <a:srgbClr val="262b28"/>
                  </a:solidFill>
                  <a:uFillTx/>
                  <a:latin typeface="Wix Madefor Display Medium"/>
                </a:rPr>
                <a:t>Возможность переезда или релокации за счет компании</a:t>
              </a:r>
              <a:endParaRPr b="0" lang="en-GB" sz="10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32" name="Заголовок 3"/>
            <p:cNvSpPr/>
            <p:nvPr/>
          </p:nvSpPr>
          <p:spPr>
            <a:xfrm>
              <a:off x="4818240" y="4676040"/>
              <a:ext cx="253836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ct val="90000"/>
                </a:lnSpc>
              </a:pPr>
              <a:r>
                <a:rPr b="0" lang="ru-RU" sz="1000" strike="noStrike" u="none">
                  <a:solidFill>
                    <a:srgbClr val="262b28"/>
                  </a:solidFill>
                  <a:uFillTx/>
                  <a:latin typeface="Wix Madefor Display Medium"/>
                </a:rPr>
                <a:t>Корпоративная пенсионная программа</a:t>
              </a:r>
              <a:endParaRPr b="0" lang="en-GB" sz="10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33" name="Заголовок 3"/>
            <p:cNvSpPr/>
            <p:nvPr/>
          </p:nvSpPr>
          <p:spPr>
            <a:xfrm>
              <a:off x="4818240" y="4857480"/>
              <a:ext cx="408528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ct val="90000"/>
                </a:lnSpc>
              </a:pPr>
              <a:r>
                <a:rPr b="0" lang="ru-RU" sz="1000" strike="noStrike" u="none">
                  <a:solidFill>
                    <a:srgbClr val="262b28"/>
                  </a:solidFill>
                  <a:uFillTx/>
                  <a:latin typeface="Wix Madefor Display Medium"/>
                </a:rPr>
                <a:t>Возможность взять саббатикал (длительный творческий отпуск)</a:t>
              </a:r>
              <a:endParaRPr b="0" lang="en-GB" sz="10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34" name="Заголовок 3"/>
            <p:cNvSpPr/>
            <p:nvPr/>
          </p:nvSpPr>
          <p:spPr>
            <a:xfrm>
              <a:off x="4818240" y="5038560"/>
              <a:ext cx="379296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ct val="90000"/>
                </a:lnSpc>
              </a:pPr>
              <a:r>
                <a:rPr b="0" lang="ru-RU" sz="1000" strike="noStrike" u="none">
                  <a:solidFill>
                    <a:srgbClr val="262b28"/>
                  </a:solidFill>
                  <a:uFillTx/>
                  <a:latin typeface="Wix Madefor Display Medium"/>
                </a:rPr>
                <a:t>Ничего из перечисленного</a:t>
              </a:r>
              <a:endParaRPr b="0" lang="en-GB" sz="10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grpSp>
        <p:nvGrpSpPr>
          <p:cNvPr id="235" name="Группа 58"/>
          <p:cNvGrpSpPr/>
          <p:nvPr/>
        </p:nvGrpSpPr>
        <p:grpSpPr>
          <a:xfrm>
            <a:off x="4466880" y="1971720"/>
            <a:ext cx="535320" cy="3210120"/>
            <a:chOff x="4466880" y="1971720"/>
            <a:chExt cx="535320" cy="3210120"/>
          </a:xfrm>
        </p:grpSpPr>
        <p:sp>
          <p:nvSpPr>
            <p:cNvPr id="236" name="Заголовок 3"/>
            <p:cNvSpPr/>
            <p:nvPr/>
          </p:nvSpPr>
          <p:spPr>
            <a:xfrm>
              <a:off x="4466880" y="1971720"/>
              <a:ext cx="406800" cy="13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spAutoFit/>
            </a:bodyPr>
            <a:p>
              <a:pPr defTabSz="914400">
                <a:lnSpc>
                  <a:spcPct val="90000"/>
                </a:lnSpc>
              </a:pPr>
              <a:r>
                <a:rPr b="0" lang="ru-RU" sz="1000" strike="noStrike" u="none">
                  <a:solidFill>
                    <a:srgbClr val="262b28"/>
                  </a:solidFill>
                  <a:uFillTx/>
                  <a:latin typeface="Wix Madefor Display SemiBold"/>
                </a:rPr>
                <a:t>56%</a:t>
              </a:r>
              <a:endParaRPr b="0" lang="en-GB" sz="10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37" name="Заголовок 3"/>
            <p:cNvSpPr/>
            <p:nvPr/>
          </p:nvSpPr>
          <p:spPr>
            <a:xfrm>
              <a:off x="4466880" y="2152440"/>
              <a:ext cx="406800" cy="13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spAutoFit/>
            </a:bodyPr>
            <a:p>
              <a:pPr defTabSz="914400">
                <a:lnSpc>
                  <a:spcPct val="90000"/>
                </a:lnSpc>
              </a:pPr>
              <a:r>
                <a:rPr b="0" lang="ru-RU" sz="1000" strike="noStrike" u="none">
                  <a:solidFill>
                    <a:srgbClr val="262b28"/>
                  </a:solidFill>
                  <a:uFillTx/>
                  <a:latin typeface="Wix Madefor Display SemiBold"/>
                </a:rPr>
                <a:t>46%</a:t>
              </a:r>
              <a:endParaRPr b="0" lang="en-GB" sz="10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38" name="Заголовок 3"/>
            <p:cNvSpPr/>
            <p:nvPr/>
          </p:nvSpPr>
          <p:spPr>
            <a:xfrm>
              <a:off x="4466880" y="2333160"/>
              <a:ext cx="406800" cy="13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spAutoFit/>
            </a:bodyPr>
            <a:p>
              <a:pPr defTabSz="914400">
                <a:lnSpc>
                  <a:spcPct val="90000"/>
                </a:lnSpc>
              </a:pPr>
              <a:r>
                <a:rPr b="0" lang="ru-RU" sz="1000" strike="noStrike" u="none">
                  <a:solidFill>
                    <a:srgbClr val="262b28"/>
                  </a:solidFill>
                  <a:uFillTx/>
                  <a:latin typeface="Wix Madefor Display SemiBold"/>
                </a:rPr>
                <a:t>36%</a:t>
              </a:r>
              <a:endParaRPr b="0" lang="en-GB" sz="10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39" name="Заголовок 3"/>
            <p:cNvSpPr/>
            <p:nvPr/>
          </p:nvSpPr>
          <p:spPr>
            <a:xfrm>
              <a:off x="4466880" y="2513880"/>
              <a:ext cx="406800" cy="13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spAutoFit/>
            </a:bodyPr>
            <a:p>
              <a:pPr defTabSz="914400">
                <a:lnSpc>
                  <a:spcPct val="90000"/>
                </a:lnSpc>
              </a:pPr>
              <a:r>
                <a:rPr b="0" lang="ru-RU" sz="1000" strike="noStrike" u="none">
                  <a:solidFill>
                    <a:srgbClr val="262b28"/>
                  </a:solidFill>
                  <a:uFillTx/>
                  <a:latin typeface="Wix Madefor Display SemiBold"/>
                </a:rPr>
                <a:t>35%</a:t>
              </a:r>
              <a:endParaRPr b="0" lang="en-GB" sz="10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40" name="Заголовок 3"/>
            <p:cNvSpPr/>
            <p:nvPr/>
          </p:nvSpPr>
          <p:spPr>
            <a:xfrm>
              <a:off x="4466880" y="2694600"/>
              <a:ext cx="406800" cy="13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spAutoFit/>
            </a:bodyPr>
            <a:p>
              <a:pPr defTabSz="914400">
                <a:lnSpc>
                  <a:spcPct val="90000"/>
                </a:lnSpc>
              </a:pPr>
              <a:r>
                <a:rPr b="0" lang="ru-RU" sz="1000" strike="noStrike" u="none">
                  <a:solidFill>
                    <a:srgbClr val="262b28"/>
                  </a:solidFill>
                  <a:uFillTx/>
                  <a:latin typeface="Wix Madefor Display SemiBold"/>
                </a:rPr>
                <a:t>30%</a:t>
              </a:r>
              <a:endParaRPr b="0" lang="en-GB" sz="10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41" name="Заголовок 3"/>
            <p:cNvSpPr/>
            <p:nvPr/>
          </p:nvSpPr>
          <p:spPr>
            <a:xfrm>
              <a:off x="4466880" y="2875320"/>
              <a:ext cx="535320" cy="13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spAutoFit/>
            </a:bodyPr>
            <a:p>
              <a:pPr defTabSz="914400">
                <a:lnSpc>
                  <a:spcPct val="90000"/>
                </a:lnSpc>
              </a:pPr>
              <a:r>
                <a:rPr b="0" lang="ru-RU" sz="1000" strike="noStrike" u="none">
                  <a:solidFill>
                    <a:srgbClr val="262b28"/>
                  </a:solidFill>
                  <a:uFillTx/>
                  <a:latin typeface="Wix Madefor Display SemiBold"/>
                </a:rPr>
                <a:t>30%</a:t>
              </a:r>
              <a:endParaRPr b="0" lang="en-GB" sz="10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42" name="Заголовок 3"/>
            <p:cNvSpPr/>
            <p:nvPr/>
          </p:nvSpPr>
          <p:spPr>
            <a:xfrm>
              <a:off x="4466880" y="3056040"/>
              <a:ext cx="406800" cy="13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spAutoFit/>
            </a:bodyPr>
            <a:p>
              <a:pPr defTabSz="914400">
                <a:lnSpc>
                  <a:spcPct val="90000"/>
                </a:lnSpc>
              </a:pPr>
              <a:r>
                <a:rPr b="0" lang="ru-RU" sz="1000" strike="noStrike" u="none">
                  <a:solidFill>
                    <a:srgbClr val="262b28"/>
                  </a:solidFill>
                  <a:uFillTx/>
                  <a:latin typeface="Wix Madefor Display SemiBold"/>
                </a:rPr>
                <a:t>24%</a:t>
              </a:r>
              <a:endParaRPr b="0" lang="en-GB" sz="10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43" name="Заголовок 3"/>
            <p:cNvSpPr/>
            <p:nvPr/>
          </p:nvSpPr>
          <p:spPr>
            <a:xfrm>
              <a:off x="4466880" y="3236760"/>
              <a:ext cx="406800" cy="13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spAutoFit/>
            </a:bodyPr>
            <a:p>
              <a:pPr defTabSz="914400">
                <a:lnSpc>
                  <a:spcPct val="90000"/>
                </a:lnSpc>
              </a:pPr>
              <a:r>
                <a:rPr b="0" lang="ru-RU" sz="1000" strike="noStrike" u="none">
                  <a:solidFill>
                    <a:srgbClr val="262b28"/>
                  </a:solidFill>
                  <a:uFillTx/>
                  <a:latin typeface="Wix Madefor Display SemiBold"/>
                </a:rPr>
                <a:t>24%</a:t>
              </a:r>
              <a:endParaRPr b="0" lang="en-GB" sz="10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44" name="Заголовок 3"/>
            <p:cNvSpPr/>
            <p:nvPr/>
          </p:nvSpPr>
          <p:spPr>
            <a:xfrm>
              <a:off x="4466880" y="3417480"/>
              <a:ext cx="406800" cy="13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spAutoFit/>
            </a:bodyPr>
            <a:p>
              <a:pPr defTabSz="914400">
                <a:lnSpc>
                  <a:spcPct val="90000"/>
                </a:lnSpc>
              </a:pPr>
              <a:r>
                <a:rPr b="0" lang="ru-RU" sz="1000" strike="noStrike" u="none">
                  <a:solidFill>
                    <a:srgbClr val="262b28"/>
                  </a:solidFill>
                  <a:uFillTx/>
                  <a:latin typeface="Wix Madefor Display SemiBold"/>
                </a:rPr>
                <a:t>22%</a:t>
              </a:r>
              <a:endParaRPr b="0" lang="en-GB" sz="10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45" name="Заголовок 3"/>
            <p:cNvSpPr/>
            <p:nvPr/>
          </p:nvSpPr>
          <p:spPr>
            <a:xfrm>
              <a:off x="4466880" y="3598200"/>
              <a:ext cx="406800" cy="13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spAutoFit/>
            </a:bodyPr>
            <a:p>
              <a:pPr defTabSz="914400">
                <a:lnSpc>
                  <a:spcPct val="90000"/>
                </a:lnSpc>
              </a:pPr>
              <a:r>
                <a:rPr b="0" lang="ru-RU" sz="1000" strike="noStrike" u="none">
                  <a:solidFill>
                    <a:srgbClr val="262b28"/>
                  </a:solidFill>
                  <a:uFillTx/>
                  <a:latin typeface="Wix Madefor Display SemiBold"/>
                </a:rPr>
                <a:t>19%</a:t>
              </a:r>
              <a:endParaRPr b="0" lang="en-GB" sz="10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46" name="Заголовок 3"/>
            <p:cNvSpPr/>
            <p:nvPr/>
          </p:nvSpPr>
          <p:spPr>
            <a:xfrm>
              <a:off x="4466880" y="3778920"/>
              <a:ext cx="406800" cy="13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spAutoFit/>
            </a:bodyPr>
            <a:p>
              <a:pPr defTabSz="914400">
                <a:lnSpc>
                  <a:spcPct val="90000"/>
                </a:lnSpc>
              </a:pPr>
              <a:r>
                <a:rPr b="0" lang="ru-RU" sz="1000" strike="noStrike" u="none">
                  <a:solidFill>
                    <a:srgbClr val="262b28"/>
                  </a:solidFill>
                  <a:uFillTx/>
                  <a:latin typeface="Wix Madefor Display SemiBold"/>
                </a:rPr>
                <a:t>19%</a:t>
              </a:r>
              <a:endParaRPr b="0" lang="en-GB" sz="10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47" name="Заголовок 3"/>
            <p:cNvSpPr/>
            <p:nvPr/>
          </p:nvSpPr>
          <p:spPr>
            <a:xfrm>
              <a:off x="4466880" y="3959640"/>
              <a:ext cx="406800" cy="13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spAutoFit/>
            </a:bodyPr>
            <a:p>
              <a:pPr defTabSz="914400">
                <a:lnSpc>
                  <a:spcPct val="90000"/>
                </a:lnSpc>
              </a:pPr>
              <a:r>
                <a:rPr b="0" lang="ru-RU" sz="1000" strike="noStrike" u="none">
                  <a:solidFill>
                    <a:srgbClr val="262b28"/>
                  </a:solidFill>
                  <a:uFillTx/>
                  <a:latin typeface="Wix Madefor Display SemiBold"/>
                </a:rPr>
                <a:t>18%</a:t>
              </a:r>
              <a:endParaRPr b="0" lang="en-GB" sz="10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48" name="Заголовок 3"/>
            <p:cNvSpPr/>
            <p:nvPr/>
          </p:nvSpPr>
          <p:spPr>
            <a:xfrm>
              <a:off x="4466880" y="4140000"/>
              <a:ext cx="406800" cy="13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spAutoFit/>
            </a:bodyPr>
            <a:p>
              <a:pPr defTabSz="914400">
                <a:lnSpc>
                  <a:spcPct val="90000"/>
                </a:lnSpc>
              </a:pPr>
              <a:r>
                <a:rPr b="0" lang="ru-RU" sz="1000" strike="noStrike" u="none">
                  <a:solidFill>
                    <a:srgbClr val="262b28"/>
                  </a:solidFill>
                  <a:uFillTx/>
                  <a:latin typeface="Wix Madefor Display SemiBold"/>
                </a:rPr>
                <a:t>12%</a:t>
              </a:r>
              <a:endParaRPr b="0" lang="en-GB" sz="10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49" name="Заголовок 3"/>
            <p:cNvSpPr/>
            <p:nvPr/>
          </p:nvSpPr>
          <p:spPr>
            <a:xfrm>
              <a:off x="4466880" y="4320720"/>
              <a:ext cx="336600" cy="13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spAutoFit/>
            </a:bodyPr>
            <a:p>
              <a:pPr defTabSz="914400">
                <a:lnSpc>
                  <a:spcPct val="90000"/>
                </a:lnSpc>
              </a:pPr>
              <a:r>
                <a:rPr b="0" lang="ru-RU" sz="1000" strike="noStrike" u="none">
                  <a:solidFill>
                    <a:srgbClr val="262b28"/>
                  </a:solidFill>
                  <a:uFillTx/>
                  <a:latin typeface="Wix Madefor Display SemiBold"/>
                </a:rPr>
                <a:t>9%</a:t>
              </a:r>
              <a:endParaRPr b="0" lang="en-GB" sz="10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50" name="Заголовок 3"/>
            <p:cNvSpPr/>
            <p:nvPr/>
          </p:nvSpPr>
          <p:spPr>
            <a:xfrm>
              <a:off x="4466880" y="4501440"/>
              <a:ext cx="406800" cy="13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spAutoFit/>
            </a:bodyPr>
            <a:p>
              <a:pPr defTabSz="914400">
                <a:lnSpc>
                  <a:spcPct val="90000"/>
                </a:lnSpc>
              </a:pPr>
              <a:r>
                <a:rPr b="0" lang="ru-RU" sz="1000" strike="noStrike" u="none">
                  <a:solidFill>
                    <a:srgbClr val="262b28"/>
                  </a:solidFill>
                  <a:uFillTx/>
                  <a:latin typeface="Wix Madefor Display SemiBold"/>
                </a:rPr>
                <a:t>8%</a:t>
              </a:r>
              <a:endParaRPr b="0" lang="en-GB" sz="10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51" name="Заголовок 3"/>
            <p:cNvSpPr/>
            <p:nvPr/>
          </p:nvSpPr>
          <p:spPr>
            <a:xfrm>
              <a:off x="4466880" y="4682160"/>
              <a:ext cx="406800" cy="13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spAutoFit/>
            </a:bodyPr>
            <a:p>
              <a:pPr defTabSz="914400">
                <a:lnSpc>
                  <a:spcPct val="90000"/>
                </a:lnSpc>
              </a:pPr>
              <a:r>
                <a:rPr b="0" lang="ru-RU" sz="1000" strike="noStrike" u="none">
                  <a:solidFill>
                    <a:srgbClr val="262b28"/>
                  </a:solidFill>
                  <a:uFillTx/>
                  <a:latin typeface="Wix Madefor Display SemiBold"/>
                </a:rPr>
                <a:t>6%</a:t>
              </a:r>
              <a:endParaRPr b="0" lang="en-GB" sz="10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52" name="Заголовок 3"/>
            <p:cNvSpPr/>
            <p:nvPr/>
          </p:nvSpPr>
          <p:spPr>
            <a:xfrm>
              <a:off x="4466880" y="4862880"/>
              <a:ext cx="406800" cy="13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spAutoFit/>
            </a:bodyPr>
            <a:p>
              <a:pPr defTabSz="914400">
                <a:lnSpc>
                  <a:spcPct val="90000"/>
                </a:lnSpc>
              </a:pPr>
              <a:r>
                <a:rPr b="0" lang="ru-RU" sz="1000" strike="noStrike" u="none">
                  <a:solidFill>
                    <a:srgbClr val="262b28"/>
                  </a:solidFill>
                  <a:uFillTx/>
                  <a:latin typeface="Wix Madefor Display SemiBold"/>
                </a:rPr>
                <a:t>6%</a:t>
              </a:r>
              <a:endParaRPr b="0" lang="en-GB" sz="10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53" name="Заголовок 3"/>
            <p:cNvSpPr/>
            <p:nvPr/>
          </p:nvSpPr>
          <p:spPr>
            <a:xfrm>
              <a:off x="4466880" y="5043600"/>
              <a:ext cx="336600" cy="13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spAutoFit/>
            </a:bodyPr>
            <a:p>
              <a:pPr defTabSz="914400">
                <a:lnSpc>
                  <a:spcPct val="90000"/>
                </a:lnSpc>
              </a:pPr>
              <a:r>
                <a:rPr b="0" lang="ru-RU" sz="1000" strike="noStrike" u="none">
                  <a:solidFill>
                    <a:srgbClr val="262b28"/>
                  </a:solidFill>
                  <a:uFillTx/>
                  <a:latin typeface="Wix Madefor Display SemiBold"/>
                </a:rPr>
                <a:t>5%</a:t>
              </a:r>
              <a:endParaRPr b="0" lang="en-GB" sz="10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sp>
        <p:nvSpPr>
          <p:cNvPr id="254" name="Прямоугольник: скругленные углы 56"/>
          <p:cNvSpPr/>
          <p:nvPr/>
        </p:nvSpPr>
        <p:spPr>
          <a:xfrm>
            <a:off x="9175320" y="1160640"/>
            <a:ext cx="2608200" cy="5221080"/>
          </a:xfrm>
          <a:prstGeom prst="roundRect">
            <a:avLst>
              <a:gd name="adj" fmla="val 2036"/>
            </a:avLst>
          </a:prstGeom>
          <a:solidFill>
            <a:srgbClr val="cacae5">
              <a:alpha val="50000"/>
            </a:srgb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255" name="Заголовок 3"/>
          <p:cNvSpPr/>
          <p:nvPr/>
        </p:nvSpPr>
        <p:spPr>
          <a:xfrm>
            <a:off x="9367200" y="1269000"/>
            <a:ext cx="2322360" cy="445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  <a:spcAft>
                <a:spcPts val="1199"/>
              </a:spcAft>
            </a:pPr>
            <a:r>
              <a:rPr b="0" lang="ru-RU" sz="1000" strike="noStrike" u="none">
                <a:solidFill>
                  <a:schemeClr val="dk1"/>
                </a:solidFill>
                <a:uFillTx/>
                <a:latin typeface="Wix Madefor Display Medium"/>
                <a:ea typeface="PT Root UI"/>
              </a:rPr>
              <a:t>Самые популярные корпоративные программы для сотрудников – возможность работать </a:t>
            </a:r>
            <a:br>
              <a:rPr sz="1000"/>
            </a:br>
            <a:r>
              <a:rPr b="0" lang="ru-RU" sz="1000" strike="noStrike" u="none">
                <a:solidFill>
                  <a:schemeClr val="dk1"/>
                </a:solidFill>
                <a:uFillTx/>
                <a:latin typeface="Wix Madefor Display Medium"/>
                <a:ea typeface="PT Root UI"/>
              </a:rPr>
              <a:t>удаленно (56%) и ДМС (46%)</a:t>
            </a:r>
            <a:endParaRPr b="0" lang="en-GB" sz="1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99"/>
              </a:spcAft>
            </a:pPr>
            <a:r>
              <a:rPr b="0" lang="ru-RU" sz="1000" strike="noStrike" u="none">
                <a:solidFill>
                  <a:schemeClr val="dk1"/>
                </a:solidFill>
                <a:uFillTx/>
                <a:latin typeface="Wix Madefor Display Medium"/>
                <a:ea typeface="PT Root UI"/>
              </a:rPr>
              <a:t>Позитивные карьерные и/или профессиональные ожидания могут быть связаны с наличием корпоративных программ</a:t>
            </a:r>
            <a:endParaRPr b="0" lang="en-GB" sz="1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</a:pPr>
            <a:r>
              <a:rPr b="0" lang="ru-RU" sz="1000" strike="noStrike" u="none">
                <a:solidFill>
                  <a:schemeClr val="dk1"/>
                </a:solidFill>
                <a:uFillTx/>
                <a:latin typeface="Wix Madefor Display Medium"/>
                <a:ea typeface="PT Root UI"/>
              </a:rPr>
              <a:t>У специалистов, которые положительно оценивают перспективы отрасли, в компаниях чаще, чем у других, встречаются следующие условия:</a:t>
            </a:r>
            <a:endParaRPr b="0" lang="en-GB" sz="1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80000" indent="-180000" defTabSz="914400">
              <a:lnSpc>
                <a:spcPct val="100000"/>
              </a:lnSpc>
              <a:spcAft>
                <a:spcPts val="201"/>
              </a:spcAft>
              <a:buClr>
                <a:srgbClr val="000000"/>
              </a:buClr>
              <a:buFont typeface="Arial"/>
              <a:buChar char="•"/>
            </a:pPr>
            <a:r>
              <a:rPr b="0" lang="ru-RU" sz="1000" strike="noStrike" u="none">
                <a:solidFill>
                  <a:schemeClr val="dk1"/>
                </a:solidFill>
                <a:uFillTx/>
                <a:latin typeface="Wix Madefor Display Medium"/>
                <a:ea typeface="PT Root UI"/>
              </a:rPr>
              <a:t>полноценная зона отдыха </a:t>
            </a:r>
            <a:br>
              <a:rPr sz="1000"/>
            </a:br>
            <a:r>
              <a:rPr b="0" lang="ru-RU" sz="1000" strike="noStrike" u="none">
                <a:solidFill>
                  <a:schemeClr val="dk1"/>
                </a:solidFill>
                <a:uFillTx/>
                <a:latin typeface="Wix Madefor Display Medium"/>
                <a:ea typeface="PT Root UI"/>
              </a:rPr>
              <a:t>в офисе – </a:t>
            </a:r>
            <a:r>
              <a:rPr b="0" lang="ru-RU" sz="1000" strike="noStrike" u="none">
                <a:solidFill>
                  <a:schemeClr val="dk1"/>
                </a:solidFill>
                <a:uFillTx/>
                <a:latin typeface="Wix Madefor Display Bold"/>
                <a:ea typeface="PT Root UI"/>
              </a:rPr>
              <a:t>на 22 п.п. чаще</a:t>
            </a:r>
            <a:endParaRPr b="0" lang="en-GB" sz="1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80000" indent="-180000" defTabSz="914400">
              <a:lnSpc>
                <a:spcPct val="100000"/>
              </a:lnSpc>
              <a:spcAft>
                <a:spcPts val="201"/>
              </a:spcAft>
              <a:buClr>
                <a:srgbClr val="000000"/>
              </a:buClr>
              <a:buFont typeface="Arial"/>
              <a:buChar char="•"/>
            </a:pPr>
            <a:r>
              <a:rPr b="0" lang="ru-RU" sz="1000" strike="noStrike" u="none">
                <a:solidFill>
                  <a:schemeClr val="dk1"/>
                </a:solidFill>
                <a:uFillTx/>
                <a:latin typeface="Wix Madefor Display Medium"/>
                <a:ea typeface="PT Root UI"/>
              </a:rPr>
              <a:t>полная или частичная компенсация проезда – </a:t>
            </a:r>
            <a:br>
              <a:rPr sz="1000"/>
            </a:br>
            <a:r>
              <a:rPr b="0" lang="ru-RU" sz="1000" strike="noStrike" u="none">
                <a:solidFill>
                  <a:schemeClr val="dk1"/>
                </a:solidFill>
                <a:uFillTx/>
                <a:latin typeface="Wix Madefor Display Bold"/>
                <a:ea typeface="PT Root UI"/>
              </a:rPr>
              <a:t>на 16 п.п. чаще</a:t>
            </a:r>
            <a:endParaRPr b="0" lang="en-GB" sz="1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80000" indent="-180000" defTabSz="914400">
              <a:lnSpc>
                <a:spcPct val="100000"/>
              </a:lnSpc>
              <a:spcAft>
                <a:spcPts val="201"/>
              </a:spcAft>
              <a:buClr>
                <a:srgbClr val="000000"/>
              </a:buClr>
              <a:buFont typeface="Arial"/>
              <a:buChar char="•"/>
            </a:pPr>
            <a:r>
              <a:rPr b="0" lang="ru-RU" sz="1000" strike="noStrike" u="none">
                <a:solidFill>
                  <a:schemeClr val="dk1"/>
                </a:solidFill>
                <a:uFillTx/>
                <a:latin typeface="Wix Madefor Display Medium"/>
                <a:ea typeface="PT Root UI"/>
              </a:rPr>
              <a:t>полная или частичная компенсация обедов – </a:t>
            </a:r>
            <a:br>
              <a:rPr sz="1000"/>
            </a:br>
            <a:r>
              <a:rPr b="0" lang="ru-RU" sz="1000" strike="noStrike" u="none">
                <a:solidFill>
                  <a:schemeClr val="dk1"/>
                </a:solidFill>
                <a:uFillTx/>
                <a:latin typeface="Wix Madefor Display Bold"/>
                <a:ea typeface="PT Root UI"/>
              </a:rPr>
              <a:t>на 14 п.п. чаще</a:t>
            </a:r>
            <a:endParaRPr b="0" lang="en-GB" sz="1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80000" indent="-180000" defTabSz="914400">
              <a:lnSpc>
                <a:spcPct val="100000"/>
              </a:lnSpc>
              <a:spcAft>
                <a:spcPts val="201"/>
              </a:spcAft>
              <a:buClr>
                <a:srgbClr val="000000"/>
              </a:buClr>
              <a:buFont typeface="Arial"/>
              <a:buChar char="•"/>
            </a:pPr>
            <a:r>
              <a:rPr b="0" lang="ru-RU" sz="1000" strike="noStrike" u="none">
                <a:solidFill>
                  <a:schemeClr val="dk1"/>
                </a:solidFill>
                <a:uFillTx/>
                <a:latin typeface="Wix Madefor Display Medium"/>
                <a:ea typeface="PT Root UI"/>
              </a:rPr>
              <a:t>гибкий (свободный) рабочий график – </a:t>
            </a:r>
            <a:r>
              <a:rPr b="0" lang="ru-RU" sz="1000" strike="noStrike" u="none">
                <a:solidFill>
                  <a:schemeClr val="dk1"/>
                </a:solidFill>
                <a:uFillTx/>
                <a:latin typeface="Wix Madefor Display Bold"/>
                <a:ea typeface="PT Root UI"/>
              </a:rPr>
              <a:t>на 14 п.п. чаще</a:t>
            </a:r>
            <a:endParaRPr b="0" lang="en-GB" sz="1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80000" indent="-180000" defTabSz="914400">
              <a:lnSpc>
                <a:spcPct val="100000"/>
              </a:lnSpc>
              <a:spcAft>
                <a:spcPts val="201"/>
              </a:spcAft>
              <a:buClr>
                <a:srgbClr val="000000"/>
              </a:buClr>
              <a:buFont typeface="Arial"/>
              <a:buChar char="•"/>
            </a:pPr>
            <a:r>
              <a:rPr b="0" lang="ru-RU" sz="1000" strike="noStrike" u="none">
                <a:solidFill>
                  <a:schemeClr val="dk1"/>
                </a:solidFill>
                <a:uFillTx/>
                <a:latin typeface="Wix Madefor Display Medium"/>
                <a:ea typeface="PT Root UI"/>
              </a:rPr>
              <a:t>доплата к больничному листу </a:t>
            </a:r>
            <a:br>
              <a:rPr sz="1000"/>
            </a:br>
            <a:r>
              <a:rPr b="0" lang="ru-RU" sz="1000" strike="noStrike" u="none">
                <a:solidFill>
                  <a:schemeClr val="dk1"/>
                </a:solidFill>
                <a:uFillTx/>
                <a:latin typeface="Wix Madefor Display Medium"/>
                <a:ea typeface="PT Root UI"/>
              </a:rPr>
              <a:t>до оклада </a:t>
            </a:r>
            <a:r>
              <a:rPr b="0" lang="en-US" sz="1000" strike="noStrike" u="none">
                <a:solidFill>
                  <a:schemeClr val="dk1"/>
                </a:solidFill>
                <a:uFillTx/>
                <a:latin typeface="Wix Madefor Display Medium"/>
                <a:ea typeface="PT Root UI"/>
              </a:rPr>
              <a:t>/ </a:t>
            </a:r>
            <a:r>
              <a:rPr b="0" lang="ru-RU" sz="1000" strike="noStrike" u="none">
                <a:solidFill>
                  <a:schemeClr val="dk1"/>
                </a:solidFill>
                <a:uFillTx/>
                <a:latin typeface="Wix Madefor Display Medium"/>
                <a:ea typeface="PT Root UI"/>
              </a:rPr>
              <a:t>среднего </a:t>
            </a:r>
            <a:br>
              <a:rPr sz="1000"/>
            </a:br>
            <a:r>
              <a:rPr b="0" lang="ru-RU" sz="1000" strike="noStrike" u="none">
                <a:solidFill>
                  <a:schemeClr val="dk1"/>
                </a:solidFill>
                <a:uFillTx/>
                <a:latin typeface="Wix Madefor Display Medium"/>
                <a:ea typeface="PT Root UI"/>
              </a:rPr>
              <a:t>заработка – </a:t>
            </a:r>
            <a:r>
              <a:rPr b="0" lang="ru-RU" sz="1000" strike="noStrike" u="none">
                <a:solidFill>
                  <a:schemeClr val="dk1"/>
                </a:solidFill>
                <a:uFillTx/>
                <a:latin typeface="Wix Madefor Display Bold"/>
                <a:ea typeface="PT Root UI"/>
              </a:rPr>
              <a:t>на 14 п.п. чаще</a:t>
            </a:r>
            <a:endParaRPr b="0" lang="en-GB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6" name="Заголовок 3"/>
          <p:cNvSpPr/>
          <p:nvPr/>
        </p:nvSpPr>
        <p:spPr>
          <a:xfrm>
            <a:off x="442800" y="1926360"/>
            <a:ext cx="1871640" cy="65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</a:pPr>
            <a:r>
              <a:rPr b="0" lang="ru-RU" sz="1200" strike="noStrike" u="none">
                <a:solidFill>
                  <a:schemeClr val="dk1"/>
                </a:solidFill>
                <a:uFillTx/>
                <a:latin typeface="Wix Madefor Display Medium"/>
              </a:rPr>
              <a:t>вопрос задавался тем, чья форма занятости – наемный сотрудник, владелец бизнеса </a:t>
            </a: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0225F290-014C-4D74-99B2-7016914EC613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Прямоугольник: скругленные углы 5"/>
          <p:cNvSpPr/>
          <p:nvPr/>
        </p:nvSpPr>
        <p:spPr>
          <a:xfrm>
            <a:off x="442800" y="2292120"/>
            <a:ext cx="2635200" cy="4089240"/>
          </a:xfrm>
          <a:prstGeom prst="roundRect">
            <a:avLst>
              <a:gd name="adj" fmla="val 2286"/>
            </a:avLst>
          </a:prstGeom>
          <a:solidFill>
            <a:srgbClr val="cacae5">
              <a:alpha val="50000"/>
            </a:srgb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1149120" y="404640"/>
            <a:ext cx="10407240" cy="38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2800" strike="noStrike" u="none">
                <a:solidFill>
                  <a:srgbClr val="262b28"/>
                </a:solidFill>
                <a:uFillTx/>
                <a:latin typeface="Wix Madefor Display SemiBold"/>
              </a:rPr>
              <a:t>Условия и состав кадров в компаниях разного размера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59" name="Заголовок 3"/>
          <p:cNvSpPr/>
          <p:nvPr/>
        </p:nvSpPr>
        <p:spPr>
          <a:xfrm>
            <a:off x="1523880" y="1299960"/>
            <a:ext cx="324072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  <a:spcAft>
                <a:spcPts val="1199"/>
              </a:spcAft>
            </a:pPr>
            <a:r>
              <a:rPr b="0" lang="ru-RU" sz="1200" strike="noStrike" u="none">
                <a:solidFill>
                  <a:srgbClr val="262b28"/>
                </a:solidFill>
                <a:uFillTx/>
                <a:latin typeface="Wix Madefor Display Medium"/>
              </a:rPr>
              <a:t>опрошенных ИТ-специалистов работают как фрилансеры или самозанятые, </a:t>
            </a:r>
            <a:br>
              <a:rPr sz="1200"/>
            </a:br>
            <a:r>
              <a:rPr b="0" lang="ru-RU" sz="1200" strike="noStrike" u="none">
                <a:solidFill>
                  <a:srgbClr val="262b28"/>
                </a:solidFill>
                <a:uFillTx/>
                <a:latin typeface="Wix Madefor Display Medium"/>
              </a:rPr>
              <a:t>1% - временно безработные</a:t>
            </a: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aphicFrame>
        <p:nvGraphicFramePr>
          <p:cNvPr id="260" name="Диаграмма 9"/>
          <p:cNvGraphicFramePr/>
          <p:nvPr/>
        </p:nvGraphicFramePr>
        <p:xfrm>
          <a:off x="443520" y="1124640"/>
          <a:ext cx="897120" cy="905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61" name="Заголовок 3"/>
          <p:cNvSpPr/>
          <p:nvPr/>
        </p:nvSpPr>
        <p:spPr>
          <a:xfrm>
            <a:off x="4948200" y="1299960"/>
            <a:ext cx="623772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  <a:tabLst>
                <a:tab algn="l" pos="893880"/>
              </a:tabLst>
            </a:pPr>
            <a:r>
              <a:rPr b="0" lang="ru-RU" sz="1200" strike="noStrike" u="none">
                <a:solidFill>
                  <a:srgbClr val="262b28"/>
                </a:solidFill>
                <a:uFillTx/>
                <a:latin typeface="Wix Madefor Display Bold"/>
              </a:rPr>
              <a:t>В малых компаниях на 14 п.п. больше трудоустроено сотрудников с опытом работы до 1 года, </a:t>
            </a:r>
            <a:r>
              <a:rPr b="0" lang="ru-RU" sz="1200" strike="noStrike" u="none">
                <a:solidFill>
                  <a:srgbClr val="262b28"/>
                </a:solidFill>
                <a:uFillTx/>
                <a:latin typeface="Wix Madefor Display Medium"/>
              </a:rPr>
              <a:t>при этом </a:t>
            </a:r>
            <a:r>
              <a:rPr b="0" lang="ru-RU" sz="1200" strike="noStrike" u="none">
                <a:solidFill>
                  <a:srgbClr val="262b28"/>
                </a:solidFill>
                <a:uFillTx/>
                <a:latin typeface="Wix Madefor Display Bold"/>
              </a:rPr>
              <a:t>в средних и крупных компаниях больше сотрудников с опытом работы от 5 лет </a:t>
            </a:r>
            <a:r>
              <a:rPr b="0" lang="ru-RU" sz="1200" strike="noStrike" u="none">
                <a:solidFill>
                  <a:srgbClr val="262b28"/>
                </a:solidFill>
                <a:uFillTx/>
                <a:latin typeface="Wix Madefor Display Medium"/>
              </a:rPr>
              <a:t>(57% и 69%, соответственно)</a:t>
            </a: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2" name="Заголовок 3"/>
          <p:cNvSpPr/>
          <p:nvPr/>
        </p:nvSpPr>
        <p:spPr>
          <a:xfrm>
            <a:off x="626400" y="1452600"/>
            <a:ext cx="53064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90000"/>
              </a:lnSpc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Wix Madefor Display SemiBold"/>
              </a:rPr>
              <a:t>16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Wix Madefor Display SemiBold"/>
              </a:rPr>
              <a:t>%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3" name="Заголовок 3"/>
          <p:cNvSpPr/>
          <p:nvPr/>
        </p:nvSpPr>
        <p:spPr>
          <a:xfrm>
            <a:off x="711720" y="2537280"/>
            <a:ext cx="2137320" cy="35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  <a:spcAft>
                <a:spcPts val="601"/>
              </a:spcAft>
            </a:pPr>
            <a:r>
              <a:rPr b="0" lang="ru-RU" sz="1200" strike="noStrike" u="none">
                <a:solidFill>
                  <a:srgbClr val="262b28"/>
                </a:solidFill>
                <a:uFillTx/>
                <a:latin typeface="Wix Madefor Display Medium"/>
              </a:rPr>
              <a:t>Компании отличаются </a:t>
            </a:r>
            <a:br>
              <a:rPr sz="1200"/>
            </a:br>
            <a:r>
              <a:rPr b="0" lang="ru-RU" sz="1200" strike="noStrike" u="none">
                <a:solidFill>
                  <a:srgbClr val="262b28"/>
                </a:solidFill>
                <a:uFillTx/>
                <a:latin typeface="Wix Madefor Display Medium"/>
              </a:rPr>
              <a:t>не только по составу кадров, но и по доступным программам лояльности для сотрудников</a:t>
            </a: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</a:pPr>
            <a:r>
              <a:rPr b="0" lang="ru-RU" sz="1200" strike="noStrike" u="none">
                <a:solidFill>
                  <a:srgbClr val="262b28"/>
                </a:solidFill>
                <a:uFillTx/>
                <a:latin typeface="Wix Madefor Display Medium"/>
              </a:rPr>
              <a:t>Так, ИТ-специалисты трудоустроенные </a:t>
            </a:r>
            <a:br>
              <a:rPr sz="1200"/>
            </a:br>
            <a:r>
              <a:rPr b="0" lang="ru-RU" sz="1200" strike="noStrike" u="none">
                <a:solidFill>
                  <a:srgbClr val="262b28"/>
                </a:solidFill>
                <a:uFillTx/>
                <a:latin typeface="Wix Madefor Display Medium"/>
              </a:rPr>
              <a:t>в крупных и средних компаниях, чаще отмечают наличие таких программ, как компенсация расходов на обучение, спорт, питание, доплаты </a:t>
            </a:r>
            <a:br>
              <a:rPr sz="1200"/>
            </a:br>
            <a:r>
              <a:rPr b="0" lang="ru-RU" sz="1200" strike="noStrike" u="none">
                <a:solidFill>
                  <a:srgbClr val="262b28"/>
                </a:solidFill>
                <a:uFillTx/>
                <a:latin typeface="Wix Madefor Display Medium"/>
              </a:rPr>
              <a:t>к больничным листам, </a:t>
            </a:r>
            <a:br>
              <a:rPr sz="1200"/>
            </a:br>
            <a:r>
              <a:rPr b="0" lang="ru-RU" sz="1200" strike="noStrike" u="none">
                <a:solidFill>
                  <a:srgbClr val="262b28"/>
                </a:solidFill>
                <a:uFillTx/>
                <a:latin typeface="Wix Madefor Display Medium"/>
              </a:rPr>
              <a:t>а в малых программы, </a:t>
            </a:r>
            <a:br>
              <a:rPr sz="1200"/>
            </a:br>
            <a:r>
              <a:rPr b="0" lang="ru-RU" sz="1200" strike="noStrike" u="none">
                <a:solidFill>
                  <a:srgbClr val="262b28"/>
                </a:solidFill>
                <a:uFillTx/>
                <a:latin typeface="Wix Madefor Display Medium"/>
              </a:rPr>
              <a:t>на которые компании </a:t>
            </a:r>
            <a:br>
              <a:rPr sz="1200"/>
            </a:br>
            <a:r>
              <a:rPr b="0" lang="ru-RU" sz="1200" strike="noStrike" u="none">
                <a:solidFill>
                  <a:srgbClr val="262b28"/>
                </a:solidFill>
                <a:uFillTx/>
                <a:latin typeface="Wix Madefor Display Medium"/>
              </a:rPr>
              <a:t>не нужно выделять бюджет, например, гибкий график </a:t>
            </a:r>
            <a:br>
              <a:rPr sz="1200"/>
            </a:br>
            <a:r>
              <a:rPr b="0" lang="ru-RU" sz="1200" strike="noStrike" u="none">
                <a:solidFill>
                  <a:srgbClr val="262b28"/>
                </a:solidFill>
                <a:uFillTx/>
                <a:latin typeface="Wix Madefor Display Medium"/>
              </a:rPr>
              <a:t>и удаленную работу</a:t>
            </a: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264" name="Группа 93"/>
          <p:cNvGrpSpPr/>
          <p:nvPr/>
        </p:nvGrpSpPr>
        <p:grpSpPr>
          <a:xfrm>
            <a:off x="3436560" y="2295000"/>
            <a:ext cx="2534760" cy="4270680"/>
            <a:chOff x="3436560" y="2295000"/>
            <a:chExt cx="2534760" cy="4270680"/>
          </a:xfrm>
        </p:grpSpPr>
        <p:grpSp>
          <p:nvGrpSpPr>
            <p:cNvPr id="265" name="Группа 23"/>
            <p:cNvGrpSpPr/>
            <p:nvPr/>
          </p:nvGrpSpPr>
          <p:grpSpPr>
            <a:xfrm>
              <a:off x="3436560" y="2295000"/>
              <a:ext cx="2364840" cy="703800"/>
              <a:chOff x="3436560" y="2295000"/>
              <a:chExt cx="2364840" cy="703800"/>
            </a:xfrm>
          </p:grpSpPr>
          <p:sp>
            <p:nvSpPr>
              <p:cNvPr id="266" name="Заголовок 3"/>
              <p:cNvSpPr/>
              <p:nvPr/>
            </p:nvSpPr>
            <p:spPr>
              <a:xfrm>
                <a:off x="3436560" y="2504880"/>
                <a:ext cx="2364840" cy="4939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spAutoFit/>
              </a:bodyPr>
              <a:p>
                <a:pPr defTabSz="914400">
                  <a:lnSpc>
                    <a:spcPct val="90000"/>
                  </a:lnSpc>
                </a:pPr>
                <a:r>
                  <a:rPr b="0" lang="ru-RU" sz="1200" strike="noStrike" u="none">
                    <a:solidFill>
                      <a:srgbClr val="262b28"/>
                    </a:solidFill>
                    <a:uFillTx/>
                    <a:latin typeface="Wix Madefor Display Medium"/>
                  </a:rPr>
                  <a:t>опрошенных ИТ-специалистов работают в малых компаниях (до 100 сотрудников)</a:t>
                </a:r>
                <a:endParaRPr b="0" lang="en-GB" sz="12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67" name="Заголовок 3"/>
              <p:cNvSpPr/>
              <p:nvPr/>
            </p:nvSpPr>
            <p:spPr>
              <a:xfrm>
                <a:off x="3436560" y="2295000"/>
                <a:ext cx="530640" cy="192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spAutoFit/>
              </a:bodyPr>
              <a:p>
                <a:pPr defTabSz="914400">
                  <a:lnSpc>
                    <a:spcPct val="90000"/>
                  </a:lnSpc>
                </a:pPr>
                <a:r>
                  <a:rPr b="0" lang="ru-RU" sz="1400" strike="noStrike" u="none">
                    <a:solidFill>
                      <a:srgbClr val="00bca6"/>
                    </a:solidFill>
                    <a:uFillTx/>
                    <a:latin typeface="Wix Madefor Display Bold"/>
                  </a:rPr>
                  <a:t>32</a:t>
                </a:r>
                <a:r>
                  <a:rPr b="0" lang="en-US" sz="1400" strike="noStrike" u="none">
                    <a:solidFill>
                      <a:srgbClr val="00bca6"/>
                    </a:solidFill>
                    <a:uFillTx/>
                    <a:latin typeface="Wix Madefor Display Bold"/>
                  </a:rPr>
                  <a:t>%</a:t>
                </a:r>
                <a:endParaRPr b="0" lang="en-GB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</p:grpSp>
        <p:graphicFrame>
          <p:nvGraphicFramePr>
            <p:cNvPr id="268" name="Диаграмма 24"/>
            <p:cNvGraphicFramePr/>
            <p:nvPr/>
          </p:nvGraphicFramePr>
          <p:xfrm>
            <a:off x="3436560" y="3588840"/>
            <a:ext cx="2534760" cy="297684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269" name="Заголовок 3"/>
            <p:cNvSpPr/>
            <p:nvPr/>
          </p:nvSpPr>
          <p:spPr>
            <a:xfrm>
              <a:off x="3436560" y="3240720"/>
              <a:ext cx="1417320" cy="19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ct val="90000"/>
                </a:lnSpc>
              </a:pPr>
              <a:r>
                <a:rPr b="0" lang="ru-RU" sz="1400" strike="noStrike" u="none">
                  <a:solidFill>
                    <a:srgbClr val="262b28"/>
                  </a:solidFill>
                  <a:uFillTx/>
                  <a:latin typeface="Wix Madefor Display SemiBold"/>
                </a:rPr>
                <a:t>ТОП-5 условий </a:t>
              </a:r>
              <a:endParaRPr b="0" lang="en-GB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70" name="Заголовок 3"/>
            <p:cNvSpPr/>
            <p:nvPr/>
          </p:nvSpPr>
          <p:spPr>
            <a:xfrm>
              <a:off x="3436560" y="3510000"/>
              <a:ext cx="1301040" cy="27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b">
              <a:spAutoFit/>
            </a:bodyPr>
            <a:p>
              <a:pPr defTabSz="914400">
                <a:lnSpc>
                  <a:spcPct val="90000"/>
                </a:lnSpc>
              </a:pPr>
              <a:r>
                <a:rPr b="0" lang="ru-RU" sz="1000" strike="noStrike" u="none">
                  <a:solidFill>
                    <a:srgbClr val="262b28"/>
                  </a:solidFill>
                  <a:uFillTx/>
                  <a:latin typeface="Wix Madefor Display Medium"/>
                </a:rPr>
                <a:t>Возможность работать удаленно </a:t>
              </a:r>
              <a:endParaRPr b="0" lang="en-GB" sz="10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71" name="Заголовок 3"/>
            <p:cNvSpPr/>
            <p:nvPr/>
          </p:nvSpPr>
          <p:spPr>
            <a:xfrm>
              <a:off x="3436560" y="4107960"/>
              <a:ext cx="1366560" cy="27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b">
              <a:spAutoFit/>
            </a:bodyPr>
            <a:p>
              <a:pPr defTabSz="914400">
                <a:lnSpc>
                  <a:spcPct val="90000"/>
                </a:lnSpc>
              </a:pPr>
              <a:r>
                <a:rPr b="0" lang="ru-RU" sz="1000" strike="noStrike" u="none">
                  <a:solidFill>
                    <a:srgbClr val="262b28"/>
                  </a:solidFill>
                  <a:uFillTx/>
                  <a:latin typeface="Wix Madefor Display Medium"/>
                </a:rPr>
                <a:t>Гибкий (свободный) рабочий график</a:t>
              </a:r>
              <a:endParaRPr b="0" lang="en-GB" sz="10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72" name="Заголовок 3"/>
            <p:cNvSpPr/>
            <p:nvPr/>
          </p:nvSpPr>
          <p:spPr>
            <a:xfrm>
              <a:off x="3436560" y="4843440"/>
              <a:ext cx="142668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b">
              <a:spAutoFit/>
            </a:bodyPr>
            <a:p>
              <a:pPr defTabSz="914400">
                <a:lnSpc>
                  <a:spcPct val="90000"/>
                </a:lnSpc>
              </a:pPr>
              <a:r>
                <a:rPr b="0" lang="ru-RU" sz="1000" strike="noStrike" u="none">
                  <a:solidFill>
                    <a:srgbClr val="262b28"/>
                  </a:solidFill>
                  <a:uFillTx/>
                  <a:latin typeface="Wix Madefor Display Medium"/>
                </a:rPr>
                <a:t>ДМС для сотрудников</a:t>
              </a:r>
              <a:endParaRPr b="0" lang="en-GB" sz="10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73" name="Заголовок 3"/>
            <p:cNvSpPr/>
            <p:nvPr/>
          </p:nvSpPr>
          <p:spPr>
            <a:xfrm>
              <a:off x="3436560" y="5290560"/>
              <a:ext cx="2025360" cy="27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b">
              <a:spAutoFit/>
            </a:bodyPr>
            <a:p>
              <a:pPr defTabSz="914400">
                <a:lnSpc>
                  <a:spcPct val="90000"/>
                </a:lnSpc>
              </a:pPr>
              <a:r>
                <a:rPr b="0" lang="ru-RU" sz="1000" strike="noStrike" u="none">
                  <a:solidFill>
                    <a:srgbClr val="262b28"/>
                  </a:solidFill>
                  <a:uFillTx/>
                  <a:latin typeface="Wix Madefor Display Medium"/>
                </a:rPr>
                <a:t>Производительное, современное оборудование</a:t>
              </a:r>
              <a:endParaRPr b="0" lang="en-GB" sz="10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74" name="Заголовок 3"/>
            <p:cNvSpPr/>
            <p:nvPr/>
          </p:nvSpPr>
          <p:spPr>
            <a:xfrm>
              <a:off x="3436560" y="5896080"/>
              <a:ext cx="1301040" cy="27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b">
              <a:spAutoFit/>
            </a:bodyPr>
            <a:p>
              <a:pPr defTabSz="914400">
                <a:lnSpc>
                  <a:spcPct val="90000"/>
                </a:lnSpc>
              </a:pPr>
              <a:r>
                <a:rPr b="0" lang="ru-RU" sz="1000" strike="noStrike" u="none">
                  <a:solidFill>
                    <a:srgbClr val="262b28"/>
                  </a:solidFill>
                  <a:uFillTx/>
                  <a:latin typeface="Wix Madefor Display Medium"/>
                </a:rPr>
                <a:t>Полноценная зона отдыха в офисе</a:t>
              </a:r>
              <a:endParaRPr b="0" lang="en-GB" sz="10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grpSp>
        <p:nvGrpSpPr>
          <p:cNvPr id="275" name="Группа 94"/>
          <p:cNvGrpSpPr/>
          <p:nvPr/>
        </p:nvGrpSpPr>
        <p:grpSpPr>
          <a:xfrm>
            <a:off x="6427080" y="2295000"/>
            <a:ext cx="2534760" cy="4270680"/>
            <a:chOff x="6427080" y="2295000"/>
            <a:chExt cx="2534760" cy="4270680"/>
          </a:xfrm>
        </p:grpSpPr>
        <p:grpSp>
          <p:nvGrpSpPr>
            <p:cNvPr id="276" name="Группа 22"/>
            <p:cNvGrpSpPr/>
            <p:nvPr/>
          </p:nvGrpSpPr>
          <p:grpSpPr>
            <a:xfrm>
              <a:off x="6427080" y="2295000"/>
              <a:ext cx="2471400" cy="703800"/>
              <a:chOff x="6427080" y="2295000"/>
              <a:chExt cx="2471400" cy="703800"/>
            </a:xfrm>
          </p:grpSpPr>
          <p:sp>
            <p:nvSpPr>
              <p:cNvPr id="277" name="Заголовок 3"/>
              <p:cNvSpPr/>
              <p:nvPr/>
            </p:nvSpPr>
            <p:spPr>
              <a:xfrm>
                <a:off x="6427080" y="2504880"/>
                <a:ext cx="2471400" cy="4939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spAutoFit/>
              </a:bodyPr>
              <a:p>
                <a:pPr defTabSz="914400">
                  <a:lnSpc>
                    <a:spcPct val="90000"/>
                  </a:lnSpc>
                </a:pPr>
                <a:r>
                  <a:rPr b="0" lang="ru-RU" sz="1200" strike="noStrike" u="none">
                    <a:solidFill>
                      <a:srgbClr val="262b28"/>
                    </a:solidFill>
                    <a:uFillTx/>
                    <a:latin typeface="Wix Madefor Display Medium"/>
                  </a:rPr>
                  <a:t>опрошенных ИТ-специалистов работают в средних компаниях (от 100 до 500 сотрудников)</a:t>
                </a:r>
                <a:endParaRPr b="0" lang="en-GB" sz="12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78" name="Заголовок 3"/>
              <p:cNvSpPr/>
              <p:nvPr/>
            </p:nvSpPr>
            <p:spPr>
              <a:xfrm>
                <a:off x="6427080" y="2295000"/>
                <a:ext cx="530640" cy="192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spAutoFit/>
              </a:bodyPr>
              <a:p>
                <a:pPr defTabSz="914400">
                  <a:lnSpc>
                    <a:spcPct val="90000"/>
                  </a:lnSpc>
                </a:pPr>
                <a:r>
                  <a:rPr b="0" lang="ru-RU" sz="1400" strike="noStrike" u="none">
                    <a:solidFill>
                      <a:srgbClr val="fa37bd"/>
                    </a:solidFill>
                    <a:uFillTx/>
                    <a:latin typeface="Wix Madefor Display Bold"/>
                  </a:rPr>
                  <a:t>25</a:t>
                </a:r>
                <a:r>
                  <a:rPr b="0" lang="en-US" sz="1400" strike="noStrike" u="none">
                    <a:solidFill>
                      <a:srgbClr val="fa37bd"/>
                    </a:solidFill>
                    <a:uFillTx/>
                    <a:latin typeface="Wix Madefor Display Bold"/>
                  </a:rPr>
                  <a:t>%</a:t>
                </a:r>
                <a:endParaRPr b="0" lang="en-GB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</p:grpSp>
        <p:graphicFrame>
          <p:nvGraphicFramePr>
            <p:cNvPr id="279" name="Диаграмма 73"/>
            <p:cNvGraphicFramePr/>
            <p:nvPr/>
          </p:nvGraphicFramePr>
          <p:xfrm>
            <a:off x="6427080" y="3588840"/>
            <a:ext cx="2534760" cy="297684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280" name="Заголовок 3"/>
            <p:cNvSpPr/>
            <p:nvPr/>
          </p:nvSpPr>
          <p:spPr>
            <a:xfrm>
              <a:off x="6427080" y="3240720"/>
              <a:ext cx="1417320" cy="19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ct val="90000"/>
                </a:lnSpc>
              </a:pPr>
              <a:r>
                <a:rPr b="0" lang="ru-RU" sz="1400" strike="noStrike" u="none">
                  <a:solidFill>
                    <a:srgbClr val="262b28"/>
                  </a:solidFill>
                  <a:uFillTx/>
                  <a:latin typeface="Wix Madefor Display SemiBold"/>
                </a:rPr>
                <a:t>ТОП-5 условий </a:t>
              </a:r>
              <a:endParaRPr b="0" lang="en-GB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81" name="Заголовок 3"/>
            <p:cNvSpPr/>
            <p:nvPr/>
          </p:nvSpPr>
          <p:spPr>
            <a:xfrm>
              <a:off x="6427080" y="3510000"/>
              <a:ext cx="1301040" cy="27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b">
              <a:spAutoFit/>
            </a:bodyPr>
            <a:p>
              <a:pPr defTabSz="914400">
                <a:lnSpc>
                  <a:spcPct val="90000"/>
                </a:lnSpc>
              </a:pPr>
              <a:r>
                <a:rPr b="0" lang="ru-RU" sz="1000" strike="noStrike" u="none">
                  <a:solidFill>
                    <a:srgbClr val="262b28"/>
                  </a:solidFill>
                  <a:uFillTx/>
                  <a:latin typeface="Wix Madefor Display Medium"/>
                </a:rPr>
                <a:t>Возможность работать удаленно </a:t>
              </a:r>
              <a:endParaRPr b="0" lang="en-GB" sz="10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82" name="Заголовок 3"/>
            <p:cNvSpPr/>
            <p:nvPr/>
          </p:nvSpPr>
          <p:spPr>
            <a:xfrm>
              <a:off x="6427080" y="4245480"/>
              <a:ext cx="136656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b">
              <a:spAutoFit/>
            </a:bodyPr>
            <a:p>
              <a:pPr defTabSz="914400">
                <a:lnSpc>
                  <a:spcPct val="90000"/>
                </a:lnSpc>
              </a:pPr>
              <a:r>
                <a:rPr b="0" lang="ru-RU" sz="1000" strike="noStrike" u="none">
                  <a:solidFill>
                    <a:srgbClr val="262b28"/>
                  </a:solidFill>
                  <a:uFillTx/>
                  <a:latin typeface="Wix Madefor Display Medium"/>
                </a:rPr>
                <a:t>ДМС для сотрудников </a:t>
              </a:r>
              <a:endParaRPr b="0" lang="en-GB" sz="10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83" name="Заголовок 3"/>
            <p:cNvSpPr/>
            <p:nvPr/>
          </p:nvSpPr>
          <p:spPr>
            <a:xfrm>
              <a:off x="6427080" y="4705920"/>
              <a:ext cx="1853280" cy="27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b">
              <a:spAutoFit/>
            </a:bodyPr>
            <a:p>
              <a:pPr defTabSz="914400">
                <a:lnSpc>
                  <a:spcPct val="90000"/>
                </a:lnSpc>
              </a:pPr>
              <a:r>
                <a:rPr b="0" lang="ru-RU" sz="1000" strike="noStrike" u="none">
                  <a:solidFill>
                    <a:srgbClr val="262b28"/>
                  </a:solidFill>
                  <a:uFillTx/>
                  <a:latin typeface="Wix Madefor Display Medium"/>
                </a:rPr>
                <a:t>Производительное, современное оборудование</a:t>
              </a:r>
              <a:endParaRPr b="0" lang="en-GB" sz="10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84" name="Заголовок 3"/>
            <p:cNvSpPr/>
            <p:nvPr/>
          </p:nvSpPr>
          <p:spPr>
            <a:xfrm>
              <a:off x="6427080" y="5290560"/>
              <a:ext cx="1417320" cy="27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b">
              <a:spAutoFit/>
            </a:bodyPr>
            <a:p>
              <a:pPr defTabSz="914400">
                <a:lnSpc>
                  <a:spcPct val="90000"/>
                </a:lnSpc>
              </a:pPr>
              <a:r>
                <a:rPr b="0" lang="ru-RU" sz="1000" strike="noStrike" u="none">
                  <a:solidFill>
                    <a:srgbClr val="262b28"/>
                  </a:solidFill>
                  <a:uFillTx/>
                  <a:latin typeface="Wix Madefor Display Medium"/>
                </a:rPr>
                <a:t>Полноценная зона отдыха в офисе</a:t>
              </a:r>
              <a:endParaRPr b="0" lang="en-GB" sz="10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85" name="Заголовок 3"/>
            <p:cNvSpPr/>
            <p:nvPr/>
          </p:nvSpPr>
          <p:spPr>
            <a:xfrm>
              <a:off x="6427080" y="5896080"/>
              <a:ext cx="2027160" cy="27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b">
              <a:spAutoFit/>
            </a:bodyPr>
            <a:p>
              <a:pPr defTabSz="914400">
                <a:lnSpc>
                  <a:spcPct val="90000"/>
                </a:lnSpc>
              </a:pPr>
              <a:r>
                <a:rPr b="0" lang="ru-RU" sz="1000" strike="noStrike" u="none">
                  <a:solidFill>
                    <a:srgbClr val="262b28"/>
                  </a:solidFill>
                  <a:uFillTx/>
                  <a:latin typeface="Wix Madefor Display Medium"/>
                </a:rPr>
                <a:t>Льготные условия по ДМС для членов семьи сотрудника</a:t>
              </a:r>
              <a:endParaRPr b="0" lang="en-GB" sz="10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grpSp>
        <p:nvGrpSpPr>
          <p:cNvPr id="286" name="Группа 95"/>
          <p:cNvGrpSpPr/>
          <p:nvPr/>
        </p:nvGrpSpPr>
        <p:grpSpPr>
          <a:xfrm>
            <a:off x="9417960" y="2295000"/>
            <a:ext cx="2606040" cy="4270680"/>
            <a:chOff x="9417960" y="2295000"/>
            <a:chExt cx="2606040" cy="4270680"/>
          </a:xfrm>
        </p:grpSpPr>
        <p:grpSp>
          <p:nvGrpSpPr>
            <p:cNvPr id="287" name="Группа 16"/>
            <p:cNvGrpSpPr/>
            <p:nvPr/>
          </p:nvGrpSpPr>
          <p:grpSpPr>
            <a:xfrm>
              <a:off x="9417960" y="2295000"/>
              <a:ext cx="2471400" cy="703800"/>
              <a:chOff x="9417960" y="2295000"/>
              <a:chExt cx="2471400" cy="703800"/>
            </a:xfrm>
          </p:grpSpPr>
          <p:sp>
            <p:nvSpPr>
              <p:cNvPr id="288" name="Заголовок 3"/>
              <p:cNvSpPr/>
              <p:nvPr/>
            </p:nvSpPr>
            <p:spPr>
              <a:xfrm>
                <a:off x="9417960" y="2504880"/>
                <a:ext cx="2471400" cy="4939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spAutoFit/>
              </a:bodyPr>
              <a:p>
                <a:pPr defTabSz="914400">
                  <a:lnSpc>
                    <a:spcPct val="90000"/>
                  </a:lnSpc>
                </a:pPr>
                <a:r>
                  <a:rPr b="0" lang="ru-RU" sz="1200" strike="noStrike" u="none">
                    <a:solidFill>
                      <a:srgbClr val="262b28"/>
                    </a:solidFill>
                    <a:uFillTx/>
                    <a:latin typeface="Wix Madefor Display Medium"/>
                  </a:rPr>
                  <a:t>опрошенных ИТ-специалистов работают в крупных компаниях (более 500 сотрудников)</a:t>
                </a:r>
                <a:endParaRPr b="0" lang="en-GB" sz="12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289" name="Заголовок 3"/>
              <p:cNvSpPr/>
              <p:nvPr/>
            </p:nvSpPr>
            <p:spPr>
              <a:xfrm>
                <a:off x="9417960" y="2295000"/>
                <a:ext cx="530640" cy="192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spAutoFit/>
              </a:bodyPr>
              <a:p>
                <a:pPr defTabSz="914400">
                  <a:lnSpc>
                    <a:spcPct val="90000"/>
                  </a:lnSpc>
                </a:pPr>
                <a:r>
                  <a:rPr b="0" lang="ru-RU" sz="1400" strike="noStrike" u="none">
                    <a:solidFill>
                      <a:srgbClr val="960ac3"/>
                    </a:solidFill>
                    <a:uFillTx/>
                    <a:latin typeface="Wix Madefor Display Bold"/>
                  </a:rPr>
                  <a:t>26</a:t>
                </a:r>
                <a:r>
                  <a:rPr b="0" lang="en-US" sz="1400" strike="noStrike" u="none">
                    <a:solidFill>
                      <a:srgbClr val="960ac3"/>
                    </a:solidFill>
                    <a:uFillTx/>
                    <a:latin typeface="Wix Madefor Display Bold"/>
                  </a:rPr>
                  <a:t>%</a:t>
                </a:r>
                <a:endParaRPr b="0" lang="en-GB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</p:grpSp>
        <p:graphicFrame>
          <p:nvGraphicFramePr>
            <p:cNvPr id="290" name="Диаграмма 80"/>
            <p:cNvGraphicFramePr/>
            <p:nvPr/>
          </p:nvGraphicFramePr>
          <p:xfrm>
            <a:off x="9417960" y="3588840"/>
            <a:ext cx="2606040" cy="297684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291" name="Заголовок 3"/>
            <p:cNvSpPr/>
            <p:nvPr/>
          </p:nvSpPr>
          <p:spPr>
            <a:xfrm>
              <a:off x="9417960" y="3240720"/>
              <a:ext cx="1417320" cy="19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ct val="90000"/>
                </a:lnSpc>
              </a:pPr>
              <a:r>
                <a:rPr b="0" lang="ru-RU" sz="1400" strike="noStrike" u="none">
                  <a:solidFill>
                    <a:srgbClr val="262b28"/>
                  </a:solidFill>
                  <a:uFillTx/>
                  <a:latin typeface="Wix Madefor Display SemiBold"/>
                </a:rPr>
                <a:t>ТОП-5 условий </a:t>
              </a:r>
              <a:endParaRPr b="0" lang="en-GB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92" name="Заголовок 3"/>
            <p:cNvSpPr/>
            <p:nvPr/>
          </p:nvSpPr>
          <p:spPr>
            <a:xfrm>
              <a:off x="9417960" y="3510000"/>
              <a:ext cx="1301040" cy="27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b">
              <a:spAutoFit/>
            </a:bodyPr>
            <a:p>
              <a:pPr defTabSz="914400">
                <a:lnSpc>
                  <a:spcPct val="90000"/>
                </a:lnSpc>
              </a:pPr>
              <a:r>
                <a:rPr b="0" lang="ru-RU" sz="1000" strike="noStrike" u="none">
                  <a:solidFill>
                    <a:srgbClr val="262b28"/>
                  </a:solidFill>
                  <a:uFillTx/>
                  <a:latin typeface="Wix Madefor Display Medium"/>
                </a:rPr>
                <a:t>Возможность работать удаленно </a:t>
              </a:r>
              <a:endParaRPr b="0" lang="en-GB" sz="10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93" name="Заголовок 3"/>
            <p:cNvSpPr/>
            <p:nvPr/>
          </p:nvSpPr>
          <p:spPr>
            <a:xfrm>
              <a:off x="9417960" y="4245480"/>
              <a:ext cx="136656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b">
              <a:spAutoFit/>
            </a:bodyPr>
            <a:p>
              <a:pPr defTabSz="914400">
                <a:lnSpc>
                  <a:spcPct val="90000"/>
                </a:lnSpc>
              </a:pPr>
              <a:r>
                <a:rPr b="0" lang="ru-RU" sz="1000" strike="noStrike" u="none">
                  <a:solidFill>
                    <a:srgbClr val="262b28"/>
                  </a:solidFill>
                  <a:uFillTx/>
                  <a:latin typeface="Wix Madefor Display Medium"/>
                </a:rPr>
                <a:t>ДМС для сотрудников </a:t>
              </a:r>
              <a:endParaRPr b="0" lang="en-GB" sz="10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94" name="Заголовок 3"/>
            <p:cNvSpPr/>
            <p:nvPr/>
          </p:nvSpPr>
          <p:spPr>
            <a:xfrm>
              <a:off x="9417960" y="4705920"/>
              <a:ext cx="1855440" cy="27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b">
              <a:spAutoFit/>
            </a:bodyPr>
            <a:p>
              <a:pPr defTabSz="914400">
                <a:lnSpc>
                  <a:spcPct val="90000"/>
                </a:lnSpc>
              </a:pPr>
              <a:r>
                <a:rPr b="0" lang="ru-RU" sz="1000" strike="noStrike" u="none">
                  <a:solidFill>
                    <a:srgbClr val="262b28"/>
                  </a:solidFill>
                  <a:uFillTx/>
                  <a:latin typeface="Wix Madefor Display Medium"/>
                </a:rPr>
                <a:t>Производительное, современное оборудование</a:t>
              </a:r>
              <a:endParaRPr b="0" lang="en-GB" sz="10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95" name="Заголовок 3"/>
            <p:cNvSpPr/>
            <p:nvPr/>
          </p:nvSpPr>
          <p:spPr>
            <a:xfrm>
              <a:off x="9417960" y="5290560"/>
              <a:ext cx="2326320" cy="27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b">
              <a:spAutoFit/>
            </a:bodyPr>
            <a:p>
              <a:pPr defTabSz="914400">
                <a:lnSpc>
                  <a:spcPct val="90000"/>
                </a:lnSpc>
              </a:pPr>
              <a:r>
                <a:rPr b="0" lang="ru-RU" sz="1000" strike="noStrike" u="none">
                  <a:solidFill>
                    <a:srgbClr val="262b28"/>
                  </a:solidFill>
                  <a:uFillTx/>
                  <a:latin typeface="Wix Madefor Display Medium"/>
                </a:rPr>
                <a:t>Компенсация расходов на обучение / корпоративное обучение </a:t>
              </a:r>
              <a:endParaRPr b="0" lang="en-GB" sz="10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96" name="Заголовок 3"/>
            <p:cNvSpPr/>
            <p:nvPr/>
          </p:nvSpPr>
          <p:spPr>
            <a:xfrm>
              <a:off x="9417960" y="5896080"/>
              <a:ext cx="1301040" cy="27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b">
              <a:spAutoFit/>
            </a:bodyPr>
            <a:p>
              <a:pPr defTabSz="914400">
                <a:lnSpc>
                  <a:spcPct val="90000"/>
                </a:lnSpc>
              </a:pPr>
              <a:r>
                <a:rPr b="0" lang="ru-RU" sz="1000" strike="noStrike" u="none">
                  <a:solidFill>
                    <a:srgbClr val="262b28"/>
                  </a:solidFill>
                  <a:uFillTx/>
                  <a:latin typeface="Wix Madefor Display Medium"/>
                </a:rPr>
                <a:t>Полноценная зона отдыха в офисе</a:t>
              </a:r>
              <a:endParaRPr b="0" lang="en-GB" sz="10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D2E2FCB0-4A48-46DD-8AF4-48B09D928014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Прямоугольник: скругленные углы 36"/>
          <p:cNvSpPr/>
          <p:nvPr/>
        </p:nvSpPr>
        <p:spPr>
          <a:xfrm>
            <a:off x="5905440" y="1160640"/>
            <a:ext cx="5883120" cy="2963520"/>
          </a:xfrm>
          <a:prstGeom prst="roundRect">
            <a:avLst>
              <a:gd name="adj" fmla="val 2036"/>
            </a:avLst>
          </a:prstGeom>
          <a:solidFill>
            <a:srgbClr val="cacae5">
              <a:alpha val="50000"/>
            </a:srgb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298" name="PlaceHolder 1"/>
          <p:cNvSpPr>
            <a:spLocks noGrp="1"/>
          </p:cNvSpPr>
          <p:nvPr>
            <p:ph type="title"/>
          </p:nvPr>
        </p:nvSpPr>
        <p:spPr>
          <a:xfrm>
            <a:off x="1149120" y="404640"/>
            <a:ext cx="7929360" cy="38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2800" strike="noStrike" u="none">
                <a:solidFill>
                  <a:srgbClr val="262b28"/>
                </a:solidFill>
                <a:uFillTx/>
                <a:latin typeface="Wix Madefor Display SemiBold"/>
              </a:rPr>
              <a:t>Удовлетворенность и поиск работы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graphicFrame>
        <p:nvGraphicFramePr>
          <p:cNvPr id="299" name="Диаграмма 15"/>
          <p:cNvGraphicFramePr/>
          <p:nvPr/>
        </p:nvGraphicFramePr>
        <p:xfrm>
          <a:off x="443880" y="2206440"/>
          <a:ext cx="5437800" cy="4471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00" name="Заголовок 3"/>
          <p:cNvSpPr/>
          <p:nvPr/>
        </p:nvSpPr>
        <p:spPr>
          <a:xfrm>
            <a:off x="442800" y="2255400"/>
            <a:ext cx="4019760" cy="32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</a:pPr>
            <a:r>
              <a:rPr b="0" lang="ru-RU" sz="1200" strike="noStrike" u="none">
                <a:solidFill>
                  <a:srgbClr val="262b28"/>
                </a:solidFill>
                <a:uFillTx/>
                <a:latin typeface="Wix Madefor Display Medium"/>
              </a:rPr>
              <a:t>Мне нравится мой рабочий коллектив </a:t>
            </a:r>
            <a:br>
              <a:rPr sz="1200"/>
            </a:br>
            <a:r>
              <a:rPr b="0" lang="ru-RU" sz="1200" strike="noStrike" u="none">
                <a:solidFill>
                  <a:srgbClr val="262b28"/>
                </a:solidFill>
                <a:uFillTx/>
                <a:latin typeface="Wix Madefor Display Medium"/>
              </a:rPr>
              <a:t>и атмосфера на моем текущем месте работы</a:t>
            </a: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1" name="Заголовок 3"/>
          <p:cNvSpPr/>
          <p:nvPr/>
        </p:nvSpPr>
        <p:spPr>
          <a:xfrm>
            <a:off x="442800" y="3224160"/>
            <a:ext cx="4516200" cy="49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</a:pPr>
            <a:r>
              <a:rPr b="0" lang="ru-RU" sz="1200" strike="noStrike" u="none">
                <a:solidFill>
                  <a:srgbClr val="262b28"/>
                </a:solidFill>
                <a:uFillTx/>
                <a:latin typeface="Wix Madefor Display Medium"/>
              </a:rPr>
              <a:t>Мне нравится моя текущая работа по функционалу </a:t>
            </a:r>
            <a:br>
              <a:rPr sz="1200"/>
            </a:br>
            <a:r>
              <a:rPr b="0" lang="ru-RU" sz="1200" strike="noStrike" u="none">
                <a:solidFill>
                  <a:srgbClr val="262b28"/>
                </a:solidFill>
                <a:uFillTx/>
                <a:latin typeface="Wix Madefor Display Medium"/>
              </a:rPr>
              <a:t>и количеству задач, это ценный и полезный опыт </a:t>
            </a:r>
            <a:br>
              <a:rPr sz="1200"/>
            </a:br>
            <a:r>
              <a:rPr b="0" lang="ru-RU" sz="1200" strike="noStrike" u="none">
                <a:solidFill>
                  <a:srgbClr val="262b28"/>
                </a:solidFill>
                <a:uFillTx/>
                <a:latin typeface="Wix Madefor Display Medium"/>
              </a:rPr>
              <a:t>для моей будущей карьеры</a:t>
            </a: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2" name="Заголовок 3"/>
          <p:cNvSpPr/>
          <p:nvPr/>
        </p:nvSpPr>
        <p:spPr>
          <a:xfrm>
            <a:off x="442800" y="4496040"/>
            <a:ext cx="4019760" cy="32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</a:pPr>
            <a:r>
              <a:rPr b="0" lang="ru-RU" sz="1200" strike="noStrike" u="none">
                <a:solidFill>
                  <a:srgbClr val="262b28"/>
                </a:solidFill>
                <a:uFillTx/>
                <a:latin typeface="Wix Madefor Display Medium"/>
              </a:rPr>
              <a:t>Я чувствую себя ценным специалистом, мои знания и навыки полностью задействуются в работе</a:t>
            </a: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3" name="Заголовок 3"/>
          <p:cNvSpPr/>
          <p:nvPr/>
        </p:nvSpPr>
        <p:spPr>
          <a:xfrm>
            <a:off x="442800" y="5606280"/>
            <a:ext cx="4237560" cy="32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</a:pPr>
            <a:r>
              <a:rPr b="0" lang="ru-RU" sz="1200" strike="noStrike" u="none">
                <a:solidFill>
                  <a:srgbClr val="262b28"/>
                </a:solidFill>
                <a:uFillTx/>
                <a:latin typeface="Wix Madefor Display Medium"/>
              </a:rPr>
              <a:t>У меня позитивные эмоциональные ощущения от моих</a:t>
            </a:r>
            <a:r>
              <a:rPr b="0" lang="en-US" sz="1200" strike="noStrike" u="none">
                <a:solidFill>
                  <a:srgbClr val="262b28"/>
                </a:solidFill>
                <a:uFillTx/>
                <a:latin typeface="Wix Madefor Display Medium"/>
              </a:rPr>
              <a:t> </a:t>
            </a:r>
            <a:r>
              <a:rPr b="0" lang="ru-RU" sz="1200" strike="noStrike" u="none">
                <a:solidFill>
                  <a:srgbClr val="262b28"/>
                </a:solidFill>
                <a:uFillTx/>
                <a:latin typeface="Wix Madefor Display Medium"/>
              </a:rPr>
              <a:t>карьерных/</a:t>
            </a:r>
            <a:r>
              <a:rPr b="0" lang="en-US" sz="1200" strike="noStrike" u="none">
                <a:solidFill>
                  <a:srgbClr val="262b28"/>
                </a:solidFill>
                <a:uFillTx/>
                <a:latin typeface="Wix Madefor Display Medium"/>
              </a:rPr>
              <a:t> </a:t>
            </a:r>
            <a:r>
              <a:rPr b="0" lang="ru-RU" sz="1200" strike="noStrike" u="none">
                <a:solidFill>
                  <a:srgbClr val="262b28"/>
                </a:solidFill>
                <a:uFillTx/>
                <a:latin typeface="Wix Madefor Display Medium"/>
              </a:rPr>
              <a:t>профессиональных перспектив в отрасли</a:t>
            </a: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4" name="Заголовок 3"/>
          <p:cNvSpPr/>
          <p:nvPr/>
        </p:nvSpPr>
        <p:spPr>
          <a:xfrm>
            <a:off x="442800" y="1160640"/>
            <a:ext cx="3771000" cy="49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</a:pPr>
            <a:r>
              <a:rPr b="0" lang="ru-RU" sz="1800" strike="noStrike" u="none">
                <a:solidFill>
                  <a:srgbClr val="262b28"/>
                </a:solidFill>
                <a:uFillTx/>
                <a:latin typeface="Wix Madefor Display SemiBold"/>
              </a:rPr>
              <a:t>Согласны ли Вы со следующими </a:t>
            </a:r>
            <a:br>
              <a:rPr sz="1800"/>
            </a:br>
            <a:r>
              <a:rPr b="0" lang="ru-RU" sz="1800" strike="noStrike" u="none">
                <a:solidFill>
                  <a:srgbClr val="262b28"/>
                </a:solidFill>
                <a:uFillTx/>
                <a:latin typeface="Wix Madefor Display SemiBold"/>
              </a:rPr>
              <a:t>утверждениями?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5" name="Заголовок 3"/>
          <p:cNvSpPr/>
          <p:nvPr/>
        </p:nvSpPr>
        <p:spPr>
          <a:xfrm>
            <a:off x="5052960" y="2670840"/>
            <a:ext cx="398160" cy="19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90000"/>
              </a:lnSpc>
            </a:pPr>
            <a:r>
              <a:rPr b="0" lang="en-US" sz="1400" strike="noStrike" u="none">
                <a:solidFill>
                  <a:schemeClr val="dk1"/>
                </a:solidFill>
                <a:uFillTx/>
                <a:latin typeface="Wix Madefor Display SemiBold"/>
              </a:rPr>
              <a:t>79%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6" name="Заголовок 3"/>
          <p:cNvSpPr/>
          <p:nvPr/>
        </p:nvSpPr>
        <p:spPr>
          <a:xfrm>
            <a:off x="5028120" y="3797640"/>
            <a:ext cx="387000" cy="19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90000"/>
              </a:lnSpc>
            </a:pPr>
            <a:r>
              <a:rPr b="0" lang="en-US" sz="1400" strike="noStrike" u="none">
                <a:solidFill>
                  <a:schemeClr val="dk1"/>
                </a:solidFill>
                <a:uFillTx/>
                <a:latin typeface="Wix Madefor Display SemiBold"/>
              </a:rPr>
              <a:t>78%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7" name="Заголовок 3"/>
          <p:cNvSpPr/>
          <p:nvPr/>
        </p:nvSpPr>
        <p:spPr>
          <a:xfrm>
            <a:off x="4849920" y="4935240"/>
            <a:ext cx="387000" cy="19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90000"/>
              </a:lnSpc>
            </a:pPr>
            <a:r>
              <a:rPr b="0" lang="en-US" sz="1400" strike="noStrike" u="none">
                <a:solidFill>
                  <a:schemeClr val="dk1"/>
                </a:solidFill>
                <a:uFillTx/>
                <a:latin typeface="Wix Madefor Display SemiBold"/>
              </a:rPr>
              <a:t>75%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Заголовок 3"/>
          <p:cNvSpPr/>
          <p:nvPr/>
        </p:nvSpPr>
        <p:spPr>
          <a:xfrm>
            <a:off x="4388760" y="6037200"/>
            <a:ext cx="387000" cy="19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90000"/>
              </a:lnSpc>
            </a:pPr>
            <a:r>
              <a:rPr b="0" lang="en-US" sz="1400" strike="noStrike" u="none">
                <a:solidFill>
                  <a:schemeClr val="dk1"/>
                </a:solidFill>
                <a:uFillTx/>
                <a:latin typeface="Wix Madefor Display SemiBold"/>
              </a:rPr>
              <a:t>67%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9" name="Заголовок 3"/>
          <p:cNvSpPr/>
          <p:nvPr/>
        </p:nvSpPr>
        <p:spPr>
          <a:xfrm>
            <a:off x="442800" y="2922840"/>
            <a:ext cx="4443840" cy="12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</a:pPr>
            <a:r>
              <a:rPr b="0" lang="ru-RU" sz="900" strike="noStrike" u="none">
                <a:solidFill>
                  <a:schemeClr val="dk1">
                    <a:lumMod val="50000"/>
                    <a:lumOff val="50000"/>
                  </a:schemeClr>
                </a:solidFill>
                <a:uFillTx/>
                <a:latin typeface="Wix Madefor Display Medium"/>
              </a:rPr>
              <a:t>вопрос задавался тем, чья форма занятости – наемный сотрудник 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0" name="Заголовок 3"/>
          <p:cNvSpPr/>
          <p:nvPr/>
        </p:nvSpPr>
        <p:spPr>
          <a:xfrm>
            <a:off x="442800" y="4027680"/>
            <a:ext cx="3632400" cy="24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</a:pPr>
            <a:r>
              <a:rPr b="0" lang="ru-RU" sz="900" strike="noStrike" u="none">
                <a:solidFill>
                  <a:schemeClr val="dk1">
                    <a:lumMod val="50000"/>
                    <a:lumOff val="50000"/>
                  </a:schemeClr>
                </a:solidFill>
                <a:uFillTx/>
                <a:latin typeface="Wix Madefor Display Medium"/>
              </a:rPr>
              <a:t>вопрос задавался тем, чья форма занятости – наемный сотрудник, владелец бизнеса, самозанятый, фрилансер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1" name="Заголовок 3"/>
          <p:cNvSpPr/>
          <p:nvPr/>
        </p:nvSpPr>
        <p:spPr>
          <a:xfrm>
            <a:off x="442800" y="5143680"/>
            <a:ext cx="3649680" cy="24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</a:pPr>
            <a:r>
              <a:rPr b="0" lang="ru-RU" sz="900" strike="noStrike" u="none">
                <a:solidFill>
                  <a:schemeClr val="dk1">
                    <a:lumMod val="50000"/>
                    <a:lumOff val="50000"/>
                  </a:schemeClr>
                </a:solidFill>
                <a:uFillTx/>
                <a:latin typeface="Wix Madefor Display Medium"/>
              </a:rPr>
              <a:t>вопрос задавался тем, чья форма занятости – наемный сотрудник, владелец бизнеса, самозанятый, фрилансер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2" name="Заголовок 3"/>
          <p:cNvSpPr/>
          <p:nvPr/>
        </p:nvSpPr>
        <p:spPr>
          <a:xfrm>
            <a:off x="442800" y="6270480"/>
            <a:ext cx="2514960" cy="12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</a:pPr>
            <a:r>
              <a:rPr b="0" lang="ru-RU" sz="900" strike="noStrike" u="none">
                <a:solidFill>
                  <a:schemeClr val="dk1">
                    <a:lumMod val="50000"/>
                    <a:lumOff val="50000"/>
                  </a:schemeClr>
                </a:solidFill>
                <a:uFillTx/>
                <a:latin typeface="Wix Madefor Display Medium"/>
              </a:rPr>
              <a:t>вопрос задавался всем</a:t>
            </a:r>
            <a:r>
              <a:rPr b="0" lang="en-US" sz="900" strike="noStrike" u="none">
                <a:solidFill>
                  <a:schemeClr val="dk1">
                    <a:lumMod val="50000"/>
                    <a:lumOff val="50000"/>
                  </a:schemeClr>
                </a:solidFill>
                <a:uFillTx/>
                <a:latin typeface="Wix Madefor Display Medium"/>
              </a:rPr>
              <a:t> </a:t>
            </a:r>
            <a:r>
              <a:rPr b="0" lang="ru-RU" sz="900" strike="noStrike" u="none">
                <a:solidFill>
                  <a:schemeClr val="dk1">
                    <a:lumMod val="50000"/>
                    <a:lumOff val="50000"/>
                  </a:schemeClr>
                </a:solidFill>
                <a:uFillTx/>
                <a:latin typeface="Wix Madefor Display Medium"/>
              </a:rPr>
              <a:t>респондентам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313" name="Группа 35"/>
          <p:cNvGrpSpPr/>
          <p:nvPr/>
        </p:nvGrpSpPr>
        <p:grpSpPr>
          <a:xfrm>
            <a:off x="442800" y="1828800"/>
            <a:ext cx="3449520" cy="199800"/>
            <a:chOff x="442800" y="1828800"/>
            <a:chExt cx="3449520" cy="199800"/>
          </a:xfrm>
        </p:grpSpPr>
        <p:sp>
          <p:nvSpPr>
            <p:cNvPr id="314" name="Прямоугольник 28"/>
            <p:cNvSpPr/>
            <p:nvPr/>
          </p:nvSpPr>
          <p:spPr>
            <a:xfrm>
              <a:off x="442800" y="1828800"/>
              <a:ext cx="199800" cy="199800"/>
            </a:xfrm>
            <a:prstGeom prst="rect">
              <a:avLst/>
            </a:prstGeom>
            <a:solidFill>
              <a:srgbClr val="6d33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RU" sz="1800" strike="noStrike" u="none">
                <a:solidFill>
                  <a:schemeClr val="lt1"/>
                </a:solidFill>
                <a:uFillTx/>
                <a:latin typeface="Calibri"/>
              </a:endParaRPr>
            </a:p>
          </p:txBody>
        </p:sp>
        <p:sp>
          <p:nvSpPr>
            <p:cNvPr id="315" name="Прямоугольник 32"/>
            <p:cNvSpPr/>
            <p:nvPr/>
          </p:nvSpPr>
          <p:spPr>
            <a:xfrm>
              <a:off x="2167920" y="1828800"/>
              <a:ext cx="199800" cy="199800"/>
            </a:xfrm>
            <a:prstGeom prst="rect">
              <a:avLst/>
            </a:prstGeom>
            <a:solidFill>
              <a:srgbClr val="00d2b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RU" sz="1800" strike="noStrike" u="none">
                <a:solidFill>
                  <a:schemeClr val="lt1"/>
                </a:solidFill>
                <a:uFillTx/>
                <a:latin typeface="Calibri"/>
              </a:endParaRPr>
            </a:p>
          </p:txBody>
        </p:sp>
        <p:sp>
          <p:nvSpPr>
            <p:cNvPr id="316" name="Заголовок 3"/>
            <p:cNvSpPr/>
            <p:nvPr/>
          </p:nvSpPr>
          <p:spPr>
            <a:xfrm>
              <a:off x="736200" y="1866960"/>
              <a:ext cx="1107360" cy="124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ct val="90000"/>
                </a:lnSpc>
              </a:pPr>
              <a:r>
                <a:rPr b="0" lang="ru-RU" sz="900" strike="noStrike" u="none">
                  <a:solidFill>
                    <a:schemeClr val="dk1"/>
                  </a:solidFill>
                  <a:uFillTx/>
                  <a:latin typeface="Wix Madefor Display Medium"/>
                </a:rPr>
                <a:t>Скорее согласен</a:t>
              </a:r>
              <a:endParaRPr b="0" lang="en-GB" sz="9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317" name="Заголовок 3"/>
            <p:cNvSpPr/>
            <p:nvPr/>
          </p:nvSpPr>
          <p:spPr>
            <a:xfrm>
              <a:off x="2457360" y="1866960"/>
              <a:ext cx="1434960" cy="124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ct val="90000"/>
                </a:lnSpc>
              </a:pPr>
              <a:r>
                <a:rPr b="0" lang="ru-RU" sz="900" strike="noStrike" u="none">
                  <a:solidFill>
                    <a:schemeClr val="dk1"/>
                  </a:solidFill>
                  <a:uFillTx/>
                  <a:latin typeface="Wix Madefor Display Medium"/>
                </a:rPr>
                <a:t>Полностью согласен</a:t>
              </a:r>
              <a:endParaRPr b="0" lang="en-GB" sz="9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sp>
        <p:nvSpPr>
          <p:cNvPr id="318" name="Заголовок 3"/>
          <p:cNvSpPr/>
          <p:nvPr/>
        </p:nvSpPr>
        <p:spPr>
          <a:xfrm>
            <a:off x="6075000" y="2246400"/>
            <a:ext cx="2212560" cy="32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</a:pPr>
            <a:r>
              <a:rPr b="0" lang="ru-RU" sz="1200" strike="noStrike" u="none">
                <a:solidFill>
                  <a:srgbClr val="262b28"/>
                </a:solidFill>
                <a:uFillTx/>
                <a:latin typeface="Wix Madefor Display Medium"/>
              </a:rPr>
              <a:t>удовлетворены рабочей атмосферой и коллективом</a:t>
            </a: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9" name="Заголовок 3"/>
          <p:cNvSpPr/>
          <p:nvPr/>
        </p:nvSpPr>
        <p:spPr>
          <a:xfrm>
            <a:off x="6075000" y="2036520"/>
            <a:ext cx="530640" cy="19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</a:pPr>
            <a:r>
              <a:rPr b="0" lang="ru-RU" sz="1400" strike="noStrike" u="none">
                <a:solidFill>
                  <a:schemeClr val="dk1"/>
                </a:solidFill>
                <a:uFillTx/>
                <a:latin typeface="Wix Madefor Display Bold"/>
              </a:rPr>
              <a:t>79</a:t>
            </a:r>
            <a:r>
              <a:rPr b="0" lang="en-US" sz="1400" strike="noStrike" u="none">
                <a:solidFill>
                  <a:schemeClr val="dk1"/>
                </a:solidFill>
                <a:uFillTx/>
                <a:latin typeface="Wix Madefor Display Bold"/>
              </a:rPr>
              <a:t>%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0" name="Заголовок 3"/>
          <p:cNvSpPr/>
          <p:nvPr/>
        </p:nvSpPr>
        <p:spPr>
          <a:xfrm>
            <a:off x="6075000" y="2935080"/>
            <a:ext cx="1512000" cy="49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</a:pPr>
            <a:r>
              <a:rPr b="0" lang="ru-RU" sz="1200" strike="noStrike" u="none">
                <a:solidFill>
                  <a:srgbClr val="262b28"/>
                </a:solidFill>
                <a:uFillTx/>
                <a:latin typeface="Wix Madefor Display Medium"/>
              </a:rPr>
              <a:t>нравится </a:t>
            </a:r>
            <a:br>
              <a:rPr sz="1200"/>
            </a:br>
            <a:r>
              <a:rPr b="0" lang="ru-RU" sz="1200" strike="noStrike" u="none">
                <a:solidFill>
                  <a:srgbClr val="262b28"/>
                </a:solidFill>
                <a:uFillTx/>
                <a:latin typeface="Wix Madefor Display Medium"/>
              </a:rPr>
              <a:t>текущая работа </a:t>
            </a:r>
            <a:br>
              <a:rPr sz="1200"/>
            </a:br>
            <a:r>
              <a:rPr b="0" lang="ru-RU" sz="1200" strike="noStrike" u="none">
                <a:solidFill>
                  <a:srgbClr val="262b28"/>
                </a:solidFill>
                <a:uFillTx/>
                <a:latin typeface="Wix Madefor Display Medium"/>
              </a:rPr>
              <a:t>по функционалу </a:t>
            </a: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1" name="Заголовок 3"/>
          <p:cNvSpPr/>
          <p:nvPr/>
        </p:nvSpPr>
        <p:spPr>
          <a:xfrm>
            <a:off x="6075000" y="1279440"/>
            <a:ext cx="1312920" cy="49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</a:pPr>
            <a:r>
              <a:rPr b="0" lang="ru-RU" sz="1200" strike="noStrike" u="none">
                <a:solidFill>
                  <a:srgbClr val="262b28"/>
                </a:solidFill>
                <a:uFillTx/>
                <a:latin typeface="Wix Madefor Display SemiBold"/>
              </a:rPr>
              <a:t>Среди </a:t>
            </a:r>
            <a:br>
              <a:rPr sz="1200"/>
            </a:br>
            <a:r>
              <a:rPr b="0" lang="ru-RU" sz="1200" strike="noStrike" u="none">
                <a:solidFill>
                  <a:srgbClr val="262b28"/>
                </a:solidFill>
                <a:uFillTx/>
                <a:latin typeface="Wix Madefor Display SemiBold"/>
              </a:rPr>
              <a:t>наемных </a:t>
            </a:r>
            <a:br>
              <a:rPr sz="1200"/>
            </a:br>
            <a:r>
              <a:rPr b="0" lang="ru-RU" sz="1200" strike="noStrike" u="none">
                <a:solidFill>
                  <a:srgbClr val="262b28"/>
                </a:solidFill>
                <a:uFillTx/>
                <a:latin typeface="Wix Madefor Display SemiBold"/>
              </a:rPr>
              <a:t>сотрудников:</a:t>
            </a: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2" name="Заголовок 3"/>
          <p:cNvSpPr/>
          <p:nvPr/>
        </p:nvSpPr>
        <p:spPr>
          <a:xfrm>
            <a:off x="8529480" y="1279440"/>
            <a:ext cx="2813400" cy="65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</a:pPr>
            <a:r>
              <a:rPr b="0" lang="ru-RU" sz="1200" strike="noStrike" u="none">
                <a:solidFill>
                  <a:srgbClr val="262b28"/>
                </a:solidFill>
                <a:uFillTx/>
                <a:latin typeface="Wix Madefor Display SemiBold"/>
              </a:rPr>
              <a:t>Несмотря на высокий уровень удовлетворенности, только треть сотрудников НЕ ищет новую работу или подработку</a:t>
            </a: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3" name="Заголовок 3"/>
          <p:cNvSpPr/>
          <p:nvPr/>
        </p:nvSpPr>
        <p:spPr>
          <a:xfrm>
            <a:off x="6075000" y="2741400"/>
            <a:ext cx="530640" cy="19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</a:pPr>
            <a:r>
              <a:rPr b="0" lang="ru-RU" sz="1400" strike="noStrike" u="none">
                <a:solidFill>
                  <a:schemeClr val="dk1"/>
                </a:solidFill>
                <a:uFillTx/>
                <a:latin typeface="Wix Madefor Display Bold"/>
              </a:rPr>
              <a:t>7</a:t>
            </a:r>
            <a:r>
              <a:rPr b="0" lang="en-US" sz="1400" strike="noStrike" u="none">
                <a:solidFill>
                  <a:schemeClr val="dk1"/>
                </a:solidFill>
                <a:uFillTx/>
                <a:latin typeface="Wix Madefor Display Bold"/>
              </a:rPr>
              <a:t>6%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4" name="Заголовок 3"/>
          <p:cNvSpPr/>
          <p:nvPr/>
        </p:nvSpPr>
        <p:spPr>
          <a:xfrm>
            <a:off x="8529480" y="2246400"/>
            <a:ext cx="2594520" cy="32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</a:pPr>
            <a:r>
              <a:rPr b="0" lang="ru-RU" sz="1200" strike="noStrike" u="none">
                <a:solidFill>
                  <a:srgbClr val="262b28"/>
                </a:solidFill>
                <a:uFillTx/>
                <a:latin typeface="Wix Madefor Display Medium"/>
              </a:rPr>
              <a:t>наемных сотрудников находятся </a:t>
            </a:r>
            <a:r>
              <a:rPr b="0" lang="ru-RU" sz="1200" strike="noStrike" u="none">
                <a:solidFill>
                  <a:srgbClr val="262b28"/>
                </a:solidFill>
                <a:uFillTx/>
                <a:latin typeface="Wix Madefor Display Bold"/>
              </a:rPr>
              <a:t>в активном поиске</a:t>
            </a: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5" name="Заголовок 3"/>
          <p:cNvSpPr/>
          <p:nvPr/>
        </p:nvSpPr>
        <p:spPr>
          <a:xfrm>
            <a:off x="8535960" y="2036520"/>
            <a:ext cx="530640" cy="19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</a:pPr>
            <a:r>
              <a:rPr b="0" lang="en-US" sz="1400" strike="noStrike" u="none">
                <a:solidFill>
                  <a:schemeClr val="dk1"/>
                </a:solidFill>
                <a:uFillTx/>
                <a:latin typeface="Wix Madefor Display Bold"/>
              </a:rPr>
              <a:t>32%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6" name="Заголовок 3"/>
          <p:cNvSpPr/>
          <p:nvPr/>
        </p:nvSpPr>
        <p:spPr>
          <a:xfrm>
            <a:off x="8536320" y="2927520"/>
            <a:ext cx="3286440" cy="98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  <a:spcBef>
                <a:spcPts val="601"/>
              </a:spcBef>
            </a:pPr>
            <a:r>
              <a:rPr b="0" lang="ru-RU" sz="1200" strike="noStrike" u="none">
                <a:solidFill>
                  <a:srgbClr val="262b28"/>
                </a:solidFill>
                <a:uFillTx/>
                <a:latin typeface="Wix Madefor Display Bold"/>
              </a:rPr>
              <a:t>в пассивном поиске </a:t>
            </a:r>
            <a:r>
              <a:rPr b="0" lang="ru-RU" sz="1200" strike="noStrike" u="none">
                <a:solidFill>
                  <a:srgbClr val="262b28"/>
                </a:solidFill>
                <a:uFillTx/>
                <a:latin typeface="Wix Madefor Display Medium"/>
              </a:rPr>
              <a:t>– следят </a:t>
            </a:r>
            <a:br>
              <a:rPr sz="1200"/>
            </a:br>
            <a:r>
              <a:rPr b="0" lang="ru-RU" sz="1200" strike="noStrike" u="none">
                <a:solidFill>
                  <a:srgbClr val="262b28"/>
                </a:solidFill>
                <a:uFillTx/>
                <a:latin typeface="Wix Madefor Display Medium"/>
              </a:rPr>
              <a:t>за актуальными вакансиями </a:t>
            </a:r>
            <a:br>
              <a:rPr sz="1200"/>
            </a:br>
            <a:r>
              <a:rPr b="0" lang="ru-RU" sz="1200" strike="noStrike" u="none">
                <a:solidFill>
                  <a:srgbClr val="262b28"/>
                </a:solidFill>
                <a:uFillTx/>
                <a:latin typeface="Wix Madefor Display Medium"/>
              </a:rPr>
              <a:t>и рассматривают входящие </a:t>
            </a:r>
            <a:br>
              <a:rPr sz="1200"/>
            </a:br>
            <a:r>
              <a:rPr b="0" lang="ru-RU" sz="1200" strike="noStrike" u="none">
                <a:solidFill>
                  <a:srgbClr val="262b28"/>
                </a:solidFill>
                <a:uFillTx/>
                <a:latin typeface="Wix Madefor Display Medium"/>
              </a:rPr>
              <a:t>предложения. 36% из них – сотрудники крупных компаний со штатом более </a:t>
            </a:r>
            <a:br>
              <a:rPr sz="1200"/>
            </a:br>
            <a:r>
              <a:rPr b="0" lang="ru-RU" sz="1200" strike="noStrike" u="none">
                <a:solidFill>
                  <a:srgbClr val="262b28"/>
                </a:solidFill>
                <a:uFillTx/>
                <a:latin typeface="Wix Madefor Display Medium"/>
              </a:rPr>
              <a:t>500 человек</a:t>
            </a: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7" name="Заголовок 3"/>
          <p:cNvSpPr/>
          <p:nvPr/>
        </p:nvSpPr>
        <p:spPr>
          <a:xfrm>
            <a:off x="8524440" y="2725560"/>
            <a:ext cx="530640" cy="19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</a:pPr>
            <a:r>
              <a:rPr b="0" lang="en-US" sz="1400" strike="noStrike" u="none">
                <a:solidFill>
                  <a:schemeClr val="dk1"/>
                </a:solidFill>
                <a:uFillTx/>
                <a:latin typeface="Wix Madefor Display Bold"/>
              </a:rPr>
              <a:t>35%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328" name="Группа 6"/>
          <p:cNvGrpSpPr/>
          <p:nvPr/>
        </p:nvGrpSpPr>
        <p:grpSpPr>
          <a:xfrm>
            <a:off x="5899320" y="4276800"/>
            <a:ext cx="5904720" cy="3917520"/>
            <a:chOff x="5899320" y="4276800"/>
            <a:chExt cx="5904720" cy="3917520"/>
          </a:xfrm>
        </p:grpSpPr>
        <p:graphicFrame>
          <p:nvGraphicFramePr>
            <p:cNvPr id="329" name="Диаграмма 13"/>
            <p:cNvGraphicFramePr/>
            <p:nvPr/>
          </p:nvGraphicFramePr>
          <p:xfrm>
            <a:off x="8175240" y="4429080"/>
            <a:ext cx="3628800" cy="376524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330" name="Заголовок 3"/>
            <p:cNvSpPr/>
            <p:nvPr/>
          </p:nvSpPr>
          <p:spPr>
            <a:xfrm>
              <a:off x="5905440" y="4276800"/>
              <a:ext cx="2187720" cy="494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ct val="90000"/>
                </a:lnSpc>
              </a:pPr>
              <a:r>
                <a:rPr b="0" lang="ru-RU" sz="1800" strike="noStrike" u="none">
                  <a:solidFill>
                    <a:srgbClr val="262b28"/>
                  </a:solidFill>
                  <a:uFillTx/>
                  <a:latin typeface="Wix Madefor Display SemiBold"/>
                </a:rPr>
                <a:t>Какой у Вас статус</a:t>
              </a:r>
              <a:r>
                <a:rPr b="0" lang="en-US" sz="1800" strike="noStrike" u="none">
                  <a:solidFill>
                    <a:srgbClr val="262b28"/>
                  </a:solidFill>
                  <a:uFillTx/>
                  <a:latin typeface="Wix Madefor Display SemiBold"/>
                </a:rPr>
                <a:t> </a:t>
              </a:r>
              <a:r>
                <a:rPr b="0" lang="ru-RU" sz="1800" strike="noStrike" u="none">
                  <a:solidFill>
                    <a:srgbClr val="262b28"/>
                  </a:solidFill>
                  <a:uFillTx/>
                  <a:latin typeface="Wix Madefor Display SemiBold"/>
                </a:rPr>
                <a:t>поиска работы?</a:t>
              </a:r>
              <a:endParaRPr b="0" lang="en-GB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331" name="Заголовок 3"/>
            <p:cNvSpPr/>
            <p:nvPr/>
          </p:nvSpPr>
          <p:spPr>
            <a:xfrm>
              <a:off x="5905440" y="4825080"/>
              <a:ext cx="1889280" cy="164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ct val="90000"/>
                </a:lnSpc>
              </a:pPr>
              <a:r>
                <a:rPr b="0" lang="ru-RU" sz="1200" strike="noStrike" u="none">
                  <a:solidFill>
                    <a:schemeClr val="dk1"/>
                  </a:solidFill>
                  <a:uFillTx/>
                  <a:latin typeface="Wix Madefor Display Medium"/>
                </a:rPr>
                <a:t>(один вариант ответа)</a:t>
              </a:r>
              <a:endParaRPr b="0" lang="en-GB" sz="12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332" name="Заголовок 3"/>
            <p:cNvSpPr/>
            <p:nvPr/>
          </p:nvSpPr>
          <p:spPr>
            <a:xfrm>
              <a:off x="6181200" y="5293080"/>
              <a:ext cx="1206720" cy="11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ct val="80000"/>
                </a:lnSpc>
              </a:pPr>
              <a:r>
                <a:rPr b="0" lang="ru-RU" sz="900" strike="noStrike" u="none">
                  <a:solidFill>
                    <a:schemeClr val="dk1"/>
                  </a:solidFill>
                  <a:uFillTx/>
                  <a:latin typeface="Wix Madefor Display Medium"/>
                </a:rPr>
                <a:t>Ищу новую работу</a:t>
              </a:r>
              <a:endParaRPr b="0" lang="en-GB" sz="9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333" name="Заголовок 3"/>
            <p:cNvSpPr/>
            <p:nvPr/>
          </p:nvSpPr>
          <p:spPr>
            <a:xfrm>
              <a:off x="6181200" y="5602320"/>
              <a:ext cx="1312560" cy="11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ct val="80000"/>
                </a:lnSpc>
              </a:pPr>
              <a:r>
                <a:rPr b="0" lang="ru-RU" sz="900" strike="noStrike" u="none">
                  <a:solidFill>
                    <a:schemeClr val="dk1"/>
                  </a:solidFill>
                  <a:uFillTx/>
                  <a:latin typeface="Wix Madefor Display Medium"/>
                </a:rPr>
                <a:t>Ищу подработку</a:t>
              </a:r>
              <a:endParaRPr b="0" lang="en-GB" sz="9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334" name="Заголовок 3"/>
            <p:cNvSpPr/>
            <p:nvPr/>
          </p:nvSpPr>
          <p:spPr>
            <a:xfrm>
              <a:off x="6168240" y="5864400"/>
              <a:ext cx="1219680" cy="330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ct val="80000"/>
                </a:lnSpc>
              </a:pPr>
              <a:r>
                <a:rPr b="0" lang="ru-RU" sz="900" strike="noStrike" u="none">
                  <a:solidFill>
                    <a:schemeClr val="dk1"/>
                  </a:solidFill>
                  <a:uFillTx/>
                  <a:latin typeface="Wix Madefor Display Medium"/>
                </a:rPr>
                <a:t>Не ищу новую работу </a:t>
              </a:r>
              <a:br>
                <a:rPr sz="900"/>
              </a:br>
              <a:r>
                <a:rPr b="0" lang="ru-RU" sz="900" strike="noStrike" u="none">
                  <a:solidFill>
                    <a:schemeClr val="dk1"/>
                  </a:solidFill>
                  <a:uFillTx/>
                  <a:latin typeface="Wix Madefor Display Medium"/>
                </a:rPr>
                <a:t>или подработку</a:t>
              </a:r>
              <a:endParaRPr b="0" lang="en-GB" sz="9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335" name="Заголовок 3"/>
            <p:cNvSpPr/>
            <p:nvPr/>
          </p:nvSpPr>
          <p:spPr>
            <a:xfrm>
              <a:off x="6168240" y="6175440"/>
              <a:ext cx="1902240" cy="220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ct val="80000"/>
                </a:lnSpc>
              </a:pPr>
              <a:r>
                <a:rPr b="0" lang="ru-RU" sz="900" strike="noStrike" u="none">
                  <a:solidFill>
                    <a:schemeClr val="dk1"/>
                  </a:solidFill>
                  <a:uFillTx/>
                  <a:latin typeface="Wix Madefor Display Medium"/>
                </a:rPr>
                <a:t>Не ищу новую работу, но слежу за актуальными вакансиями</a:t>
              </a:r>
              <a:endParaRPr b="0" lang="en-GB" sz="9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336" name="Заголовок 3"/>
            <p:cNvSpPr/>
            <p:nvPr/>
          </p:nvSpPr>
          <p:spPr>
            <a:xfrm>
              <a:off x="8455680" y="6080400"/>
              <a:ext cx="336240" cy="19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 defTabSz="914400">
                <a:lnSpc>
                  <a:spcPct val="90000"/>
                </a:lnSpc>
              </a:pPr>
              <a:r>
                <a:rPr b="0" lang="en-US" sz="1400" strike="noStrike" u="none">
                  <a:solidFill>
                    <a:schemeClr val="lt1"/>
                  </a:solidFill>
                  <a:uFillTx/>
                  <a:latin typeface="Wix Madefor Display SemiBold"/>
                </a:rPr>
                <a:t>9%</a:t>
              </a:r>
              <a:endParaRPr b="0" lang="en-GB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337" name="Заголовок 3"/>
            <p:cNvSpPr/>
            <p:nvPr/>
          </p:nvSpPr>
          <p:spPr>
            <a:xfrm>
              <a:off x="8683560" y="5437440"/>
              <a:ext cx="500760" cy="19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 defTabSz="914400">
                <a:lnSpc>
                  <a:spcPct val="90000"/>
                </a:lnSpc>
              </a:pPr>
              <a:r>
                <a:rPr b="0" lang="en-US" sz="1400" strike="noStrike" u="none">
                  <a:solidFill>
                    <a:schemeClr val="lt1"/>
                  </a:solidFill>
                  <a:uFillTx/>
                  <a:latin typeface="Wix Madefor Display SemiBold"/>
                </a:rPr>
                <a:t>23%</a:t>
              </a:r>
              <a:endParaRPr b="0" lang="en-GB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338" name="Заголовок 3"/>
            <p:cNvSpPr/>
            <p:nvPr/>
          </p:nvSpPr>
          <p:spPr>
            <a:xfrm>
              <a:off x="9781200" y="4943880"/>
              <a:ext cx="416520" cy="19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 defTabSz="914400">
                <a:lnSpc>
                  <a:spcPct val="90000"/>
                </a:lnSpc>
              </a:pPr>
              <a:r>
                <a:rPr b="0" lang="en-US" sz="1400" strike="noStrike" u="none">
                  <a:solidFill>
                    <a:schemeClr val="lt1"/>
                  </a:solidFill>
                  <a:uFillTx/>
                  <a:latin typeface="Wix Madefor Display SemiBold"/>
                </a:rPr>
                <a:t>33%</a:t>
              </a:r>
              <a:endParaRPr b="0" lang="en-GB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339" name="Заголовок 3"/>
            <p:cNvSpPr/>
            <p:nvPr/>
          </p:nvSpPr>
          <p:spPr>
            <a:xfrm>
              <a:off x="10944000" y="5639040"/>
              <a:ext cx="462600" cy="19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 defTabSz="914400">
                <a:lnSpc>
                  <a:spcPct val="90000"/>
                </a:lnSpc>
              </a:pPr>
              <a:r>
                <a:rPr b="0" lang="en-US" sz="1400" strike="noStrike" u="none">
                  <a:solidFill>
                    <a:schemeClr val="lt1"/>
                  </a:solidFill>
                  <a:uFillTx/>
                  <a:latin typeface="Wix Madefor Display SemiBold"/>
                </a:rPr>
                <a:t>35%</a:t>
              </a:r>
              <a:endParaRPr b="0" lang="en-GB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340" name="Прямоугольник 47"/>
            <p:cNvSpPr/>
            <p:nvPr/>
          </p:nvSpPr>
          <p:spPr>
            <a:xfrm>
              <a:off x="5899320" y="5241960"/>
              <a:ext cx="199800" cy="199800"/>
            </a:xfrm>
            <a:prstGeom prst="rect">
              <a:avLst/>
            </a:prstGeom>
            <a:solidFill>
              <a:srgbClr val="fa37b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RU" sz="1800" strike="noStrike" u="none">
                <a:solidFill>
                  <a:schemeClr val="lt1"/>
                </a:solidFill>
                <a:uFillTx/>
                <a:latin typeface="Calibri"/>
              </a:endParaRPr>
            </a:p>
          </p:txBody>
        </p:sp>
        <p:sp>
          <p:nvSpPr>
            <p:cNvPr id="341" name="Прямоугольник 48"/>
            <p:cNvSpPr/>
            <p:nvPr/>
          </p:nvSpPr>
          <p:spPr>
            <a:xfrm>
              <a:off x="5899320" y="5553000"/>
              <a:ext cx="199800" cy="199800"/>
            </a:xfrm>
            <a:prstGeom prst="rect">
              <a:avLst/>
            </a:prstGeom>
            <a:solidFill>
              <a:srgbClr val="960ac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RU" sz="1800" strike="noStrike" u="none">
                <a:solidFill>
                  <a:schemeClr val="lt1"/>
                </a:solidFill>
                <a:uFillTx/>
                <a:latin typeface="Calibri"/>
              </a:endParaRPr>
            </a:p>
          </p:txBody>
        </p:sp>
        <p:sp>
          <p:nvSpPr>
            <p:cNvPr id="342" name="Прямоугольник 49"/>
            <p:cNvSpPr/>
            <p:nvPr/>
          </p:nvSpPr>
          <p:spPr>
            <a:xfrm>
              <a:off x="5899320" y="5864400"/>
              <a:ext cx="199800" cy="199800"/>
            </a:xfrm>
            <a:prstGeom prst="rect">
              <a:avLst/>
            </a:prstGeom>
            <a:solidFill>
              <a:srgbClr val="5e0ab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RU" sz="1800" strike="noStrike" u="none">
                <a:solidFill>
                  <a:schemeClr val="lt1"/>
                </a:solidFill>
                <a:uFillTx/>
                <a:latin typeface="Calibri"/>
              </a:endParaRPr>
            </a:p>
          </p:txBody>
        </p:sp>
        <p:sp>
          <p:nvSpPr>
            <p:cNvPr id="343" name="Прямоугольник 50"/>
            <p:cNvSpPr/>
            <p:nvPr/>
          </p:nvSpPr>
          <p:spPr>
            <a:xfrm>
              <a:off x="5899320" y="6175440"/>
              <a:ext cx="199800" cy="199800"/>
            </a:xfrm>
            <a:prstGeom prst="rect">
              <a:avLst/>
            </a:prstGeom>
            <a:solidFill>
              <a:srgbClr val="2218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RU" sz="1800" strike="noStrike" u="none">
                <a:solidFill>
                  <a:schemeClr val="lt1"/>
                </a:solidFill>
                <a:uFillTx/>
                <a:latin typeface="Calibri"/>
              </a:endParaRPr>
            </a:p>
          </p:txBody>
        </p:sp>
      </p:grp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4B8DA572-5AB9-41D1-A8AF-CBC2360E1D27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title"/>
          </p:nvPr>
        </p:nvSpPr>
        <p:spPr>
          <a:xfrm>
            <a:off x="1149120" y="404640"/>
            <a:ext cx="7929360" cy="38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2800" strike="noStrike" u="none">
                <a:solidFill>
                  <a:srgbClr val="262b28"/>
                </a:solidFill>
                <a:uFillTx/>
                <a:latin typeface="Wix Madefor Display SemiBold"/>
              </a:rPr>
              <a:t>Цели развития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pic>
        <p:nvPicPr>
          <p:cNvPr id="345" name="Рисунок 2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442800" y="407880"/>
            <a:ext cx="311040" cy="54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6" name="Заголовок 3"/>
          <p:cNvSpPr/>
          <p:nvPr/>
        </p:nvSpPr>
        <p:spPr>
          <a:xfrm>
            <a:off x="442800" y="1113120"/>
            <a:ext cx="5758560" cy="74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</a:pPr>
            <a:r>
              <a:rPr b="0" lang="ru-RU" sz="1800" strike="noStrike" u="none">
                <a:solidFill>
                  <a:srgbClr val="262b28"/>
                </a:solidFill>
                <a:uFillTx/>
                <a:latin typeface="Wix Madefor Display SemiBold"/>
              </a:rPr>
              <a:t>Какие цели развития профессиональных навыков Вы ставите перед собой на ближайший год?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b="0" lang="ru-RU" sz="1800" strike="noStrike" u="none">
                <a:solidFill>
                  <a:srgbClr val="262b28"/>
                </a:solidFill>
                <a:uFillTx/>
                <a:latin typeface="Wix Madefor Display SemiBold"/>
              </a:rPr>
              <a:t>Каких навыков Вам сейчас не хватает?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7" name="Заголовок 3"/>
          <p:cNvSpPr/>
          <p:nvPr/>
        </p:nvSpPr>
        <p:spPr>
          <a:xfrm>
            <a:off x="442800" y="1931760"/>
            <a:ext cx="261756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</a:pPr>
            <a:r>
              <a:rPr b="0" lang="ru-RU" sz="1200" strike="noStrike" u="none">
                <a:solidFill>
                  <a:schemeClr val="dk1"/>
                </a:solidFill>
                <a:uFillTx/>
                <a:latin typeface="Wix Madefor Display Medium"/>
              </a:rPr>
              <a:t>(множественный выбор)</a:t>
            </a: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8" name="Прямоугольник: скругленные углы 56"/>
          <p:cNvSpPr/>
          <p:nvPr/>
        </p:nvSpPr>
        <p:spPr>
          <a:xfrm>
            <a:off x="7971120" y="1160640"/>
            <a:ext cx="3812400" cy="5221080"/>
          </a:xfrm>
          <a:prstGeom prst="roundRect">
            <a:avLst>
              <a:gd name="adj" fmla="val 2036"/>
            </a:avLst>
          </a:prstGeom>
          <a:solidFill>
            <a:srgbClr val="cacae5">
              <a:alpha val="50000"/>
            </a:srgb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349" name="Заголовок 3"/>
          <p:cNvSpPr/>
          <p:nvPr/>
        </p:nvSpPr>
        <p:spPr>
          <a:xfrm>
            <a:off x="8163000" y="1269000"/>
            <a:ext cx="3403800" cy="46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  <a:spcAft>
                <a:spcPts val="300"/>
              </a:spcAf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Wix Madefor Display Bold"/>
                <a:ea typeface="PT Root UI"/>
              </a:rPr>
              <a:t>2</a:t>
            </a:r>
            <a:endParaRPr b="0" lang="en-GB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90000"/>
              </a:lnSpc>
              <a:spcAft>
                <a:spcPts val="1199"/>
              </a:spcAft>
            </a:pPr>
            <a:r>
              <a:rPr b="0" lang="ru-RU" sz="1200" strike="noStrike" u="none">
                <a:solidFill>
                  <a:schemeClr val="dk1"/>
                </a:solidFill>
                <a:uFillTx/>
                <a:latin typeface="Wix Madefor Display Bold"/>
                <a:ea typeface="PT Root UI"/>
              </a:rPr>
              <a:t>– </a:t>
            </a:r>
            <a:r>
              <a:rPr b="0" lang="ru-RU" sz="1200" strike="noStrike" u="none">
                <a:solidFill>
                  <a:schemeClr val="dk1"/>
                </a:solidFill>
                <a:uFillTx/>
                <a:latin typeface="Wix Madefor Display Bold"/>
                <a:ea typeface="PT Root UI"/>
              </a:rPr>
              <a:t>среднее количество целей развития профессиональных навыков, которые </a:t>
            </a:r>
            <a:br>
              <a:rPr sz="1200"/>
            </a:br>
            <a:r>
              <a:rPr b="0" lang="ru-RU" sz="1200" strike="noStrike" u="none">
                <a:solidFill>
                  <a:schemeClr val="dk1"/>
                </a:solidFill>
                <a:uFillTx/>
                <a:latin typeface="Wix Madefor Display Bold"/>
                <a:ea typeface="PT Root UI"/>
              </a:rPr>
              <a:t>ИТ-специалисты ставят перед собой </a:t>
            </a:r>
            <a:br>
              <a:rPr sz="1200"/>
            </a:br>
            <a:r>
              <a:rPr b="0" lang="ru-RU" sz="1200" strike="noStrike" u="none">
                <a:solidFill>
                  <a:schemeClr val="dk1"/>
                </a:solidFill>
                <a:uFillTx/>
                <a:latin typeface="Wix Madefor Display Bold"/>
                <a:ea typeface="PT Root UI"/>
              </a:rPr>
              <a:t>на ближайший год</a:t>
            </a: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90000"/>
              </a:lnSpc>
              <a:spcAft>
                <a:spcPts val="601"/>
              </a:spcAft>
            </a:pPr>
            <a:r>
              <a:rPr b="0" lang="ru-RU" sz="1200" strike="noStrike" u="none">
                <a:solidFill>
                  <a:schemeClr val="dk1"/>
                </a:solidFill>
                <a:uFillTx/>
                <a:latin typeface="Wix Madefor Display Medium"/>
                <a:ea typeface="PT Root UI"/>
              </a:rPr>
              <a:t>Специалисты с профильным образованием чаще других отмечают, что хотели </a:t>
            </a:r>
            <a:br>
              <a:rPr sz="1200"/>
            </a:br>
            <a:r>
              <a:rPr b="0" lang="ru-RU" sz="1200" strike="noStrike" u="none">
                <a:solidFill>
                  <a:schemeClr val="dk1"/>
                </a:solidFill>
                <a:uFillTx/>
                <a:latin typeface="Wix Madefor Display Medium"/>
                <a:ea typeface="PT Root UI"/>
              </a:rPr>
              <a:t>бы развивать следующие навыки:</a:t>
            </a: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80000" indent="-180000" defTabSz="914400">
              <a:lnSpc>
                <a:spcPct val="90000"/>
              </a:lnSpc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b="0" lang="ru-RU" sz="1200" strike="noStrike" u="none">
                <a:solidFill>
                  <a:schemeClr val="dk1"/>
                </a:solidFill>
                <a:uFillTx/>
                <a:latin typeface="Wix Madefor Display Medium"/>
                <a:ea typeface="PT Root UI"/>
              </a:rPr>
              <a:t>изучить новые языки программирования или технологии на 11 п.п.</a:t>
            </a: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80000" indent="-180000" defTabSz="914400">
              <a:lnSpc>
                <a:spcPct val="90000"/>
              </a:lnSpc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b="0" lang="ru-RU" sz="1200" strike="noStrike" u="none">
                <a:solidFill>
                  <a:schemeClr val="dk1"/>
                </a:solidFill>
                <a:uFillTx/>
                <a:latin typeface="Wix Madefor Display Medium"/>
                <a:ea typeface="PT Root UI"/>
              </a:rPr>
              <a:t>изучить как эффективно использовать рабочие инструменты – на 7 п.п. </a:t>
            </a: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90000"/>
              </a:lnSpc>
              <a:spcAft>
                <a:spcPts val="601"/>
              </a:spcAft>
            </a:pPr>
            <a:r>
              <a:rPr b="0" lang="ru-RU" sz="1200" strike="noStrike" u="none">
                <a:solidFill>
                  <a:schemeClr val="dk1"/>
                </a:solidFill>
                <a:uFillTx/>
                <a:latin typeface="Wix Madefor Display Medium"/>
                <a:ea typeface="PT Root UI"/>
              </a:rPr>
              <a:t>При этом начинающие и специалисты среднего уровня* с профильным образованием чаще, чем опытные** специалисты с профильным образованием, заинтересованы в развитии навыков </a:t>
            </a:r>
            <a:br>
              <a:rPr sz="1200"/>
            </a:br>
            <a:r>
              <a:rPr b="0" lang="ru-RU" sz="1200" strike="noStrike" u="none">
                <a:solidFill>
                  <a:schemeClr val="dk1"/>
                </a:solidFill>
                <a:uFillTx/>
                <a:latin typeface="Wix Madefor Display Medium"/>
                <a:ea typeface="PT Root UI"/>
              </a:rPr>
              <a:t>тайм-менеджмента (на 19 п.п.), «мягких» навыков (</a:t>
            </a:r>
            <a:r>
              <a:rPr b="0" lang="en-US" sz="1200" strike="noStrike" u="none">
                <a:solidFill>
                  <a:schemeClr val="dk1"/>
                </a:solidFill>
                <a:uFillTx/>
                <a:latin typeface="Wix Madefor Display Medium"/>
                <a:ea typeface="PT Root UI"/>
              </a:rPr>
              <a:t>soft skills)</a:t>
            </a:r>
            <a:r>
              <a:rPr b="0" lang="ru-RU" sz="1200" strike="noStrike" u="none">
                <a:solidFill>
                  <a:schemeClr val="dk1"/>
                </a:solidFill>
                <a:uFillTx/>
                <a:latin typeface="Wix Madefor Display Medium"/>
                <a:ea typeface="PT Root UI"/>
              </a:rPr>
              <a:t> (15 п.п.), изучении иностранных языков (13 п.п.)</a:t>
            </a: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90000"/>
              </a:lnSpc>
              <a:spcAft>
                <a:spcPts val="601"/>
              </a:spcAft>
            </a:pPr>
            <a:r>
              <a:rPr b="0" lang="ru-RU" sz="1200" strike="noStrike" u="none">
                <a:solidFill>
                  <a:schemeClr val="dk1"/>
                </a:solidFill>
                <a:uFillTx/>
                <a:latin typeface="Wix Madefor Display Medium"/>
                <a:ea typeface="PT Root UI"/>
              </a:rPr>
              <a:t>Из числа тех, кто не планирует </a:t>
            </a:r>
            <a:br>
              <a:rPr sz="1200"/>
            </a:br>
            <a:r>
              <a:rPr b="0" lang="ru-RU" sz="1200" strike="noStrike" u="none">
                <a:solidFill>
                  <a:schemeClr val="dk1"/>
                </a:solidFill>
                <a:uFillTx/>
                <a:latin typeface="Wix Madefor Display Medium"/>
                <a:ea typeface="PT Root UI"/>
              </a:rPr>
              <a:t>развивать навыки в ближайший год, </a:t>
            </a:r>
            <a:br>
              <a:rPr sz="1200"/>
            </a:br>
            <a:r>
              <a:rPr b="0" lang="ru-RU" sz="1200" strike="noStrike" u="none">
                <a:solidFill>
                  <a:schemeClr val="dk1"/>
                </a:solidFill>
                <a:uFillTx/>
                <a:latin typeface="Wix Madefor Display Medium"/>
                <a:ea typeface="PT Root UI"/>
              </a:rPr>
              <a:t>74% – ИТ-специалисты со стажем </a:t>
            </a:r>
            <a:br>
              <a:rPr sz="1200"/>
            </a:br>
            <a:r>
              <a:rPr b="0" lang="ru-RU" sz="1200" strike="noStrike" u="none">
                <a:solidFill>
                  <a:schemeClr val="dk1"/>
                </a:solidFill>
                <a:uFillTx/>
                <a:latin typeface="Wix Madefor Display Medium"/>
                <a:ea typeface="PT Root UI"/>
              </a:rPr>
              <a:t>более 5 лет</a:t>
            </a: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aphicFrame>
        <p:nvGraphicFramePr>
          <p:cNvPr id="350" name="Диаграмма 9"/>
          <p:cNvGraphicFramePr/>
          <p:nvPr/>
        </p:nvGraphicFramePr>
        <p:xfrm>
          <a:off x="442800" y="2098080"/>
          <a:ext cx="8176320" cy="3814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51" name="Заголовок 3"/>
          <p:cNvSpPr/>
          <p:nvPr/>
        </p:nvSpPr>
        <p:spPr>
          <a:xfrm>
            <a:off x="442800" y="2194920"/>
            <a:ext cx="501192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</a:pPr>
            <a:r>
              <a:rPr b="0" lang="ru-RU" sz="1200" strike="noStrike" u="none">
                <a:solidFill>
                  <a:srgbClr val="262b28"/>
                </a:solidFill>
                <a:uFillTx/>
                <a:latin typeface="Wix Madefor Display Medium"/>
              </a:rPr>
              <a:t>Эффективное использование рабочих инструментов</a:t>
            </a: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2" name="Заголовок 3"/>
          <p:cNvSpPr/>
          <p:nvPr/>
        </p:nvSpPr>
        <p:spPr>
          <a:xfrm>
            <a:off x="442800" y="2662200"/>
            <a:ext cx="476460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</a:pPr>
            <a:r>
              <a:rPr b="0" lang="ru-RU" sz="1200" strike="noStrike" u="none">
                <a:solidFill>
                  <a:srgbClr val="262b28"/>
                </a:solidFill>
                <a:uFillTx/>
                <a:latin typeface="Wix Madefor Display Medium"/>
              </a:rPr>
              <a:t>Новые языки программирования или технологии</a:t>
            </a: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3" name="Заголовок 3"/>
          <p:cNvSpPr/>
          <p:nvPr/>
        </p:nvSpPr>
        <p:spPr>
          <a:xfrm>
            <a:off x="442800" y="3119760"/>
            <a:ext cx="488088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</a:pPr>
            <a:r>
              <a:rPr b="0" lang="ru-RU" sz="1200" strike="noStrike" u="none">
                <a:solidFill>
                  <a:srgbClr val="262b28"/>
                </a:solidFill>
                <a:uFillTx/>
                <a:latin typeface="Wix Madefor Display Medium"/>
              </a:rPr>
              <a:t>Новые иностранные языки</a:t>
            </a: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4" name="Заголовок 3"/>
          <p:cNvSpPr/>
          <p:nvPr/>
        </p:nvSpPr>
        <p:spPr>
          <a:xfrm>
            <a:off x="442800" y="3570120"/>
            <a:ext cx="403236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</a:pPr>
            <a:r>
              <a:rPr b="0" lang="ru-RU" sz="1200" strike="noStrike" u="none">
                <a:solidFill>
                  <a:srgbClr val="262b28"/>
                </a:solidFill>
                <a:uFillTx/>
                <a:latin typeface="Wix Madefor Display Medium"/>
              </a:rPr>
              <a:t>Тайм-менеджмент (управление временем)</a:t>
            </a: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5" name="Заголовок 3"/>
          <p:cNvSpPr/>
          <p:nvPr/>
        </p:nvSpPr>
        <p:spPr>
          <a:xfrm>
            <a:off x="442800" y="4028040"/>
            <a:ext cx="345888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</a:pPr>
            <a:r>
              <a:rPr b="0" lang="ru-RU" sz="1200" strike="noStrike" u="none">
                <a:solidFill>
                  <a:srgbClr val="262b28"/>
                </a:solidFill>
                <a:uFillTx/>
                <a:latin typeface="Wix Madefor Display Medium"/>
              </a:rPr>
              <a:t>«Мягкие» навыки (</a:t>
            </a:r>
            <a:r>
              <a:rPr b="0" lang="en-US" sz="1200" strike="noStrike" u="none">
                <a:solidFill>
                  <a:srgbClr val="262b28"/>
                </a:solidFill>
                <a:uFillTx/>
                <a:latin typeface="Wix Madefor Display Medium"/>
              </a:rPr>
              <a:t>soft skills)***</a:t>
            </a: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6" name="Заголовок 3"/>
          <p:cNvSpPr/>
          <p:nvPr/>
        </p:nvSpPr>
        <p:spPr>
          <a:xfrm>
            <a:off x="442800" y="4470480"/>
            <a:ext cx="515124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</a:pPr>
            <a:r>
              <a:rPr b="0" lang="ru-RU" sz="1200" strike="noStrike" u="none">
                <a:solidFill>
                  <a:srgbClr val="262b28"/>
                </a:solidFill>
                <a:uFillTx/>
                <a:latin typeface="Wix Madefor Display Medium"/>
              </a:rPr>
              <a:t>Лидерские навыки и качества</a:t>
            </a: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7" name="Заголовок 3"/>
          <p:cNvSpPr/>
          <p:nvPr/>
        </p:nvSpPr>
        <p:spPr>
          <a:xfrm>
            <a:off x="442800" y="4937400"/>
            <a:ext cx="458028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</a:pPr>
            <a:r>
              <a:rPr b="0" lang="ru-RU" sz="1200" strike="noStrike" u="none">
                <a:solidFill>
                  <a:srgbClr val="262b28"/>
                </a:solidFill>
                <a:uFillTx/>
                <a:latin typeface="Wix Madefor Display Medium"/>
              </a:rPr>
              <a:t>Не планирую развивать навыки в ближайший год</a:t>
            </a: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8" name="Заголовок 3"/>
          <p:cNvSpPr/>
          <p:nvPr/>
        </p:nvSpPr>
        <p:spPr>
          <a:xfrm>
            <a:off x="442800" y="5386320"/>
            <a:ext cx="356184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</a:pPr>
            <a:r>
              <a:rPr b="0" lang="ru-RU" sz="1200" strike="noStrike" u="none">
                <a:solidFill>
                  <a:srgbClr val="262b28"/>
                </a:solidFill>
                <a:uFillTx/>
                <a:latin typeface="Wix Madefor Display Medium"/>
              </a:rPr>
              <a:t>Другое</a:t>
            </a: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9" name="TextBox 13"/>
          <p:cNvSpPr/>
          <p:nvPr/>
        </p:nvSpPr>
        <p:spPr>
          <a:xfrm>
            <a:off x="460080" y="6004440"/>
            <a:ext cx="5764680" cy="41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900" strike="noStrike" u="none">
                <a:solidFill>
                  <a:srgbClr val="262b28"/>
                </a:solidFill>
                <a:uFillTx/>
                <a:latin typeface="Wix Madefor Display Medium"/>
              </a:rPr>
              <a:t>***например, умение работать в команде, коммуникабельность, критическое мышление и др.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ru-RU" sz="900" strike="noStrike" u="none">
                <a:solidFill>
                  <a:srgbClr val="262b28"/>
                </a:solidFill>
                <a:uFillTx/>
                <a:latin typeface="Wix Madefor Display Medium"/>
              </a:rPr>
              <a:t>*начинающие и специалисты среднего уровня – работают по профессии до 5 лет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ru-RU" sz="900" strike="noStrike" u="none">
                <a:solidFill>
                  <a:srgbClr val="262b28"/>
                </a:solidFill>
                <a:uFillTx/>
                <a:latin typeface="Wix Madefor Display Medium"/>
              </a:rPr>
              <a:t>**Опытные специалисты – работают по профессии более 5 лет</a:t>
            </a:r>
            <a:endParaRPr b="0" lang="en-GB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B8B7FFAE-4C0C-4C2F-9453-78FDCF4F6907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/>
          </p:cNvSpPr>
          <p:nvPr>
            <p:ph type="title"/>
          </p:nvPr>
        </p:nvSpPr>
        <p:spPr>
          <a:xfrm>
            <a:off x="1149120" y="404640"/>
            <a:ext cx="10101240" cy="38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2800" strike="noStrike" u="none">
                <a:solidFill>
                  <a:srgbClr val="262b28"/>
                </a:solidFill>
                <a:uFillTx/>
                <a:latin typeface="Wix Madefor Display SemiBold"/>
              </a:rPr>
              <a:t>Уровень заработной платы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61" name="Заголовок 3"/>
          <p:cNvSpPr/>
          <p:nvPr/>
        </p:nvSpPr>
        <p:spPr>
          <a:xfrm>
            <a:off x="442800" y="1117080"/>
            <a:ext cx="7335000" cy="49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 defTabSz="914400">
              <a:lnSpc>
                <a:spcPct val="90000"/>
              </a:lnSpc>
            </a:pPr>
            <a:r>
              <a:rPr b="0" lang="ru-RU" sz="1800" strike="noStrike" u="none">
                <a:solidFill>
                  <a:srgbClr val="262b28"/>
                </a:solidFill>
                <a:uFillTx/>
                <a:latin typeface="Wix Madefor Display SemiBold"/>
              </a:rPr>
              <a:t>Оцените, на сколько процентов выросла </a:t>
            </a:r>
            <a:br>
              <a:rPr sz="1800"/>
            </a:br>
            <a:r>
              <a:rPr b="0" lang="ru-RU" sz="1800" strike="noStrike" u="none">
                <a:solidFill>
                  <a:srgbClr val="262b28"/>
                </a:solidFill>
                <a:uFillTx/>
                <a:latin typeface="Wix Madefor Display SemiBold"/>
              </a:rPr>
              <a:t>Ваша заработная плата за последний год?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2" name="Заголовок 3"/>
          <p:cNvSpPr/>
          <p:nvPr/>
        </p:nvSpPr>
        <p:spPr>
          <a:xfrm>
            <a:off x="442800" y="1689480"/>
            <a:ext cx="261756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</a:pPr>
            <a:r>
              <a:rPr b="0" lang="ru-RU" sz="1200" strike="noStrike" u="none">
                <a:solidFill>
                  <a:schemeClr val="dk1"/>
                </a:solidFill>
                <a:uFillTx/>
                <a:latin typeface="Wix Madefor Display Medium"/>
              </a:rPr>
              <a:t>(один вариант ответа)</a:t>
            </a: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3" name="Заголовок 3"/>
          <p:cNvSpPr/>
          <p:nvPr/>
        </p:nvSpPr>
        <p:spPr>
          <a:xfrm>
            <a:off x="442800" y="1926360"/>
            <a:ext cx="3729960" cy="32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</a:pPr>
            <a:r>
              <a:rPr b="0" lang="ru-RU" sz="1200" strike="noStrike" u="none">
                <a:solidFill>
                  <a:schemeClr val="dk1"/>
                </a:solidFill>
                <a:uFillTx/>
                <a:latin typeface="Wix Madefor Display Medium"/>
              </a:rPr>
              <a:t>вопрос задавался респондентам, чья заработная плата выросла за последний год </a:t>
            </a: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4" name="Заголовок 3"/>
          <p:cNvSpPr/>
          <p:nvPr/>
        </p:nvSpPr>
        <p:spPr>
          <a:xfrm>
            <a:off x="9078840" y="1164240"/>
            <a:ext cx="2709720" cy="11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</a:pPr>
            <a:r>
              <a:rPr b="0" lang="ru-RU" sz="1400" strike="noStrike" u="none">
                <a:solidFill>
                  <a:srgbClr val="262b28"/>
                </a:solidFill>
                <a:uFillTx/>
                <a:latin typeface="Wix Madefor Display Medium"/>
              </a:rPr>
              <a:t>ИТ-специалистов отметили, что их </a:t>
            </a:r>
            <a:r>
              <a:rPr b="0" lang="ru-RU" sz="1400" strike="noStrike" u="none">
                <a:solidFill>
                  <a:srgbClr val="262b28"/>
                </a:solidFill>
                <a:uFillTx/>
                <a:latin typeface="Wix Madefor Display Bold"/>
              </a:rPr>
              <a:t>заработная плата выросла за последний год, </a:t>
            </a:r>
            <a:r>
              <a:rPr b="0" lang="ru-RU" sz="1400" strike="noStrike" u="none">
                <a:solidFill>
                  <a:srgbClr val="262b28"/>
                </a:solidFill>
                <a:uFillTx/>
                <a:latin typeface="Wix Madefor Display Medium"/>
              </a:rPr>
              <a:t>при этом средний рост заработной платы </a:t>
            </a:r>
            <a:br>
              <a:rPr sz="1400"/>
            </a:br>
            <a:r>
              <a:rPr b="0" lang="ru-RU" sz="1400" strike="noStrike" u="none">
                <a:solidFill>
                  <a:srgbClr val="262b28"/>
                </a:solidFill>
                <a:uFillTx/>
                <a:latin typeface="Wix Madefor Display Medium"/>
              </a:rPr>
              <a:t>составил </a:t>
            </a:r>
            <a:r>
              <a:rPr b="0" lang="ru-RU" sz="1400" strike="noStrike" u="none">
                <a:solidFill>
                  <a:srgbClr val="262b28"/>
                </a:solidFill>
                <a:uFillTx/>
                <a:latin typeface="Wix Madefor Display Bold"/>
              </a:rPr>
              <a:t>20%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5" name="Прямоугольник: скругленные углы 13"/>
          <p:cNvSpPr/>
          <p:nvPr/>
        </p:nvSpPr>
        <p:spPr>
          <a:xfrm>
            <a:off x="7969680" y="2457360"/>
            <a:ext cx="3808800" cy="3924000"/>
          </a:xfrm>
          <a:prstGeom prst="roundRect">
            <a:avLst>
              <a:gd name="adj" fmla="val 2286"/>
            </a:avLst>
          </a:prstGeom>
          <a:solidFill>
            <a:srgbClr val="cacae5">
              <a:alpha val="50000"/>
            </a:srgb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366" name="Заголовок 3"/>
          <p:cNvSpPr/>
          <p:nvPr/>
        </p:nvSpPr>
        <p:spPr>
          <a:xfrm>
            <a:off x="8254440" y="2694240"/>
            <a:ext cx="3389400" cy="314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  <a:spcAft>
                <a:spcPts val="1199"/>
              </a:spcAft>
            </a:pPr>
            <a:r>
              <a:rPr b="0" lang="ru-RU" sz="1400" strike="noStrike" u="none">
                <a:solidFill>
                  <a:schemeClr val="dk1"/>
                </a:solidFill>
                <a:uFillTx/>
                <a:latin typeface="Wix Madefor Display Bold"/>
                <a:ea typeface="PT Root UI"/>
              </a:rPr>
              <a:t>Позитивные карьерные/</a:t>
            </a:r>
            <a:br>
              <a:rPr sz="1400"/>
            </a:br>
            <a:r>
              <a:rPr b="0" lang="ru-RU" sz="1400" strike="noStrike" u="none">
                <a:solidFill>
                  <a:schemeClr val="dk1"/>
                </a:solidFill>
                <a:uFillTx/>
                <a:latin typeface="Wix Madefor Display Bold"/>
                <a:ea typeface="PT Root UI"/>
              </a:rPr>
              <a:t>профессиональные ожидания могут быть связаны с ростом заработной платы: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90000"/>
              </a:lnSpc>
              <a:spcAft>
                <a:spcPts val="1199"/>
              </a:spcAft>
            </a:pPr>
            <a:r>
              <a:rPr b="0" lang="ru-RU" sz="1400" strike="noStrike" u="none">
                <a:solidFill>
                  <a:schemeClr val="dk1"/>
                </a:solidFill>
                <a:uFillTx/>
                <a:latin typeface="Wix Madefor Display Medium"/>
                <a:ea typeface="PT Root UI"/>
              </a:rPr>
              <a:t>специалистам, которые позитивно оценивают перспективы отрасли, </a:t>
            </a:r>
            <a:br>
              <a:rPr sz="1400"/>
            </a:br>
            <a:r>
              <a:rPr b="0" lang="ru-RU" sz="1400" strike="noStrike" u="none">
                <a:solidFill>
                  <a:schemeClr val="dk1"/>
                </a:solidFill>
                <a:uFillTx/>
                <a:latin typeface="Wix Madefor Display Medium"/>
                <a:ea typeface="PT Root UI"/>
              </a:rPr>
              <a:t>на 27 п.п. чаще поднимали зарплату </a:t>
            </a:r>
            <a:br>
              <a:rPr sz="1400"/>
            </a:br>
            <a:r>
              <a:rPr b="0" lang="ru-RU" sz="1400" strike="noStrike" u="none">
                <a:solidFill>
                  <a:schemeClr val="dk1"/>
                </a:solidFill>
                <a:uFillTx/>
                <a:latin typeface="Wix Madefor Display Medium"/>
                <a:ea typeface="PT Root UI"/>
              </a:rPr>
              <a:t>за последний год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90000"/>
              </a:lnSpc>
              <a:spcAft>
                <a:spcPts val="1199"/>
              </a:spcAft>
            </a:pPr>
            <a:r>
              <a:rPr b="0" lang="ru-RU" sz="1400" strike="noStrike" u="none">
                <a:solidFill>
                  <a:schemeClr val="dk1"/>
                </a:solidFill>
                <a:uFillTx/>
                <a:latin typeface="Wix Madefor Display Medium"/>
                <a:ea typeface="PT Root UI"/>
              </a:rPr>
              <a:t>У 37% тех, кому повысили заработную плату, она выросла на 10-20%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90000"/>
              </a:lnSpc>
              <a:spcAft>
                <a:spcPts val="1199"/>
              </a:spcAft>
            </a:pPr>
            <a:r>
              <a:rPr b="0" lang="ru-RU" sz="1400" strike="noStrike" u="none">
                <a:solidFill>
                  <a:schemeClr val="dk1"/>
                </a:solidFill>
                <a:uFillTx/>
                <a:latin typeface="Wix Madefor Display Medium"/>
                <a:ea typeface="PT Root UI"/>
              </a:rPr>
              <a:t>Те, кому повысили заработную плату, чаще являются сотрудниками крупных компаний, в которых штат более 500 человек - на 5 п.п. чаще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367" name="Группа 25"/>
          <p:cNvGrpSpPr/>
          <p:nvPr/>
        </p:nvGrpSpPr>
        <p:grpSpPr>
          <a:xfrm>
            <a:off x="7969680" y="1273680"/>
            <a:ext cx="897120" cy="905040"/>
            <a:chOff x="7969680" y="1273680"/>
            <a:chExt cx="897120" cy="905040"/>
          </a:xfrm>
        </p:grpSpPr>
        <p:graphicFrame>
          <p:nvGraphicFramePr>
            <p:cNvPr id="368" name="Диаграмма 29"/>
            <p:cNvGraphicFramePr/>
            <p:nvPr/>
          </p:nvGraphicFramePr>
          <p:xfrm>
            <a:off x="7969680" y="1273680"/>
            <a:ext cx="897120" cy="90504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"/>
            </a:graphicData>
          </a:graphic>
        </p:graphicFrame>
        <p:sp>
          <p:nvSpPr>
            <p:cNvPr id="369" name="Заголовок 3"/>
            <p:cNvSpPr/>
            <p:nvPr/>
          </p:nvSpPr>
          <p:spPr>
            <a:xfrm>
              <a:off x="8152560" y="1621080"/>
              <a:ext cx="530640" cy="247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 defTabSz="914400">
                <a:lnSpc>
                  <a:spcPct val="90000"/>
                </a:lnSpc>
              </a:pPr>
              <a:r>
                <a:rPr b="0" lang="ru-RU" sz="1800" strike="noStrike" u="none">
                  <a:solidFill>
                    <a:schemeClr val="dk1"/>
                  </a:solidFill>
                  <a:uFillTx/>
                  <a:latin typeface="Wix Madefor Display SemiBold"/>
                </a:rPr>
                <a:t>62</a:t>
              </a:r>
              <a:r>
                <a:rPr b="0" lang="en-US" sz="1800" strike="noStrike" u="none">
                  <a:solidFill>
                    <a:schemeClr val="dk1"/>
                  </a:solidFill>
                  <a:uFillTx/>
                  <a:latin typeface="Wix Madefor Display SemiBold"/>
                </a:rPr>
                <a:t>%</a:t>
              </a:r>
              <a:endParaRPr b="0" lang="en-GB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pic>
        <p:nvPicPr>
          <p:cNvPr id="370" name="Диаграмма 31" descr=""/>
          <p:cNvPicPr/>
          <p:nvPr/>
        </p:nvPicPr>
        <p:blipFill>
          <a:blip r:embed="rId2"/>
          <a:stretch/>
        </p:blipFill>
        <p:spPr>
          <a:xfrm>
            <a:off x="372600" y="2285280"/>
            <a:ext cx="7174800" cy="4260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1" name="Заголовок 3"/>
          <p:cNvSpPr/>
          <p:nvPr/>
        </p:nvSpPr>
        <p:spPr>
          <a:xfrm>
            <a:off x="4619520" y="4332960"/>
            <a:ext cx="50076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90000"/>
              </a:lnSpc>
            </a:pPr>
            <a:r>
              <a:rPr b="0" lang="ru-RU" sz="1200" strike="noStrike" u="none">
                <a:solidFill>
                  <a:schemeClr val="lt1"/>
                </a:solidFill>
                <a:uFillTx/>
                <a:latin typeface="Wix Madefor Display SemiBold"/>
              </a:rPr>
              <a:t>4</a:t>
            </a:r>
            <a:r>
              <a:rPr b="0" lang="en-US" sz="1200" strike="noStrike" u="none">
                <a:solidFill>
                  <a:schemeClr val="lt1"/>
                </a:solidFill>
                <a:uFillTx/>
                <a:latin typeface="Wix Madefor Display SemiBold"/>
              </a:rPr>
              <a:t>%</a:t>
            </a: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2" name="Заголовок 3"/>
          <p:cNvSpPr/>
          <p:nvPr/>
        </p:nvSpPr>
        <p:spPr>
          <a:xfrm>
            <a:off x="4619520" y="4712040"/>
            <a:ext cx="50076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90000"/>
              </a:lnSpc>
            </a:pPr>
            <a:r>
              <a:rPr b="0" lang="ru-RU" sz="1200" strike="noStrike" u="none">
                <a:solidFill>
                  <a:schemeClr val="dk1"/>
                </a:solidFill>
                <a:uFillTx/>
                <a:latin typeface="Wix Madefor Display SemiBold"/>
              </a:rPr>
              <a:t>0</a:t>
            </a:r>
            <a:r>
              <a:rPr b="0" lang="en-US" sz="1200" strike="noStrike" u="none">
                <a:solidFill>
                  <a:schemeClr val="dk1"/>
                </a:solidFill>
                <a:uFillTx/>
                <a:latin typeface="Wix Madefor Display SemiBold"/>
              </a:rPr>
              <a:t>%</a:t>
            </a: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3" name="Заголовок 3"/>
          <p:cNvSpPr/>
          <p:nvPr/>
        </p:nvSpPr>
        <p:spPr>
          <a:xfrm>
            <a:off x="4619520" y="5090760"/>
            <a:ext cx="50076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90000"/>
              </a:lnSpc>
            </a:pPr>
            <a:r>
              <a:rPr b="0" lang="ru-RU" sz="1200" strike="noStrike" u="none">
                <a:solidFill>
                  <a:schemeClr val="dk1"/>
                </a:solidFill>
                <a:uFillTx/>
                <a:latin typeface="Wix Madefor Display SemiBold"/>
              </a:rPr>
              <a:t>0</a:t>
            </a:r>
            <a:r>
              <a:rPr b="0" lang="en-US" sz="1200" strike="noStrike" u="none">
                <a:solidFill>
                  <a:schemeClr val="dk1"/>
                </a:solidFill>
                <a:uFillTx/>
                <a:latin typeface="Wix Madefor Display SemiBold"/>
              </a:rPr>
              <a:t>%</a:t>
            </a: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4" name="Заголовок 3"/>
          <p:cNvSpPr/>
          <p:nvPr/>
        </p:nvSpPr>
        <p:spPr>
          <a:xfrm>
            <a:off x="4817880" y="5828400"/>
            <a:ext cx="50076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90000"/>
              </a:lnSpc>
            </a:pPr>
            <a:r>
              <a:rPr b="0" lang="ru-RU" sz="1200" strike="noStrike" u="none">
                <a:solidFill>
                  <a:schemeClr val="dk1"/>
                </a:solidFill>
                <a:uFillTx/>
                <a:latin typeface="Wix Madefor Display SemiBold"/>
              </a:rPr>
              <a:t>1</a:t>
            </a:r>
            <a:r>
              <a:rPr b="0" lang="en-US" sz="1200" strike="noStrike" u="none">
                <a:solidFill>
                  <a:schemeClr val="dk1"/>
                </a:solidFill>
                <a:uFillTx/>
                <a:latin typeface="Wix Madefor Display SemiBold"/>
              </a:rPr>
              <a:t>%</a:t>
            </a: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9CE9904F-0761-4A7D-B398-2DA88A40AE12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Прямоугольник: скругленные углы 2"/>
          <p:cNvSpPr/>
          <p:nvPr/>
        </p:nvSpPr>
        <p:spPr>
          <a:xfrm>
            <a:off x="6571080" y="1160640"/>
            <a:ext cx="5217480" cy="747360"/>
          </a:xfrm>
          <a:prstGeom prst="roundRect">
            <a:avLst>
              <a:gd name="adj" fmla="val 2036"/>
            </a:avLst>
          </a:prstGeom>
          <a:solidFill>
            <a:srgbClr val="cacae5">
              <a:alpha val="50000"/>
            </a:srgb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376" name="PlaceHolder 1"/>
          <p:cNvSpPr>
            <a:spLocks noGrp="1"/>
          </p:cNvSpPr>
          <p:nvPr>
            <p:ph type="title"/>
          </p:nvPr>
        </p:nvSpPr>
        <p:spPr>
          <a:xfrm>
            <a:off x="1149120" y="404640"/>
            <a:ext cx="10101240" cy="38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2800" strike="noStrike" u="none">
                <a:solidFill>
                  <a:srgbClr val="262b28"/>
                </a:solidFill>
                <a:uFillTx/>
                <a:latin typeface="Wix Madefor Display SemiBold"/>
              </a:rPr>
              <a:t>Импортозамещение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77" name="Заголовок 3"/>
          <p:cNvSpPr/>
          <p:nvPr/>
        </p:nvSpPr>
        <p:spPr>
          <a:xfrm>
            <a:off x="442800" y="1171440"/>
            <a:ext cx="5110920" cy="74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 defTabSz="914400">
              <a:lnSpc>
                <a:spcPct val="90000"/>
              </a:lnSpc>
            </a:pPr>
            <a:r>
              <a:rPr b="0" lang="ru-RU" sz="1800" strike="noStrike" u="none">
                <a:solidFill>
                  <a:srgbClr val="262b28"/>
                </a:solidFill>
                <a:uFillTx/>
                <a:latin typeface="Wix Madefor Display SemiBold"/>
              </a:rPr>
              <a:t>Повлияла ли текущая ситуация на то, какое программное обеспечение Вы используете в работе в вашей сфере?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8" name="Заголовок 3"/>
          <p:cNvSpPr/>
          <p:nvPr/>
        </p:nvSpPr>
        <p:spPr>
          <a:xfrm>
            <a:off x="442800" y="1964520"/>
            <a:ext cx="261756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</a:pPr>
            <a:r>
              <a:rPr b="0" lang="ru-RU" sz="1200" strike="noStrike" u="none">
                <a:solidFill>
                  <a:schemeClr val="dk1"/>
                </a:solidFill>
                <a:uFillTx/>
                <a:latin typeface="Wix Madefor Display Medium"/>
              </a:rPr>
              <a:t>(один вариант ответа)</a:t>
            </a:r>
            <a:endParaRPr b="0" lang="en-GB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aphicFrame>
        <p:nvGraphicFramePr>
          <p:cNvPr id="379" name="Диаграмма 18"/>
          <p:cNvGraphicFramePr/>
          <p:nvPr/>
        </p:nvGraphicFramePr>
        <p:xfrm>
          <a:off x="402120" y="3790440"/>
          <a:ext cx="5389560" cy="4998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pSp>
        <p:nvGrpSpPr>
          <p:cNvPr id="380" name="Группа 74"/>
          <p:cNvGrpSpPr/>
          <p:nvPr/>
        </p:nvGrpSpPr>
        <p:grpSpPr>
          <a:xfrm>
            <a:off x="442800" y="2437560"/>
            <a:ext cx="2031840" cy="228960"/>
            <a:chOff x="442800" y="2437560"/>
            <a:chExt cx="2031840" cy="228960"/>
          </a:xfrm>
        </p:grpSpPr>
        <p:sp>
          <p:nvSpPr>
            <p:cNvPr id="381" name="Заголовок 3"/>
            <p:cNvSpPr/>
            <p:nvPr/>
          </p:nvSpPr>
          <p:spPr>
            <a:xfrm>
              <a:off x="737640" y="2445840"/>
              <a:ext cx="1737000" cy="220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ct val="80000"/>
                </a:lnSpc>
              </a:pPr>
              <a:r>
                <a:rPr b="0" lang="ru-RU" sz="900" strike="noStrike" u="none">
                  <a:solidFill>
                    <a:schemeClr val="dk1"/>
                  </a:solidFill>
                  <a:uFillTx/>
                  <a:latin typeface="Wix Madefor Display Medium"/>
                </a:rPr>
                <a:t>Да, мы перешли / переходим сейчас на отечественное ПО</a:t>
              </a:r>
              <a:endParaRPr b="0" lang="en-GB" sz="9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382" name="Прямоугольник 26"/>
            <p:cNvSpPr/>
            <p:nvPr/>
          </p:nvSpPr>
          <p:spPr>
            <a:xfrm>
              <a:off x="442800" y="2437560"/>
              <a:ext cx="199800" cy="199800"/>
            </a:xfrm>
            <a:prstGeom prst="rect">
              <a:avLst/>
            </a:prstGeom>
            <a:solidFill>
              <a:srgbClr val="fc84d7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RU" sz="1800" strike="noStrike" u="none">
                <a:solidFill>
                  <a:schemeClr val="lt1"/>
                </a:solidFill>
                <a:uFillTx/>
                <a:latin typeface="Calibri"/>
              </a:endParaRPr>
            </a:p>
          </p:txBody>
        </p:sp>
      </p:grpSp>
      <p:grpSp>
        <p:nvGrpSpPr>
          <p:cNvPr id="383" name="Группа 73"/>
          <p:cNvGrpSpPr/>
          <p:nvPr/>
        </p:nvGrpSpPr>
        <p:grpSpPr>
          <a:xfrm>
            <a:off x="442800" y="2928600"/>
            <a:ext cx="2246760" cy="227160"/>
            <a:chOff x="442800" y="2928600"/>
            <a:chExt cx="2246760" cy="227160"/>
          </a:xfrm>
        </p:grpSpPr>
        <p:sp>
          <p:nvSpPr>
            <p:cNvPr id="384" name="Заголовок 3"/>
            <p:cNvSpPr/>
            <p:nvPr/>
          </p:nvSpPr>
          <p:spPr>
            <a:xfrm>
              <a:off x="724680" y="2935080"/>
              <a:ext cx="1964880" cy="220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ct val="80000"/>
                </a:lnSpc>
              </a:pPr>
              <a:r>
                <a:rPr b="0" lang="ru-RU" sz="900" strike="noStrike" u="none">
                  <a:solidFill>
                    <a:schemeClr val="dk1"/>
                  </a:solidFill>
                  <a:uFillTx/>
                  <a:latin typeface="Wix Madefor Display Medium"/>
                </a:rPr>
                <a:t>Нет, все программы как работали, так и продолжают работать</a:t>
              </a:r>
              <a:endParaRPr b="0" lang="en-GB" sz="9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385" name="Прямоугольник 27"/>
            <p:cNvSpPr/>
            <p:nvPr/>
          </p:nvSpPr>
          <p:spPr>
            <a:xfrm>
              <a:off x="442800" y="2928600"/>
              <a:ext cx="199800" cy="199800"/>
            </a:xfrm>
            <a:prstGeom prst="rect">
              <a:avLst/>
            </a:prstGeom>
            <a:solidFill>
              <a:srgbClr val="fa37b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RU" sz="1800" strike="noStrike" u="none">
                <a:solidFill>
                  <a:schemeClr val="lt1"/>
                </a:solidFill>
                <a:uFillTx/>
                <a:latin typeface="Calibri"/>
              </a:endParaRPr>
            </a:p>
          </p:txBody>
        </p:sp>
      </p:grpSp>
      <p:grpSp>
        <p:nvGrpSpPr>
          <p:cNvPr id="386" name="Группа 72"/>
          <p:cNvGrpSpPr/>
          <p:nvPr/>
        </p:nvGrpSpPr>
        <p:grpSpPr>
          <a:xfrm>
            <a:off x="442800" y="3417840"/>
            <a:ext cx="2246760" cy="227520"/>
            <a:chOff x="442800" y="3417840"/>
            <a:chExt cx="2246760" cy="227520"/>
          </a:xfrm>
        </p:grpSpPr>
        <p:sp>
          <p:nvSpPr>
            <p:cNvPr id="387" name="Заголовок 3"/>
            <p:cNvSpPr/>
            <p:nvPr/>
          </p:nvSpPr>
          <p:spPr>
            <a:xfrm>
              <a:off x="724680" y="3424680"/>
              <a:ext cx="1964880" cy="220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ct val="80000"/>
                </a:lnSpc>
              </a:pPr>
              <a:r>
                <a:rPr b="0" lang="ru-RU" sz="900" strike="noStrike" u="none">
                  <a:solidFill>
                    <a:schemeClr val="dk1"/>
                  </a:solidFill>
                  <a:uFillTx/>
                  <a:latin typeface="Wix Madefor Display Medium"/>
                </a:rPr>
                <a:t>Да, испытываем трудности </a:t>
              </a:r>
              <a:br>
                <a:rPr sz="900"/>
              </a:br>
              <a:r>
                <a:rPr b="0" lang="ru-RU" sz="900" strike="noStrike" u="none">
                  <a:solidFill>
                    <a:schemeClr val="dk1"/>
                  </a:solidFill>
                  <a:uFillTx/>
                  <a:latin typeface="Wix Madefor Display Medium"/>
                </a:rPr>
                <a:t>в использовании зарубежного ПО</a:t>
              </a:r>
              <a:endParaRPr b="0" lang="en-GB" sz="9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388" name="Прямоугольник 28"/>
            <p:cNvSpPr/>
            <p:nvPr/>
          </p:nvSpPr>
          <p:spPr>
            <a:xfrm>
              <a:off x="442800" y="3417840"/>
              <a:ext cx="199800" cy="199800"/>
            </a:xfrm>
            <a:prstGeom prst="rect">
              <a:avLst/>
            </a:prstGeom>
            <a:solidFill>
              <a:srgbClr val="d42a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RU" sz="1800" strike="noStrike" u="none">
                <a:solidFill>
                  <a:schemeClr val="lt1"/>
                </a:solidFill>
                <a:uFillTx/>
                <a:latin typeface="Calibri"/>
              </a:endParaRPr>
            </a:p>
          </p:txBody>
        </p:sp>
      </p:grpSp>
      <p:grpSp>
        <p:nvGrpSpPr>
          <p:cNvPr id="389" name="Группа 71"/>
          <p:cNvGrpSpPr/>
          <p:nvPr/>
        </p:nvGrpSpPr>
        <p:grpSpPr>
          <a:xfrm>
            <a:off x="3209760" y="2437560"/>
            <a:ext cx="2180880" cy="220680"/>
            <a:chOff x="3209760" y="2437560"/>
            <a:chExt cx="2180880" cy="220680"/>
          </a:xfrm>
        </p:grpSpPr>
        <p:sp>
          <p:nvSpPr>
            <p:cNvPr id="390" name="Заголовок 3"/>
            <p:cNvSpPr/>
            <p:nvPr/>
          </p:nvSpPr>
          <p:spPr>
            <a:xfrm>
              <a:off x="3491640" y="2437560"/>
              <a:ext cx="1899000" cy="220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ct val="80000"/>
                </a:lnSpc>
              </a:pPr>
              <a:r>
                <a:rPr b="0" lang="ru-RU" sz="900" strike="noStrike" u="none">
                  <a:solidFill>
                    <a:schemeClr val="dk1"/>
                  </a:solidFill>
                  <a:uFillTx/>
                  <a:latin typeface="Wix Madefor Display Medium"/>
                </a:rPr>
                <a:t>Да, мы перешли / переходим сейчас на другое зарубежное ПО</a:t>
              </a:r>
              <a:endParaRPr b="0" lang="en-GB" sz="9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391" name="Прямоугольник 32"/>
            <p:cNvSpPr/>
            <p:nvPr/>
          </p:nvSpPr>
          <p:spPr>
            <a:xfrm>
              <a:off x="3209760" y="2438280"/>
              <a:ext cx="199800" cy="199800"/>
            </a:xfrm>
            <a:prstGeom prst="rect">
              <a:avLst/>
            </a:prstGeom>
            <a:solidFill>
              <a:srgbClr val="960ac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RU" sz="1800" strike="noStrike" u="none">
                <a:solidFill>
                  <a:schemeClr val="lt1"/>
                </a:solidFill>
                <a:uFillTx/>
                <a:latin typeface="Calibri"/>
              </a:endParaRPr>
            </a:p>
          </p:txBody>
        </p:sp>
      </p:grpSp>
      <p:grpSp>
        <p:nvGrpSpPr>
          <p:cNvPr id="392" name="Группа 70"/>
          <p:cNvGrpSpPr/>
          <p:nvPr/>
        </p:nvGrpSpPr>
        <p:grpSpPr>
          <a:xfrm>
            <a:off x="3206520" y="2928600"/>
            <a:ext cx="1590840" cy="199800"/>
            <a:chOff x="3206520" y="2928600"/>
            <a:chExt cx="1590840" cy="199800"/>
          </a:xfrm>
        </p:grpSpPr>
        <p:sp>
          <p:nvSpPr>
            <p:cNvPr id="393" name="Заголовок 3"/>
            <p:cNvSpPr/>
            <p:nvPr/>
          </p:nvSpPr>
          <p:spPr>
            <a:xfrm>
              <a:off x="3488400" y="2977920"/>
              <a:ext cx="1308960" cy="11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ct val="80000"/>
                </a:lnSpc>
              </a:pPr>
              <a:r>
                <a:rPr b="0" lang="ru-RU" sz="900" strike="noStrike" u="none">
                  <a:solidFill>
                    <a:schemeClr val="dk1"/>
                  </a:solidFill>
                  <a:uFillTx/>
                  <a:latin typeface="Wix Madefor Display Medium"/>
                </a:rPr>
                <a:t>Затрудняюсь ответить</a:t>
              </a:r>
              <a:endParaRPr b="0" lang="en-GB" sz="9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394" name="Прямоугольник 34"/>
            <p:cNvSpPr/>
            <p:nvPr/>
          </p:nvSpPr>
          <p:spPr>
            <a:xfrm>
              <a:off x="3206520" y="2928600"/>
              <a:ext cx="199800" cy="199800"/>
            </a:xfrm>
            <a:prstGeom prst="rect">
              <a:avLst/>
            </a:prstGeom>
            <a:solidFill>
              <a:srgbClr val="5e0ab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RU" sz="1800" strike="noStrike" u="none">
                <a:solidFill>
                  <a:schemeClr val="lt1"/>
                </a:solidFill>
                <a:uFillTx/>
                <a:latin typeface="Calibri"/>
              </a:endParaRPr>
            </a:p>
          </p:txBody>
        </p:sp>
      </p:grpSp>
      <p:sp>
        <p:nvSpPr>
          <p:cNvPr id="395" name="Заголовок 3"/>
          <p:cNvSpPr/>
          <p:nvPr/>
        </p:nvSpPr>
        <p:spPr>
          <a:xfrm>
            <a:off x="1379880" y="5342040"/>
            <a:ext cx="384480" cy="19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90000"/>
              </a:lnSpc>
            </a:pPr>
            <a:r>
              <a:rPr b="0" lang="ru-RU" sz="1400" strike="noStrike" u="none">
                <a:solidFill>
                  <a:schemeClr val="lt1"/>
                </a:solidFill>
                <a:uFillTx/>
                <a:latin typeface="Wix Madefor Display SemiBold"/>
              </a:rPr>
              <a:t>37</a:t>
            </a:r>
            <a:r>
              <a:rPr b="0" lang="en-US" sz="1400" strike="noStrike" u="none">
                <a:solidFill>
                  <a:schemeClr val="lt1"/>
                </a:solidFill>
                <a:uFillTx/>
                <a:latin typeface="Wix Madefor Display SemiBold"/>
              </a:rPr>
              <a:t>%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6" name="Заголовок 3"/>
          <p:cNvSpPr/>
          <p:nvPr/>
        </p:nvSpPr>
        <p:spPr>
          <a:xfrm>
            <a:off x="3200400" y="4533480"/>
            <a:ext cx="384480" cy="19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90000"/>
              </a:lnSpc>
            </a:pPr>
            <a:r>
              <a:rPr b="0" lang="ru-RU" sz="1400" strike="noStrike" u="none">
                <a:solidFill>
                  <a:schemeClr val="lt1"/>
                </a:solidFill>
                <a:uFillTx/>
                <a:latin typeface="Wix Madefor Display SemiBold"/>
              </a:rPr>
              <a:t>34</a:t>
            </a:r>
            <a:r>
              <a:rPr b="0" lang="en-US" sz="1400" strike="noStrike" u="none">
                <a:solidFill>
                  <a:schemeClr val="lt1"/>
                </a:solidFill>
                <a:uFillTx/>
                <a:latin typeface="Wix Madefor Display SemiBold"/>
              </a:rPr>
              <a:t>%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7" name="Заголовок 3"/>
          <p:cNvSpPr/>
          <p:nvPr/>
        </p:nvSpPr>
        <p:spPr>
          <a:xfrm>
            <a:off x="4330800" y="5129640"/>
            <a:ext cx="388800" cy="19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90000"/>
              </a:lnSpc>
            </a:pPr>
            <a:r>
              <a:rPr b="0" lang="ru-RU" sz="1400" strike="noStrike" u="none">
                <a:solidFill>
                  <a:schemeClr val="lt1"/>
                </a:solidFill>
                <a:uFillTx/>
                <a:latin typeface="Wix Madefor Display SemiBold"/>
              </a:rPr>
              <a:t>13</a:t>
            </a:r>
            <a:r>
              <a:rPr b="0" lang="en-US" sz="1400" strike="noStrike" u="none">
                <a:solidFill>
                  <a:schemeClr val="lt1"/>
                </a:solidFill>
                <a:uFillTx/>
                <a:latin typeface="Wix Madefor Display SemiBold"/>
              </a:rPr>
              <a:t>%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8" name="Заголовок 3"/>
          <p:cNvSpPr/>
          <p:nvPr/>
        </p:nvSpPr>
        <p:spPr>
          <a:xfrm>
            <a:off x="4719960" y="5719680"/>
            <a:ext cx="350280" cy="38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90000"/>
              </a:lnSpc>
            </a:pPr>
            <a:r>
              <a:rPr b="0" lang="ru-RU" sz="1400" strike="noStrike" u="none">
                <a:solidFill>
                  <a:schemeClr val="lt1"/>
                </a:solidFill>
                <a:uFillTx/>
                <a:latin typeface="Wix Madefor Display SemiBold"/>
              </a:rPr>
              <a:t>12</a:t>
            </a:r>
            <a:r>
              <a:rPr b="0" lang="en-US" sz="1400" strike="noStrike" u="none">
                <a:solidFill>
                  <a:schemeClr val="lt1"/>
                </a:solidFill>
                <a:uFillTx/>
                <a:latin typeface="Wix Madefor Display SemiBold"/>
              </a:rPr>
              <a:t>%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9" name="Заголовок 3"/>
          <p:cNvSpPr/>
          <p:nvPr/>
        </p:nvSpPr>
        <p:spPr>
          <a:xfrm>
            <a:off x="4842000" y="6161400"/>
            <a:ext cx="314280" cy="19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90000"/>
              </a:lnSpc>
            </a:pPr>
            <a:r>
              <a:rPr b="0" lang="ru-RU" sz="1400" strike="noStrike" u="none">
                <a:solidFill>
                  <a:schemeClr val="lt1"/>
                </a:solidFill>
                <a:uFillTx/>
                <a:latin typeface="Wix Madefor Display SemiBold"/>
              </a:rPr>
              <a:t>4</a:t>
            </a:r>
            <a:r>
              <a:rPr b="0" lang="en-US" sz="1400" strike="noStrike" u="none">
                <a:solidFill>
                  <a:schemeClr val="lt1"/>
                </a:solidFill>
                <a:uFillTx/>
                <a:latin typeface="Wix Madefor Display SemiBold"/>
              </a:rPr>
              <a:t>%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0" name="Заголовок 3"/>
          <p:cNvSpPr/>
          <p:nvPr/>
        </p:nvSpPr>
        <p:spPr>
          <a:xfrm>
            <a:off x="7675200" y="2502360"/>
            <a:ext cx="3622320" cy="84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  <a:spcAft>
                <a:spcPts val="601"/>
              </a:spcAft>
            </a:pPr>
            <a:r>
              <a:rPr b="0" lang="ru-RU" sz="1400" strike="noStrike" u="none">
                <a:solidFill>
                  <a:srgbClr val="262b28"/>
                </a:solidFill>
                <a:uFillTx/>
                <a:latin typeface="Wix Madefor Display Medium"/>
              </a:rPr>
              <a:t>опрошенных ощутили влияние текущей ситуации на используемое в работе ПО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90000"/>
              </a:lnSpc>
              <a:spcAft>
                <a:spcPts val="601"/>
              </a:spcAft>
            </a:pPr>
            <a:r>
              <a:rPr b="0" lang="ru-RU" sz="1400" strike="noStrike" u="none">
                <a:solidFill>
                  <a:srgbClr val="262b28"/>
                </a:solidFill>
                <a:uFillTx/>
                <a:latin typeface="Wix Madefor Display Medium"/>
              </a:rPr>
              <a:t>у трети опрошенных все программы работают в обычном режиме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aphicFrame>
        <p:nvGraphicFramePr>
          <p:cNvPr id="401" name="Диаграмма 8"/>
          <p:cNvGraphicFramePr/>
          <p:nvPr/>
        </p:nvGraphicFramePr>
        <p:xfrm>
          <a:off x="6571080" y="2463120"/>
          <a:ext cx="897120" cy="905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02" name="Заголовок 3"/>
          <p:cNvSpPr/>
          <p:nvPr/>
        </p:nvSpPr>
        <p:spPr>
          <a:xfrm>
            <a:off x="6662520" y="2810520"/>
            <a:ext cx="71388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90000"/>
              </a:lnSpc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Wix Madefor Display SemiBold"/>
              </a:rPr>
              <a:t>62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Wix Madefor Display SemiBold"/>
              </a:rPr>
              <a:t>%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3" name="Заголовок 3"/>
          <p:cNvSpPr/>
          <p:nvPr/>
        </p:nvSpPr>
        <p:spPr>
          <a:xfrm>
            <a:off x="7675200" y="5173200"/>
            <a:ext cx="3741120" cy="123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  <a:spcAft>
                <a:spcPts val="601"/>
              </a:spcAft>
            </a:pPr>
            <a:r>
              <a:rPr b="0" lang="ru-RU" sz="1400" strike="noStrike" u="none">
                <a:solidFill>
                  <a:srgbClr val="262b28"/>
                </a:solidFill>
                <a:uFillTx/>
                <a:latin typeface="Wix Madefor Display Medium"/>
              </a:rPr>
              <a:t>специалистов из компаний, в которых более 100 сотрудников, отмечают, </a:t>
            </a:r>
            <a:br>
              <a:rPr sz="1400"/>
            </a:br>
            <a:r>
              <a:rPr b="0" lang="ru-RU" sz="1400" strike="noStrike" u="none">
                <a:solidFill>
                  <a:srgbClr val="262b28"/>
                </a:solidFill>
                <a:uFillTx/>
                <a:latin typeface="Wix Madefor Display Medium"/>
              </a:rPr>
              <a:t>что перешли на отечественное ПО. 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90000"/>
              </a:lnSpc>
              <a:spcAft>
                <a:spcPts val="601"/>
              </a:spcAft>
            </a:pPr>
            <a:r>
              <a:rPr b="0" lang="ru-RU" sz="1400" strike="noStrike" u="none">
                <a:solidFill>
                  <a:srgbClr val="262b28"/>
                </a:solidFill>
                <a:uFillTx/>
                <a:latin typeface="Wix Madefor Display Medium"/>
              </a:rPr>
              <a:t>При этом среди специалистов малых компаний (до 100 сотрудников) переход на отечественно ПО отмечают только 12%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aphicFrame>
        <p:nvGraphicFramePr>
          <p:cNvPr id="404" name="Диаграмма 15"/>
          <p:cNvGraphicFramePr/>
          <p:nvPr/>
        </p:nvGraphicFramePr>
        <p:xfrm>
          <a:off x="6571080" y="5292000"/>
          <a:ext cx="897120" cy="905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05" name="Заголовок 3"/>
          <p:cNvSpPr/>
          <p:nvPr/>
        </p:nvSpPr>
        <p:spPr>
          <a:xfrm>
            <a:off x="6662520" y="5639400"/>
            <a:ext cx="71388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90000"/>
              </a:lnSpc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Wix Madefor Display SemiBold"/>
              </a:rPr>
              <a:t>27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Wix Madefor Display SemiBold"/>
              </a:rPr>
              <a:t>%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6" name="Заголовок 3"/>
          <p:cNvSpPr/>
          <p:nvPr/>
        </p:nvSpPr>
        <p:spPr>
          <a:xfrm>
            <a:off x="6742080" y="1334160"/>
            <a:ext cx="4679280" cy="38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 defTabSz="914400">
              <a:lnSpc>
                <a:spcPct val="90000"/>
              </a:lnSpc>
            </a:pPr>
            <a:r>
              <a:rPr b="0" lang="ru-RU" sz="1400" strike="noStrike" u="none">
                <a:solidFill>
                  <a:srgbClr val="262b28"/>
                </a:solidFill>
                <a:uFillTx/>
                <a:latin typeface="Wix Madefor Display SemiBold"/>
              </a:rPr>
              <a:t>Аналогичный вопрос задавался в 2022 году. </a:t>
            </a:r>
            <a:br>
              <a:rPr sz="1400"/>
            </a:br>
            <a:r>
              <a:rPr b="0" lang="ru-RU" sz="1400" strike="noStrike" u="none">
                <a:solidFill>
                  <a:srgbClr val="262b28"/>
                </a:solidFill>
                <a:uFillTx/>
                <a:latin typeface="Wix Madefor Display SemiBold"/>
              </a:rPr>
              <a:t>В 2024 году ситуация изменилась несущественно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7" name="Заголовок 3"/>
          <p:cNvSpPr/>
          <p:nvPr/>
        </p:nvSpPr>
        <p:spPr>
          <a:xfrm>
            <a:off x="7675200" y="3877920"/>
            <a:ext cx="295020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90000"/>
              </a:lnSpc>
              <a:spcAft>
                <a:spcPts val="601"/>
              </a:spcAft>
            </a:pPr>
            <a:r>
              <a:rPr b="0" lang="ru-RU" sz="1400" strike="noStrike" u="none">
                <a:solidFill>
                  <a:srgbClr val="262b28"/>
                </a:solidFill>
                <a:uFillTx/>
                <a:latin typeface="Wix Madefor Display Medium"/>
              </a:rPr>
              <a:t>не испытывают трудностей, все программы работают в обычном режиме</a:t>
            </a:r>
            <a:endParaRPr b="0" lang="en-GB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aphicFrame>
        <p:nvGraphicFramePr>
          <p:cNvPr id="408" name="Диаграмма 9"/>
          <p:cNvGraphicFramePr/>
          <p:nvPr/>
        </p:nvGraphicFramePr>
        <p:xfrm>
          <a:off x="6571080" y="3821400"/>
          <a:ext cx="897120" cy="905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09" name="Заголовок 3"/>
          <p:cNvSpPr/>
          <p:nvPr/>
        </p:nvSpPr>
        <p:spPr>
          <a:xfrm>
            <a:off x="6662520" y="4168800"/>
            <a:ext cx="71388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90000"/>
              </a:lnSpc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Wix Madefor Display SemiBold"/>
              </a:rPr>
              <a:t>34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Wix Madefor Display SemiBold"/>
              </a:rPr>
              <a:t>%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04908CC7-1B13-4D8C-99CA-CE9F3CFAA747}" type="slidenum">
              <a:t>13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3447</TotalTime>
  <Application>LibreOffice/24.8.6.2$Linux_X86_64 LibreOffice_project/480$Build-2</Application>
  <AppVersion>15.0000</AppVersion>
  <Words>2468</Words>
  <Paragraphs>341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2024-11-14T14:36:10Z</dcterms:created>
  <dc:creator>Катерина Новикова</dc:creator>
  <dc:description/>
  <dc:language>en-GB</dc:language>
  <cp:lastModifiedBy/>
  <dcterms:modified xsi:type="dcterms:W3CDTF">2025-05-01T15:14:52Z</dcterms:modified>
  <cp:revision>108</cp:revision>
  <dc:subject/>
  <dc:title>Результаты  опроса  ИТ-специалистов  Москвы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Широкоэкранный</vt:lpwstr>
  </property>
  <property fmtid="{D5CDD505-2E9C-101B-9397-08002B2CF9AE}" pid="3" name="Slides">
    <vt:i4>15</vt:i4>
  </property>
</Properties>
</file>