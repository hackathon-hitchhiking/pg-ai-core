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charts/chart9.xml" ContentType="application/vnd.openxmlformats-officedocument.drawingml.chart+xml"/>
  <Override PartName="/ppt/charts/chart13.xml" ContentType="application/vnd.openxmlformats-officedocument.drawingml.chart+xml"/>
  <Override PartName="/ppt/charts/chart8.xml" ContentType="application/vnd.openxmlformats-officedocument.drawingml.chart+xml"/>
  <Override PartName="/ppt/charts/chart16.xml" ContentType="application/vnd.openxmlformats-officedocument.drawingml.chart+xml"/>
  <Override PartName="/ppt/charts/chart15.xml" ContentType="application/vnd.openxmlformats-officedocument.drawingml.chart+xml"/>
  <Override PartName="/ppt/charts/chart14.xml" ContentType="application/vnd.openxmlformats-officedocument.drawingml.char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10.xml" ContentType="application/vnd.openxmlformats-officedocument.drawingml.chart+xml"/>
  <Override PartName="/ppt/charts/chart6.xml" ContentType="application/vnd.openxmlformats-officedocument.drawingml.chart+xml"/>
  <Override PartName="/ppt/charts/chart11.xml" ContentType="application/vnd.openxmlformats-officedocument.drawingml.chart+xml"/>
  <Override PartName="/ppt/charts/chart7.xml" ContentType="application/vnd.openxmlformats-officedocument.drawingml.chart+xml"/>
  <Override PartName="/ppt/charts/chart12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8288000" cy="10287000"/>
  <p:notesSz cx="6797675" cy="99282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96838651953475"/>
          <c:y val="0.0857504749841672"/>
          <c:w val="0.960632269609305"/>
          <c:h val="0.7845471817606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4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Менее 1 года</c:v>
                </c:pt>
                <c:pt idx="1">
                  <c:v>1-2 года</c:v>
                </c:pt>
                <c:pt idx="2">
                  <c:v>2-5 лет</c:v>
                </c:pt>
                <c:pt idx="3">
                  <c:v>5-10 лет</c:v>
                </c:pt>
                <c:pt idx="4">
                  <c:v>10-15 лет</c:v>
                </c:pt>
                <c:pt idx="5">
                  <c:v>Более 15 лет</c:v>
                </c:pt>
              </c:strCache>
            </c:strRef>
          </c:cat>
          <c:val>
            <c:numRef>
              <c:f>0</c:f>
              <c:numCache>
                <c:formatCode>0%</c:formatCode>
                <c:ptCount val="6"/>
                <c:pt idx="0">
                  <c:v>0.139579349904398</c:v>
                </c:pt>
                <c:pt idx="1">
                  <c:v>0.168260038240918</c:v>
                </c:pt>
                <c:pt idx="2">
                  <c:v>0.189292543021033</c:v>
                </c:pt>
                <c:pt idx="3">
                  <c:v>0.187380497131931</c:v>
                </c:pt>
                <c:pt idx="4">
                  <c:v>0.154875717017208</c:v>
                </c:pt>
                <c:pt idx="5">
                  <c:v>0.160611854684512</c:v>
                </c:pt>
              </c:numCache>
            </c:numRef>
          </c:val>
        </c:ser>
        <c:gapWidth val="219"/>
        <c:overlap val="-27"/>
        <c:axId val="69150435"/>
        <c:axId val="99038961"/>
      </c:barChart>
      <c:catAx>
        <c:axId val="6915043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400" strike="noStrike" u="none">
                <a:solidFill>
                  <a:srgbClr val="000000"/>
                </a:solidFill>
                <a:uFillTx/>
                <a:latin typeface="PT Root UI (Основной текст)"/>
              </a:defRPr>
            </a:pPr>
          </a:p>
        </c:txPr>
        <c:crossAx val="99038961"/>
        <c:crosses val="autoZero"/>
        <c:auto val="1"/>
        <c:lblAlgn val="ctr"/>
        <c:lblOffset val="100"/>
        <c:noMultiLvlLbl val="0"/>
      </c:catAx>
      <c:valAx>
        <c:axId val="9903896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9150435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32137222197178"/>
          <c:y val="0.0445720850086157"/>
          <c:w val="0.661091827074787"/>
          <c:h val="0.9107409534750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dbdbd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Другое</c:v>
                </c:pt>
                <c:pt idx="1">
                  <c:v>Нет</c:v>
                </c:pt>
                <c:pt idx="2">
                  <c:v>Нет, но есть ИТ-проекты</c:v>
                </c:pt>
                <c:pt idx="3">
                  <c:v>Да</c:v>
                </c:pt>
              </c:strCache>
            </c:strRef>
          </c:cat>
          <c:val>
            <c:numRef>
              <c:f>0</c:f>
              <c:numCache>
                <c:formatCode>0%</c:formatCode>
                <c:ptCount val="4"/>
                <c:pt idx="0">
                  <c:v>0.00759493670886076</c:v>
                </c:pt>
                <c:pt idx="1">
                  <c:v>0.156962025316456</c:v>
                </c:pt>
                <c:pt idx="2">
                  <c:v>0.379746835443038</c:v>
                </c:pt>
                <c:pt idx="3">
                  <c:v>0.45</c:v>
                </c:pt>
              </c:numCache>
            </c:numRef>
          </c:val>
        </c:ser>
        <c:gapWidth val="100"/>
        <c:overlap val="0"/>
        <c:axId val="35817797"/>
        <c:axId val="6610141"/>
      </c:barChart>
      <c:catAx>
        <c:axId val="3581779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600" strike="noStrike" u="none">
                <a:solidFill>
                  <a:srgbClr val="000000"/>
                </a:solidFill>
                <a:uFillTx/>
                <a:latin typeface="PT Root UI (Основной текст)"/>
              </a:defRPr>
            </a:pPr>
          </a:p>
        </c:txPr>
        <c:crossAx val="6610141"/>
        <c:crosses val="autoZero"/>
        <c:auto val="1"/>
        <c:lblAlgn val="ctr"/>
        <c:lblOffset val="100"/>
        <c:noMultiLvlLbl val="0"/>
      </c:catAx>
      <c:valAx>
        <c:axId val="661014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35817797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993437841779074"/>
          <c:y val="0.0828765621574216"/>
          <c:w val="0.566305140357273"/>
          <c:h val="0.849375137031353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rgbClr val="74cdd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74cddd"/>
              </a:solidFill>
              <a:ln w="19080">
                <a:noFill/>
              </a:ln>
            </c:spPr>
          </c:dPt>
          <c:dPt>
            <c:idx val="1"/>
            <c:spPr>
              <a:solidFill>
                <a:srgbClr val="ef334b"/>
              </a:solidFill>
              <a:ln w="19080">
                <a:noFill/>
              </a:ln>
            </c:spPr>
          </c:dPt>
          <c:dPt>
            <c:idx val="2"/>
            <c:spPr>
              <a:solidFill>
                <a:srgbClr val="f3902a"/>
              </a:solidFill>
              <a:ln w="19080">
                <a:noFill/>
              </a:ln>
            </c:spPr>
          </c:dPt>
          <c:dPt>
            <c:idx val="3"/>
            <c:spPr>
              <a:solidFill>
                <a:srgbClr val="73d777"/>
              </a:solidFill>
              <a:ln w="19080">
                <a:noFill/>
              </a:ln>
            </c:spPr>
          </c:dPt>
          <c:dPt>
            <c:idx val="4"/>
            <c:spPr>
              <a:solidFill>
                <a:srgbClr val="f4c531"/>
              </a:solidFill>
              <a:ln w="19080">
                <a:noFill/>
              </a:ln>
            </c:spPr>
          </c:dPt>
          <c:dPt>
            <c:idx val="5"/>
            <c:spPr>
              <a:solidFill>
                <a:srgbClr val="eb6035"/>
              </a:solidFill>
              <a:ln w="19080">
                <a:noFill/>
              </a:ln>
            </c:spPr>
          </c:dPt>
          <c:dPt>
            <c:idx val="6"/>
            <c:spPr>
              <a:solidFill>
                <a:srgbClr val="2890a2"/>
              </a:solidFill>
              <a:ln w="19080">
                <a:noFill/>
              </a:ln>
            </c:spPr>
          </c:dPt>
          <c:dPt>
            <c:idx val="7"/>
            <c:spPr>
              <a:solidFill>
                <a:srgbClr val="a10d20"/>
              </a:solidFill>
              <a:ln w="19080">
                <a:noFill/>
              </a:ln>
            </c:spPr>
          </c:dPt>
          <c:dLbls>
            <c:numFmt formatCode="0%" sourceLinked="0"/>
            <c:dLbl>
              <c:idx val="0"/>
              <c:layout>
                <c:manualLayout>
                  <c:x val="-5.89468544685024E-017"/>
                  <c:y val="-0.135363161547483"/>
                </c:manualLayout>
              </c:layout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2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9360">
                  <a:solidFill>
                    <a:srgbClr val="a6a6a6"/>
                  </a:solidFill>
                </a:ln>
              </c:spPr>
            </c:leaderLines>
          </c:dLbls>
          <c:cat>
            <c:strRef>
              <c:f>categories</c:f>
              <c:strCache>
                <c:ptCount val="8"/>
                <c:pt idx="0">
                  <c:v>Только 1 сотрудник</c:v>
                </c:pt>
                <c:pt idx="1">
                  <c:v>2-5 сотрудников</c:v>
                </c:pt>
                <c:pt idx="2">
                  <c:v>6-10 сотрудников</c:v>
                </c:pt>
                <c:pt idx="3">
                  <c:v>11-100 сотрудников</c:v>
                </c:pt>
                <c:pt idx="4">
                  <c:v>101-500 сотрудников</c:v>
                </c:pt>
                <c:pt idx="5">
                  <c:v>501-1000 сотрудников</c:v>
                </c:pt>
                <c:pt idx="6">
                  <c:v>1001-5000 сотрудников</c:v>
                </c:pt>
                <c:pt idx="7">
                  <c:v>Более 5000</c:v>
                </c:pt>
              </c:strCache>
            </c:strRef>
          </c:cat>
          <c:val>
            <c:numRef>
              <c:f>0</c:f>
              <c:numCache>
                <c:formatCode>0%</c:formatCode>
                <c:ptCount val="8"/>
                <c:pt idx="0">
                  <c:v>0.0046189376443418</c:v>
                </c:pt>
                <c:pt idx="1">
                  <c:v>0.0323325635103926</c:v>
                </c:pt>
                <c:pt idx="2">
                  <c:v>0.07</c:v>
                </c:pt>
                <c:pt idx="3">
                  <c:v>0.284064665127021</c:v>
                </c:pt>
                <c:pt idx="4">
                  <c:v>0.302540415704388</c:v>
                </c:pt>
                <c:pt idx="5">
                  <c:v>0.136258660508083</c:v>
                </c:pt>
                <c:pt idx="6">
                  <c:v>0.0900692840646651</c:v>
                </c:pt>
                <c:pt idx="7">
                  <c:v>0.0854503464203233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589241716120147"/>
          <c:y val="0.0368504509618398"/>
          <c:w val="0.410218768355174"/>
          <c:h val="0.888787514552682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400" strike="noStrike" u="none">
              <a:solidFill>
                <a:srgbClr val="000000"/>
              </a:solidFill>
              <a:uFillTx/>
              <a:latin typeface="PT Root UI (Основной текст)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7464202958826"/>
          <c:y val="0.105459329094497"/>
          <c:w val="0.459984552314182"/>
          <c:h val="0.84871738653804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74cdd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73d777"/>
              </a:solidFill>
              <a:ln w="19080">
                <a:noFill/>
              </a:ln>
            </c:spPr>
          </c:dPt>
          <c:dPt>
            <c:idx val="1"/>
            <c:spPr>
              <a:solidFill>
                <a:srgbClr val="ef334b"/>
              </a:solidFill>
              <a:ln w="19080">
                <a:noFill/>
              </a:ln>
            </c:spPr>
          </c:dPt>
          <c:dPt>
            <c:idx val="2"/>
            <c:spPr>
              <a:solidFill>
                <a:srgbClr val="f3902a"/>
              </a:solidFill>
              <a:ln w="19080">
                <a:noFill/>
              </a:ln>
            </c:spPr>
          </c:dPt>
          <c:dPt>
            <c:idx val="3"/>
            <c:spPr>
              <a:solidFill>
                <a:srgbClr val="bdbdbd"/>
              </a:solidFill>
              <a:ln w="19080">
                <a:noFill/>
              </a:ln>
            </c:spPr>
          </c:dPt>
          <c:dPt>
            <c:idx val="4"/>
            <c:spPr>
              <a:solidFill>
                <a:srgbClr val="32b4cb"/>
              </a:solidFill>
              <a:ln w="1908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b="1" sz="12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2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9360">
                  <a:solidFill>
                    <a:srgbClr val="a6a6a6"/>
                  </a:solidFill>
                </a:ln>
              </c:spPr>
            </c:leaderLines>
          </c:dLbls>
          <c:cat>
            <c:strRef>
              <c:f>categories</c:f>
              <c:strCache>
                <c:ptCount val="5"/>
                <c:pt idx="0">
                  <c:v>Владелец бизнеса</c:v>
                </c:pt>
                <c:pt idx="1">
                  <c:v>Самозанятый</c:v>
                </c:pt>
                <c:pt idx="2">
                  <c:v>Фрилансер</c:v>
                </c:pt>
                <c:pt idx="3">
                  <c:v>Временно не работаю</c:v>
                </c:pt>
                <c:pt idx="4">
                  <c:v>Наемный сотрудник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0.0726577437858509</c:v>
                </c:pt>
                <c:pt idx="1">
                  <c:v>0.1</c:v>
                </c:pt>
                <c:pt idx="2">
                  <c:v>0.0707456978967495</c:v>
                </c:pt>
                <c:pt idx="3">
                  <c:v>0.00764818355640535</c:v>
                </c:pt>
                <c:pt idx="4">
                  <c:v>0.753346080305927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538136944304528"/>
          <c:y val="0.251308332919681"/>
          <c:w val="0.365484578400585"/>
          <c:h val="0.60444478416351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400" strike="noStrike" u="none">
              <a:solidFill>
                <a:srgbClr val="000000"/>
              </a:solidFill>
              <a:uFillTx/>
              <a:latin typeface="PT Root UI (Основной текст)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30457983932446"/>
          <c:y val="0.0383318345323741"/>
          <c:w val="0.953908403213511"/>
          <c:h val="0.895683453237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dbdbd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Другое</c:v>
                </c:pt>
                <c:pt idx="1">
                  <c:v>Проходил (-а) онлайн-курсы и тренинги на обучающих ресурсах</c:v>
                </c:pt>
                <c:pt idx="2">
                  <c:v>Научился (-ась) на рабочем месте</c:v>
                </c:pt>
                <c:pt idx="3">
                  <c:v>Проходил (-а) курсы повышения квалификации</c:v>
                </c:pt>
                <c:pt idx="4">
                  <c:v>Получил (-а) профильное высшее образование, связанное с ИТ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0.0248565965583174</c:v>
                </c:pt>
                <c:pt idx="1">
                  <c:v>0.304015296367113</c:v>
                </c:pt>
                <c:pt idx="2">
                  <c:v>0.401529636711281</c:v>
                </c:pt>
                <c:pt idx="3">
                  <c:v>0.411089866156788</c:v>
                </c:pt>
                <c:pt idx="4">
                  <c:v>0.45697896749522</c:v>
                </c:pt>
              </c:numCache>
            </c:numRef>
          </c:val>
        </c:ser>
        <c:gapWidth val="157"/>
        <c:overlap val="0"/>
        <c:axId val="44951166"/>
        <c:axId val="39019612"/>
      </c:barChart>
      <c:catAx>
        <c:axId val="44951166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39019612"/>
        <c:auto val="1"/>
        <c:lblAlgn val="ctr"/>
        <c:lblOffset val="100"/>
        <c:noMultiLvlLbl val="0"/>
      </c:catAx>
      <c:valAx>
        <c:axId val="390196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4951166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00841007527017367"/>
          <c:y val="0.0907777896651332"/>
          <c:w val="0.950254404776923"/>
          <c:h val="0.87295388894832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Знаю и использую</c:v>
                </c:pt>
              </c:strCache>
            </c:strRef>
          </c:tx>
          <c:spPr>
            <a:solidFill>
              <a:srgbClr val="c7ebf1"/>
            </a:solidFill>
            <a:ln w="19080">
              <a:solidFill>
                <a:srgbClr val="32b4cb"/>
              </a:solidFill>
              <a:round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>
                  <a:solidFill>
                    <a:srgbClr val="32b4cb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Компьютерное зрение</c:v>
                </c:pt>
                <c:pt idx="1">
                  <c:v>Обработка естественного языка</c:v>
                </c:pt>
                <c:pt idx="2">
                  <c:v>Системы поддержки принятия решений</c:v>
                </c:pt>
                <c:pt idx="3">
                  <c:v>Синтез и распознавание речи</c:v>
                </c:pt>
                <c:pt idx="4">
                  <c:v>Генеративный ИИ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0.388888888888889</c:v>
                </c:pt>
                <c:pt idx="1">
                  <c:v>0.560185185185185</c:v>
                </c:pt>
                <c:pt idx="2">
                  <c:v>0.611111111111111</c:v>
                </c:pt>
                <c:pt idx="3">
                  <c:v>0.62037037037037</c:v>
                </c:pt>
                <c:pt idx="4">
                  <c:v>0.717592592592593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Знаю, но НЕ использую</c:v>
                </c:pt>
              </c:strCache>
            </c:strRef>
          </c:tx>
          <c:spPr>
            <a:solidFill>
              <a:srgbClr val="abe7ad"/>
            </a:solidFill>
            <a:ln w="19080">
              <a:solidFill>
                <a:srgbClr val="73d777"/>
              </a:solidFill>
              <a:round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>
                  <a:solidFill>
                    <a:srgbClr val="73d777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Компьютерное зрение</c:v>
                </c:pt>
                <c:pt idx="1">
                  <c:v>Обработка естественного языка</c:v>
                </c:pt>
                <c:pt idx="2">
                  <c:v>Системы поддержки принятия решений</c:v>
                </c:pt>
                <c:pt idx="3">
                  <c:v>Синтез и распознавание речи</c:v>
                </c:pt>
                <c:pt idx="4">
                  <c:v>Генеративный ИИ</c:v>
                </c:pt>
              </c:strCache>
            </c:strRef>
          </c:cat>
          <c:val>
            <c:numRef>
              <c:f>1</c:f>
              <c:numCache>
                <c:formatCode>0%</c:formatCode>
                <c:ptCount val="5"/>
                <c:pt idx="0">
                  <c:v>0.444444444444444</c:v>
                </c:pt>
                <c:pt idx="1">
                  <c:v>0.319444444444444</c:v>
                </c:pt>
                <c:pt idx="2">
                  <c:v>0.291666666666667</c:v>
                </c:pt>
                <c:pt idx="3">
                  <c:v>0.273148148148148</c:v>
                </c:pt>
                <c:pt idx="4">
                  <c:v>0.226851851851852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НЕ знаю и НЕ использую</c:v>
                </c:pt>
              </c:strCache>
            </c:strRef>
          </c:tx>
          <c:spPr>
            <a:solidFill>
              <a:srgbClr val="f9adb7"/>
            </a:solidFill>
            <a:ln w="19080">
              <a:solidFill>
                <a:srgbClr val="ef334b"/>
              </a:solidFill>
              <a:round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>
                  <a:solidFill>
                    <a:srgbClr val="ef334b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Компьютерное зрение</c:v>
                </c:pt>
                <c:pt idx="1">
                  <c:v>Обработка естественного языка</c:v>
                </c:pt>
                <c:pt idx="2">
                  <c:v>Системы поддержки принятия решений</c:v>
                </c:pt>
                <c:pt idx="3">
                  <c:v>Синтез и распознавание речи</c:v>
                </c:pt>
                <c:pt idx="4">
                  <c:v>Генеративный ИИ</c:v>
                </c:pt>
              </c:strCache>
            </c:strRef>
          </c:cat>
          <c:val>
            <c:numRef>
              <c:f>2</c:f>
              <c:numCache>
                <c:formatCode>0%</c:formatCode>
                <c:ptCount val="5"/>
                <c:pt idx="0">
                  <c:v>0.12962962962963</c:v>
                </c:pt>
                <c:pt idx="1">
                  <c:v>0.087962962962963</c:v>
                </c:pt>
                <c:pt idx="2">
                  <c:v>0.08</c:v>
                </c:pt>
                <c:pt idx="3">
                  <c:v>0.08</c:v>
                </c:pt>
                <c:pt idx="4">
                  <c:v>0.0324074074074074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Затрудняюсь ответить</c:v>
                </c:pt>
              </c:strCache>
            </c:strRef>
          </c:tx>
          <c:spPr>
            <a:solidFill>
              <a:srgbClr val="beb8de"/>
            </a:solidFill>
            <a:ln w="19080">
              <a:solidFill>
                <a:srgbClr val="bdbdbd"/>
              </a:solidFill>
              <a:round/>
            </a:ln>
          </c:spPr>
          <c:invertIfNegative val="0"/>
          <c:dPt>
            <c:idx val="4"/>
            <c:invertIfNegative val="0"/>
            <c:spPr>
              <a:solidFill>
                <a:srgbClr val="beb8de"/>
              </a:solidFill>
              <a:ln w="19080">
                <a:solidFill>
                  <a:srgbClr val="bdbdbd"/>
                </a:solidFill>
                <a:round/>
              </a:ln>
            </c:spPr>
          </c:dPt>
          <c:dLbls>
            <c:numFmt formatCode="0%" sourceLinked="0"/>
            <c:dLbl>
              <c:idx val="4"/>
              <c:layout>
                <c:manualLayout>
                  <c:x val="0.0161011058163405"/>
                  <c:y val="0"/>
                </c:manualLayout>
              </c:layout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>
                  <a:solidFill>
                    <a:srgbClr val="bdbdbd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Компьютерное зрение</c:v>
                </c:pt>
                <c:pt idx="1">
                  <c:v>Обработка естественного языка</c:v>
                </c:pt>
                <c:pt idx="2">
                  <c:v>Системы поддержки принятия решений</c:v>
                </c:pt>
                <c:pt idx="3">
                  <c:v>Синтез и распознавание речи</c:v>
                </c:pt>
                <c:pt idx="4">
                  <c:v>Генеративный ИИ</c:v>
                </c:pt>
              </c:strCache>
            </c:strRef>
          </c:cat>
          <c:val>
            <c:numRef>
              <c:f>3</c:f>
              <c:numCache>
                <c:formatCode>0%</c:formatCode>
                <c:ptCount val="5"/>
                <c:pt idx="0">
                  <c:v>0.037037037037037</c:v>
                </c:pt>
                <c:pt idx="1">
                  <c:v>0.0324074074074074</c:v>
                </c:pt>
                <c:pt idx="2">
                  <c:v>0.0231481481481481</c:v>
                </c:pt>
                <c:pt idx="3">
                  <c:v>0.0324074074074074</c:v>
                </c:pt>
                <c:pt idx="4">
                  <c:v>0.0231481481481481</c:v>
                </c:pt>
              </c:numCache>
            </c:numRef>
          </c:val>
        </c:ser>
        <c:gapWidth val="102"/>
        <c:overlap val="100"/>
        <c:axId val="64318681"/>
        <c:axId val="78679756"/>
      </c:barChart>
      <c:catAx>
        <c:axId val="64318681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8679756"/>
        <c:auto val="1"/>
        <c:lblAlgn val="ctr"/>
        <c:lblOffset val="100"/>
        <c:noMultiLvlLbl val="0"/>
      </c:catAx>
      <c:valAx>
        <c:axId val="78679756"/>
        <c:scaling>
          <c:orientation val="minMax"/>
        </c:scaling>
        <c:delete val="1"/>
        <c:axPos val="l"/>
        <c:numFmt formatCode="[$-809]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4318681"/>
        <c:crossBetween val="between"/>
      </c:valAx>
      <c:spPr>
        <a:noFill/>
        <a:ln w="0">
          <a:noFill/>
        </a:ln>
      </c:spPr>
    </c:plotArea>
    <c:legend>
      <c:legendPos val="t"/>
      <c:layout>
        <c:manualLayout>
          <c:xMode val="edge"/>
          <c:yMode val="edge"/>
          <c:x val="0.0108856411390916"/>
          <c:y val="0.011322677435791"/>
          <c:w val="0.921858629050476"/>
          <c:h val="0.082587490343405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400" strike="noStrike" u="none">
              <a:solidFill>
                <a:srgbClr val="595959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Финансы / экономика / страхование</c:v>
                </c:pt>
                <c:pt idx="1">
                  <c:v>Образование</c:v>
                </c:pt>
                <c:pt idx="2">
                  <c:v>Медицина / фармацевтика</c:v>
                </c:pt>
                <c:pt idx="3">
                  <c:v>Маркетинг и маркетинговые исследования, реклама, PR</c:v>
                </c:pt>
                <c:pt idx="4">
                  <c:v>ИТ-сектор, телекоммуникации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0.260038240917782</c:v>
                </c:pt>
                <c:pt idx="1">
                  <c:v>0.279158699808795</c:v>
                </c:pt>
                <c:pt idx="2">
                  <c:v>0.284894837476099</c:v>
                </c:pt>
                <c:pt idx="3">
                  <c:v>0.334608030592734</c:v>
                </c:pt>
                <c:pt idx="4">
                  <c:v>0.483747609942639</c:v>
                </c:pt>
              </c:numCache>
            </c:numRef>
          </c:val>
        </c:ser>
        <c:gapWidth val="95"/>
        <c:overlap val="0"/>
        <c:axId val="15763934"/>
        <c:axId val="11579819"/>
      </c:barChart>
      <c:catAx>
        <c:axId val="15763934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1579819"/>
        <c:auto val="1"/>
        <c:lblAlgn val="ctr"/>
        <c:lblOffset val="100"/>
        <c:noMultiLvlLbl val="0"/>
      </c:catAx>
      <c:valAx>
        <c:axId val="1157981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5763934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ИИ никак не повлияет на мою работу и профессиональную область в ближайшем будущем</c:v>
                </c:pt>
                <c:pt idx="1">
                  <c:v>ИИ может полностью заменить часть специалистов</c:v>
                </c:pt>
                <c:pt idx="2">
                  <c:v>ИИ будет использоваться для проверки результатов работы, чтобы снизить количество ошибок, зависящих от человеческого фактора </c:v>
                </c:pt>
                <c:pt idx="3">
                  <c:v>ИИ позволит автоматизировать рутинные задачи, освободится время для более важных задач</c:v>
                </c:pt>
              </c:strCache>
            </c:strRef>
          </c:cat>
          <c:val>
            <c:numRef>
              <c:f>0</c:f>
              <c:numCache>
                <c:formatCode>0%</c:formatCode>
                <c:ptCount val="4"/>
                <c:pt idx="0">
                  <c:v>0.267686424474187</c:v>
                </c:pt>
                <c:pt idx="1">
                  <c:v>0.346080305927342</c:v>
                </c:pt>
                <c:pt idx="2">
                  <c:v>0.453154875717017</c:v>
                </c:pt>
                <c:pt idx="3">
                  <c:v>0.472275334608031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73d777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ИИ никак не повлияет на мою работу и профессиональную область в ближайшем будущем</c:v>
                </c:pt>
                <c:pt idx="1">
                  <c:v>ИИ может полностью заменить часть специалистов</c:v>
                </c:pt>
                <c:pt idx="2">
                  <c:v>ИИ будет использоваться для проверки результатов работы, чтобы снизить количество ошибок, зависящих от человеческого фактора </c:v>
                </c:pt>
                <c:pt idx="3">
                  <c:v>ИИ позволит автоматизировать рутинные задачи, освободится время для более важных задач</c:v>
                </c:pt>
              </c:strCache>
            </c:strRef>
          </c:cat>
          <c:val>
            <c:numRef>
              <c:f>1</c:f>
              <c:numCache>
                <c:formatCode>0%</c:formatCode>
                <c:ptCount val="4"/>
                <c:pt idx="0">
                  <c:v>0.149139579349904</c:v>
                </c:pt>
                <c:pt idx="1">
                  <c:v>0.187380497131931</c:v>
                </c:pt>
                <c:pt idx="2">
                  <c:v>0.279158699808795</c:v>
                </c:pt>
                <c:pt idx="3">
                  <c:v>0.309751434034417</c:v>
                </c:pt>
              </c:numCache>
            </c:numRef>
          </c:val>
        </c:ser>
        <c:gapWidth val="100"/>
        <c:overlap val="100"/>
        <c:axId val="21308891"/>
        <c:axId val="52046182"/>
      </c:barChart>
      <c:catAx>
        <c:axId val="21308891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2046182"/>
        <c:auto val="1"/>
        <c:lblAlgn val="ctr"/>
        <c:lblOffset val="100"/>
        <c:noMultiLvlLbl val="0"/>
      </c:catAx>
      <c:valAx>
        <c:axId val="5204618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130889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14699422435532"/>
          <c:y val="0.0255558508282399"/>
          <c:w val="0.867973643536972"/>
          <c:h val="0.9568606608202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dbdbd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8"/>
                <c:pt idx="0">
                  <c:v>Ничего из перечисленного</c:v>
                </c:pt>
                <c:pt idx="1">
                  <c:v>Возможность взять саббатикал (длительный творческий отпуск)</c:v>
                </c:pt>
                <c:pt idx="2">
                  <c:v>Корпоративная пенсионная программа</c:v>
                </c:pt>
                <c:pt idx="3">
                  <c:v>Возможность переезда или релокации за счет компании</c:v>
                </c:pt>
                <c:pt idx="4">
                  <c:v>Опционы для сотрудников</c:v>
                </c:pt>
                <c:pt idx="5">
                  <c:v>Льготные условия кредитования для сотрудников</c:v>
                </c:pt>
                <c:pt idx="6">
                  <c:v>Доплата к больничному листу до оклада / среднего заработка</c:v>
                </c:pt>
                <c:pt idx="7">
                  <c:v>Оплата посещений профильных конференций</c:v>
                </c:pt>
                <c:pt idx="8">
                  <c:v>Компенсация расходов на спорт, корпоративный спортзал</c:v>
                </c:pt>
                <c:pt idx="9">
                  <c:v>Полная или частичная компенсация проезда</c:v>
                </c:pt>
                <c:pt idx="10">
                  <c:v>Полная или частичная компенсация обедов</c:v>
                </c:pt>
                <c:pt idx="11">
                  <c:v>Льготные условия по ДМС для членов семьи сотрудника</c:v>
                </c:pt>
                <c:pt idx="12">
                  <c:v>Компенсация расходов на обучение / корпоративное обучение</c:v>
                </c:pt>
                <c:pt idx="13">
                  <c:v>Полноценная зона отдыха в офисе</c:v>
                </c:pt>
                <c:pt idx="14">
                  <c:v>Гибкий (свободный) рабочий график</c:v>
                </c:pt>
                <c:pt idx="15">
                  <c:v>Производительное, современное оборудование для работы</c:v>
                </c:pt>
                <c:pt idx="16">
                  <c:v>ДМС (добровольное медицинское страхование) для сотрудников</c:v>
                </c:pt>
                <c:pt idx="17">
                  <c:v>Возможность работать удаленно</c:v>
                </c:pt>
              </c:strCache>
            </c:strRef>
          </c:cat>
          <c:val>
            <c:numRef>
              <c:f>0</c:f>
              <c:numCache>
                <c:formatCode>0%</c:formatCode>
                <c:ptCount val="18"/>
                <c:pt idx="0">
                  <c:v>0.0531177829099307</c:v>
                </c:pt>
                <c:pt idx="1">
                  <c:v>0.0577367205542725</c:v>
                </c:pt>
                <c:pt idx="2">
                  <c:v>0.0600461893764434</c:v>
                </c:pt>
                <c:pt idx="3">
                  <c:v>0.0785219399538106</c:v>
                </c:pt>
                <c:pt idx="4">
                  <c:v>0.0946882217090069</c:v>
                </c:pt>
                <c:pt idx="5">
                  <c:v>0.120092378752887</c:v>
                </c:pt>
                <c:pt idx="6">
                  <c:v>0.182448036951501</c:v>
                </c:pt>
                <c:pt idx="7">
                  <c:v>0.187066974595843</c:v>
                </c:pt>
                <c:pt idx="8">
                  <c:v>0.193995381062356</c:v>
                </c:pt>
                <c:pt idx="9">
                  <c:v>0.217090069284065</c:v>
                </c:pt>
                <c:pt idx="10">
                  <c:v>0.235565819861432</c:v>
                </c:pt>
                <c:pt idx="11">
                  <c:v>0.242494226327945</c:v>
                </c:pt>
                <c:pt idx="12">
                  <c:v>0.295612009237875</c:v>
                </c:pt>
                <c:pt idx="13">
                  <c:v>0.304849884526559</c:v>
                </c:pt>
                <c:pt idx="14">
                  <c:v>0.353348729792148</c:v>
                </c:pt>
                <c:pt idx="15">
                  <c:v>0.362586605080831</c:v>
                </c:pt>
                <c:pt idx="16">
                  <c:v>0.459584295612009</c:v>
                </c:pt>
                <c:pt idx="17">
                  <c:v>0.558891454965358</c:v>
                </c:pt>
              </c:numCache>
            </c:numRef>
          </c:val>
        </c:ser>
        <c:gapWidth val="65"/>
        <c:overlap val="0"/>
        <c:axId val="81109381"/>
        <c:axId val="58398727"/>
      </c:barChart>
      <c:catAx>
        <c:axId val="81109381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8398727"/>
        <c:auto val="1"/>
        <c:lblAlgn val="ctr"/>
        <c:lblOffset val="100"/>
        <c:noMultiLvlLbl val="0"/>
      </c:catAx>
      <c:valAx>
        <c:axId val="5839872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110938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21217887725975"/>
          <c:y val="0.0259653157037463"/>
          <c:w val="0.943862987630828"/>
          <c:h val="0.92478681613490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70c0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8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Льготные условия по ДМС для членов семьи сотрудника</c:v>
                </c:pt>
                <c:pt idx="1">
                  <c:v>Полноценная зона отдыха в офисе</c:v>
                </c:pt>
                <c:pt idx="2">
                  <c:v>Производительное, современное оборудование для работы</c:v>
                </c:pt>
                <c:pt idx="3">
                  <c:v>ДМС (добровольное медицинское страхование) для сотрудников</c:v>
                </c:pt>
                <c:pt idx="4">
                  <c:v>Возможность работать удаленно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0.305343511450382</c:v>
                </c:pt>
                <c:pt idx="1">
                  <c:v>0.320610687022901</c:v>
                </c:pt>
                <c:pt idx="2">
                  <c:v>0.404580152671756</c:v>
                </c:pt>
                <c:pt idx="3">
                  <c:v>0.511450381679389</c:v>
                </c:pt>
                <c:pt idx="4">
                  <c:v>0.519083969465649</c:v>
                </c:pt>
              </c:numCache>
            </c:numRef>
          </c:val>
        </c:ser>
        <c:gapWidth val="70"/>
        <c:overlap val="0"/>
        <c:axId val="57259972"/>
        <c:axId val="22414520"/>
      </c:barChart>
      <c:catAx>
        <c:axId val="57259972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2414520"/>
        <c:auto val="1"/>
        <c:lblAlgn val="ctr"/>
        <c:lblOffset val="100"/>
        <c:noMultiLvlLbl val="0"/>
      </c:catAx>
      <c:valAx>
        <c:axId val="22414520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5725997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21217887725975"/>
          <c:y val="0.0259653157037463"/>
          <c:w val="0.943862987630828"/>
          <c:h val="0.92478681613490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74cddd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8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Полноценная зона отдыха в офисе</c:v>
                </c:pt>
                <c:pt idx="1">
                  <c:v>Производительное, современное оборудование для работы</c:v>
                </c:pt>
                <c:pt idx="2">
                  <c:v>ДМС (добровольное медицинское страхование) для сотрудников</c:v>
                </c:pt>
                <c:pt idx="3">
                  <c:v>Гибкий (свободный) рабочий график</c:v>
                </c:pt>
                <c:pt idx="4">
                  <c:v>Возможность работать удаленно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0.287425149700599</c:v>
                </c:pt>
                <c:pt idx="1">
                  <c:v>0.311377245508982</c:v>
                </c:pt>
                <c:pt idx="2">
                  <c:v>0.329341317365269</c:v>
                </c:pt>
                <c:pt idx="3">
                  <c:v>0.467065868263473</c:v>
                </c:pt>
                <c:pt idx="4">
                  <c:v>0.550898203592814</c:v>
                </c:pt>
              </c:numCache>
            </c:numRef>
          </c:val>
        </c:ser>
        <c:gapWidth val="70"/>
        <c:overlap val="0"/>
        <c:axId val="84619769"/>
        <c:axId val="29502900"/>
      </c:barChart>
      <c:catAx>
        <c:axId val="84619769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9502900"/>
        <c:auto val="1"/>
        <c:lblAlgn val="ctr"/>
        <c:lblOffset val="100"/>
        <c:noMultiLvlLbl val="0"/>
      </c:catAx>
      <c:valAx>
        <c:axId val="29502900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8461976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21217887725975"/>
          <c:y val="0.0259653157037463"/>
          <c:w val="0.943862987630828"/>
          <c:h val="0.92478681613490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800" strike="noStrike" u="none">
                    <a:solidFill>
                      <a:srgbClr val="404040"/>
                    </a:solidFill>
                    <a:uFillTx/>
                    <a:latin typeface="PT Root UI Bold"/>
                    <a:ea typeface="PT Root UI 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Полноценная зона отдыха в офисе</c:v>
                </c:pt>
                <c:pt idx="1">
                  <c:v>Компенсация расходов на обучение / корпоративное обучение</c:v>
                </c:pt>
                <c:pt idx="2">
                  <c:v>Производительное, современное оборудование для работы</c:v>
                </c:pt>
                <c:pt idx="3">
                  <c:v>ДМС (добровольное медицинское страхование) для сотрудников</c:v>
                </c:pt>
                <c:pt idx="4">
                  <c:v>Возможность работать удаленно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0.311111111111111</c:v>
                </c:pt>
                <c:pt idx="1">
                  <c:v>0.333333333333333</c:v>
                </c:pt>
                <c:pt idx="2">
                  <c:v>0.385185185185185</c:v>
                </c:pt>
                <c:pt idx="3">
                  <c:v>0.57037037037037</c:v>
                </c:pt>
                <c:pt idx="4">
                  <c:v>0.607407407407407</c:v>
                </c:pt>
              </c:numCache>
            </c:numRef>
          </c:val>
        </c:ser>
        <c:gapWidth val="70"/>
        <c:overlap val="0"/>
        <c:axId val="61046272"/>
        <c:axId val="22071940"/>
      </c:barChart>
      <c:catAx>
        <c:axId val="61046272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2071940"/>
        <c:auto val="1"/>
        <c:lblAlgn val="ctr"/>
        <c:lblOffset val="100"/>
        <c:noMultiLvlLbl val="0"/>
      </c:catAx>
      <c:valAx>
        <c:axId val="22071940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1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6104627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Скорее согласен(-на)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У меня позитивные эмоциональные ощущения от моих карьерных/профессиональных перспектив в отрасли</c:v>
                </c:pt>
                <c:pt idx="1">
                  <c:v>Я чувствую себя ценным специалистом, мои знания и навыки полностью задействуются в работе</c:v>
                </c:pt>
                <c:pt idx="2">
                  <c:v>Мне нравится моя текущая работа по функционалу и количеству задач, это ценный и полезный опыт для моей будущей карьеры </c:v>
                </c:pt>
                <c:pt idx="3">
                  <c:v>Мне нравится мой рабочий коллектив и атмосфера на моем текущем месте работы</c:v>
                </c:pt>
              </c:strCache>
            </c:strRef>
          </c:cat>
          <c:val>
            <c:numRef>
              <c:f>0</c:f>
              <c:numCache>
                <c:formatCode>0%</c:formatCode>
                <c:ptCount val="4"/>
                <c:pt idx="0">
                  <c:v>0.443594646271511</c:v>
                </c:pt>
                <c:pt idx="1">
                  <c:v>0.428571428571429</c:v>
                </c:pt>
                <c:pt idx="2">
                  <c:v>0.482625482625483</c:v>
                </c:pt>
                <c:pt idx="3">
                  <c:v>0.460759493670886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Полностью согласен (-на)</c:v>
                </c:pt>
              </c:strCache>
            </c:strRef>
          </c:tx>
          <c:spPr>
            <a:solidFill>
              <a:srgbClr val="73d777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1" sz="14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У меня позитивные эмоциональные ощущения от моих карьерных/профессиональных перспектив в отрасли</c:v>
                </c:pt>
                <c:pt idx="1">
                  <c:v>Я чувствую себя ценным специалистом, мои знания и навыки полностью задействуются в работе</c:v>
                </c:pt>
                <c:pt idx="2">
                  <c:v>Мне нравится моя текущая работа по функционалу и количеству задач, это ценный и полезный опыт для моей будущей карьеры </c:v>
                </c:pt>
                <c:pt idx="3">
                  <c:v>Мне нравится мой рабочий коллектив и атмосфера на моем текущем месте работы</c:v>
                </c:pt>
              </c:strCache>
            </c:strRef>
          </c:cat>
          <c:val>
            <c:numRef>
              <c:f>1</c:f>
              <c:numCache>
                <c:formatCode>0%</c:formatCode>
                <c:ptCount val="4"/>
                <c:pt idx="0">
                  <c:v>0.233269598470363</c:v>
                </c:pt>
                <c:pt idx="1">
                  <c:v>0.320463320463321</c:v>
                </c:pt>
                <c:pt idx="2">
                  <c:v>0.297297297297297</c:v>
                </c:pt>
                <c:pt idx="3">
                  <c:v>0.329113924050633</c:v>
                </c:pt>
              </c:numCache>
            </c:numRef>
          </c:val>
        </c:ser>
        <c:gapWidth val="100"/>
        <c:overlap val="100"/>
        <c:axId val="51049038"/>
        <c:axId val="17954596"/>
      </c:barChart>
      <c:catAx>
        <c:axId val="51049038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7954596"/>
        <c:auto val="1"/>
        <c:lblAlgn val="ctr"/>
        <c:lblOffset val="100"/>
        <c:noMultiLvlLbl val="0"/>
      </c:catAx>
      <c:valAx>
        <c:axId val="179545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1049038"/>
        <c:crossBetween val="between"/>
      </c:valAx>
      <c:spPr>
        <a:noFill/>
        <a:ln w="2556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74cdd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74cddd"/>
              </a:solidFill>
              <a:ln w="19080">
                <a:noFill/>
              </a:ln>
            </c:spPr>
          </c:dPt>
          <c:dPt>
            <c:idx val="1"/>
            <c:spPr>
              <a:solidFill>
                <a:srgbClr val="ef334b"/>
              </a:solidFill>
              <a:ln w="19080">
                <a:noFill/>
              </a:ln>
            </c:spPr>
          </c:dPt>
          <c:dPt>
            <c:idx val="2"/>
            <c:spPr>
              <a:solidFill>
                <a:srgbClr val="f3902a"/>
              </a:solidFill>
              <a:ln w="19080">
                <a:noFill/>
              </a:ln>
            </c:spPr>
          </c:dPt>
          <c:dPt>
            <c:idx val="3"/>
            <c:spPr>
              <a:solidFill>
                <a:srgbClr val="73d777"/>
              </a:solidFill>
              <a:ln w="1908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4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9360">
                  <a:solidFill>
                    <a:srgbClr val="a6a6a6"/>
                  </a:solidFill>
                </a:ln>
              </c:spPr>
            </c:leaderLines>
          </c:dLbls>
          <c:cat>
            <c:strRef>
              <c:f>categories</c:f>
              <c:strCache>
                <c:ptCount val="4"/>
                <c:pt idx="0">
                  <c:v>Ищу новую работу</c:v>
                </c:pt>
                <c:pt idx="1">
                  <c:v>Ищу подработку</c:v>
                </c:pt>
                <c:pt idx="2">
                  <c:v>Не ищу новую работу или подработку</c:v>
                </c:pt>
                <c:pt idx="3">
                  <c:v>Не ищу новую работу, но слежу за актуальными вакансиями</c:v>
                </c:pt>
              </c:strCache>
            </c:strRef>
          </c:cat>
          <c:val>
            <c:numRef>
              <c:f>0</c:f>
              <c:numCache>
                <c:formatCode>0%</c:formatCode>
                <c:ptCount val="4"/>
                <c:pt idx="0">
                  <c:v>0.09</c:v>
                </c:pt>
                <c:pt idx="1">
                  <c:v>0.230379746835443</c:v>
                </c:pt>
                <c:pt idx="2">
                  <c:v>0.326582278481013</c:v>
                </c:pt>
                <c:pt idx="3">
                  <c:v>0.346835443037975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dbdbd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bdbdbd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1" sz="1400" strike="noStrike" u="none">
                      <a:solidFill>
                        <a:srgbClr val="40404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1" sz="1400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8"/>
                <c:pt idx="0">
                  <c:v>Другое</c:v>
                </c:pt>
                <c:pt idx="1">
                  <c:v>Не планирую развивать навыки в ближайший год</c:v>
                </c:pt>
                <c:pt idx="2">
                  <c:v>Развитие лидерских навыков и качеств</c:v>
                </c:pt>
                <c:pt idx="3">
                  <c:v>Развитие «мягких» навыков (soft skills)</c:v>
                </c:pt>
                <c:pt idx="4">
                  <c:v>Тайм-менеджмент (управление временем)</c:v>
                </c:pt>
                <c:pt idx="5">
                  <c:v>Учить иностранные языки</c:v>
                </c:pt>
                <c:pt idx="6">
                  <c:v>Изучить новые языки программирования или технологии</c:v>
                </c:pt>
                <c:pt idx="7">
                  <c:v>Изучить как эффективно использовать рабочие инструменты</c:v>
                </c:pt>
              </c:strCache>
            </c:strRef>
          </c:cat>
          <c:val>
            <c:numRef>
              <c:f>0</c:f>
              <c:numCache>
                <c:formatCode>0%</c:formatCode>
                <c:ptCount val="8"/>
                <c:pt idx="0">
                  <c:v>0.00764818355640535</c:v>
                </c:pt>
                <c:pt idx="1">
                  <c:v>0.0803059273422562</c:v>
                </c:pt>
                <c:pt idx="2">
                  <c:v>0.258126195028681</c:v>
                </c:pt>
                <c:pt idx="3">
                  <c:v>0.288718929254302</c:v>
                </c:pt>
                <c:pt idx="4">
                  <c:v>0.30019120458891</c:v>
                </c:pt>
                <c:pt idx="5">
                  <c:v>0.361376673040153</c:v>
                </c:pt>
                <c:pt idx="6">
                  <c:v>0.460803059273423</c:v>
                </c:pt>
                <c:pt idx="7">
                  <c:v>0.48565965583174</c:v>
                </c:pt>
              </c:numCache>
            </c:numRef>
          </c:val>
        </c:ser>
        <c:gapWidth val="95"/>
        <c:overlap val="0"/>
        <c:axId val="26418671"/>
        <c:axId val="83747668"/>
      </c:barChart>
      <c:catAx>
        <c:axId val="26418671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3747668"/>
        <c:auto val="1"/>
        <c:lblAlgn val="ctr"/>
        <c:lblOffset val="100"/>
        <c:noMultiLvlLbl val="0"/>
      </c:catAx>
      <c:valAx>
        <c:axId val="8374766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641867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bdbdbd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197" strike="noStrike" u="none">
                    <a:solidFill>
                      <a:srgbClr val="40404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Затрудняюсь ответить</c:v>
                </c:pt>
                <c:pt idx="1">
                  <c:v>Да, мы перешли / переходим сейчас на другое зарубежное ПО</c:v>
                </c:pt>
                <c:pt idx="2">
                  <c:v>Да, испытываем трудности в использовании зарубежного ПО</c:v>
                </c:pt>
                <c:pt idx="3">
                  <c:v>Нет, все программы как работали, так и продолжают работать</c:v>
                </c:pt>
                <c:pt idx="4">
                  <c:v>Да, мы перешли / переходим сейчас на отечественное ПО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0.0439770554493308</c:v>
                </c:pt>
                <c:pt idx="1">
                  <c:v>0.118546845124283</c:v>
                </c:pt>
                <c:pt idx="2">
                  <c:v>0.12810707456979</c:v>
                </c:pt>
                <c:pt idx="3">
                  <c:v>0.340344168260038</c:v>
                </c:pt>
                <c:pt idx="4">
                  <c:v>0.369024856596558</c:v>
                </c:pt>
              </c:numCache>
            </c:numRef>
          </c:val>
        </c:ser>
        <c:gapWidth val="95"/>
        <c:overlap val="0"/>
        <c:axId val="77189091"/>
        <c:axId val="69823335"/>
      </c:barChart>
      <c:catAx>
        <c:axId val="77189091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9823335"/>
        <c:auto val="1"/>
        <c:lblAlgn val="ctr"/>
        <c:lblOffset val="100"/>
        <c:noMultiLvlLbl val="0"/>
      </c:catAx>
      <c:valAx>
        <c:axId val="6982333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718909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968BA41-DA27-4A62-9FD3-F4698413617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7fcfd"/>
            </a:gs>
            <a:gs pos="74000">
              <a:srgbClr val="bee8ef"/>
            </a:gs>
            <a:gs pos="83000">
              <a:srgbClr val="bee8ef"/>
            </a:gs>
            <a:gs pos="100000">
              <a:srgbClr val="d4eff4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;p15" descr="preencoded.png"/>
          <p:cNvPicPr/>
          <p:nvPr/>
        </p:nvPicPr>
        <p:blipFill>
          <a:blip r:embed="rId2"/>
          <a:stretch/>
        </p:blipFill>
        <p:spPr>
          <a:xfrm>
            <a:off x="473040" y="457200"/>
            <a:ext cx="357480" cy="66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39200" y="3117600"/>
            <a:ext cx="8218080" cy="186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GB" sz="52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GB" sz="5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8110440" y="1458000"/>
            <a:ext cx="9738000" cy="866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388440" y="9423720"/>
            <a:ext cx="419544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;p15" descr="preencoded.png"/>
          <p:cNvPicPr/>
          <p:nvPr/>
        </p:nvPicPr>
        <p:blipFill>
          <a:blip r:embed="rId2"/>
          <a:stretch/>
        </p:blipFill>
        <p:spPr>
          <a:xfrm>
            <a:off x="473040" y="457200"/>
            <a:ext cx="357480" cy="66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74880" y="496800"/>
            <a:ext cx="9005760" cy="8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GB" sz="22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1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C426AD-5131-4308-9215-90532F190594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948960" y="9256320"/>
            <a:ext cx="77824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1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1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1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1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1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1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1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chart" Target="../charts/chart14.xml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16.xml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3;p2"/>
          <p:cNvSpPr/>
          <p:nvPr/>
        </p:nvSpPr>
        <p:spPr>
          <a:xfrm>
            <a:off x="0" y="1615680"/>
            <a:ext cx="5183640" cy="1980000"/>
          </a:xfrm>
          <a:prstGeom prst="rect">
            <a:avLst/>
          </a:prstGeom>
          <a:solidFill>
            <a:srgbClr val="ef33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68DADC-9932-48F4-92E3-7931A7D76467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6550640" cy="10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Выводы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Google Shape;36;p2"/>
          <p:cNvSpPr/>
          <p:nvPr/>
        </p:nvSpPr>
        <p:spPr>
          <a:xfrm>
            <a:off x="5644440" y="1543680"/>
            <a:ext cx="11890440" cy="20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Большой процент сменивших профессию свидетельствует о перетоке кадров между отраслями.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54% специалистов не получали профильного образования. Меняют профессию</a:t>
            </a:r>
            <a:br>
              <a:rPr sz="2200"/>
            </a:b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не только молодые специалисты – порог вхождения в ИТ не зависит от возраста</a:t>
            </a:r>
            <a:br>
              <a:rPr sz="1100"/>
            </a:b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Средний возраст, в котором ИТ-специалисты меняли профессию -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36 лет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Google Shape;37;p2"/>
          <p:cNvSpPr/>
          <p:nvPr/>
        </p:nvSpPr>
        <p:spPr>
          <a:xfrm>
            <a:off x="5644440" y="3857040"/>
            <a:ext cx="118904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43% </a:t>
            </a:r>
            <a:r>
              <a:rPr b="1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планируют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</a:t>
            </a:r>
            <a:r>
              <a:rPr b="1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использовать. </a:t>
            </a: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Среди типов технологий самые часто используемые – генеративный ИИ (72%) и синтез и распознавание речи (62%)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Большая часть опрошенных настроена позитивно относительно влияния ИИ на их работу в обозримом будущем, 54% согласны с тем, что ИИ может полностью заменить часть специалистов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Google Shape;38;p2"/>
          <p:cNvSpPr/>
          <p:nvPr/>
        </p:nvSpPr>
        <p:spPr>
          <a:xfrm>
            <a:off x="5644440" y="8463600"/>
            <a:ext cx="119516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37% из них повысили заработную плату на 10-20%</a:t>
            </a:r>
            <a:br>
              <a:rPr sz="2200"/>
            </a:b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Те, у кого заработная плата выросла за последний год, на 24 п.п. более позитивно оценивают карьерные/профессиональные перспективы в отрасли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Google Shape;39;p2"/>
          <p:cNvSpPr/>
          <p:nvPr/>
        </p:nvSpPr>
        <p:spPr>
          <a:xfrm>
            <a:off x="576000" y="1903680"/>
            <a:ext cx="4319640" cy="12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57%</a:t>
            </a:r>
            <a:br>
              <a:rPr sz="3200"/>
            </a:b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специалистов работали</a:t>
            </a:r>
            <a:br>
              <a:rPr sz="2200"/>
            </a:b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до ИТ по другой профессии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Google Shape;40;p2"/>
          <p:cNvSpPr/>
          <p:nvPr/>
        </p:nvSpPr>
        <p:spPr>
          <a:xfrm>
            <a:off x="-10800" y="3724920"/>
            <a:ext cx="5183640" cy="1986480"/>
          </a:xfrm>
          <a:prstGeom prst="rect">
            <a:avLst/>
          </a:prstGeom>
          <a:solidFill>
            <a:srgbClr val="ef33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Google Shape;41;p2"/>
          <p:cNvSpPr/>
          <p:nvPr/>
        </p:nvSpPr>
        <p:spPr>
          <a:xfrm>
            <a:off x="576000" y="3954240"/>
            <a:ext cx="431964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41%</a:t>
            </a:r>
            <a:br>
              <a:rPr sz="2400"/>
            </a:b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ИТ-специалистов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</a:t>
            </a:r>
            <a:r>
              <a:rPr b="1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используют </a:t>
            </a: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инструменты с ИИ</a:t>
            </a:r>
            <a:br>
              <a:rPr sz="2200"/>
            </a:b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в своей работе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Google Shape;42;p2"/>
          <p:cNvSpPr/>
          <p:nvPr/>
        </p:nvSpPr>
        <p:spPr>
          <a:xfrm>
            <a:off x="-11880" y="5840640"/>
            <a:ext cx="5183640" cy="1986480"/>
          </a:xfrm>
          <a:prstGeom prst="rect">
            <a:avLst/>
          </a:prstGeom>
          <a:solidFill>
            <a:srgbClr val="ef33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Google Shape;43;p2"/>
          <p:cNvSpPr/>
          <p:nvPr/>
        </p:nvSpPr>
        <p:spPr>
          <a:xfrm>
            <a:off x="-11880" y="7956720"/>
            <a:ext cx="5183640" cy="1986480"/>
          </a:xfrm>
          <a:prstGeom prst="rect">
            <a:avLst/>
          </a:prstGeom>
          <a:solidFill>
            <a:srgbClr val="ef33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Google Shape;44;p2"/>
          <p:cNvSpPr/>
          <p:nvPr/>
        </p:nvSpPr>
        <p:spPr>
          <a:xfrm>
            <a:off x="576000" y="6265440"/>
            <a:ext cx="4319640" cy="12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только</a:t>
            </a:r>
            <a:r>
              <a:rPr b="1" lang="ru-RU" sz="3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33%</a:t>
            </a:r>
            <a:br>
              <a:rPr sz="2400"/>
            </a:br>
            <a:r>
              <a:rPr b="1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НЕ </a:t>
            </a: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ищут работу или подработку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Google Shape;45;p2"/>
          <p:cNvSpPr/>
          <p:nvPr/>
        </p:nvSpPr>
        <p:spPr>
          <a:xfrm>
            <a:off x="5638680" y="6183000"/>
            <a:ext cx="1207296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целом ИТ-специалисты удовлетворены текущим местом работы</a:t>
            </a:r>
            <a:br>
              <a:rPr sz="2200"/>
            </a:b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– атмосферой на рабочем месте, функционалом, при этом </a:t>
            </a:r>
            <a:r>
              <a:rPr b="1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32%</a:t>
            </a: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находятся </a:t>
            </a:r>
            <a:r>
              <a:rPr b="1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активном поиске </a:t>
            </a: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работы или подработки, а </a:t>
            </a:r>
            <a:r>
              <a:rPr b="1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35%</a:t>
            </a: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находятся </a:t>
            </a:r>
            <a:r>
              <a:rPr b="1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пассивном поиске</a:t>
            </a: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: не ищут работу, но следят за актуальными вакансиями и рассматривают входящие предложения 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Google Shape;46;p2"/>
          <p:cNvSpPr/>
          <p:nvPr/>
        </p:nvSpPr>
        <p:spPr>
          <a:xfrm>
            <a:off x="576000" y="8085240"/>
            <a:ext cx="431964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у</a:t>
            </a:r>
            <a:r>
              <a:rPr b="1" lang="ru-RU" sz="3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62%</a:t>
            </a:r>
            <a:br>
              <a:rPr sz="2400"/>
            </a:b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специалистов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</a:t>
            </a: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выросла заработная плата за последний год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Num" idx="3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FF7907-D335-4666-A8D9-B4EDE9C2A7AF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1690280" cy="97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Методология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Google Shape;53;p3"/>
          <p:cNvSpPr/>
          <p:nvPr/>
        </p:nvSpPr>
        <p:spPr>
          <a:xfrm>
            <a:off x="974880" y="1539720"/>
            <a:ext cx="16193520" cy="31888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Google Shape;54;p3"/>
          <p:cNvSpPr/>
          <p:nvPr/>
        </p:nvSpPr>
        <p:spPr>
          <a:xfrm>
            <a:off x="1119240" y="1600200"/>
            <a:ext cx="15728760" cy="31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В октябре 2024 г. проведен </a:t>
            </a:r>
            <a:r>
              <a:rPr b="1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онлайн-опрос</a:t>
            </a:r>
            <a:r>
              <a:rPr b="0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ИТ-специалистов города Москвы старше 18 лет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Цель исследования:</a:t>
            </a:r>
            <a:br>
              <a:rPr sz="2800"/>
            </a:br>
            <a:r>
              <a:rPr b="0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Выявить как ИТ-специалисты воспринимают свои карьерные и профессиональные перспективы, статус поиска работы, а также оценить какие корпоративные программы</a:t>
            </a:r>
            <a:br>
              <a:rPr sz="2800"/>
            </a:br>
            <a:r>
              <a:rPr b="0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для сотрудников популярны на рынке труда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" name="Google Shape;55;p3"/>
          <p:cNvGrpSpPr/>
          <p:nvPr/>
        </p:nvGrpSpPr>
        <p:grpSpPr>
          <a:xfrm>
            <a:off x="1460880" y="4836960"/>
            <a:ext cx="3049560" cy="1423800"/>
            <a:chOff x="1460880" y="4836960"/>
            <a:chExt cx="3049560" cy="1423800"/>
          </a:xfrm>
        </p:grpSpPr>
        <p:sp>
          <p:nvSpPr>
            <p:cNvPr id="27" name="Google Shape;56;p3"/>
            <p:cNvSpPr/>
            <p:nvPr/>
          </p:nvSpPr>
          <p:spPr>
            <a:xfrm>
              <a:off x="1460880" y="5163840"/>
              <a:ext cx="2226600" cy="1096920"/>
            </a:xfrm>
            <a:prstGeom prst="rect">
              <a:avLst/>
            </a:prstGeom>
            <a:noFill/>
            <a:ln w="9525">
              <a:solidFill>
                <a:srgbClr val="ef334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6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95%</a:t>
              </a:r>
              <a:endParaRPr b="0" lang="en-GB" sz="6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" name="Google Shape;57;p3"/>
            <p:cNvSpPr/>
            <p:nvPr/>
          </p:nvSpPr>
          <p:spPr>
            <a:xfrm>
              <a:off x="3347640" y="4836960"/>
              <a:ext cx="1162800" cy="5788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f334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32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± 5%</a:t>
              </a:r>
              <a:endParaRPr b="0" lang="en-GB" sz="3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9" name="Google Shape;58;p3"/>
          <p:cNvSpPr/>
          <p:nvPr/>
        </p:nvSpPr>
        <p:spPr>
          <a:xfrm>
            <a:off x="4607640" y="5465160"/>
            <a:ext cx="5463360" cy="45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Доверительная вероятность выборки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0" name="Google Shape;59;p3"/>
          <p:cNvCxnSpPr/>
          <p:nvPr/>
        </p:nvCxnSpPr>
        <p:spPr>
          <a:xfrm>
            <a:off x="955800" y="6514920"/>
            <a:ext cx="16297920" cy="360"/>
          </a:xfrm>
          <a:prstGeom prst="straightConnector1">
            <a:avLst/>
          </a:prstGeom>
          <a:ln w="38100">
            <a:solidFill>
              <a:srgbClr val="ef334b"/>
            </a:solidFill>
            <a:miter/>
          </a:ln>
        </p:spPr>
      </p:cxnSp>
      <p:sp>
        <p:nvSpPr>
          <p:cNvPr id="31" name="Google Shape;60;p3"/>
          <p:cNvSpPr/>
          <p:nvPr/>
        </p:nvSpPr>
        <p:spPr>
          <a:xfrm>
            <a:off x="955800" y="6643800"/>
            <a:ext cx="16297200" cy="27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1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ИТ-специалисты – </a:t>
            </a: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специалисты, чья текущая профессия, должность, бизнес или в целом то, чем они занимаются,</a:t>
            </a:r>
            <a:br>
              <a:rPr sz="2200"/>
            </a:b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связаны с ИТ или информационно-коммуникационными технологиями – разработчики ПО, тестировщики, системные администраторы, руководители продуктов и проектов, аналитики и др. В исследовании опрашивались наемные сотрудники, владельцы бизнеса, фрилансеры, самозанятые специалисты 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23000"/>
              </a:lnSpc>
              <a:tabLst>
                <a:tab algn="l" pos="0"/>
              </a:tabLst>
            </a:pP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1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Начинающие специалисты </a:t>
            </a: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– работают по профессии до 5 лет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1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Опытные специалисты </a:t>
            </a: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– работают по профессии более 5 лет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Num" idx="4"/>
          </p:nvPr>
        </p:nvSpPr>
        <p:spPr>
          <a:xfrm>
            <a:off x="16313040" y="958356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BE6606-4D9E-4FB5-8633-4A30666C065D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4939280" cy="90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Характеристика опрошенных ИТ-специалистов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Google Shape;67;p4"/>
          <p:cNvSpPr/>
          <p:nvPr/>
        </p:nvSpPr>
        <p:spPr>
          <a:xfrm>
            <a:off x="9538200" y="1789200"/>
            <a:ext cx="584820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32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Форма занятости</a:t>
            </a: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Google Shape;68;p4"/>
          <p:cNvSpPr/>
          <p:nvPr/>
        </p:nvSpPr>
        <p:spPr>
          <a:xfrm>
            <a:off x="974880" y="1785960"/>
            <a:ext cx="58482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32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Опыт работы</a:t>
            </a: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Google Shape;69;p4"/>
          <p:cNvSpPr/>
          <p:nvPr/>
        </p:nvSpPr>
        <p:spPr>
          <a:xfrm>
            <a:off x="966240" y="6138000"/>
            <a:ext cx="732348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32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Принадлежность компании к ИТ</a:t>
            </a: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Google Shape;70;p4"/>
          <p:cNvSpPr/>
          <p:nvPr/>
        </p:nvSpPr>
        <p:spPr>
          <a:xfrm>
            <a:off x="9524160" y="6079680"/>
            <a:ext cx="584820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32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Размер организации</a:t>
            </a: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38" name="Google Shape;71;p4"/>
          <p:cNvGraphicFramePr/>
          <p:nvPr/>
        </p:nvGraphicFramePr>
        <p:xfrm>
          <a:off x="802800" y="2661120"/>
          <a:ext cx="7242120" cy="284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955440" y="6597360"/>
            <a:ext cx="6729840" cy="4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тем, чья форма занятости – наемный сотрудник  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0" name="Google Shape;73;p4"/>
          <p:cNvGraphicFramePr/>
          <p:nvPr/>
        </p:nvGraphicFramePr>
        <p:xfrm>
          <a:off x="1038240" y="7045560"/>
          <a:ext cx="7985520" cy="313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Google Shape;74;p4"/>
          <p:cNvSpPr/>
          <p:nvPr/>
        </p:nvSpPr>
        <p:spPr>
          <a:xfrm>
            <a:off x="9462960" y="6490800"/>
            <a:ext cx="7660080" cy="53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тем, чья форма занятости – наемный сотрудник, владелец бизнеса  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2" name="Google Shape;75;p4"/>
          <p:cNvGraphicFramePr/>
          <p:nvPr/>
        </p:nvGraphicFramePr>
        <p:xfrm>
          <a:off x="7945560" y="6759360"/>
          <a:ext cx="7899480" cy="3283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3" name="Google Shape;76;p4"/>
          <p:cNvGraphicFramePr/>
          <p:nvPr/>
        </p:nvGraphicFramePr>
        <p:xfrm>
          <a:off x="9420840" y="2161440"/>
          <a:ext cx="6058800" cy="3283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Google Shape;81;p5"/>
          <p:cNvGraphicFramePr/>
          <p:nvPr/>
        </p:nvGraphicFramePr>
        <p:xfrm>
          <a:off x="1030680" y="2649960"/>
          <a:ext cx="9294840" cy="6935760"/>
        </p:xfrm>
        <a:graphic>
          <a:graphicData uri="http://schemas.openxmlformats.org/drawingml/2006/table">
            <a:tbl>
              <a:tblPr/>
              <a:tblGrid>
                <a:gridCol w="4003200"/>
                <a:gridCol w="5292000"/>
              </a:tblGrid>
              <a:tr h="1149120">
                <a:tc gridSpan="2">
                  <a:txBody>
                    <a:bodyPr lIns="6120" rIns="6120" tIns="612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ef334b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157040">
                <a:tc>
                  <a:txBody>
                    <a:bodyPr lIns="9360" rIns="9360" tIns="936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Получил (-а) профильное высшее образование, связанное с ИТ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ef334b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ef334b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1157040">
                <a:tc>
                  <a:txBody>
                    <a:bodyPr lIns="9360" rIns="9360" tIns="936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Проходил (-а) курсы повышения квалификации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1157040">
                <a:tc>
                  <a:txBody>
                    <a:bodyPr lIns="9360" rIns="9360" tIns="936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Научился (-ась) на рабочем месте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1157040">
                <a:tc>
                  <a:txBody>
                    <a:bodyPr lIns="9360" rIns="9360" tIns="936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Проходил (-а) онлайн-курсы и тренинги на обучающих ресурсах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1157040">
                <a:tc>
                  <a:txBody>
                    <a:bodyPr lIns="9360" rIns="9360" tIns="936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Другое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</a:tbl>
          </a:graphicData>
        </a:graphic>
      </p:graphicFrame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74880" y="496800"/>
            <a:ext cx="13883760" cy="8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Профессиональный путь ИТ-специалистов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BFF1F5-769D-41C1-90B1-47C66CF3F347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1027800" y="9671760"/>
            <a:ext cx="7782480" cy="54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*Начинающие специалисты </a:t>
            </a: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– работают по профессии до 5 лет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**</a:t>
            </a:r>
            <a:r>
              <a:rPr b="1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Опытные специалисты </a:t>
            </a: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– работают по профессии более 5 лет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8" name="Google Shape;85;p5"/>
          <p:cNvGrpSpPr/>
          <p:nvPr/>
        </p:nvGrpSpPr>
        <p:grpSpPr>
          <a:xfrm>
            <a:off x="999000" y="3127680"/>
            <a:ext cx="7769520" cy="763920"/>
            <a:chOff x="999000" y="3127680"/>
            <a:chExt cx="7769520" cy="763920"/>
          </a:xfrm>
        </p:grpSpPr>
        <p:sp>
          <p:nvSpPr>
            <p:cNvPr id="49" name="Google Shape;86;p5"/>
            <p:cNvSpPr/>
            <p:nvPr/>
          </p:nvSpPr>
          <p:spPr>
            <a:xfrm>
              <a:off x="1124640" y="3127680"/>
              <a:ext cx="7643880" cy="34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2100" strike="noStrike" u="none">
                  <a:solidFill>
                    <a:schemeClr val="accent2"/>
                  </a:solidFill>
                  <a:uFillTx/>
                  <a:latin typeface="Arial"/>
                  <a:ea typeface="Arial"/>
                </a:rPr>
                <a:t>Как Вы обучались для работы по своей текущей профессии?</a:t>
              </a:r>
              <a:endParaRPr b="0" lang="en-GB" sz="21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0" name="Google Shape;87;p5"/>
            <p:cNvSpPr/>
            <p:nvPr/>
          </p:nvSpPr>
          <p:spPr>
            <a:xfrm>
              <a:off x="999000" y="3477240"/>
              <a:ext cx="4352040" cy="41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ru-RU" sz="1400" strike="noStrike" u="none">
                  <a:solidFill>
                    <a:srgbClr val="ef334b"/>
                  </a:solidFill>
                  <a:uFillTx/>
                  <a:latin typeface="Arial"/>
                  <a:ea typeface="Arial"/>
                </a:rPr>
                <a:t>(множественный выбор)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51" name="Google Shape;88;p5"/>
          <p:cNvSpPr/>
          <p:nvPr/>
        </p:nvSpPr>
        <p:spPr>
          <a:xfrm>
            <a:off x="11149920" y="3704400"/>
            <a:ext cx="6138720" cy="60217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" name="Google Shape;89;p5"/>
          <p:cNvSpPr/>
          <p:nvPr/>
        </p:nvSpPr>
        <p:spPr>
          <a:xfrm>
            <a:off x="11242080" y="5279760"/>
            <a:ext cx="6138720" cy="31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Начинающие специалисты</a:t>
            </a:r>
            <a:r>
              <a:rPr b="1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*</a:t>
            </a: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отдают предпочтение онлайн-курсам, их проходили 34% (на 7 п.п. больше, чем среди опытных специалистов</a:t>
            </a:r>
            <a:r>
              <a:rPr b="1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**</a:t>
            </a: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)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Среди ИТ-специалистов с профильным образованием на 10 п.п. больше разработчиков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Google Shape;90;p5"/>
          <p:cNvSpPr/>
          <p:nvPr/>
        </p:nvSpPr>
        <p:spPr>
          <a:xfrm>
            <a:off x="1041840" y="1478880"/>
            <a:ext cx="5293800" cy="11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rgbClr val="ef334b"/>
                </a:solidFill>
                <a:uFillTx/>
                <a:latin typeface="Arial"/>
                <a:ea typeface="Arial"/>
              </a:rPr>
              <a:t>54% 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специалистов НЕ получали профильное высшее образование, связанное с ИТ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Google Shape;91;p5"/>
          <p:cNvSpPr/>
          <p:nvPr/>
        </p:nvSpPr>
        <p:spPr>
          <a:xfrm>
            <a:off x="6697080" y="1450080"/>
            <a:ext cx="5293800" cy="11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rgbClr val="ef334b"/>
                </a:solidFill>
                <a:uFillTx/>
                <a:latin typeface="Arial"/>
                <a:ea typeface="Arial"/>
              </a:rPr>
              <a:t>57%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специалистов работали до этого по другой профессии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Google Shape;92;p5"/>
          <p:cNvSpPr/>
          <p:nvPr/>
        </p:nvSpPr>
        <p:spPr>
          <a:xfrm>
            <a:off x="12351960" y="1479960"/>
            <a:ext cx="529380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rgbClr val="ef334b"/>
                </a:solidFill>
                <a:uFillTx/>
                <a:latin typeface="Arial"/>
                <a:ea typeface="Arial"/>
              </a:rPr>
              <a:t>36 лет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- средний возраст смены профессии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56" name="Google Shape;93;p5"/>
          <p:cNvGraphicFramePr/>
          <p:nvPr/>
        </p:nvGraphicFramePr>
        <p:xfrm>
          <a:off x="4868280" y="3607200"/>
          <a:ext cx="6138720" cy="640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Num" idx="6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B11452-90BA-4AE9-81DA-94EE25D1166C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4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4939280" cy="90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Использование искусственного интеллекта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Google Shape;100;p6"/>
          <p:cNvSpPr/>
          <p:nvPr/>
        </p:nvSpPr>
        <p:spPr>
          <a:xfrm>
            <a:off x="6585480" y="3185640"/>
            <a:ext cx="1069416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-RU" sz="21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Используете ли Вы инструменты с искусственным интеллектом в своей работе?</a:t>
            </a:r>
            <a:endParaRPr b="0" lang="en-GB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Google Shape;101;p6"/>
          <p:cNvSpPr/>
          <p:nvPr/>
        </p:nvSpPr>
        <p:spPr>
          <a:xfrm>
            <a:off x="6753240" y="4927680"/>
            <a:ext cx="2015640" cy="1943640"/>
          </a:xfrm>
          <a:prstGeom prst="ellipse">
            <a:avLst/>
          </a:prstGeom>
          <a:solidFill>
            <a:srgbClr val="c6eaf1"/>
          </a:solidFill>
          <a:ln w="12700">
            <a:solidFill>
              <a:srgbClr val="32b4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4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41%</a:t>
            </a:r>
            <a:endParaRPr b="0" lang="en-GB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Google Shape;102;p6"/>
          <p:cNvSpPr/>
          <p:nvPr/>
        </p:nvSpPr>
        <p:spPr>
          <a:xfrm>
            <a:off x="15696000" y="6223680"/>
            <a:ext cx="2015640" cy="1943640"/>
          </a:xfrm>
          <a:prstGeom prst="ellipse">
            <a:avLst/>
          </a:prstGeom>
          <a:solidFill>
            <a:srgbClr val="d3d3d3"/>
          </a:solidFill>
          <a:ln w="12700">
            <a:solidFill>
              <a:srgbClr val="bdbd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4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4%</a:t>
            </a:r>
            <a:endParaRPr b="0" lang="en-GB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Google Shape;103;p6"/>
          <p:cNvSpPr/>
          <p:nvPr/>
        </p:nvSpPr>
        <p:spPr>
          <a:xfrm>
            <a:off x="12715200" y="5359680"/>
            <a:ext cx="2015640" cy="1943640"/>
          </a:xfrm>
          <a:prstGeom prst="ellipse">
            <a:avLst/>
          </a:prstGeom>
          <a:solidFill>
            <a:srgbClr val="f8acb6"/>
          </a:solidFill>
          <a:ln w="12700">
            <a:solidFill>
              <a:srgbClr val="ef334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4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12%</a:t>
            </a:r>
            <a:endParaRPr b="0" lang="en-GB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Google Shape;104;p6"/>
          <p:cNvSpPr/>
          <p:nvPr/>
        </p:nvSpPr>
        <p:spPr>
          <a:xfrm>
            <a:off x="9734040" y="4207680"/>
            <a:ext cx="2015640" cy="1943640"/>
          </a:xfrm>
          <a:prstGeom prst="ellipse">
            <a:avLst/>
          </a:prstGeom>
          <a:solidFill>
            <a:srgbClr val="c6eec7"/>
          </a:solidFill>
          <a:ln w="12700">
            <a:solidFill>
              <a:srgbClr val="73d77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4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43%</a:t>
            </a:r>
            <a:endParaRPr b="0" lang="en-GB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Google Shape;105;p6"/>
          <p:cNvSpPr/>
          <p:nvPr/>
        </p:nvSpPr>
        <p:spPr>
          <a:xfrm>
            <a:off x="7344000" y="8815680"/>
            <a:ext cx="896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Да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Google Shape;106;p6"/>
          <p:cNvSpPr/>
          <p:nvPr/>
        </p:nvSpPr>
        <p:spPr>
          <a:xfrm>
            <a:off x="9648000" y="8887680"/>
            <a:ext cx="215964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Нет, но планирую использовать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Google Shape;107;p6"/>
          <p:cNvSpPr/>
          <p:nvPr/>
        </p:nvSpPr>
        <p:spPr>
          <a:xfrm>
            <a:off x="12456000" y="8887680"/>
            <a:ext cx="242280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Нет, и НЕ планирую использовать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Google Shape;108;p6"/>
          <p:cNvSpPr/>
          <p:nvPr/>
        </p:nvSpPr>
        <p:spPr>
          <a:xfrm>
            <a:off x="16272000" y="8887680"/>
            <a:ext cx="89676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Нет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8" name="Google Shape;109;p6"/>
          <p:cNvCxnSpPr/>
          <p:nvPr/>
        </p:nvCxnSpPr>
        <p:spPr>
          <a:xfrm>
            <a:off x="7757640" y="7087320"/>
            <a:ext cx="360" cy="1490760"/>
          </a:xfrm>
          <a:prstGeom prst="straightConnector1">
            <a:avLst/>
          </a:prstGeom>
          <a:ln w="9525">
            <a:solidFill>
              <a:srgbClr val="74cddd"/>
            </a:solidFill>
            <a:miter/>
          </a:ln>
        </p:spPr>
      </p:cxnSp>
      <p:cxnSp>
        <p:nvCxnSpPr>
          <p:cNvPr id="69" name="Google Shape;110;p6"/>
          <p:cNvCxnSpPr/>
          <p:nvPr/>
        </p:nvCxnSpPr>
        <p:spPr>
          <a:xfrm>
            <a:off x="10728720" y="6399360"/>
            <a:ext cx="360" cy="2128320"/>
          </a:xfrm>
          <a:prstGeom prst="straightConnector1">
            <a:avLst/>
          </a:prstGeom>
          <a:ln w="9525">
            <a:solidFill>
              <a:srgbClr val="74cddd"/>
            </a:solidFill>
            <a:miter/>
          </a:ln>
        </p:spPr>
      </p:cxnSp>
      <p:cxnSp>
        <p:nvCxnSpPr>
          <p:cNvPr id="70" name="Google Shape;111;p6"/>
          <p:cNvCxnSpPr/>
          <p:nvPr/>
        </p:nvCxnSpPr>
        <p:spPr>
          <a:xfrm>
            <a:off x="13680000" y="7431480"/>
            <a:ext cx="360" cy="1096200"/>
          </a:xfrm>
          <a:prstGeom prst="straightConnector1">
            <a:avLst/>
          </a:prstGeom>
          <a:ln w="9525">
            <a:solidFill>
              <a:srgbClr val="74cddd"/>
            </a:solidFill>
            <a:miter/>
          </a:ln>
        </p:spPr>
      </p:cxnSp>
      <p:cxnSp>
        <p:nvCxnSpPr>
          <p:cNvPr id="71" name="Google Shape;112;p6"/>
          <p:cNvCxnSpPr/>
          <p:nvPr/>
        </p:nvCxnSpPr>
        <p:spPr>
          <a:xfrm>
            <a:off x="16704000" y="8233560"/>
            <a:ext cx="360" cy="452520"/>
          </a:xfrm>
          <a:prstGeom prst="straightConnector1">
            <a:avLst/>
          </a:prstGeom>
          <a:ln w="9525">
            <a:solidFill>
              <a:srgbClr val="74cddd"/>
            </a:solidFill>
            <a:miter/>
          </a:ln>
        </p:spPr>
      </p:cxnSp>
      <p:sp>
        <p:nvSpPr>
          <p:cNvPr id="72" name="Google Shape;113;p6"/>
          <p:cNvSpPr/>
          <p:nvPr/>
        </p:nvSpPr>
        <p:spPr>
          <a:xfrm>
            <a:off x="0" y="2803680"/>
            <a:ext cx="4786200" cy="74833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Google Shape;114;p6"/>
          <p:cNvSpPr/>
          <p:nvPr/>
        </p:nvSpPr>
        <p:spPr>
          <a:xfrm>
            <a:off x="432000" y="3491640"/>
            <a:ext cx="4383360" cy="18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41%</a:t>
            </a:r>
            <a:br>
              <a:rPr sz="4800"/>
            </a:br>
            <a:r>
              <a:rPr b="0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опрошенных ИТ-специалистов </a:t>
            </a:r>
            <a:r>
              <a:rPr b="1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используют</a:t>
            </a:r>
            <a:r>
              <a:rPr b="0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инструменты с ИИ</a:t>
            </a:r>
            <a:br>
              <a:rPr sz="1900"/>
            </a:br>
            <a:r>
              <a:rPr b="0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в своей работе</a:t>
            </a:r>
            <a:endParaRPr b="0" lang="en-GB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43% </a:t>
            </a:r>
            <a:r>
              <a:rPr b="1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планируют</a:t>
            </a:r>
            <a:r>
              <a:rPr b="0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их </a:t>
            </a:r>
            <a:r>
              <a:rPr b="1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использовать</a:t>
            </a:r>
            <a:endParaRPr b="0" lang="en-GB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Google Shape;115;p6"/>
          <p:cNvSpPr/>
          <p:nvPr/>
        </p:nvSpPr>
        <p:spPr>
          <a:xfrm>
            <a:off x="443880" y="6515280"/>
            <a:ext cx="3803760" cy="19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Инструменты с ИИ чаще использует </a:t>
            </a:r>
            <a:r>
              <a:rPr b="1" lang="ru-RU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молодое поколение в возрасте 18-25 лет -</a:t>
            </a:r>
            <a:endParaRPr b="0" lang="en-GB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65%</a:t>
            </a:r>
            <a:endParaRPr b="0" lang="en-GB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Num" idx="7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10308C-3362-4E2D-BC28-F561315F43B3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4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4939280" cy="90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Технологии искусственного интеллекта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77" name="Google Shape;122;p7"/>
          <p:cNvGraphicFramePr/>
          <p:nvPr/>
        </p:nvGraphicFramePr>
        <p:xfrm>
          <a:off x="67320" y="3879360"/>
          <a:ext cx="2308320" cy="6015600"/>
        </p:xfrm>
        <a:graphic>
          <a:graphicData uri="http://schemas.openxmlformats.org/drawingml/2006/table">
            <a:tbl>
              <a:tblPr/>
              <a:tblGrid>
                <a:gridCol w="2308680"/>
              </a:tblGrid>
              <a:tr h="124632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Генеративный ИИ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119232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Синтез и распознавание речи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119232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Системы поддержки принятия решений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119232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Обработка естественного языка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119232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Компьютерное зрение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</a:tbl>
          </a:graphicData>
        </a:graphic>
      </p:graphicFrame>
      <p:sp>
        <p:nvSpPr>
          <p:cNvPr id="78" name="Google Shape;123;p7"/>
          <p:cNvSpPr/>
          <p:nvPr/>
        </p:nvSpPr>
        <p:spPr>
          <a:xfrm>
            <a:off x="1108080" y="2336040"/>
            <a:ext cx="7887240" cy="86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0" lang="ru-RU" sz="21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Какой тип технологий искусственного интеллекта Вы используете в своей работе? </a:t>
            </a:r>
            <a:endParaRPr b="0" lang="en-GB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Google Shape;124;p7"/>
          <p:cNvSpPr/>
          <p:nvPr/>
        </p:nvSpPr>
        <p:spPr>
          <a:xfrm>
            <a:off x="1024200" y="1459080"/>
            <a:ext cx="16862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Среди типов технологий самые часто используемые – генеративный ИИ (72%) и синтез и распознавание речи (62%)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Google Shape;125;p7"/>
          <p:cNvSpPr/>
          <p:nvPr/>
        </p:nvSpPr>
        <p:spPr>
          <a:xfrm>
            <a:off x="11448000" y="2832480"/>
            <a:ext cx="1642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4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74%</a:t>
            </a:r>
            <a:endParaRPr b="0" lang="en-GB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Google Shape;126;p7"/>
          <p:cNvSpPr/>
          <p:nvPr/>
        </p:nvSpPr>
        <p:spPr>
          <a:xfrm>
            <a:off x="13016160" y="2832480"/>
            <a:ext cx="48481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специалистов, которые используют ИИ, </a:t>
            </a:r>
            <a:r>
              <a:rPr b="1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знают</a:t>
            </a:r>
            <a:br>
              <a:rPr sz="2400"/>
            </a:br>
            <a:r>
              <a:rPr b="1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о всех 5 типах технологий искусственного интеллекта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Google Shape;127;p7"/>
          <p:cNvSpPr/>
          <p:nvPr/>
        </p:nvSpPr>
        <p:spPr>
          <a:xfrm>
            <a:off x="11515680" y="4872960"/>
            <a:ext cx="6332400" cy="41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целом ИИ чаще используют начинающие* специалисты - 45%,</a:t>
            </a:r>
            <a:br>
              <a:rPr sz="2400"/>
            </a:b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что на 7 п.п. выше, чем среди опытных специалистов **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При этом </a:t>
            </a:r>
            <a:r>
              <a:rPr b="1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все 5 типов технологий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искусственного интеллекта как правило </a:t>
            </a:r>
            <a:r>
              <a:rPr b="1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используют 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именно</a:t>
            </a:r>
            <a:r>
              <a:rPr b="1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опытные специалисты** - 26%,</a:t>
            </a:r>
            <a:br>
              <a:rPr sz="2400"/>
            </a:br>
            <a:r>
              <a:rPr b="0" lang="ru-RU" sz="2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что на 14 п.п. больше, чем среди начинающих специалистов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11548800" y="9586080"/>
            <a:ext cx="7782480" cy="54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*Начинающие специалисты </a:t>
            </a: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– работают по профессии до 5 лет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**</a:t>
            </a:r>
            <a:r>
              <a:rPr b="1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Опытные специалисты </a:t>
            </a: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– работают по профессии более 5 лет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Google Shape;129;p7"/>
          <p:cNvSpPr/>
          <p:nvPr/>
        </p:nvSpPr>
        <p:spPr>
          <a:xfrm>
            <a:off x="1024200" y="3021480"/>
            <a:ext cx="729468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тем, кто использует ИИ в работе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85" name="Google Shape;130;p7"/>
          <p:cNvGraphicFramePr/>
          <p:nvPr/>
        </p:nvGraphicFramePr>
        <p:xfrm>
          <a:off x="2382840" y="3339720"/>
          <a:ext cx="8560800" cy="672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Num" idx="8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D95ABB-5A3D-4CE0-89C6-651DF0B7C23C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6223760" cy="67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Отношение к искусственному интеллекту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88" name="Google Shape;137;p8"/>
          <p:cNvGraphicFramePr/>
          <p:nvPr/>
        </p:nvGraphicFramePr>
        <p:xfrm>
          <a:off x="1089000" y="1128240"/>
          <a:ext cx="7818840" cy="4614840"/>
        </p:xfrm>
        <a:graphic>
          <a:graphicData uri="http://schemas.openxmlformats.org/drawingml/2006/table">
            <a:tbl>
              <a:tblPr/>
              <a:tblGrid>
                <a:gridCol w="3282840"/>
                <a:gridCol w="4536000"/>
              </a:tblGrid>
              <a:tr h="834840">
                <a:tc gridSpan="2">
                  <a:txBody>
                    <a:bodyPr lIns="6120" rIns="6120" tIns="612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74cdd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560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ИТ-сектор, телекоммуникации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74cdd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74cdd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560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Маркетинг и маркетинговые исследования, реклама, PR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560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Медицина / фармацевтика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560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Образование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560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Финансы / экономика / страхование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</a:tbl>
          </a:graphicData>
        </a:graphic>
      </p:graphicFrame>
      <p:grpSp>
        <p:nvGrpSpPr>
          <p:cNvPr id="89" name="Google Shape;138;p8"/>
          <p:cNvGrpSpPr/>
          <p:nvPr/>
        </p:nvGrpSpPr>
        <p:grpSpPr>
          <a:xfrm>
            <a:off x="998640" y="1111680"/>
            <a:ext cx="7758360" cy="1014840"/>
            <a:chOff x="998640" y="1111680"/>
            <a:chExt cx="7758360" cy="1014840"/>
          </a:xfrm>
        </p:grpSpPr>
        <p:sp>
          <p:nvSpPr>
            <p:cNvPr id="90" name="Google Shape;139;p8"/>
            <p:cNvSpPr/>
            <p:nvPr/>
          </p:nvSpPr>
          <p:spPr>
            <a:xfrm>
              <a:off x="1113120" y="1111680"/>
              <a:ext cx="7643880" cy="69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2100" strike="noStrike" u="none">
                  <a:solidFill>
                    <a:schemeClr val="accent2"/>
                  </a:solidFill>
                  <a:uFillTx/>
                  <a:latin typeface="Arial"/>
                  <a:ea typeface="Arial"/>
                </a:rPr>
                <a:t>ТОП-5 наиболее успешных отраслей применения ИИ по мнению опрошенных ИТ-специалистов</a:t>
              </a:r>
              <a:endParaRPr b="0" lang="en-GB" sz="21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1" name="Google Shape;140;p8"/>
            <p:cNvSpPr/>
            <p:nvPr/>
          </p:nvSpPr>
          <p:spPr>
            <a:xfrm>
              <a:off x="998640" y="1712160"/>
              <a:ext cx="4352040" cy="41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ru-RU" sz="1400" strike="noStrike" u="none">
                  <a:solidFill>
                    <a:srgbClr val="ef334b"/>
                  </a:solidFill>
                  <a:uFillTx/>
                  <a:latin typeface="Arial"/>
                  <a:ea typeface="Arial"/>
                </a:rPr>
                <a:t>(множественный выбор)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aphicFrame>
        <p:nvGraphicFramePr>
          <p:cNvPr id="92" name="Google Shape;141;p8"/>
          <p:cNvGraphicFramePr/>
          <p:nvPr/>
        </p:nvGraphicFramePr>
        <p:xfrm>
          <a:off x="1100160" y="6300360"/>
          <a:ext cx="7811640" cy="3676680"/>
        </p:xfrm>
        <a:graphic>
          <a:graphicData uri="http://schemas.openxmlformats.org/drawingml/2006/table">
            <a:tbl>
              <a:tblPr/>
              <a:tblGrid>
                <a:gridCol w="7812000"/>
              </a:tblGrid>
              <a:tr h="919080">
                <a:tc>
                  <a:txBody>
                    <a:bodyPr lIns="6120" rIns="6120" tIns="6120" bIns="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ИИ позволит автоматизировать рутинные задачи, освободится время для более важных задач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19080">
                <a:tc>
                  <a:txBody>
                    <a:bodyPr lIns="6120" rIns="6120" tIns="6120" bIns="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ИИ будет использоваться для проверки результатов работы, чтобы снизить количество ошибок, зависящих от человеческого фактора 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19080">
                <a:tc>
                  <a:txBody>
                    <a:bodyPr lIns="6120" rIns="6120" tIns="6120" bIns="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ИИ может полностью заменить часть специалистов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19080">
                <a:tc>
                  <a:txBody>
                    <a:bodyPr lIns="6120" rIns="6120" tIns="6120" bIns="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ИИ никак не повлияет на мою работу и профессиональную область в ближайшем будущем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</a:tbl>
          </a:graphicData>
        </a:graphic>
      </p:graphicFrame>
      <p:cxnSp>
        <p:nvCxnSpPr>
          <p:cNvPr id="93" name="Google Shape;142;p8"/>
          <p:cNvCxnSpPr/>
          <p:nvPr/>
        </p:nvCxnSpPr>
        <p:spPr>
          <a:xfrm>
            <a:off x="1100160" y="5729760"/>
            <a:ext cx="16959240" cy="32040"/>
          </a:xfrm>
          <a:prstGeom prst="straightConnector1">
            <a:avLst/>
          </a:prstGeom>
          <a:ln w="38100">
            <a:solidFill>
              <a:srgbClr val="ef334b"/>
            </a:solidFill>
            <a:miter/>
          </a:ln>
        </p:spPr>
      </p:cxnSp>
      <p:sp>
        <p:nvSpPr>
          <p:cNvPr id="94" name="Google Shape;143;p8"/>
          <p:cNvSpPr/>
          <p:nvPr/>
        </p:nvSpPr>
        <p:spPr>
          <a:xfrm>
            <a:off x="1100160" y="5837040"/>
            <a:ext cx="780768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1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Согласны ли Вы со следующими утверждениями про влияние ИИ на Вашу работу в обозримом будущем?</a:t>
            </a:r>
            <a:endParaRPr b="0" lang="en-GB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Google Shape;144;p8"/>
          <p:cNvSpPr/>
          <p:nvPr/>
        </p:nvSpPr>
        <p:spPr>
          <a:xfrm>
            <a:off x="9022680" y="1902600"/>
            <a:ext cx="9036360" cy="38469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Google Shape;145;p8"/>
          <p:cNvSpPr/>
          <p:nvPr/>
        </p:nvSpPr>
        <p:spPr>
          <a:xfrm>
            <a:off x="9125280" y="2126880"/>
            <a:ext cx="9036360" cy="38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Почти половина опрошенных ИТ-специалистов наиболее успешной сферой применения ИИ считает ИТ-сектор, телекоммуникации – 48%, вторая по популярности отрасль – маркетинг и маркетинговые исследования / реклама / PR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78% 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специалистов согласны с тем, что ИИ в обозримом будущем позволит автоматизировать рутинные задачи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54%</a:t>
            </a:r>
            <a:r>
              <a:rPr b="1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</a:t>
            </a:r>
            <a:br>
              <a:rPr sz="2000"/>
            </a:b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согласны с тем, что ИИ может </a:t>
            </a:r>
            <a:r>
              <a:rPr b="1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полностью заменить часть специалистов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7" name="Google Shape;146;p8"/>
          <p:cNvCxnSpPr/>
          <p:nvPr/>
        </p:nvCxnSpPr>
        <p:spPr>
          <a:xfrm>
            <a:off x="10227600" y="5765760"/>
            <a:ext cx="360" cy="3946680"/>
          </a:xfrm>
          <a:prstGeom prst="straightConnector1">
            <a:avLst/>
          </a:prstGeom>
          <a:ln w="38100">
            <a:solidFill>
              <a:srgbClr val="ef334b"/>
            </a:solidFill>
            <a:miter/>
          </a:ln>
        </p:spPr>
      </p:cxnSp>
      <p:grpSp>
        <p:nvGrpSpPr>
          <p:cNvPr id="98" name="Google Shape;147;p8"/>
          <p:cNvGrpSpPr/>
          <p:nvPr/>
        </p:nvGrpSpPr>
        <p:grpSpPr>
          <a:xfrm>
            <a:off x="9092880" y="6426720"/>
            <a:ext cx="1203480" cy="3337560"/>
            <a:chOff x="9092880" y="6426720"/>
            <a:chExt cx="1203480" cy="3337560"/>
          </a:xfrm>
        </p:grpSpPr>
        <p:sp>
          <p:nvSpPr>
            <p:cNvPr id="99" name="Google Shape;148;p8"/>
            <p:cNvSpPr/>
            <p:nvPr/>
          </p:nvSpPr>
          <p:spPr>
            <a:xfrm>
              <a:off x="9092880" y="6426720"/>
              <a:ext cx="120348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ru-RU" sz="3600" strike="noStrike" u="none">
                  <a:solidFill>
                    <a:srgbClr val="7f7f7f"/>
                  </a:solidFill>
                  <a:uFillTx/>
                  <a:latin typeface="Arial"/>
                  <a:ea typeface="Arial"/>
                </a:rPr>
                <a:t>78%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0" name="Google Shape;149;p8"/>
            <p:cNvSpPr/>
            <p:nvPr/>
          </p:nvSpPr>
          <p:spPr>
            <a:xfrm>
              <a:off x="9092880" y="7308000"/>
              <a:ext cx="120348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ru-RU" sz="3600" strike="noStrike" u="none">
                  <a:solidFill>
                    <a:srgbClr val="7f7f7f"/>
                  </a:solidFill>
                  <a:uFillTx/>
                  <a:latin typeface="Arial"/>
                  <a:ea typeface="Arial"/>
                </a:rPr>
                <a:t>73%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1" name="Google Shape;150;p8"/>
            <p:cNvSpPr/>
            <p:nvPr/>
          </p:nvSpPr>
          <p:spPr>
            <a:xfrm>
              <a:off x="9092880" y="8224920"/>
              <a:ext cx="120348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ru-RU" sz="3600" strike="noStrike" u="none">
                  <a:solidFill>
                    <a:srgbClr val="7f7f7f"/>
                  </a:solidFill>
                  <a:uFillTx/>
                  <a:latin typeface="Arial"/>
                  <a:ea typeface="Arial"/>
                </a:rPr>
                <a:t>54%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2" name="Google Shape;151;p8"/>
            <p:cNvSpPr/>
            <p:nvPr/>
          </p:nvSpPr>
          <p:spPr>
            <a:xfrm>
              <a:off x="9092880" y="9124560"/>
              <a:ext cx="120348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ru-RU" sz="3600" strike="noStrike" u="none">
                  <a:solidFill>
                    <a:srgbClr val="7f7f7f"/>
                  </a:solidFill>
                  <a:uFillTx/>
                  <a:latin typeface="Arial"/>
                  <a:ea typeface="Arial"/>
                </a:rPr>
                <a:t>42%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aphicFrame>
        <p:nvGraphicFramePr>
          <p:cNvPr id="103" name="Google Shape;152;p8"/>
          <p:cNvGraphicFramePr/>
          <p:nvPr/>
        </p:nvGraphicFramePr>
        <p:xfrm>
          <a:off x="10303200" y="5859720"/>
          <a:ext cx="4535640" cy="414000"/>
        </p:xfrm>
        <a:graphic>
          <a:graphicData uri="http://schemas.openxmlformats.org/drawingml/2006/table">
            <a:tbl>
              <a:tblPr/>
              <a:tblGrid>
                <a:gridCol w="2268000"/>
                <a:gridCol w="2268000"/>
              </a:tblGrid>
              <a:tr h="4140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Скорее согласен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Полностью согласен 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53;p8"/>
          <p:cNvSpPr/>
          <p:nvPr/>
        </p:nvSpPr>
        <p:spPr>
          <a:xfrm>
            <a:off x="10400400" y="5992200"/>
            <a:ext cx="118440" cy="1184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Google Shape;154;p8"/>
          <p:cNvSpPr/>
          <p:nvPr/>
        </p:nvSpPr>
        <p:spPr>
          <a:xfrm>
            <a:off x="12315600" y="5996160"/>
            <a:ext cx="118440" cy="118440"/>
          </a:xfrm>
          <a:prstGeom prst="rect">
            <a:avLst/>
          </a:prstGeom>
          <a:solidFill>
            <a:srgbClr val="73d777"/>
          </a:solidFill>
          <a:ln w="12700">
            <a:solidFill>
              <a:srgbClr val="73d77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06" name="Google Shape;155;p8"/>
          <p:cNvGraphicFramePr/>
          <p:nvPr/>
        </p:nvGraphicFramePr>
        <p:xfrm>
          <a:off x="4403520" y="1865880"/>
          <a:ext cx="5244120" cy="398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7" name="Google Shape;156;p8"/>
          <p:cNvGraphicFramePr/>
          <p:nvPr/>
        </p:nvGraphicFramePr>
        <p:xfrm>
          <a:off x="10109520" y="6180480"/>
          <a:ext cx="7949520" cy="388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61;p9"/>
          <p:cNvGraphicFramePr/>
          <p:nvPr/>
        </p:nvGraphicFramePr>
        <p:xfrm>
          <a:off x="1076760" y="2270520"/>
          <a:ext cx="10975320" cy="7776000"/>
        </p:xfrm>
        <a:graphic>
          <a:graphicData uri="http://schemas.openxmlformats.org/drawingml/2006/table">
            <a:tbl>
              <a:tblPr/>
              <a:tblGrid>
                <a:gridCol w="6228000"/>
                <a:gridCol w="4747680"/>
              </a:tblGrid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Возможность работать удаленно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ef334b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ef334b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ДМС для сотрудников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Производительное, современное оборудование для работы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Гибкий (свободный) рабочий график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Полноценная зона отдыха в офисе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Компенсация расходов на обучение / корпоративное обучение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Льготные условия по ДМС для членов семьи сотрудника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Полная или частичная компенсация обедов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Полная или частичная компенсация проезда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Компенсация расходов на спорт, корпоративный спортзал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Оплата посещений профильных конференций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Доплата к больничному листу до оклада / среднего заработка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Льготные условия кредитования для сотрудников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Опционы для сотрудников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Возможность переезда или релокации за счет компании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Корпоративная пенсионная программа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Возможность взять саббатикал (длительный творческий отпуск)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4320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Ничего из перечисленного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919191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919191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</a:tbl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sldNum" idx="9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34DF39-8572-4AAB-A45F-AEBEA44BAA84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974880" y="232200"/>
            <a:ext cx="16474680" cy="10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Корпоративные программы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11" name="Google Shape;164;p9"/>
          <p:cNvGrpSpPr/>
          <p:nvPr/>
        </p:nvGrpSpPr>
        <p:grpSpPr>
          <a:xfrm>
            <a:off x="974880" y="1397160"/>
            <a:ext cx="10302120" cy="811080"/>
            <a:chOff x="974880" y="1397160"/>
            <a:chExt cx="10302120" cy="811080"/>
          </a:xfrm>
        </p:grpSpPr>
        <p:sp>
          <p:nvSpPr>
            <p:cNvPr id="112" name="Google Shape;165;p9"/>
            <p:cNvSpPr/>
            <p:nvPr/>
          </p:nvSpPr>
          <p:spPr>
            <a:xfrm>
              <a:off x="1096200" y="1397160"/>
              <a:ext cx="10180800" cy="55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2100" strike="noStrike" u="none">
                  <a:solidFill>
                    <a:schemeClr val="accent2"/>
                  </a:solidFill>
                  <a:uFillTx/>
                  <a:latin typeface="Arial"/>
                  <a:ea typeface="Arial"/>
                </a:rPr>
                <a:t>Какие из перечисленных условий для сотрудников есть в Вашей компании? </a:t>
              </a:r>
              <a:endParaRPr b="0" lang="en-GB" sz="21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13" name="Google Shape;166;p9"/>
            <p:cNvSpPr/>
            <p:nvPr/>
          </p:nvSpPr>
          <p:spPr>
            <a:xfrm>
              <a:off x="974880" y="1758600"/>
              <a:ext cx="5185080" cy="44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ru-RU" sz="1400" strike="noStrike" u="none">
                  <a:solidFill>
                    <a:srgbClr val="ef334b"/>
                  </a:solidFill>
                  <a:uFillTx/>
                  <a:latin typeface="Arial"/>
                  <a:ea typeface="Arial"/>
                </a:rPr>
                <a:t>(множественный выбор)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14" name="Google Shape;167;p9"/>
          <p:cNvGrpSpPr/>
          <p:nvPr/>
        </p:nvGrpSpPr>
        <p:grpSpPr>
          <a:xfrm>
            <a:off x="11554200" y="2256120"/>
            <a:ext cx="5656680" cy="7798320"/>
            <a:chOff x="11554200" y="2256120"/>
            <a:chExt cx="5656680" cy="7798320"/>
          </a:xfrm>
        </p:grpSpPr>
        <p:sp>
          <p:nvSpPr>
            <p:cNvPr id="115" name="Google Shape;168;p9"/>
            <p:cNvSpPr/>
            <p:nvPr/>
          </p:nvSpPr>
          <p:spPr>
            <a:xfrm>
              <a:off x="11554200" y="2256120"/>
              <a:ext cx="5656680" cy="779832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GB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6" name="Google Shape;169;p9"/>
            <p:cNvSpPr/>
            <p:nvPr/>
          </p:nvSpPr>
          <p:spPr>
            <a:xfrm>
              <a:off x="11808360" y="2442960"/>
              <a:ext cx="5324400" cy="730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Самые популярные корпоративные программы для сотрудников </a:t>
              </a: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– возможность работать удаленно (56%) </a:t>
              </a: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и ДМС (46%)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Позитивные карьерные и/или профессиональные ожидания могут быть связаны с наличием корпоративных программ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У специалистов, которые положительно оценивают перспективы отрасли,</a:t>
              </a: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в компаниях чаще, чем у других, встречаются следующие условия: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полноценная зона отдыха в офисе –</a:t>
              </a:r>
              <a:br>
                <a:rPr sz="2000"/>
              </a:br>
              <a:r>
                <a:rPr b="1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на 22 п.п. чаще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полная или частичная компенсация проезда – </a:t>
              </a:r>
              <a:r>
                <a:rPr b="1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на 16 п.п. чаще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полная или частичная компенсация обедов – </a:t>
              </a:r>
              <a:r>
                <a:rPr b="1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на 14 п.п. чаще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гибкий (свободный) рабочий график – </a:t>
              </a:r>
              <a:r>
                <a:rPr b="1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на 14 п.п. чаще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доплата к больничному листу до оклада / среднего заработка – </a:t>
              </a:r>
              <a:r>
                <a:rPr b="1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на 14 п.п. чаще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343080" indent="-216000">
                <a:lnSpc>
                  <a:spcPct val="100000"/>
                </a:lnSpc>
                <a:tabLst>
                  <a:tab algn="l" pos="0"/>
                </a:tabLst>
              </a:pP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343080" indent="-216000">
                <a:lnSpc>
                  <a:spcPct val="100000"/>
                </a:lnSpc>
                <a:tabLst>
                  <a:tab algn="l" pos="0"/>
                </a:tabLst>
              </a:pP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aphicFrame>
        <p:nvGraphicFramePr>
          <p:cNvPr id="117" name="Google Shape;170;p9"/>
          <p:cNvGraphicFramePr/>
          <p:nvPr/>
        </p:nvGraphicFramePr>
        <p:xfrm>
          <a:off x="7260840" y="2076480"/>
          <a:ext cx="4425120" cy="812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8" name="Google Shape;171;p9"/>
          <p:cNvSpPr/>
          <p:nvPr/>
        </p:nvSpPr>
        <p:spPr>
          <a:xfrm>
            <a:off x="1018440" y="1975320"/>
            <a:ext cx="8845200" cy="53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тем, чья форма занятости – наемный сотрудник, владелец бизнеса 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Num" idx="10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9CD513-4ED7-4BFC-BFF4-74B6CF32C334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906480" y="463680"/>
            <a:ext cx="16474680" cy="10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Условия и состав кадров в компаниях разного размера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Google Shape;178;p10"/>
          <p:cNvSpPr/>
          <p:nvPr/>
        </p:nvSpPr>
        <p:spPr>
          <a:xfrm>
            <a:off x="734040" y="5870880"/>
            <a:ext cx="424188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1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ТОП-5 условий </a:t>
            </a:r>
            <a:endParaRPr b="0" lang="en-GB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22" name="Google Shape;179;p10"/>
          <p:cNvGrpSpPr/>
          <p:nvPr/>
        </p:nvGrpSpPr>
        <p:grpSpPr>
          <a:xfrm>
            <a:off x="6594480" y="6282360"/>
            <a:ext cx="6005160" cy="3756960"/>
            <a:chOff x="6594480" y="6282360"/>
            <a:chExt cx="6005160" cy="3756960"/>
          </a:xfrm>
        </p:grpSpPr>
        <p:graphicFrame>
          <p:nvGraphicFramePr>
            <p:cNvPr id="123" name="Google Shape;180;p10"/>
            <p:cNvGraphicFramePr/>
            <p:nvPr/>
          </p:nvGraphicFramePr>
          <p:xfrm>
            <a:off x="9573120" y="6282360"/>
            <a:ext cx="3026520" cy="37569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124" name="Google Shape;181;p10"/>
            <p:cNvSpPr/>
            <p:nvPr/>
          </p:nvSpPr>
          <p:spPr>
            <a:xfrm>
              <a:off x="6594480" y="6498360"/>
              <a:ext cx="3026520" cy="332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Возможность работать удаленно 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ДМС для сотрудников 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br>
                <a:rPr sz="2000"/>
              </a:b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Производительное, современное оборудование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Полноценная зона отдыха</a:t>
              </a:r>
              <a:br>
                <a:rPr sz="1600"/>
              </a:b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в офисе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Льготные условия по ДМС для членов семьи сотрудника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25" name="Google Shape;182;p10"/>
          <p:cNvGrpSpPr/>
          <p:nvPr/>
        </p:nvGrpSpPr>
        <p:grpSpPr>
          <a:xfrm>
            <a:off x="797760" y="6282360"/>
            <a:ext cx="5906520" cy="3756960"/>
            <a:chOff x="797760" y="6282360"/>
            <a:chExt cx="5906520" cy="3756960"/>
          </a:xfrm>
        </p:grpSpPr>
        <p:graphicFrame>
          <p:nvGraphicFramePr>
            <p:cNvPr id="126" name="Google Shape;183;p10"/>
            <p:cNvGraphicFramePr/>
            <p:nvPr/>
          </p:nvGraphicFramePr>
          <p:xfrm>
            <a:off x="3677760" y="6282360"/>
            <a:ext cx="3026520" cy="37569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27" name="Google Shape;184;p10"/>
            <p:cNvSpPr/>
            <p:nvPr/>
          </p:nvSpPr>
          <p:spPr>
            <a:xfrm>
              <a:off x="797760" y="6498360"/>
              <a:ext cx="3026520" cy="333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Возможность работать удаленно 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11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Гибкий (свободный) рабочий график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ДМС для сотрудников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br>
                <a:rPr sz="2000"/>
              </a:b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Производительное, современное оборудование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Полноценная зона отдыха</a:t>
              </a:r>
              <a:br>
                <a:rPr sz="1600"/>
              </a:b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в офисе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28" name="Google Shape;185;p10"/>
          <p:cNvGrpSpPr/>
          <p:nvPr/>
        </p:nvGrpSpPr>
        <p:grpSpPr>
          <a:xfrm>
            <a:off x="12453120" y="6282360"/>
            <a:ext cx="5906520" cy="3756960"/>
            <a:chOff x="12453120" y="6282360"/>
            <a:chExt cx="5906520" cy="3756960"/>
          </a:xfrm>
        </p:grpSpPr>
        <p:graphicFrame>
          <p:nvGraphicFramePr>
            <p:cNvPr id="129" name="Google Shape;186;p10"/>
            <p:cNvGraphicFramePr/>
            <p:nvPr/>
          </p:nvGraphicFramePr>
          <p:xfrm>
            <a:off x="15333120" y="6282360"/>
            <a:ext cx="3026520" cy="37569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30" name="Google Shape;187;p10"/>
            <p:cNvSpPr/>
            <p:nvPr/>
          </p:nvSpPr>
          <p:spPr>
            <a:xfrm>
              <a:off x="12453120" y="6498360"/>
              <a:ext cx="3026520" cy="329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Возможность работать удаленно 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ДМС для сотрудников 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Производительное, современное оборудование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70000"/>
                </a:lnSpc>
                <a:tabLst>
                  <a:tab algn="l" pos="0"/>
                </a:tabLst>
              </a:pPr>
              <a:br>
                <a:rPr sz="2400"/>
              </a:b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Компенсация расходов на обучение / корпоративное обучение 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70000"/>
                </a:lnSpc>
                <a:tabLst>
                  <a:tab algn="l" pos="0"/>
                </a:tabLst>
              </a:pP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Полноценная зона отдыха</a:t>
              </a:r>
              <a:br>
                <a:rPr sz="1600"/>
              </a:br>
              <a:r>
                <a:rPr b="0" lang="ru-RU" sz="1600" strike="noStrike" u="none">
                  <a:solidFill>
                    <a:schemeClr val="dk1"/>
                  </a:solidFill>
                  <a:uFillTx/>
                  <a:latin typeface="Arial"/>
                  <a:ea typeface="Arial"/>
                </a:rPr>
                <a:t>в офисе</a:t>
              </a:r>
              <a:endParaRPr b="0" lang="en-GB" sz="1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31" name="Google Shape;188;p10"/>
          <p:cNvSpPr/>
          <p:nvPr/>
        </p:nvSpPr>
        <p:spPr>
          <a:xfrm>
            <a:off x="734040" y="2767680"/>
            <a:ext cx="16819560" cy="15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Компании отличаются не только по составу кадров, но и по доступным программам для сотрудников.</a:t>
            </a:r>
            <a:br>
              <a:rPr sz="2000"/>
            </a:br>
            <a:r>
              <a:rPr b="0" lang="ru-RU" sz="2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Так, ИТ-специалисты трудоустроенные в крупных и средних компаниях, чаще отмечают наличие таких программ, как компенсация расходов на обучение, спорт, питание, доплаты к больничным листам, а в малых программы, на которые компании не нужно выделять бюджет, например, гибкий график и удаленную работу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Google Shape;189;p10"/>
          <p:cNvSpPr/>
          <p:nvPr/>
        </p:nvSpPr>
        <p:spPr>
          <a:xfrm>
            <a:off x="6552000" y="5885640"/>
            <a:ext cx="424188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1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ТОП-5 условий </a:t>
            </a:r>
            <a:endParaRPr b="0" lang="en-GB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Google Shape;190;p10"/>
          <p:cNvSpPr/>
          <p:nvPr/>
        </p:nvSpPr>
        <p:spPr>
          <a:xfrm>
            <a:off x="12453120" y="5863680"/>
            <a:ext cx="424188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1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ТОП-5 условий </a:t>
            </a:r>
            <a:endParaRPr b="0" lang="en-GB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Google Shape;191;p10"/>
          <p:cNvSpPr/>
          <p:nvPr/>
        </p:nvSpPr>
        <p:spPr>
          <a:xfrm>
            <a:off x="734040" y="4591080"/>
            <a:ext cx="5025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3600" strike="noStrike" u="none">
                <a:solidFill>
                  <a:srgbClr val="ef334b"/>
                </a:solidFill>
                <a:uFillTx/>
                <a:latin typeface="Arial"/>
                <a:ea typeface="Arial"/>
              </a:rPr>
              <a:t>32%</a:t>
            </a:r>
            <a:br>
              <a:rPr sz="36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опрошенных ИТ-специалистов работают </a:t>
            </a:r>
            <a:br>
              <a:rPr sz="18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малых компаниях (до 100 сотрудников)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Google Shape;192;p10"/>
          <p:cNvSpPr/>
          <p:nvPr/>
        </p:nvSpPr>
        <p:spPr>
          <a:xfrm>
            <a:off x="6630840" y="4591080"/>
            <a:ext cx="5536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3600" strike="noStrike" u="none">
                <a:solidFill>
                  <a:srgbClr val="ef334b"/>
                </a:solidFill>
                <a:uFillTx/>
                <a:latin typeface="Arial"/>
                <a:ea typeface="Arial"/>
              </a:rPr>
              <a:t>25%</a:t>
            </a:r>
            <a:br>
              <a:rPr sz="36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опрошенных ИТ-специалистов работают </a:t>
            </a:r>
            <a:br>
              <a:rPr sz="18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средних компаниях (от 100 до 500 сотрудников)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Google Shape;193;p10"/>
          <p:cNvSpPr/>
          <p:nvPr/>
        </p:nvSpPr>
        <p:spPr>
          <a:xfrm>
            <a:off x="12455280" y="4591080"/>
            <a:ext cx="5365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3600" strike="noStrike" u="none">
                <a:solidFill>
                  <a:srgbClr val="ef334b"/>
                </a:solidFill>
                <a:uFillTx/>
                <a:latin typeface="Arial"/>
                <a:ea typeface="Arial"/>
              </a:rPr>
              <a:t>26%</a:t>
            </a:r>
            <a:br>
              <a:rPr sz="36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опрошенных ИТ-специалистов работают </a:t>
            </a:r>
            <a:br>
              <a:rPr sz="18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крупных компаниях (более 500 сотрудников)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Google Shape;194;p10"/>
          <p:cNvSpPr/>
          <p:nvPr/>
        </p:nvSpPr>
        <p:spPr>
          <a:xfrm>
            <a:off x="734040" y="1255680"/>
            <a:ext cx="5169600" cy="13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16%</a:t>
            </a:r>
            <a:br>
              <a:rPr sz="28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опрошенных ИТ-специалистов работают</a:t>
            </a:r>
            <a:br>
              <a:rPr sz="18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как фрилансеры или самозанятые,</a:t>
            </a:r>
            <a:br>
              <a:rPr sz="1800"/>
            </a:b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1% - временно безработные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Google Shape;195;p10"/>
          <p:cNvSpPr/>
          <p:nvPr/>
        </p:nvSpPr>
        <p:spPr>
          <a:xfrm>
            <a:off x="5760000" y="1383840"/>
            <a:ext cx="62636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малых компаниях на 14 п.п. больше трудоустроено сотрудников с опытом работы до 1 года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, при этом</a:t>
            </a:r>
            <a:br>
              <a:rPr sz="1800"/>
            </a:br>
            <a:r>
              <a:rPr b="1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в средних и крупных компаниях больше сотрудников</a:t>
            </a:r>
            <a:br>
              <a:rPr sz="1800"/>
            </a:br>
            <a:r>
              <a:rPr b="1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с опытом работы от 5 лет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(57% и 69%, соответственно)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200;p11"/>
          <p:cNvGraphicFramePr/>
          <p:nvPr/>
        </p:nvGraphicFramePr>
        <p:xfrm>
          <a:off x="10074240" y="1727280"/>
          <a:ext cx="6011640" cy="393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0" name="Google Shape;201;p11"/>
          <p:cNvGraphicFramePr/>
          <p:nvPr/>
        </p:nvGraphicFramePr>
        <p:xfrm>
          <a:off x="1058760" y="1854720"/>
          <a:ext cx="7811640" cy="3676680"/>
        </p:xfrm>
        <a:graphic>
          <a:graphicData uri="http://schemas.openxmlformats.org/drawingml/2006/table">
            <a:tbl>
              <a:tblPr/>
              <a:tblGrid>
                <a:gridCol w="7812000"/>
              </a:tblGrid>
              <a:tr h="919080">
                <a:tc>
                  <a:txBody>
                    <a:bodyPr lIns="6120" rIns="6120" tIns="6120" bIns="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Мне нравится мой рабочий коллектив и атмосфера на моем текущем месте работы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19080">
                <a:tc>
                  <a:txBody>
                    <a:bodyPr lIns="6120" rIns="6120" tIns="6120" bIns="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Мне нравится моя текущая работа по функционалу и количеству задач, это ценный и полезный опыт для моей будущей карьеры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19080">
                <a:tc>
                  <a:txBody>
                    <a:bodyPr lIns="6120" rIns="6120" tIns="6120" bIns="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Я чувствую себя ценным специалистом, мои знания и навыки полностью задействуются в работе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12240">
                      <a:solidFill>
                        <a:srgbClr val="919191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19080">
                <a:tc>
                  <a:txBody>
                    <a:bodyPr lIns="6120" rIns="6120" tIns="6120" bIns="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У меня позитивные эмоциональные ощущения от моих карьерных/профессиональных перспектив в отрасли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919191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Google Shape;202;p11"/>
          <p:cNvGraphicFramePr/>
          <p:nvPr/>
        </p:nvGraphicFramePr>
        <p:xfrm>
          <a:off x="10186200" y="1562040"/>
          <a:ext cx="4535640" cy="414000"/>
        </p:xfrm>
        <a:graphic>
          <a:graphicData uri="http://schemas.openxmlformats.org/drawingml/2006/table">
            <a:tbl>
              <a:tblPr/>
              <a:tblGrid>
                <a:gridCol w="2268000"/>
                <a:gridCol w="2268000"/>
              </a:tblGrid>
              <a:tr h="4140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Скорее согласен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Полностью согласен 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203;p11"/>
          <p:cNvSpPr/>
          <p:nvPr/>
        </p:nvSpPr>
        <p:spPr>
          <a:xfrm>
            <a:off x="1063440" y="1553760"/>
            <a:ext cx="94791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1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Согласны ли Вы со следующими утверждениями?</a:t>
            </a:r>
            <a:endParaRPr b="0" lang="en-GB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sldNum" idx="11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CFC16E-1191-485A-83EC-F86124DAD46C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6474680" cy="10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Удовлетворенность и поиск работы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45" name="Google Shape;206;p11"/>
          <p:cNvGrpSpPr/>
          <p:nvPr/>
        </p:nvGrpSpPr>
        <p:grpSpPr>
          <a:xfrm>
            <a:off x="979200" y="5994360"/>
            <a:ext cx="12274560" cy="869040"/>
            <a:chOff x="979200" y="5994360"/>
            <a:chExt cx="12274560" cy="869040"/>
          </a:xfrm>
        </p:grpSpPr>
        <p:sp>
          <p:nvSpPr>
            <p:cNvPr id="146" name="Google Shape;207;p11"/>
            <p:cNvSpPr/>
            <p:nvPr/>
          </p:nvSpPr>
          <p:spPr>
            <a:xfrm>
              <a:off x="1063440" y="5994360"/>
              <a:ext cx="12190320" cy="86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14000"/>
                </a:lnSpc>
                <a:tabLst>
                  <a:tab algn="l" pos="0"/>
                </a:tabLst>
              </a:pPr>
              <a:r>
                <a:rPr b="0" lang="ru-RU" sz="2100" strike="noStrike" u="none">
                  <a:solidFill>
                    <a:schemeClr val="accent2"/>
                  </a:solidFill>
                  <a:uFillTx/>
                  <a:latin typeface="Arial"/>
                  <a:ea typeface="Arial"/>
                </a:rPr>
                <a:t>Какой у Вас статус поиска работы?</a:t>
              </a:r>
              <a:endParaRPr b="0" lang="en-GB" sz="21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47" name="Google Shape;208;p11"/>
            <p:cNvSpPr/>
            <p:nvPr/>
          </p:nvSpPr>
          <p:spPr>
            <a:xfrm>
              <a:off x="979200" y="6406920"/>
              <a:ext cx="6179040" cy="43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ru-RU" sz="1400" strike="noStrike" u="none">
                  <a:solidFill>
                    <a:srgbClr val="ff0000"/>
                  </a:solidFill>
                  <a:uFillTx/>
                  <a:latin typeface="Arial"/>
                  <a:ea typeface="Arial"/>
                </a:rPr>
                <a:t>(один вариант ответа)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cxnSp>
        <p:nvCxnSpPr>
          <p:cNvPr id="148" name="Google Shape;209;p11"/>
          <p:cNvCxnSpPr/>
          <p:nvPr/>
        </p:nvCxnSpPr>
        <p:spPr>
          <a:xfrm>
            <a:off x="10198800" y="2083320"/>
            <a:ext cx="360" cy="3420360"/>
          </a:xfrm>
          <a:prstGeom prst="straightConnector1">
            <a:avLst/>
          </a:prstGeom>
          <a:ln w="38100">
            <a:solidFill>
              <a:srgbClr val="ef334b"/>
            </a:solidFill>
            <a:miter/>
          </a:ln>
        </p:spPr>
      </p:cxnSp>
      <p:cxnSp>
        <p:nvCxnSpPr>
          <p:cNvPr id="149" name="Google Shape;210;p11"/>
          <p:cNvCxnSpPr/>
          <p:nvPr/>
        </p:nvCxnSpPr>
        <p:spPr>
          <a:xfrm>
            <a:off x="974520" y="5502600"/>
            <a:ext cx="16556040" cy="360"/>
          </a:xfrm>
          <a:prstGeom prst="straightConnector1">
            <a:avLst/>
          </a:prstGeom>
          <a:ln w="38100">
            <a:solidFill>
              <a:srgbClr val="ef334b"/>
            </a:solidFill>
            <a:miter/>
          </a:ln>
        </p:spPr>
      </p:cxnSp>
      <p:sp>
        <p:nvSpPr>
          <p:cNvPr id="150" name="Google Shape;211;p11"/>
          <p:cNvSpPr/>
          <p:nvPr/>
        </p:nvSpPr>
        <p:spPr>
          <a:xfrm>
            <a:off x="10283400" y="1694520"/>
            <a:ext cx="118440" cy="1184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1" name="Google Shape;212;p11"/>
          <p:cNvSpPr/>
          <p:nvPr/>
        </p:nvSpPr>
        <p:spPr>
          <a:xfrm>
            <a:off x="12198600" y="1698840"/>
            <a:ext cx="118440" cy="118440"/>
          </a:xfrm>
          <a:prstGeom prst="rect">
            <a:avLst/>
          </a:prstGeom>
          <a:solidFill>
            <a:srgbClr val="73d777"/>
          </a:solidFill>
          <a:ln w="12700">
            <a:solidFill>
              <a:srgbClr val="73d77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Google Shape;213;p11"/>
          <p:cNvSpPr/>
          <p:nvPr/>
        </p:nvSpPr>
        <p:spPr>
          <a:xfrm>
            <a:off x="1082520" y="7303680"/>
            <a:ext cx="118440" cy="118440"/>
          </a:xfrm>
          <a:prstGeom prst="rect">
            <a:avLst/>
          </a:prstGeom>
          <a:solidFill>
            <a:srgbClr val="74cddd"/>
          </a:solidFill>
          <a:ln w="12700">
            <a:solidFill>
              <a:srgbClr val="74c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Google Shape;214;p11"/>
          <p:cNvSpPr/>
          <p:nvPr/>
        </p:nvSpPr>
        <p:spPr>
          <a:xfrm>
            <a:off x="1272600" y="7212240"/>
            <a:ext cx="22492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Ищу новую работу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Google Shape;215;p11"/>
          <p:cNvSpPr/>
          <p:nvPr/>
        </p:nvSpPr>
        <p:spPr>
          <a:xfrm>
            <a:off x="1081440" y="7820640"/>
            <a:ext cx="118440" cy="118440"/>
          </a:xfrm>
          <a:prstGeom prst="rect">
            <a:avLst/>
          </a:prstGeom>
          <a:solidFill>
            <a:srgbClr val="ef334b"/>
          </a:solidFill>
          <a:ln w="12700">
            <a:solidFill>
              <a:srgbClr val="ef334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5" name="Google Shape;216;p11"/>
          <p:cNvSpPr/>
          <p:nvPr/>
        </p:nvSpPr>
        <p:spPr>
          <a:xfrm>
            <a:off x="1272600" y="7716240"/>
            <a:ext cx="22492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Ищу подработку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Google Shape;217;p11"/>
          <p:cNvSpPr/>
          <p:nvPr/>
        </p:nvSpPr>
        <p:spPr>
          <a:xfrm>
            <a:off x="1074960" y="8401320"/>
            <a:ext cx="118440" cy="11844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3902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Google Shape;218;p11"/>
          <p:cNvSpPr/>
          <p:nvPr/>
        </p:nvSpPr>
        <p:spPr>
          <a:xfrm>
            <a:off x="1262520" y="8299440"/>
            <a:ext cx="36885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Не ищу новую работу или подработку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Google Shape;219;p11"/>
          <p:cNvSpPr/>
          <p:nvPr/>
        </p:nvSpPr>
        <p:spPr>
          <a:xfrm>
            <a:off x="1081440" y="8969400"/>
            <a:ext cx="118440" cy="118440"/>
          </a:xfrm>
          <a:prstGeom prst="rect">
            <a:avLst/>
          </a:prstGeom>
          <a:solidFill>
            <a:srgbClr val="73d777"/>
          </a:solidFill>
          <a:ln w="12700">
            <a:solidFill>
              <a:srgbClr val="73d77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Google Shape;220;p11"/>
          <p:cNvSpPr/>
          <p:nvPr/>
        </p:nvSpPr>
        <p:spPr>
          <a:xfrm>
            <a:off x="1249920" y="8814240"/>
            <a:ext cx="368856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Не ищу новую работу, но слежу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за актуальными вакансиями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Google Shape;221;p11"/>
          <p:cNvSpPr/>
          <p:nvPr/>
        </p:nvSpPr>
        <p:spPr>
          <a:xfrm>
            <a:off x="8761320" y="5634360"/>
            <a:ext cx="8768520" cy="4596480"/>
          </a:xfrm>
          <a:prstGeom prst="rect">
            <a:avLst/>
          </a:prstGeom>
          <a:solidFill>
            <a:srgbClr val="ef33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61" name="Google Shape;222;p11"/>
          <p:cNvGrpSpPr/>
          <p:nvPr/>
        </p:nvGrpSpPr>
        <p:grpSpPr>
          <a:xfrm>
            <a:off x="8979120" y="2025000"/>
            <a:ext cx="1203480" cy="3337560"/>
            <a:chOff x="8979120" y="2025000"/>
            <a:chExt cx="1203480" cy="3337560"/>
          </a:xfrm>
        </p:grpSpPr>
        <p:sp>
          <p:nvSpPr>
            <p:cNvPr id="162" name="Google Shape;223;p11"/>
            <p:cNvSpPr/>
            <p:nvPr/>
          </p:nvSpPr>
          <p:spPr>
            <a:xfrm>
              <a:off x="8979120" y="2025000"/>
              <a:ext cx="120348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ru-RU" sz="3600" strike="noStrike" u="none">
                  <a:solidFill>
                    <a:srgbClr val="7f7f7f"/>
                  </a:solidFill>
                  <a:uFillTx/>
                  <a:latin typeface="Arial"/>
                  <a:ea typeface="Arial"/>
                </a:rPr>
                <a:t>79%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3" name="Google Shape;224;p11"/>
            <p:cNvSpPr/>
            <p:nvPr/>
          </p:nvSpPr>
          <p:spPr>
            <a:xfrm>
              <a:off x="8979120" y="2906280"/>
              <a:ext cx="120348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ru-RU" sz="3600" strike="noStrike" u="none">
                  <a:solidFill>
                    <a:srgbClr val="7f7f7f"/>
                  </a:solidFill>
                  <a:uFillTx/>
                  <a:latin typeface="Arial"/>
                  <a:ea typeface="Arial"/>
                </a:rPr>
                <a:t>78%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4" name="Google Shape;225;p11"/>
            <p:cNvSpPr/>
            <p:nvPr/>
          </p:nvSpPr>
          <p:spPr>
            <a:xfrm>
              <a:off x="8979120" y="3823200"/>
              <a:ext cx="120348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ru-RU" sz="3600" strike="noStrike" u="none">
                  <a:solidFill>
                    <a:srgbClr val="7f7f7f"/>
                  </a:solidFill>
                  <a:uFillTx/>
                  <a:latin typeface="Arial"/>
                  <a:ea typeface="Arial"/>
                </a:rPr>
                <a:t>75%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5" name="Google Shape;226;p11"/>
            <p:cNvSpPr/>
            <p:nvPr/>
          </p:nvSpPr>
          <p:spPr>
            <a:xfrm>
              <a:off x="8979120" y="4722840"/>
              <a:ext cx="120348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ru-RU" sz="3600" strike="noStrike" u="none">
                  <a:solidFill>
                    <a:srgbClr val="7f7f7f"/>
                  </a:solidFill>
                  <a:uFillTx/>
                  <a:latin typeface="Arial"/>
                  <a:ea typeface="Arial"/>
                </a:rPr>
                <a:t>67%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15392520" y="2170080"/>
            <a:ext cx="2515680" cy="48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0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тем, чья форма занятости – наемный сотрудник  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Google Shape;228;p11"/>
          <p:cNvSpPr/>
          <p:nvPr/>
        </p:nvSpPr>
        <p:spPr>
          <a:xfrm>
            <a:off x="15392520" y="2867400"/>
            <a:ext cx="2397240" cy="69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0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тем, чья форма занятости – наемный сотрудник, владелец бизнеса, самозанятый, фрилансер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Google Shape;229;p11"/>
          <p:cNvSpPr/>
          <p:nvPr/>
        </p:nvSpPr>
        <p:spPr>
          <a:xfrm>
            <a:off x="8870760" y="5633640"/>
            <a:ext cx="8897760" cy="42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Среди наемных сотрудников: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79% удовлетворены рабочей атмосферой и коллективом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76% нравится текущая работа по функционалу 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GB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Несмотря на высокий уровень удовлетворенности, только треть сотрудников НЕ ищет новую работу или подработку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GB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32%</a:t>
            </a:r>
            <a:br>
              <a:rPr sz="4400"/>
            </a:b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наемных сотрудников находятся в </a:t>
            </a:r>
            <a:r>
              <a:rPr b="1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активном поиске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ru-RU" sz="2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35%</a:t>
            </a:r>
            <a:br>
              <a:rPr sz="4400"/>
            </a:br>
            <a:r>
              <a:rPr b="1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в пассивном поиске </a:t>
            </a: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– следят за актуальными вакансиями </a:t>
            </a:r>
            <a:br>
              <a:rPr sz="2000"/>
            </a:b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 рассматривают входящие предложения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36% из них - сотрудники крупных компаний со штатом более 500 человек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Google Shape;230;p11"/>
          <p:cNvSpPr/>
          <p:nvPr/>
        </p:nvSpPr>
        <p:spPr>
          <a:xfrm>
            <a:off x="15397200" y="3800880"/>
            <a:ext cx="2397240" cy="69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0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тем, чья форма занятости – наемный сотрудник, владелец бизнеса, самозанятый, фрилансер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Google Shape;231;p11"/>
          <p:cNvSpPr/>
          <p:nvPr/>
        </p:nvSpPr>
        <p:spPr>
          <a:xfrm>
            <a:off x="15371280" y="4702680"/>
            <a:ext cx="2397240" cy="69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0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всем респондентам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71" name="Google Shape;232;p11"/>
          <p:cNvGraphicFramePr/>
          <p:nvPr/>
        </p:nvGraphicFramePr>
        <p:xfrm>
          <a:off x="2582640" y="5802480"/>
          <a:ext cx="7530120" cy="449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237;p12"/>
          <p:cNvGraphicFramePr/>
          <p:nvPr/>
        </p:nvGraphicFramePr>
        <p:xfrm>
          <a:off x="1061640" y="3484440"/>
          <a:ext cx="8459640" cy="5763960"/>
        </p:xfrm>
        <a:graphic>
          <a:graphicData uri="http://schemas.openxmlformats.org/drawingml/2006/table">
            <a:tbl>
              <a:tblPr/>
              <a:tblGrid>
                <a:gridCol w="3924000"/>
                <a:gridCol w="4536000"/>
              </a:tblGrid>
              <a:tr h="7128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Изучить как эффективно использовать рабочие инструменты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74cdd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74cddd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128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Изучить новые языки программирования или технологии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128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Учить иностранные языки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128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Тайм-менеджмент (управление временем)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128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Развитие «мягких» навыков (soft skills)***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128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Развитие лидерских навыков и качеств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128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Не планирую развивать навыки в ближайший год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712800">
                <a:tc>
                  <a:txBody>
                    <a:bodyPr lIns="6120" rIns="6120" tIns="6120" bIns="0" anchor="ctr">
                      <a:noAutofit/>
                    </a:bodyPr>
                    <a:p>
                      <a:pPr marL="8892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Другое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</a:tbl>
          </a:graphicData>
        </a:graphic>
      </p:graphicFrame>
      <p:sp>
        <p:nvSpPr>
          <p:cNvPr id="173" name="PlaceHolder 1"/>
          <p:cNvSpPr>
            <a:spLocks noGrp="1"/>
          </p:cNvSpPr>
          <p:nvPr>
            <p:ph type="sldNum" idx="12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006749-CD12-4F0C-BA32-4923389A3097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6550640" cy="10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Цели развития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75" name="Google Shape;240;p12"/>
          <p:cNvGrpSpPr/>
          <p:nvPr/>
        </p:nvGrpSpPr>
        <p:grpSpPr>
          <a:xfrm>
            <a:off x="1047240" y="1960560"/>
            <a:ext cx="8629200" cy="1382040"/>
            <a:chOff x="1047240" y="1960560"/>
            <a:chExt cx="8629200" cy="1382040"/>
          </a:xfrm>
        </p:grpSpPr>
        <p:sp>
          <p:nvSpPr>
            <p:cNvPr id="176" name="Google Shape;241;p12"/>
            <p:cNvSpPr/>
            <p:nvPr/>
          </p:nvSpPr>
          <p:spPr>
            <a:xfrm>
              <a:off x="1130760" y="1960560"/>
              <a:ext cx="8545680" cy="50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2100" strike="noStrike" u="none">
                  <a:solidFill>
                    <a:schemeClr val="accent2"/>
                  </a:solidFill>
                  <a:uFillTx/>
                  <a:latin typeface="Arial"/>
                  <a:ea typeface="Arial"/>
                </a:rPr>
                <a:t>Какие цели развития профессиональных навыков Вы ставите перед собой на ближайший год?</a:t>
              </a:r>
              <a:endParaRPr b="0" lang="en-GB" sz="21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2100" strike="noStrike" u="none">
                  <a:solidFill>
                    <a:schemeClr val="accent2"/>
                  </a:solidFill>
                  <a:uFillTx/>
                  <a:latin typeface="Arial"/>
                  <a:ea typeface="Arial"/>
                </a:rPr>
                <a:t>Каких навыков Вам сейчас не хватает?</a:t>
              </a:r>
              <a:endParaRPr b="0" lang="en-GB" sz="21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7" name="Google Shape;242;p12"/>
            <p:cNvSpPr/>
            <p:nvPr/>
          </p:nvSpPr>
          <p:spPr>
            <a:xfrm>
              <a:off x="1047240" y="2928240"/>
              <a:ext cx="4352040" cy="41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ru-RU" sz="1400" strike="noStrike" u="none">
                  <a:solidFill>
                    <a:srgbClr val="ef334b"/>
                  </a:solidFill>
                  <a:uFillTx/>
                  <a:latin typeface="Arial"/>
                  <a:ea typeface="Arial"/>
                </a:rPr>
                <a:t>(множественный выбор)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78" name="Google Shape;243;p12"/>
          <p:cNvGrpSpPr/>
          <p:nvPr/>
        </p:nvGrpSpPr>
        <p:grpSpPr>
          <a:xfrm>
            <a:off x="10363320" y="1497960"/>
            <a:ext cx="7099200" cy="7689960"/>
            <a:chOff x="10363320" y="1497960"/>
            <a:chExt cx="7099200" cy="7689960"/>
          </a:xfrm>
        </p:grpSpPr>
        <p:sp>
          <p:nvSpPr>
            <p:cNvPr id="179" name="Google Shape;244;p12"/>
            <p:cNvSpPr/>
            <p:nvPr/>
          </p:nvSpPr>
          <p:spPr>
            <a:xfrm>
              <a:off x="10363320" y="1497960"/>
              <a:ext cx="7099200" cy="7689960"/>
            </a:xfrm>
            <a:prstGeom prst="rect">
              <a:avLst/>
            </a:prstGeom>
            <a:solidFill>
              <a:srgbClr val="ef334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GB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80" name="Google Shape;245;p12"/>
            <p:cNvSpPr/>
            <p:nvPr/>
          </p:nvSpPr>
          <p:spPr>
            <a:xfrm>
              <a:off x="10454040" y="1543680"/>
              <a:ext cx="6958800" cy="741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54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2</a:t>
              </a:r>
              <a:endParaRPr b="0" lang="en-GB" sz="54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- среднее количество целей развития профессиональных навыков, которые ИТ-специалисты ставят перед собой на ближайший год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Специалисты с профильным образованием чаще других отмечают, что хотели бы развивать следующие навыки: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285840" indent="-285840">
                <a:lnSpc>
                  <a:spcPct val="100000"/>
                </a:lnSpc>
                <a:spcBef>
                  <a:spcPts val="300"/>
                </a:spcBef>
                <a:buClr>
                  <a:srgbClr val="ffffff"/>
                </a:buClr>
                <a:buFont typeface="Arial"/>
                <a:buChar char="•"/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изучить новые языки программирования</a:t>
              </a: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или технологии на 11 п.п.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285840" indent="-285840">
                <a:lnSpc>
                  <a:spcPct val="100000"/>
                </a:lnSpc>
                <a:spcBef>
                  <a:spcPts val="300"/>
                </a:spcBef>
                <a:buClr>
                  <a:srgbClr val="ffffff"/>
                </a:buClr>
                <a:buFont typeface="Arial"/>
                <a:buChar char="•"/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изучить как эффективно использовать рабочие инструменты - на 7 п.п. 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marL="285840" indent="-222120"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При этом начинающие специалисты* с профильным образованием чаще, чем опытные** специалисты</a:t>
              </a: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с профильным образованием, заинтересованы в развитии навыков тайм-менеджмента (на 19 п.п.), «мягких» навыков (soft skills) (15 п.п.), изучении иностранных языков (13 п.п.)</a:t>
              </a:r>
              <a:br>
                <a:rPr sz="1100"/>
              </a:b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Из числа тех, кто не планирует развивать навыки</a:t>
              </a: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в ближайший год, 74% - ИТ-специалисты со стажем более 5 лет</a:t>
              </a:r>
              <a:endParaRPr b="0" lang="en-GB" sz="2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aphicFrame>
        <p:nvGraphicFramePr>
          <p:cNvPr id="181" name="Google Shape;246;p12"/>
          <p:cNvGraphicFramePr/>
          <p:nvPr/>
        </p:nvGraphicFramePr>
        <p:xfrm>
          <a:off x="5032800" y="3370320"/>
          <a:ext cx="5190840" cy="5899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10363320" y="9489960"/>
            <a:ext cx="7782480" cy="54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*Начинающие специалисты </a:t>
            </a: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– работают по профессии до 5 лет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**</a:t>
            </a:r>
            <a:r>
              <a:rPr b="1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Опытные специалисты </a:t>
            </a: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– работают по профессии более 5 лет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Google Shape;248;p12"/>
          <p:cNvSpPr/>
          <p:nvPr/>
        </p:nvSpPr>
        <p:spPr>
          <a:xfrm>
            <a:off x="460800" y="9522720"/>
            <a:ext cx="9143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***например, умение работать в команде, коммуникабельность, критическое мышление и др.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Num" idx="13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4001AA-5BBE-4F81-8F32-210CF4B5675E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title"/>
          </p:nvPr>
        </p:nvSpPr>
        <p:spPr>
          <a:xfrm>
            <a:off x="974880" y="460440"/>
            <a:ext cx="16550640" cy="10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Уровень заработной платы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6" name="Google Shape;255;p13"/>
          <p:cNvGrpSpPr/>
          <p:nvPr/>
        </p:nvGrpSpPr>
        <p:grpSpPr>
          <a:xfrm>
            <a:off x="1126080" y="2711160"/>
            <a:ext cx="8345160" cy="1140480"/>
            <a:chOff x="1126080" y="2711160"/>
            <a:chExt cx="8345160" cy="1140480"/>
          </a:xfrm>
        </p:grpSpPr>
        <p:sp>
          <p:nvSpPr>
            <p:cNvPr id="187" name="Google Shape;256;p13"/>
            <p:cNvSpPr/>
            <p:nvPr/>
          </p:nvSpPr>
          <p:spPr>
            <a:xfrm>
              <a:off x="1191240" y="2711160"/>
              <a:ext cx="8280000" cy="86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14000"/>
                </a:lnSpc>
                <a:tabLst>
                  <a:tab algn="l" pos="0"/>
                </a:tabLst>
              </a:pPr>
              <a:r>
                <a:rPr b="0" lang="ru-RU" sz="2100" strike="noStrike" u="none">
                  <a:solidFill>
                    <a:schemeClr val="accent2"/>
                  </a:solidFill>
                  <a:uFillTx/>
                  <a:latin typeface="Arial"/>
                  <a:ea typeface="Arial"/>
                </a:rPr>
                <a:t>Оцените, на сколько процентов выросла Ваша заработная плата </a:t>
              </a:r>
              <a:br>
                <a:rPr sz="2100"/>
              </a:br>
              <a:r>
                <a:rPr b="0" lang="ru-RU" sz="2100" strike="noStrike" u="none">
                  <a:solidFill>
                    <a:schemeClr val="accent2"/>
                  </a:solidFill>
                  <a:uFillTx/>
                  <a:latin typeface="Arial"/>
                  <a:ea typeface="Arial"/>
                </a:rPr>
                <a:t>за последний год?</a:t>
              </a:r>
              <a:endParaRPr b="0" lang="en-GB" sz="21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8" name="Google Shape;257;p13"/>
            <p:cNvSpPr/>
            <p:nvPr/>
          </p:nvSpPr>
          <p:spPr>
            <a:xfrm>
              <a:off x="1126080" y="3411720"/>
              <a:ext cx="6179040" cy="43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ru-RU" sz="1400" strike="noStrike" u="none">
                  <a:solidFill>
                    <a:srgbClr val="ff0000"/>
                  </a:solidFill>
                  <a:uFillTx/>
                  <a:latin typeface="Arial"/>
                  <a:ea typeface="Arial"/>
                </a:rPr>
                <a:t>(один вариант ответа)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89" name="Google Shape;258;p13"/>
          <p:cNvGrpSpPr/>
          <p:nvPr/>
        </p:nvGrpSpPr>
        <p:grpSpPr>
          <a:xfrm>
            <a:off x="11196720" y="3271320"/>
            <a:ext cx="6241320" cy="6378120"/>
            <a:chOff x="11196720" y="3271320"/>
            <a:chExt cx="6241320" cy="6378120"/>
          </a:xfrm>
        </p:grpSpPr>
        <p:sp>
          <p:nvSpPr>
            <p:cNvPr id="190" name="Google Shape;259;p13"/>
            <p:cNvSpPr/>
            <p:nvPr/>
          </p:nvSpPr>
          <p:spPr>
            <a:xfrm>
              <a:off x="11196720" y="3271320"/>
              <a:ext cx="6241320" cy="6378120"/>
            </a:xfrm>
            <a:prstGeom prst="rect">
              <a:avLst/>
            </a:prstGeom>
            <a:solidFill>
              <a:srgbClr val="ef334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GB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91" name="Google Shape;260;p13"/>
            <p:cNvSpPr/>
            <p:nvPr/>
          </p:nvSpPr>
          <p:spPr>
            <a:xfrm>
              <a:off x="11401200" y="3580560"/>
              <a:ext cx="5831640" cy="6005160"/>
            </a:xfrm>
            <a:prstGeom prst="rect">
              <a:avLst/>
            </a:prstGeom>
            <a:solidFill>
              <a:srgbClr val="ef334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Позитивные карьерные/профессиональные ожидания могут быть связаны с ростом заработной платы:</a:t>
              </a:r>
              <a:endParaRPr b="0" lang="en-GB" sz="2000" strike="noStrike" u="none">
                <a:solidFill>
                  <a:srgbClr val="ffffff"/>
                </a:solidFill>
                <a:uFillTx/>
                <a:latin typeface="Arial"/>
              </a:endParaRPr>
            </a:p>
            <a:p>
              <a:pPr marL="457200"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специалистам, которые позитивно оценивают перспективы отрасли,</a:t>
              </a: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на 27 п.п. чаще поднимали зарплату</a:t>
              </a:r>
              <a:br>
                <a:rPr sz="2000"/>
              </a:b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за последний год</a:t>
              </a:r>
              <a:endParaRPr b="0" lang="en-GB" sz="2000" strike="noStrike" u="none">
                <a:solidFill>
                  <a:srgbClr val="ffffff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endParaRPr b="0" lang="en-GB" sz="2000" strike="noStrike" u="none">
                <a:solidFill>
                  <a:srgbClr val="ffffff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У 37% тех, кому повысили заработную плату, она выросла на 10-20%</a:t>
              </a:r>
              <a:endParaRPr b="0" lang="en-GB" sz="2000" strike="noStrike" u="none">
                <a:solidFill>
                  <a:srgbClr val="ffffff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endParaRPr b="0" lang="en-GB" sz="2000" strike="noStrike" u="none">
                <a:solidFill>
                  <a:srgbClr val="ffffff"/>
                </a:solidFill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ru-RU" sz="2000" strike="noStrike" u="none">
                  <a:solidFill>
                    <a:schemeClr val="lt1"/>
                  </a:solidFill>
                  <a:uFillTx/>
                  <a:latin typeface="Arial"/>
                  <a:ea typeface="Arial"/>
                </a:rPr>
                <a:t>Те, кому повысили заработную плату, чаще являются сотрудниками компаний, в которых более распространены корпоративные программы компенсаций расходов на обучение (19 п.п.) и питание (17 п.п.), доплаты к больничным листам (14 п.п.), льготные условия кредитования для сотрудников (10 п.п.)</a:t>
              </a:r>
              <a:endParaRPr b="0" lang="en-GB" sz="20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92" name="Google Shape;261;p13"/>
          <p:cNvSpPr/>
          <p:nvPr/>
        </p:nvSpPr>
        <p:spPr>
          <a:xfrm>
            <a:off x="660960" y="1530000"/>
            <a:ext cx="164268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ru-RU" sz="4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62%</a:t>
            </a:r>
            <a:endParaRPr b="0" lang="en-GB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Google Shape;262;p13"/>
          <p:cNvSpPr/>
          <p:nvPr/>
        </p:nvSpPr>
        <p:spPr>
          <a:xfrm>
            <a:off x="2304000" y="1605600"/>
            <a:ext cx="777564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ИТ-специалистов отметили, что их </a:t>
            </a:r>
            <a:r>
              <a:rPr b="1" lang="ru-RU" sz="1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заработная плата выросла </a:t>
            </a:r>
            <a:br>
              <a:rPr sz="1600"/>
            </a:br>
            <a:r>
              <a:rPr b="1" lang="ru-RU" sz="1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за последний год</a:t>
            </a:r>
            <a:r>
              <a:rPr b="0" lang="ru-RU" sz="1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, при этом средний рост заработной платы составил </a:t>
            </a:r>
            <a:r>
              <a:rPr b="1" lang="ru-RU" sz="1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20%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4" name="Google Shape;263;p13" descr=""/>
          <p:cNvPicPr/>
          <p:nvPr/>
        </p:nvPicPr>
        <p:blipFill>
          <a:blip r:embed="rId1"/>
          <a:stretch/>
        </p:blipFill>
        <p:spPr>
          <a:xfrm>
            <a:off x="401760" y="3871800"/>
            <a:ext cx="9794160" cy="58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Google Shape;264;p13"/>
          <p:cNvSpPr/>
          <p:nvPr/>
        </p:nvSpPr>
        <p:spPr>
          <a:xfrm>
            <a:off x="6643080" y="7047000"/>
            <a:ext cx="62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0%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Google Shape;265;p13"/>
          <p:cNvSpPr/>
          <p:nvPr/>
        </p:nvSpPr>
        <p:spPr>
          <a:xfrm>
            <a:off x="6643080" y="7545600"/>
            <a:ext cx="62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0%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Google Shape;266;p13"/>
          <p:cNvSpPr/>
          <p:nvPr/>
        </p:nvSpPr>
        <p:spPr>
          <a:xfrm>
            <a:off x="6643080" y="8597880"/>
            <a:ext cx="62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Google Shape;267;p13"/>
          <p:cNvSpPr/>
          <p:nvPr/>
        </p:nvSpPr>
        <p:spPr>
          <a:xfrm>
            <a:off x="6264000" y="6525360"/>
            <a:ext cx="62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4%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Google Shape;268;p13"/>
          <p:cNvSpPr/>
          <p:nvPr/>
        </p:nvSpPr>
        <p:spPr>
          <a:xfrm>
            <a:off x="1126080" y="3574440"/>
            <a:ext cx="8845200" cy="53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2"/>
                </a:solidFill>
                <a:uFillTx/>
                <a:latin typeface="Arial"/>
                <a:ea typeface="Arial"/>
              </a:rPr>
              <a:t>вопрос задавался респондентам, чья заработная плата выросла за последний год  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73;p14"/>
          <p:cNvGraphicFramePr/>
          <p:nvPr/>
        </p:nvGraphicFramePr>
        <p:xfrm>
          <a:off x="946440" y="2849040"/>
          <a:ext cx="9067320" cy="5790960"/>
        </p:xfrm>
        <a:graphic>
          <a:graphicData uri="http://schemas.openxmlformats.org/drawingml/2006/table">
            <a:tbl>
              <a:tblPr/>
              <a:tblGrid>
                <a:gridCol w="4387680"/>
                <a:gridCol w="4680000"/>
              </a:tblGrid>
              <a:tr h="1047960">
                <a:tc gridSpan="2">
                  <a:txBody>
                    <a:bodyPr lIns="6120" rIns="6120" tIns="612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ef334b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9486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Да, мы перешли / переходим сейчас на отечественное ПО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ef334b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ef334b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486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Нет, все программы как работали, так и продолжают работать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486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Да, испытываем трудности в использовании зарубежного ПО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486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Да, мы перешли / переходим сейчас на другое зарубежное ПО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  <a:tr h="948600">
                <a:tc>
                  <a:txBody>
                    <a:bodyPr lIns="6120" rIns="6120" tIns="61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Затрудняюсь ответить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120" marR="6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endParaRPr b="0" lang="en-GB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360" marR="9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bdbdbd"/>
                      </a:solidFill>
                      <a:prstDash val="solid"/>
                    </a:lnT>
                    <a:lnB w="18720">
                      <a:solidFill>
                        <a:srgbClr val="bdbdbd"/>
                      </a:solidFill>
                      <a:prstDash val="solid"/>
                    </a:lnB>
                    <a:solidFill>
                      <a:srgbClr val="ebf6f9"/>
                    </a:solidFill>
                  </a:tcPr>
                </a:tc>
              </a:tr>
            </a:tbl>
          </a:graphicData>
        </a:graphic>
      </p:graphicFrame>
      <p:sp>
        <p:nvSpPr>
          <p:cNvPr id="201" name="PlaceHolder 1"/>
          <p:cNvSpPr>
            <a:spLocks noGrp="1"/>
          </p:cNvSpPr>
          <p:nvPr>
            <p:ph type="sldNum" idx="14"/>
          </p:nvPr>
        </p:nvSpPr>
        <p:spPr>
          <a:xfrm>
            <a:off x="17075880" y="9586080"/>
            <a:ext cx="810000" cy="2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1FDCC0-BEED-4B1C-B387-F705D49F7584}" type="slidenum">
              <a:rPr b="0" lang="ru-RU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title"/>
          </p:nvPr>
        </p:nvSpPr>
        <p:spPr>
          <a:xfrm>
            <a:off x="982800" y="382320"/>
            <a:ext cx="16550640" cy="10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5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Импортозамещение</a:t>
            </a:r>
            <a:endParaRPr b="0" lang="en-GB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Google Shape;276;p14"/>
          <p:cNvSpPr/>
          <p:nvPr/>
        </p:nvSpPr>
        <p:spPr>
          <a:xfrm>
            <a:off x="946440" y="2381760"/>
            <a:ext cx="8613360" cy="17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1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Повлияла ли текущая ситуация на то, какое программное обеспечение Вы используете в работе </a:t>
            </a:r>
            <a:br>
              <a:rPr sz="2100"/>
            </a:br>
            <a:r>
              <a:rPr b="0" lang="ru-RU" sz="21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в вашей сфере?</a:t>
            </a:r>
            <a:endParaRPr b="0" lang="en-GB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Google Shape;277;p14"/>
          <p:cNvSpPr/>
          <p:nvPr/>
        </p:nvSpPr>
        <p:spPr>
          <a:xfrm>
            <a:off x="862920" y="3370680"/>
            <a:ext cx="435204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(один вариант ответа)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Google Shape;278;p14"/>
          <p:cNvSpPr/>
          <p:nvPr/>
        </p:nvSpPr>
        <p:spPr>
          <a:xfrm>
            <a:off x="10392840" y="3415680"/>
            <a:ext cx="7099200" cy="5407560"/>
          </a:xfrm>
          <a:prstGeom prst="rect">
            <a:avLst/>
          </a:prstGeom>
          <a:solidFill>
            <a:srgbClr val="ef33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GB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6" name="Google Shape;279;p14"/>
          <p:cNvSpPr/>
          <p:nvPr/>
        </p:nvSpPr>
        <p:spPr>
          <a:xfrm>
            <a:off x="10512000" y="3663360"/>
            <a:ext cx="6829200" cy="43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Аналогичный вопрос задавался в 2022 году</a:t>
            </a:r>
            <a:br>
              <a:rPr sz="2200"/>
            </a:br>
            <a:r>
              <a:rPr b="0" i="1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и в 2024 году ситуация изменилась несущественно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62% опрошенных ощутили влияние текущей ситуации на используемое в работе ПО, у трети опрошенных все программы работают в обычном режиме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ru-RU" sz="22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27% специалистов из компаний, в которых более 100 сотрудников, отмечают, что перешли на отечественное ПО, при этом среди специалистов малых компаний (до 100 сотрудников) переход на отечественно ПО отмечают только 12%</a:t>
            </a:r>
            <a:endParaRPr b="0" lang="en-GB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07" name="Google Shape;280;p14"/>
          <p:cNvGraphicFramePr/>
          <p:nvPr/>
        </p:nvGraphicFramePr>
        <p:xfrm>
          <a:off x="5480280" y="3722040"/>
          <a:ext cx="4679640" cy="509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Привлекательность Москвы для ИКТ-специалистов">
  <a:themeElements>
    <a:clrScheme name="Привлекательность ИКТ">
      <a:dk1>
        <a:srgbClr val="000000"/>
      </a:dk1>
      <a:lt1>
        <a:srgbClr val="ffffff"/>
      </a:lt1>
      <a:dk2>
        <a:srgbClr val="5d50aa"/>
      </a:dk2>
      <a:lt2>
        <a:srgbClr val="919191"/>
      </a:lt2>
      <a:accent1>
        <a:srgbClr val="74cddd"/>
      </a:accent1>
      <a:accent2>
        <a:srgbClr val="ef334b"/>
      </a:accent2>
      <a:accent3>
        <a:srgbClr val="f3902a"/>
      </a:accent3>
      <a:accent4>
        <a:srgbClr val="73d777"/>
      </a:accent4>
      <a:accent5>
        <a:srgbClr val="f4c531"/>
      </a:accent5>
      <a:accent6>
        <a:srgbClr val="eb6035"/>
      </a:accent6>
      <a:hlink>
        <a:srgbClr val="9cc3e5"/>
      </a:hlink>
      <a:folHlink>
        <a:srgbClr val="cbb3ff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Привлекательность Москвы для ИКТ-специалистов">
  <a:themeElements>
    <a:clrScheme name="Привлекательность ИКТ">
      <a:dk1>
        <a:srgbClr val="000000"/>
      </a:dk1>
      <a:lt1>
        <a:srgbClr val="ffffff"/>
      </a:lt1>
      <a:dk2>
        <a:srgbClr val="5d50aa"/>
      </a:dk2>
      <a:lt2>
        <a:srgbClr val="919191"/>
      </a:lt2>
      <a:accent1>
        <a:srgbClr val="74cddd"/>
      </a:accent1>
      <a:accent2>
        <a:srgbClr val="ef334b"/>
      </a:accent2>
      <a:accent3>
        <a:srgbClr val="f3902a"/>
      </a:accent3>
      <a:accent4>
        <a:srgbClr val="73d777"/>
      </a:accent4>
      <a:accent5>
        <a:srgbClr val="f4c531"/>
      </a:accent5>
      <a:accent6>
        <a:srgbClr val="eb6035"/>
      </a:accent6>
      <a:hlink>
        <a:srgbClr val="9cc3e5"/>
      </a:hlink>
      <a:folHlink>
        <a:srgbClr val="cbb3ff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LibreOffice/24.8.6.2$Linux_X86_64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2022-08-31T11:01:37Z</dcterms:created>
  <dc:creator>Аревадзе Мариам Юзаевна</dc:creator>
  <dc:description/>
  <dc:language>en-GB</dc:language>
  <cp:lastModifiedBy/>
  <dcterms:modified xsi:type="dcterms:W3CDTF">2025-05-01T15:15:06Z</dcterms:modified>
  <cp:revision>1</cp:revision>
  <dc:subject/>
  <dc:title/>
</cp:coreProperties>
</file>