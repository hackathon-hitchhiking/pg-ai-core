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_rels/presentation.xml.rels" ContentType="application/vnd.openxmlformats-package.relationships+xml"/>
  <Override PartName="/ppt/media/image13.wmf" ContentType="image/x-wmf"/>
  <Override PartName="/ppt/media/image9.png" ContentType="image/png"/>
  <Override PartName="/ppt/media/image12.png" ContentType="image/png"/>
  <Override PartName="/ppt/media/image3.png" ContentType="image/png"/>
  <Override PartName="/ppt/media/image17.wmf" ContentType="image/x-wmf"/>
  <Override PartName="/ppt/media/image1.png" ContentType="image/png"/>
  <Override PartName="/ppt/media/image16.wmf" ContentType="image/x-wmf"/>
  <Override PartName="/ppt/media/image15.wmf" ContentType="image/x-wmf"/>
  <Override PartName="/ppt/media/image14.wmf" ContentType="image/x-wmf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10.wmf" ContentType="image/x-wmf"/>
  <Override PartName="/ppt/media/image11.png" ContentType="image/png"/>
  <Override PartName="/ppt/media/image2.png" ContentType="image/png"/>
  <Override PartName="/ppt/media/image8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99ED7B6-BD54-4479-8E29-5B183C6EBEC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10124E6-4E18-4A56-9244-E87A5125A60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5A5118B-1570-486B-A59F-D587B9C7F34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CAB4B859-4508-4229-BF74-E5D3432144E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429D73B1-2772-4ED1-BFB4-7E5103BC462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AF4DA63F-2CC8-4715-9317-B6B3033EBFA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0C31BF3F-F7D6-4058-8819-044A3797BEB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CC033F03-D335-4A07-8D4A-9AB08C5B01A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2875B508-D529-4C4B-9E6C-EEFACE2EF05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348CCECC-EC29-4154-B604-C32F40D52D7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2F224B2C-BE60-435C-9F81-F6D32988F41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2F858EC-CE51-463F-B212-26620C014BA9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3DAB087-82C5-48D6-8A5F-D3F61E3E6781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GB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F321A40-E1F4-4E44-ABA1-7408A228F6E5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GB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03A0C2D-5BE9-4CEA-B373-BA3A7CBEB393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7A1ABF8-D271-4F6D-83FE-758C37349891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90F6268-3906-4E17-A0EE-3821FA0ECA17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0B18848-2F63-4510-B9F1-E4A5280187D3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A66AA3C-D1DB-450E-8ADB-D4068D4385F5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GB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565698D-1F48-4796-92EA-A4A25760E7AE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GB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70B4075-2884-484C-9556-D2CC91A601D9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GB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C04ECAB-4787-4B75-8AF7-6E325B4DE47E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GB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wmf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wmf"/><Relationship Id="rId4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4.wmf"/><Relationship Id="rId2" Type="http://schemas.openxmlformats.org/officeDocument/2006/relationships/image" Target="../media/image15.wmf"/><Relationship Id="rId3" Type="http://schemas.openxmlformats.org/officeDocument/2006/relationships/image" Target="../media/image16.wmf"/><Relationship Id="rId4" Type="http://schemas.openxmlformats.org/officeDocument/2006/relationships/image" Target="../media/image17.wmf"/><Relationship Id="rId5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21560" y="2720520"/>
            <a:ext cx="11347920" cy="1416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800" strike="noStrike" u="none">
                <a:solidFill>
                  <a:srgbClr val="800080"/>
                </a:solidFill>
                <a:uFillTx/>
                <a:latin typeface="Roboto Black"/>
                <a:ea typeface="Roboto Black"/>
              </a:rPr>
              <a:t>СИСТЕМА</a:t>
            </a:r>
            <a:r>
              <a:rPr b="0" lang="ru-RU" sz="4800" strike="noStrike" u="none">
                <a:solidFill>
                  <a:srgbClr val="c9211e"/>
                </a:solidFill>
                <a:uFillTx/>
                <a:latin typeface="Roboto Black"/>
                <a:ea typeface="Roboto Black"/>
              </a:rPr>
              <a:t> ЗАЩИТЫ ФАЙЛОВ С ПОМОЩЬЮ ШИФРОВАНИЯ</a:t>
            </a:r>
            <a:endParaRPr b="0" lang="en-GB" sz="4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Прямоугольник: скругленные углы 18"/>
          <p:cNvSpPr/>
          <p:nvPr/>
        </p:nvSpPr>
        <p:spPr>
          <a:xfrm>
            <a:off x="3175560" y="1544400"/>
            <a:ext cx="2739960" cy="4997880"/>
          </a:xfrm>
          <a:prstGeom prst="roundRect">
            <a:avLst>
              <a:gd name="adj" fmla="val 16667"/>
            </a:avLst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51" name="Прямоугольник: скругленные углы 17"/>
          <p:cNvSpPr/>
          <p:nvPr/>
        </p:nvSpPr>
        <p:spPr>
          <a:xfrm>
            <a:off x="6195240" y="1544400"/>
            <a:ext cx="2739960" cy="4997880"/>
          </a:xfrm>
          <a:prstGeom prst="roundRect">
            <a:avLst>
              <a:gd name="adj" fmla="val 16667"/>
            </a:avLst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52" name="Прямоугольник: скругленные углы 23"/>
          <p:cNvSpPr/>
          <p:nvPr/>
        </p:nvSpPr>
        <p:spPr>
          <a:xfrm>
            <a:off x="3175560" y="1544400"/>
            <a:ext cx="2739960" cy="4997880"/>
          </a:xfrm>
          <a:prstGeom prst="roundRect">
            <a:avLst>
              <a:gd name="adj" fmla="val 16667"/>
            </a:avLst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53" name="Прямоугольник: скругленные углы 26"/>
          <p:cNvSpPr/>
          <p:nvPr/>
        </p:nvSpPr>
        <p:spPr>
          <a:xfrm>
            <a:off x="6195240" y="1544400"/>
            <a:ext cx="2739960" cy="4997880"/>
          </a:xfrm>
          <a:prstGeom prst="roundRect">
            <a:avLst>
              <a:gd name="adj" fmla="val 16667"/>
            </a:avLst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54" name="Прямоугольник: скругленные углы 30"/>
          <p:cNvSpPr/>
          <p:nvPr/>
        </p:nvSpPr>
        <p:spPr>
          <a:xfrm>
            <a:off x="9217800" y="1544400"/>
            <a:ext cx="2739960" cy="4997880"/>
          </a:xfrm>
          <a:prstGeom prst="roundRect">
            <a:avLst>
              <a:gd name="adj" fmla="val 16667"/>
            </a:avLst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55" name="Заголовок 4"/>
          <p:cNvSpPr/>
          <p:nvPr/>
        </p:nvSpPr>
        <p:spPr>
          <a:xfrm>
            <a:off x="3210840" y="4155480"/>
            <a:ext cx="1926360" cy="10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/>
          </a:bodyPr>
          <a:p>
            <a:pPr defTabSz="914400">
              <a:lnSpc>
                <a:spcPct val="90000"/>
              </a:lnSpc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Roboto Medium"/>
                <a:ea typeface="Roboto Medium"/>
              </a:rPr>
              <a:t>Мильбрат</a:t>
            </a:r>
            <a:endParaRPr b="0" lang="en-GB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Roboto Medium"/>
                <a:ea typeface="Roboto Medium"/>
              </a:rPr>
              <a:t>Владислав</a:t>
            </a:r>
            <a:endParaRPr b="0" lang="en-GB" sz="2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6" name="Заголовок 4"/>
          <p:cNvSpPr/>
          <p:nvPr/>
        </p:nvSpPr>
        <p:spPr>
          <a:xfrm>
            <a:off x="3230280" y="5455800"/>
            <a:ext cx="1906920" cy="38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/>
          </a:bodyPr>
          <a:p>
            <a:pPr defTabSz="914400">
              <a:lnSpc>
                <a:spcPct val="9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Roboto Light"/>
                <a:ea typeface="Roboto Light"/>
              </a:rPr>
              <a:t>Разработчик</a:t>
            </a:r>
            <a:endParaRPr b="0" lang="en-GB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7" name="Заголовок 4"/>
          <p:cNvSpPr/>
          <p:nvPr/>
        </p:nvSpPr>
        <p:spPr>
          <a:xfrm>
            <a:off x="6230880" y="4155480"/>
            <a:ext cx="1926360" cy="10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/>
          </a:bodyPr>
          <a:p>
            <a:pPr defTabSz="914400">
              <a:lnSpc>
                <a:spcPct val="90000"/>
              </a:lnSpc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Roboto Medium"/>
                <a:ea typeface="Roboto Medium"/>
              </a:rPr>
              <a:t>Красноперов</a:t>
            </a:r>
            <a:endParaRPr b="0" lang="en-GB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Roboto Medium"/>
                <a:ea typeface="Roboto Medium"/>
              </a:rPr>
              <a:t>Илья</a:t>
            </a:r>
            <a:endParaRPr b="0" lang="en-GB" sz="2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8" name="Заголовок 4"/>
          <p:cNvSpPr/>
          <p:nvPr/>
        </p:nvSpPr>
        <p:spPr>
          <a:xfrm>
            <a:off x="6249960" y="5455800"/>
            <a:ext cx="1906920" cy="38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/>
          </a:bodyPr>
          <a:p>
            <a:pPr defTabSz="914400">
              <a:lnSpc>
                <a:spcPct val="9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Roboto Light"/>
                <a:ea typeface="Roboto Light"/>
              </a:rPr>
              <a:t>Тестировщик</a:t>
            </a:r>
            <a:endParaRPr b="0" lang="en-GB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9" name="Заголовок 4"/>
          <p:cNvSpPr/>
          <p:nvPr/>
        </p:nvSpPr>
        <p:spPr>
          <a:xfrm>
            <a:off x="9253080" y="4155480"/>
            <a:ext cx="1926360" cy="10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/>
          </a:bodyPr>
          <a:p>
            <a:pPr defTabSz="914400">
              <a:lnSpc>
                <a:spcPct val="90000"/>
              </a:lnSpc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Roboto Medium"/>
                <a:ea typeface="Roboto Medium"/>
              </a:rPr>
              <a:t>Рощупкина</a:t>
            </a:r>
            <a:endParaRPr b="0" lang="en-GB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Roboto Medium"/>
                <a:ea typeface="Roboto Medium"/>
              </a:rPr>
              <a:t>София</a:t>
            </a:r>
            <a:endParaRPr b="0" lang="en-GB" sz="2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0" name="Заголовок 4"/>
          <p:cNvSpPr/>
          <p:nvPr/>
        </p:nvSpPr>
        <p:spPr>
          <a:xfrm>
            <a:off x="9272160" y="5120640"/>
            <a:ext cx="1906920" cy="72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/>
          </a:bodyPr>
          <a:p>
            <a:pPr defTabSz="914400">
              <a:lnSpc>
                <a:spcPct val="9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Roboto Light"/>
                <a:ea typeface="Roboto Light"/>
              </a:rPr>
              <a:t>Менеджер </a:t>
            </a:r>
            <a:endParaRPr b="0" lang="en-GB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Roboto Light"/>
                <a:ea typeface="Roboto Light"/>
              </a:rPr>
              <a:t>продукта</a:t>
            </a:r>
            <a:endParaRPr b="0" lang="en-GB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1" name="Прямоугольник: скругленные углы 19"/>
          <p:cNvSpPr/>
          <p:nvPr/>
        </p:nvSpPr>
        <p:spPr>
          <a:xfrm>
            <a:off x="195840" y="1544400"/>
            <a:ext cx="2739960" cy="4997880"/>
          </a:xfrm>
          <a:prstGeom prst="roundRect">
            <a:avLst>
              <a:gd name="adj" fmla="val 16667"/>
            </a:avLst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37040" y="162720"/>
            <a:ext cx="4601880" cy="81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accent6">
                    <a:lumMod val="60000"/>
                    <a:lumOff val="40000"/>
                  </a:schemeClr>
                </a:solidFill>
                <a:uFillTx/>
                <a:latin typeface="Roboto Black"/>
                <a:ea typeface="Roboto Black"/>
              </a:rPr>
              <a:t>КОМАНДА</a:t>
            </a:r>
            <a:endParaRPr b="0" lang="en-GB" sz="4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63" name="Прямая соединительная линия 2"/>
          <p:cNvCxnSpPr/>
          <p:nvPr/>
        </p:nvCxnSpPr>
        <p:spPr>
          <a:xfrm>
            <a:off x="231120" y="1198800"/>
            <a:ext cx="11725200" cy="720"/>
          </a:xfrm>
          <a:prstGeom prst="straightConnector1">
            <a:avLst/>
          </a:prstGeom>
          <a:ln w="38100">
            <a:solidFill>
              <a:srgbClr val="a9d18e"/>
            </a:solidFill>
            <a:round/>
          </a:ln>
        </p:spPr>
      </p:cxnSp>
      <p:sp>
        <p:nvSpPr>
          <p:cNvPr id="64" name="Заголовок 4"/>
          <p:cNvSpPr/>
          <p:nvPr/>
        </p:nvSpPr>
        <p:spPr>
          <a:xfrm>
            <a:off x="231120" y="4155480"/>
            <a:ext cx="1926360" cy="10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/>
          </a:bodyPr>
          <a:p>
            <a:pPr defTabSz="914400">
              <a:lnSpc>
                <a:spcPct val="90000"/>
              </a:lnSpc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Roboto Medium"/>
                <a:ea typeface="Roboto Medium"/>
              </a:rPr>
              <a:t>Пискленов</a:t>
            </a:r>
            <a:endParaRPr b="0" lang="en-GB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Roboto Medium"/>
                <a:ea typeface="Roboto Medium"/>
              </a:rPr>
              <a:t>Тимофей</a:t>
            </a:r>
            <a:endParaRPr b="0" lang="en-GB" sz="2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5" name="Заголовок 4"/>
          <p:cNvSpPr/>
          <p:nvPr/>
        </p:nvSpPr>
        <p:spPr>
          <a:xfrm>
            <a:off x="250200" y="5120640"/>
            <a:ext cx="1906920" cy="72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/>
          </a:bodyPr>
          <a:p>
            <a:pPr defTabSz="914400">
              <a:lnSpc>
                <a:spcPct val="9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Roboto Light"/>
                <a:ea typeface="Roboto Light"/>
              </a:rPr>
              <a:t>Главный </a:t>
            </a:r>
            <a:endParaRPr b="0" lang="en-GB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Roboto Light"/>
                <a:ea typeface="Roboto Light"/>
              </a:rPr>
              <a:t>разработчик</a:t>
            </a:r>
            <a:endParaRPr b="0" lang="en-GB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37040" y="162720"/>
            <a:ext cx="4601880" cy="81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accent6">
                    <a:lumMod val="60000"/>
                    <a:lumOff val="40000"/>
                  </a:schemeClr>
                </a:solidFill>
                <a:uFillTx/>
                <a:latin typeface="Roboto Black"/>
                <a:ea typeface="Roboto Black"/>
              </a:rPr>
              <a:t>ПРОБЛЕМАТИКА</a:t>
            </a:r>
            <a:endParaRPr b="0" lang="en-GB" sz="4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67" name="Прямая соединительная линия 2"/>
          <p:cNvCxnSpPr/>
          <p:nvPr/>
        </p:nvCxnSpPr>
        <p:spPr>
          <a:xfrm>
            <a:off x="231120" y="1198800"/>
            <a:ext cx="11725200" cy="720"/>
          </a:xfrm>
          <a:prstGeom prst="straightConnector1">
            <a:avLst/>
          </a:prstGeom>
          <a:ln w="38100">
            <a:solidFill>
              <a:srgbClr val="a9d18e"/>
            </a:solidFill>
            <a:round/>
          </a:ln>
        </p:spPr>
      </p:cxnSp>
      <p:sp>
        <p:nvSpPr>
          <p:cNvPr id="68" name="Прямоугольник: скругленные углы 8"/>
          <p:cNvSpPr/>
          <p:nvPr/>
        </p:nvSpPr>
        <p:spPr>
          <a:xfrm>
            <a:off x="223560" y="1544400"/>
            <a:ext cx="3738240" cy="4997880"/>
          </a:xfrm>
          <a:prstGeom prst="roundRect">
            <a:avLst>
              <a:gd name="adj" fmla="val 16667"/>
            </a:avLst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69" name="Заголовок 4"/>
          <p:cNvSpPr/>
          <p:nvPr/>
        </p:nvSpPr>
        <p:spPr>
          <a:xfrm>
            <a:off x="45720" y="5039280"/>
            <a:ext cx="4153680" cy="10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 fontScale="92500" lnSpcReduction="19999"/>
          </a:bodyPr>
          <a:p>
            <a:pPr algn="ctr" defTabSz="914400">
              <a:lnSpc>
                <a:spcPct val="90000"/>
              </a:lnSpc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Roboto Light"/>
                <a:ea typeface="Roboto Light"/>
              </a:rPr>
              <a:t>Уязвимость данных</a:t>
            </a:r>
            <a:r>
              <a:rPr b="0" lang="en-US" sz="2400" strike="noStrike" u="none">
                <a:solidFill>
                  <a:schemeClr val="dk1"/>
                </a:solidFill>
                <a:uFillTx/>
                <a:latin typeface="Roboto Light"/>
                <a:ea typeface="Roboto Light"/>
              </a:rPr>
              <a:t>, </a:t>
            </a:r>
            <a:r>
              <a:rPr b="0" lang="ru-RU" sz="2400" strike="noStrike" u="none">
                <a:solidFill>
                  <a:schemeClr val="dk1"/>
                </a:solidFill>
                <a:uFillTx/>
                <a:latin typeface="Roboto Light"/>
                <a:ea typeface="Roboto Light"/>
              </a:rPr>
              <a:t>связанная с несанкционированным доступом</a:t>
            </a:r>
            <a:endParaRPr b="0" lang="en-GB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0" name="Прямоугольник: скругленные углы 13"/>
          <p:cNvSpPr/>
          <p:nvPr/>
        </p:nvSpPr>
        <p:spPr>
          <a:xfrm>
            <a:off x="4241520" y="1544400"/>
            <a:ext cx="3738240" cy="4997880"/>
          </a:xfrm>
          <a:prstGeom prst="roundRect">
            <a:avLst>
              <a:gd name="adj" fmla="val 16667"/>
            </a:avLst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71" name="Заголовок 4"/>
          <p:cNvSpPr/>
          <p:nvPr/>
        </p:nvSpPr>
        <p:spPr>
          <a:xfrm>
            <a:off x="4134960" y="5009040"/>
            <a:ext cx="3916080" cy="10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 lnSpcReduction="9999"/>
          </a:bodyPr>
          <a:p>
            <a:pPr algn="ctr" defTabSz="914400">
              <a:lnSpc>
                <a:spcPct val="90000"/>
              </a:lnSpc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Roboto Light"/>
                <a:ea typeface="Roboto Light"/>
              </a:rPr>
              <a:t>Низкая производительность шифрования</a:t>
            </a:r>
            <a:endParaRPr b="0" lang="en-GB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2" name="Прямоугольник: скругленные углы 31"/>
          <p:cNvSpPr/>
          <p:nvPr/>
        </p:nvSpPr>
        <p:spPr>
          <a:xfrm>
            <a:off x="8228880" y="1523880"/>
            <a:ext cx="3738240" cy="4997880"/>
          </a:xfrm>
          <a:prstGeom prst="roundRect">
            <a:avLst>
              <a:gd name="adj" fmla="val 16667"/>
            </a:avLst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73" name="Заголовок 4"/>
          <p:cNvSpPr/>
          <p:nvPr/>
        </p:nvSpPr>
        <p:spPr>
          <a:xfrm>
            <a:off x="8300520" y="5314680"/>
            <a:ext cx="3708000" cy="44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/>
          </a:bodyPr>
          <a:p>
            <a:pPr algn="ctr" defTabSz="914400">
              <a:lnSpc>
                <a:spcPct val="90000"/>
              </a:lnSpc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Roboto Light"/>
                <a:ea typeface="Roboto Light"/>
              </a:rPr>
              <a:t>Утечка данных</a:t>
            </a:r>
            <a:endParaRPr b="0" lang="en-GB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74" name="Рисунок 9" descr=""/>
          <p:cNvPicPr/>
          <p:nvPr/>
        </p:nvPicPr>
        <p:blipFill>
          <a:blip r:embed="rId1"/>
          <a:stretch/>
        </p:blipFill>
        <p:spPr>
          <a:xfrm>
            <a:off x="830160" y="2174400"/>
            <a:ext cx="2534040" cy="2534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" name="Рисунок 17" descr=""/>
          <p:cNvPicPr/>
          <p:nvPr/>
        </p:nvPicPr>
        <p:blipFill>
          <a:blip r:embed="rId2"/>
          <a:stretch/>
        </p:blipFill>
        <p:spPr>
          <a:xfrm>
            <a:off x="9101520" y="2312280"/>
            <a:ext cx="2437560" cy="2437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Рисунок 19" descr=""/>
          <p:cNvPicPr/>
          <p:nvPr/>
        </p:nvPicPr>
        <p:blipFill>
          <a:blip r:embed="rId3"/>
          <a:stretch/>
        </p:blipFill>
        <p:spPr>
          <a:xfrm>
            <a:off x="4835160" y="2220120"/>
            <a:ext cx="2521440" cy="2521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37040" y="162720"/>
            <a:ext cx="11409120" cy="81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rgbClr val="a9d18e"/>
                </a:solidFill>
                <a:uFillTx/>
                <a:latin typeface="Roboto Black"/>
                <a:ea typeface="Roboto Black"/>
              </a:rPr>
              <a:t>СТАТИСТИКА ПО УТЕЧКАМ ДАННЫХ</a:t>
            </a:r>
            <a:endParaRPr b="0" lang="en-GB" sz="4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78" name="Прямая соединительная линия 2"/>
          <p:cNvCxnSpPr/>
          <p:nvPr/>
        </p:nvCxnSpPr>
        <p:spPr>
          <a:xfrm>
            <a:off x="231120" y="1198800"/>
            <a:ext cx="11725200" cy="720"/>
          </a:xfrm>
          <a:prstGeom prst="straightConnector1">
            <a:avLst/>
          </a:prstGeom>
          <a:ln w="38100">
            <a:solidFill>
              <a:srgbClr val="a9d18e"/>
            </a:solidFill>
            <a:round/>
          </a:ln>
        </p:spPr>
      </p:cxnSp>
      <p:sp>
        <p:nvSpPr>
          <p:cNvPr id="79" name="Рисунок 3"/>
          <p:cNvSpPr/>
          <p:nvPr/>
        </p:nvSpPr>
        <p:spPr>
          <a:xfrm>
            <a:off x="231120" y="1684080"/>
            <a:ext cx="5785560" cy="4686480"/>
          </a:xfrm>
          <a:prstGeom prst="roundRect">
            <a:avLst>
              <a:gd name="adj" fmla="val 16667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" name="Рисунок 6"/>
          <p:cNvSpPr/>
          <p:nvPr/>
        </p:nvSpPr>
        <p:spPr>
          <a:xfrm>
            <a:off x="6141600" y="1684080"/>
            <a:ext cx="5814000" cy="4686480"/>
          </a:xfrm>
          <a:prstGeom prst="roundRect">
            <a:avLst>
              <a:gd name="adj" fmla="val 16667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37040" y="162720"/>
            <a:ext cx="4601880" cy="81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accent6">
                    <a:lumMod val="60000"/>
                    <a:lumOff val="40000"/>
                  </a:schemeClr>
                </a:solidFill>
                <a:uFillTx/>
                <a:latin typeface="Roboto Black"/>
                <a:ea typeface="Roboto Black"/>
              </a:rPr>
              <a:t>РЕШЕНИЕ</a:t>
            </a:r>
            <a:endParaRPr b="0" lang="en-GB" sz="4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82" name="Прямая соединительная линия 2"/>
          <p:cNvCxnSpPr/>
          <p:nvPr/>
        </p:nvCxnSpPr>
        <p:spPr>
          <a:xfrm>
            <a:off x="231120" y="1198800"/>
            <a:ext cx="11725200" cy="720"/>
          </a:xfrm>
          <a:prstGeom prst="straightConnector1">
            <a:avLst/>
          </a:prstGeom>
          <a:ln w="38100">
            <a:solidFill>
              <a:srgbClr val="a9d18e"/>
            </a:solidFill>
            <a:round/>
          </a:ln>
        </p:spPr>
      </p:cxnSp>
      <p:sp>
        <p:nvSpPr>
          <p:cNvPr id="83" name="Прямоугольник: скругленные углы 8"/>
          <p:cNvSpPr/>
          <p:nvPr/>
        </p:nvSpPr>
        <p:spPr>
          <a:xfrm>
            <a:off x="231120" y="1498680"/>
            <a:ext cx="11723760" cy="4997880"/>
          </a:xfrm>
          <a:prstGeom prst="roundRect">
            <a:avLst>
              <a:gd name="adj" fmla="val 16667"/>
            </a:avLst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84" name="TextBox 1"/>
          <p:cNvSpPr/>
          <p:nvPr/>
        </p:nvSpPr>
        <p:spPr>
          <a:xfrm>
            <a:off x="938520" y="2023560"/>
            <a:ext cx="5577120" cy="22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Roboto Light"/>
                <a:ea typeface="Roboto Light"/>
              </a:rPr>
              <a:t>Мы создаем универсальную систему защиты файлов при помощи шифрования, которую можно интегрировать в ПО компаний, которые хотят защитить корпоративную информацию. </a:t>
            </a:r>
            <a:endParaRPr b="0" lang="en-GB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5" name="TextBox 5"/>
          <p:cNvSpPr/>
          <p:nvPr/>
        </p:nvSpPr>
        <p:spPr>
          <a:xfrm>
            <a:off x="863640" y="4631400"/>
            <a:ext cx="557712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Roboto Light"/>
                <a:ea typeface="Roboto Light"/>
              </a:rPr>
              <a:t>В решении используется шифрование </a:t>
            </a:r>
            <a:r>
              <a:rPr b="0" lang="en-US" sz="2400" strike="noStrike" u="none">
                <a:solidFill>
                  <a:schemeClr val="dk1"/>
                </a:solidFill>
                <a:uFillTx/>
                <a:latin typeface="Roboto Light"/>
                <a:ea typeface="Roboto Light"/>
              </a:rPr>
              <a:t>AES-256, </a:t>
            </a:r>
            <a:r>
              <a:rPr b="0" lang="ru-RU" sz="2400" strike="noStrike" u="none">
                <a:solidFill>
                  <a:schemeClr val="dk1"/>
                </a:solidFill>
                <a:uFillTx/>
                <a:latin typeface="Roboto Light"/>
                <a:ea typeface="Roboto Light"/>
              </a:rPr>
              <a:t>которое основывается на симметричном ключе шифрования.</a:t>
            </a:r>
            <a:endParaRPr b="0" lang="en-GB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86" name="Picture 8" descr="Picture background"/>
          <p:cNvPicPr/>
          <p:nvPr/>
        </p:nvPicPr>
        <p:blipFill>
          <a:blip r:embed="rId1"/>
          <a:stretch/>
        </p:blipFill>
        <p:spPr>
          <a:xfrm>
            <a:off x="7223760" y="2026800"/>
            <a:ext cx="3880440" cy="3880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" name="Прямая соединительная линия 2"/>
          <p:cNvCxnSpPr/>
          <p:nvPr/>
        </p:nvCxnSpPr>
        <p:spPr>
          <a:xfrm>
            <a:off x="231120" y="1198800"/>
            <a:ext cx="11725200" cy="720"/>
          </a:xfrm>
          <a:prstGeom prst="straightConnector1">
            <a:avLst/>
          </a:prstGeom>
          <a:ln w="38100">
            <a:solidFill>
              <a:srgbClr val="a9d18e"/>
            </a:solidFill>
            <a:round/>
          </a:ln>
        </p:spPr>
      </p:cxnSp>
      <p:sp>
        <p:nvSpPr>
          <p:cNvPr id="88" name="Прямоугольник: скругленные углы 8"/>
          <p:cNvSpPr/>
          <p:nvPr/>
        </p:nvSpPr>
        <p:spPr>
          <a:xfrm>
            <a:off x="4262040" y="1523880"/>
            <a:ext cx="3738240" cy="4997880"/>
          </a:xfrm>
          <a:prstGeom prst="roundRect">
            <a:avLst>
              <a:gd name="adj" fmla="val 16667"/>
            </a:avLst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89" name="Заголовок 4"/>
          <p:cNvSpPr/>
          <p:nvPr/>
        </p:nvSpPr>
        <p:spPr>
          <a:xfrm>
            <a:off x="4211640" y="1656000"/>
            <a:ext cx="391608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/>
          </a:bodyPr>
          <a:p>
            <a:pPr algn="ctr" defTabSz="914400">
              <a:lnSpc>
                <a:spcPct val="90000"/>
              </a:lnSpc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Roboto Light"/>
                <a:ea typeface="Roboto Light"/>
              </a:rPr>
              <a:t>Снижение экономического </a:t>
            </a:r>
            <a:endParaRPr b="0" lang="en-GB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ctr" defTabSz="914400">
              <a:lnSpc>
                <a:spcPct val="90000"/>
              </a:lnSpc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Roboto Light"/>
                <a:ea typeface="Roboto Light"/>
              </a:rPr>
              <a:t>ущерба</a:t>
            </a:r>
            <a:endParaRPr b="0" lang="en-GB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0" name="Прямоугольник: скругленные углы 13"/>
          <p:cNvSpPr/>
          <p:nvPr/>
        </p:nvSpPr>
        <p:spPr>
          <a:xfrm>
            <a:off x="295200" y="1523880"/>
            <a:ext cx="3738240" cy="4997880"/>
          </a:xfrm>
          <a:prstGeom prst="roundRect">
            <a:avLst>
              <a:gd name="adj" fmla="val 16667"/>
            </a:avLst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91" name="Прямоугольник: скругленные углы 31"/>
          <p:cNvSpPr/>
          <p:nvPr/>
        </p:nvSpPr>
        <p:spPr>
          <a:xfrm>
            <a:off x="8228880" y="1523880"/>
            <a:ext cx="3738240" cy="4997880"/>
          </a:xfrm>
          <a:prstGeom prst="roundRect">
            <a:avLst>
              <a:gd name="adj" fmla="val 16667"/>
            </a:avLst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37040" y="162720"/>
            <a:ext cx="11518200" cy="81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accent6">
                    <a:lumMod val="60000"/>
                    <a:lumOff val="40000"/>
                  </a:schemeClr>
                </a:solidFill>
                <a:uFillTx/>
                <a:latin typeface="Roboto Black"/>
                <a:ea typeface="Roboto Black"/>
              </a:rPr>
              <a:t>РЕЗУЛЬТАТ ОТ ИСПОЛЬЗОВАНИЯ СИСТЕМЫ</a:t>
            </a:r>
            <a:endParaRPr b="0" lang="en-GB" sz="4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3" name="Заголовок 4"/>
          <p:cNvSpPr/>
          <p:nvPr/>
        </p:nvSpPr>
        <p:spPr>
          <a:xfrm>
            <a:off x="188280" y="1747440"/>
            <a:ext cx="3916080" cy="10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 lnSpcReduction="9999"/>
          </a:bodyPr>
          <a:p>
            <a:pPr algn="ctr" defTabSz="914400">
              <a:lnSpc>
                <a:spcPct val="90000"/>
              </a:lnSpc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Roboto Light"/>
                <a:ea typeface="Roboto Light"/>
              </a:rPr>
              <a:t>Защита файлов от несанкционированного доступа</a:t>
            </a:r>
            <a:endParaRPr b="0" lang="en-GB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4" name="Заголовок 4"/>
          <p:cNvSpPr/>
          <p:nvPr/>
        </p:nvSpPr>
        <p:spPr>
          <a:xfrm>
            <a:off x="8128440" y="1859400"/>
            <a:ext cx="3916080" cy="78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/>
          </a:bodyPr>
          <a:p>
            <a:pPr algn="ctr" defTabSz="914400">
              <a:lnSpc>
                <a:spcPct val="90000"/>
              </a:lnSpc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Roboto Light"/>
                <a:ea typeface="Roboto Light"/>
              </a:rPr>
              <a:t>Ограниченный доступ к ключам</a:t>
            </a:r>
            <a:endParaRPr b="0" lang="en-GB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95" name="Рисунок 9" descr=""/>
          <p:cNvPicPr/>
          <p:nvPr/>
        </p:nvPicPr>
        <p:blipFill>
          <a:blip r:embed="rId1"/>
          <a:stretch/>
        </p:blipFill>
        <p:spPr>
          <a:xfrm>
            <a:off x="4739400" y="3027600"/>
            <a:ext cx="2823840" cy="282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6" name="Picture 8" descr="Picture background"/>
          <p:cNvPicPr/>
          <p:nvPr/>
        </p:nvPicPr>
        <p:blipFill>
          <a:blip r:embed="rId2"/>
          <a:stretch/>
        </p:blipFill>
        <p:spPr>
          <a:xfrm>
            <a:off x="721440" y="3027600"/>
            <a:ext cx="3103200" cy="310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7" name="Рисунок 3" descr=""/>
          <p:cNvPicPr/>
          <p:nvPr/>
        </p:nvPicPr>
        <p:blipFill>
          <a:blip r:embed="rId3"/>
          <a:stretch/>
        </p:blipFill>
        <p:spPr>
          <a:xfrm>
            <a:off x="8835840" y="3078360"/>
            <a:ext cx="2864520" cy="2864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37040" y="162720"/>
            <a:ext cx="6623640" cy="81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accent6">
                    <a:lumMod val="60000"/>
                    <a:lumOff val="40000"/>
                  </a:schemeClr>
                </a:solidFill>
                <a:uFillTx/>
                <a:latin typeface="Roboto Black"/>
                <a:ea typeface="Roboto Black"/>
              </a:rPr>
              <a:t>ПАЙПЛАЙН ШИФРАТОРА</a:t>
            </a:r>
            <a:endParaRPr b="0" lang="en-GB" sz="4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99" name="Прямая соединительная линия 2"/>
          <p:cNvCxnSpPr/>
          <p:nvPr/>
        </p:nvCxnSpPr>
        <p:spPr>
          <a:xfrm>
            <a:off x="231120" y="1198800"/>
            <a:ext cx="11725200" cy="720"/>
          </a:xfrm>
          <a:prstGeom prst="straightConnector1">
            <a:avLst/>
          </a:prstGeom>
          <a:ln w="38100">
            <a:solidFill>
              <a:srgbClr val="a9d18e"/>
            </a:solidFill>
            <a:round/>
          </a:ln>
        </p:spPr>
      </p:cxnSp>
      <p:sp>
        <p:nvSpPr>
          <p:cNvPr id="100" name="Прямоугольник: скругленные углы 8"/>
          <p:cNvSpPr/>
          <p:nvPr/>
        </p:nvSpPr>
        <p:spPr>
          <a:xfrm>
            <a:off x="231120" y="1498680"/>
            <a:ext cx="11723760" cy="4997880"/>
          </a:xfrm>
          <a:prstGeom prst="roundRect">
            <a:avLst>
              <a:gd name="adj" fmla="val 16667"/>
            </a:avLst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101" name="Рисунок 11" descr=""/>
          <p:cNvPicPr/>
          <p:nvPr/>
        </p:nvPicPr>
        <p:blipFill>
          <a:blip r:embed="rId1"/>
          <a:stretch/>
        </p:blipFill>
        <p:spPr>
          <a:xfrm>
            <a:off x="548640" y="2449800"/>
            <a:ext cx="11089080" cy="3095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37040" y="162720"/>
            <a:ext cx="6623640" cy="81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accent6">
                    <a:lumMod val="60000"/>
                    <a:lumOff val="40000"/>
                  </a:schemeClr>
                </a:solidFill>
                <a:uFillTx/>
                <a:latin typeface="Roboto Black"/>
                <a:ea typeface="Roboto Black"/>
              </a:rPr>
              <a:t>КОНЕЧНЫЕ АВТОМАТЫ</a:t>
            </a:r>
            <a:endParaRPr b="0" lang="en-GB" sz="4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103" name="Прямая соединительная линия 2"/>
          <p:cNvCxnSpPr/>
          <p:nvPr/>
        </p:nvCxnSpPr>
        <p:spPr>
          <a:xfrm>
            <a:off x="231120" y="1198800"/>
            <a:ext cx="11725200" cy="720"/>
          </a:xfrm>
          <a:prstGeom prst="straightConnector1">
            <a:avLst/>
          </a:prstGeom>
          <a:ln w="38100">
            <a:solidFill>
              <a:srgbClr val="a9d18e"/>
            </a:solidFill>
            <a:round/>
          </a:ln>
        </p:spPr>
      </p:cxnSp>
      <p:sp>
        <p:nvSpPr>
          <p:cNvPr id="104" name="Прямоугольник: скругленные углы 8"/>
          <p:cNvSpPr/>
          <p:nvPr/>
        </p:nvSpPr>
        <p:spPr>
          <a:xfrm>
            <a:off x="231120" y="1498680"/>
            <a:ext cx="5213880" cy="4997880"/>
          </a:xfrm>
          <a:prstGeom prst="roundRect">
            <a:avLst>
              <a:gd name="adj" fmla="val 16667"/>
            </a:avLst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105" name="Рисунок 5" descr=""/>
          <p:cNvPicPr/>
          <p:nvPr/>
        </p:nvPicPr>
        <p:blipFill>
          <a:blip r:embed="rId1"/>
          <a:stretch/>
        </p:blipFill>
        <p:spPr>
          <a:xfrm>
            <a:off x="1072800" y="4536720"/>
            <a:ext cx="3618720" cy="1631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6" name="Рисунок 7" descr=""/>
          <p:cNvPicPr/>
          <p:nvPr/>
        </p:nvPicPr>
        <p:blipFill>
          <a:blip r:embed="rId2"/>
          <a:srcRect l="0" t="-1042" r="0" b="-2711"/>
          <a:stretch/>
        </p:blipFill>
        <p:spPr>
          <a:xfrm>
            <a:off x="918360" y="1641600"/>
            <a:ext cx="3927960" cy="275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Прямоугольник: скругленные углы 9"/>
          <p:cNvSpPr/>
          <p:nvPr/>
        </p:nvSpPr>
        <p:spPr>
          <a:xfrm>
            <a:off x="5688360" y="1422360"/>
            <a:ext cx="6266520" cy="4997880"/>
          </a:xfrm>
          <a:prstGeom prst="roundRect">
            <a:avLst>
              <a:gd name="adj" fmla="val 16667"/>
            </a:avLst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08" name="TextBox 10"/>
          <p:cNvSpPr/>
          <p:nvPr/>
        </p:nvSpPr>
        <p:spPr>
          <a:xfrm>
            <a:off x="6093360" y="1498680"/>
            <a:ext cx="55058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Roboto Light"/>
                <a:ea typeface="Roboto Light"/>
              </a:rPr>
              <a:t>Конечные автоматы для </a:t>
            </a:r>
            <a:endParaRPr b="0" lang="en-GB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Roboto Light"/>
                <a:ea typeface="Roboto Light"/>
              </a:rPr>
              <a:t>каналов чтения и записи</a:t>
            </a:r>
            <a:endParaRPr b="0" lang="en-GB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09" name="Рисунок 13" descr=""/>
          <p:cNvPicPr/>
          <p:nvPr/>
        </p:nvPicPr>
        <p:blipFill>
          <a:blip r:embed="rId3"/>
          <a:stretch/>
        </p:blipFill>
        <p:spPr>
          <a:xfrm>
            <a:off x="5905440" y="2553120"/>
            <a:ext cx="5864760" cy="3105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37040" y="162720"/>
            <a:ext cx="6623640" cy="81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accent6">
                    <a:lumMod val="60000"/>
                    <a:lumOff val="40000"/>
                  </a:schemeClr>
                </a:solidFill>
                <a:uFillTx/>
                <a:latin typeface="Roboto Black"/>
                <a:ea typeface="Roboto Black"/>
              </a:rPr>
              <a:t>МАСШТАБИРУМОСТЬ</a:t>
            </a:r>
            <a:endParaRPr b="0" lang="en-GB" sz="4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111" name="Прямая соединительная линия 2"/>
          <p:cNvCxnSpPr/>
          <p:nvPr/>
        </p:nvCxnSpPr>
        <p:spPr>
          <a:xfrm>
            <a:off x="231120" y="1198800"/>
            <a:ext cx="11725200" cy="720"/>
          </a:xfrm>
          <a:prstGeom prst="straightConnector1">
            <a:avLst/>
          </a:prstGeom>
          <a:ln w="38100">
            <a:solidFill>
              <a:srgbClr val="a9d18e"/>
            </a:solidFill>
            <a:round/>
          </a:ln>
        </p:spPr>
      </p:cxnSp>
      <p:sp>
        <p:nvSpPr>
          <p:cNvPr id="112" name="Прямоугольник: скругленные углы 8"/>
          <p:cNvSpPr/>
          <p:nvPr/>
        </p:nvSpPr>
        <p:spPr>
          <a:xfrm>
            <a:off x="231120" y="1498680"/>
            <a:ext cx="11723760" cy="4997880"/>
          </a:xfrm>
          <a:prstGeom prst="roundRect">
            <a:avLst>
              <a:gd name="adj" fmla="val 16667"/>
            </a:avLst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13" name="TextBox 13"/>
          <p:cNvSpPr/>
          <p:nvPr/>
        </p:nvSpPr>
        <p:spPr>
          <a:xfrm>
            <a:off x="612720" y="2120760"/>
            <a:ext cx="93330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Roboto Light"/>
                <a:ea typeface="Roboto Light"/>
              </a:rPr>
              <a:t>1) Использование квантово-безопасного шифрования</a:t>
            </a:r>
            <a:endParaRPr b="0" lang="en-GB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4" name="TextBox 5"/>
          <p:cNvSpPr/>
          <p:nvPr/>
        </p:nvSpPr>
        <p:spPr>
          <a:xfrm>
            <a:off x="612720" y="2892600"/>
            <a:ext cx="1076580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Roboto Light"/>
                <a:ea typeface="Roboto Light"/>
              </a:rPr>
              <a:t>2</a:t>
            </a:r>
            <a:r>
              <a:rPr b="0" lang="ru-RU" sz="2400" strike="noStrike" u="none">
                <a:solidFill>
                  <a:schemeClr val="dk1"/>
                </a:solidFill>
                <a:uFillTx/>
                <a:latin typeface="Roboto Light"/>
                <a:ea typeface="Roboto Light"/>
              </a:rPr>
              <a:t>) Использование аппаратных ускорителей, таких как графические процессоры (GPU) или специализированных криптографических процессоров (HSM)</a:t>
            </a:r>
            <a:endParaRPr b="0" lang="en-GB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5" name="TextBox 6"/>
          <p:cNvSpPr/>
          <p:nvPr/>
        </p:nvSpPr>
        <p:spPr>
          <a:xfrm>
            <a:off x="612720" y="4403160"/>
            <a:ext cx="8918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Roboto Light"/>
                <a:ea typeface="Roboto Light"/>
              </a:rPr>
              <a:t>3) Анализ аномалий с помощью нейросетей</a:t>
            </a:r>
            <a:endParaRPr b="0" lang="en-GB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6" name="TextBox 7"/>
          <p:cNvSpPr/>
          <p:nvPr/>
        </p:nvSpPr>
        <p:spPr>
          <a:xfrm>
            <a:off x="612720" y="5164560"/>
            <a:ext cx="8918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Roboto Light"/>
                <a:ea typeface="Roboto Light"/>
              </a:rPr>
              <a:t>4) Поддержка высоконагруженных систем</a:t>
            </a:r>
            <a:endParaRPr b="0" lang="en-GB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21560" y="3000960"/>
            <a:ext cx="11347920" cy="855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800" strike="noStrike" u="none">
                <a:solidFill>
                  <a:schemeClr val="accent6">
                    <a:lumMod val="60000"/>
                    <a:lumOff val="40000"/>
                  </a:schemeClr>
                </a:solidFill>
                <a:uFillTx/>
                <a:latin typeface="Roboto Black"/>
                <a:ea typeface="Roboto Black"/>
              </a:rPr>
              <a:t>СПАСИБО ЗА ВНИМАНИЕ!</a:t>
            </a:r>
            <a:endParaRPr b="0" lang="en-GB" sz="4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37040" y="162720"/>
            <a:ext cx="6623640" cy="81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accent6">
                    <a:lumMod val="60000"/>
                    <a:lumOff val="40000"/>
                  </a:schemeClr>
                </a:solidFill>
                <a:uFillTx/>
                <a:latin typeface="Roboto Black"/>
                <a:ea typeface="Roboto Black"/>
              </a:rPr>
              <a:t>Приложение</a:t>
            </a:r>
            <a:endParaRPr b="0" lang="en-GB" sz="4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119" name="Прямая соединительная линия 2"/>
          <p:cNvCxnSpPr/>
          <p:nvPr/>
        </p:nvCxnSpPr>
        <p:spPr>
          <a:xfrm>
            <a:off x="231120" y="1198800"/>
            <a:ext cx="11725200" cy="720"/>
          </a:xfrm>
          <a:prstGeom prst="straightConnector1">
            <a:avLst/>
          </a:prstGeom>
          <a:ln w="38100">
            <a:solidFill>
              <a:srgbClr val="a9d18e"/>
            </a:solidFill>
            <a:round/>
          </a:ln>
        </p:spPr>
      </p:cxnSp>
      <p:sp>
        <p:nvSpPr>
          <p:cNvPr id="120" name="Прямоугольник: скругленные углы 8"/>
          <p:cNvSpPr/>
          <p:nvPr/>
        </p:nvSpPr>
        <p:spPr>
          <a:xfrm>
            <a:off x="231120" y="1498680"/>
            <a:ext cx="11723760" cy="4997880"/>
          </a:xfrm>
          <a:prstGeom prst="roundRect">
            <a:avLst>
              <a:gd name="adj" fmla="val 16667"/>
            </a:avLst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121" name="Рисунок 3" descr=""/>
          <p:cNvPicPr/>
          <p:nvPr/>
        </p:nvPicPr>
        <p:blipFill>
          <a:blip r:embed="rId1"/>
          <a:stretch/>
        </p:blipFill>
        <p:spPr>
          <a:xfrm>
            <a:off x="870480" y="1790640"/>
            <a:ext cx="3824640" cy="1554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2" name="Рисунок 6" descr=""/>
          <p:cNvPicPr/>
          <p:nvPr/>
        </p:nvPicPr>
        <p:blipFill>
          <a:blip r:embed="rId2"/>
          <a:stretch/>
        </p:blipFill>
        <p:spPr>
          <a:xfrm>
            <a:off x="1089720" y="3512160"/>
            <a:ext cx="3385800" cy="1375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Рисунок 9" descr=""/>
          <p:cNvPicPr/>
          <p:nvPr/>
        </p:nvPicPr>
        <p:blipFill>
          <a:blip r:embed="rId3"/>
          <a:stretch/>
        </p:blipFill>
        <p:spPr>
          <a:xfrm>
            <a:off x="1318320" y="5055480"/>
            <a:ext cx="3239640" cy="1316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Рисунок 11" descr=""/>
          <p:cNvPicPr/>
          <p:nvPr/>
        </p:nvPicPr>
        <p:blipFill>
          <a:blip r:embed="rId4"/>
          <a:stretch/>
        </p:blipFill>
        <p:spPr>
          <a:xfrm>
            <a:off x="6546600" y="2228760"/>
            <a:ext cx="3726000" cy="3587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37040" y="162720"/>
            <a:ext cx="6877440" cy="81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85000" lnSpcReduction="9999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000" strike="noStrike" u="none">
                <a:solidFill>
                  <a:schemeClr val="accent6">
                    <a:lumMod val="60000"/>
                    <a:lumOff val="40000"/>
                  </a:schemeClr>
                </a:solidFill>
                <a:uFillTx/>
                <a:latin typeface="Roboto Black"/>
                <a:ea typeface="Roboto Black"/>
              </a:rPr>
              <a:t>Отчет об проделанной работе</a:t>
            </a:r>
            <a:endParaRPr b="0" lang="en-GB" sz="4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126" name="Прямая соединительная линия 2"/>
          <p:cNvCxnSpPr/>
          <p:nvPr/>
        </p:nvCxnSpPr>
        <p:spPr>
          <a:xfrm>
            <a:off x="231120" y="1198800"/>
            <a:ext cx="11725200" cy="720"/>
          </a:xfrm>
          <a:prstGeom prst="straightConnector1">
            <a:avLst/>
          </a:prstGeom>
          <a:ln w="38100">
            <a:solidFill>
              <a:srgbClr val="a9d18e"/>
            </a:solidFill>
            <a:round/>
          </a:ln>
        </p:spPr>
      </p:cxnSp>
      <p:sp>
        <p:nvSpPr>
          <p:cNvPr id="127" name="Прямоугольник: скругленные углы 8"/>
          <p:cNvSpPr/>
          <p:nvPr/>
        </p:nvSpPr>
        <p:spPr>
          <a:xfrm>
            <a:off x="231120" y="1498680"/>
            <a:ext cx="11723760" cy="4997880"/>
          </a:xfrm>
          <a:prstGeom prst="roundRect">
            <a:avLst>
              <a:gd name="adj" fmla="val 16667"/>
            </a:avLst>
          </a:prstGeom>
          <a:solidFill>
            <a:srgbClr val="a9d1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28" name="TextBox 13"/>
          <p:cNvSpPr/>
          <p:nvPr/>
        </p:nvSpPr>
        <p:spPr>
          <a:xfrm>
            <a:off x="837720" y="1821960"/>
            <a:ext cx="10380600" cy="37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Roboto Light"/>
                <a:ea typeface="Roboto Light"/>
              </a:rPr>
              <a:t>После выбора темы проекта распределения ролей в команде, были описаны основные функции системы, а именно:</a:t>
            </a:r>
            <a:endParaRPr b="0" lang="en-GB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arenR"/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Roboto Light"/>
                <a:ea typeface="Roboto Light"/>
              </a:rPr>
              <a:t>Модуль приема данных</a:t>
            </a:r>
            <a:r>
              <a:rPr b="0" lang="en-US" sz="2400" strike="noStrike" u="none">
                <a:solidFill>
                  <a:schemeClr val="dk1"/>
                </a:solidFill>
                <a:uFillTx/>
                <a:latin typeface="Roboto Light"/>
                <a:ea typeface="Roboto Light"/>
              </a:rPr>
              <a:t>;</a:t>
            </a:r>
            <a:endParaRPr b="0" lang="en-GB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arenR"/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Roboto Light"/>
                <a:ea typeface="Roboto Light"/>
              </a:rPr>
              <a:t>Модуль шифрования</a:t>
            </a:r>
            <a:r>
              <a:rPr b="0" lang="en-US" sz="2400" strike="noStrike" u="none">
                <a:solidFill>
                  <a:schemeClr val="dk1"/>
                </a:solidFill>
                <a:uFillTx/>
                <a:latin typeface="Roboto Light"/>
                <a:ea typeface="Roboto Light"/>
              </a:rPr>
              <a:t> </a:t>
            </a:r>
            <a:r>
              <a:rPr b="0" lang="ru-RU" sz="2400" strike="noStrike" u="none">
                <a:solidFill>
                  <a:schemeClr val="dk1"/>
                </a:solidFill>
                <a:uFillTx/>
                <a:latin typeface="Roboto Light"/>
                <a:ea typeface="Roboto Light"/>
              </a:rPr>
              <a:t>и расшифрования файлов (прописан алгоритм работы шифратора и дешифратора)</a:t>
            </a:r>
            <a:r>
              <a:rPr b="0" lang="en-US" sz="2400" strike="noStrike" u="none">
                <a:solidFill>
                  <a:schemeClr val="dk1"/>
                </a:solidFill>
                <a:uFillTx/>
                <a:latin typeface="Roboto Light"/>
                <a:ea typeface="Roboto Light"/>
              </a:rPr>
              <a:t>;</a:t>
            </a:r>
            <a:endParaRPr b="0" lang="en-GB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arenR"/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Roboto Light"/>
                <a:ea typeface="Roboto Light"/>
              </a:rPr>
              <a:t>Модуль работы с памятью</a:t>
            </a:r>
            <a:r>
              <a:rPr b="0" lang="en-US" sz="2400" strike="noStrike" u="none">
                <a:solidFill>
                  <a:schemeClr val="dk1"/>
                </a:solidFill>
                <a:uFillTx/>
                <a:latin typeface="Roboto Light"/>
                <a:ea typeface="Roboto Light"/>
              </a:rPr>
              <a:t>.</a:t>
            </a:r>
            <a:endParaRPr b="0" lang="en-GB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GB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Roboto Light"/>
                <a:ea typeface="Roboto Light"/>
              </a:rPr>
              <a:t>После чего была изучена спецификация </a:t>
            </a:r>
            <a:r>
              <a:rPr b="0" lang="en-US" sz="2400" strike="noStrike" u="none">
                <a:solidFill>
                  <a:schemeClr val="dk1"/>
                </a:solidFill>
                <a:uFillTx/>
                <a:latin typeface="Roboto Light"/>
                <a:ea typeface="Roboto Light"/>
              </a:rPr>
              <a:t>AXI4-MM</a:t>
            </a:r>
            <a:r>
              <a:rPr b="0" lang="ru-RU" sz="2400" strike="noStrike" u="none">
                <a:solidFill>
                  <a:schemeClr val="dk1"/>
                </a:solidFill>
                <a:uFillTx/>
                <a:latin typeface="Roboto Light"/>
                <a:ea typeface="Roboto Light"/>
              </a:rPr>
              <a:t>. </a:t>
            </a:r>
            <a:endParaRPr b="0" lang="en-GB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Roboto Light"/>
                <a:ea typeface="Roboto Light"/>
              </a:rPr>
              <a:t>Далее была создана презентация, изучены и проанализированы проблемы, подготовка к защите. </a:t>
            </a:r>
            <a:endParaRPr b="0" lang="en-GB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1075</TotalTime>
  <Application>LibreOffice/24.8.5.2$Linux_X86_64 LibreOffice_project/480$Build-2</Application>
  <AppVersion>15.0000</AppVersion>
  <Words>211</Words>
  <Paragraphs>48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2024-10-17T10:19:37Z</dcterms:created>
  <dc:creator>Sofiya</dc:creator>
  <dc:description/>
  <dc:language>en-GB</dc:language>
  <cp:lastModifiedBy/>
  <dcterms:modified xsi:type="dcterms:W3CDTF">2025-03-22T17:05:21Z</dcterms:modified>
  <cp:revision>59</cp:revision>
  <dc:subject/>
  <dc:title>СИСТЕМА ЗАЩИТЫ ФАЙЛОВ С ПОМОЩЬЮ ШИФРОВАНИЯ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12</vt:i4>
  </property>
</Properties>
</file>