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5.png" ContentType="image/png"/>
  <Override PartName="/ppt/media/image3.png" ContentType="image/png"/>
  <Override PartName="/ppt/media/image7.png" ContentType="image/png"/>
  <Override PartName="/ppt/media/image16.png" ContentType="image/png"/>
  <Override PartName="/ppt/media/image8.svg" ContentType="image/svg"/>
  <Override PartName="/ppt/media/image4.svg" ContentType="image/svg"/>
  <Override PartName="/ppt/media/image11.png" ContentType="image/png"/>
  <Override PartName="/ppt/media/image12.jpeg" ContentType="image/jpeg"/>
  <Override PartName="/ppt/media/image14.png" ContentType="image/png"/>
  <Override PartName="/ppt/media/image6.svg" ContentType="image/svg"/>
  <Override PartName="/ppt/media/image9.png" ContentType="image/png"/>
  <Override PartName="/ppt/media/image28.jpeg" ContentType="image/jpeg"/>
  <Override PartName="/ppt/media/image18.png" ContentType="image/png"/>
  <Override PartName="/ppt/media/image13.png" ContentType="image/png"/>
  <Override PartName="/ppt/media/image1.png" ContentType="image/png"/>
  <Override PartName="/ppt/media/image29.png" ContentType="image/png"/>
  <Override PartName="/ppt/media/image20.png" ContentType="image/png"/>
  <Override PartName="/ppt/media/image24.jpeg" ContentType="image/jpeg"/>
  <Override PartName="/ppt/media/image10.png" ContentType="image/png"/>
  <Override PartName="/ppt/media/image2.svg" ContentType="image/svg"/>
  <Override PartName="/ppt/media/image15.png" ContentType="image/png"/>
  <Override PartName="/ppt/media/image17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hdphoto1.wdp" ContentType="image/vnd.ms-photo"/>
  <Override PartName="/ppt/media/image25.png" ContentType="image/png"/>
  <Override PartName="/ppt/media/image26.png" ContentType="image/png"/>
  <Override PartName="/ppt/media/image27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5116175" cy="10687050"/>
  <p:notesSz cx="6797675" cy="99266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44397931543955"/>
          <c:y val="0.0384903774056486"/>
          <c:w val="0.951058852499384"/>
          <c:h val="0.6944930434058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0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8.54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1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3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10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Lbls>
            <c:numFmt formatCode="#,##0.00" sourceLinked="0"/>
            <c:dLbl>
              <c:idx val="0"/>
              <c:layout>
                <c:manualLayout>
                  <c:x val="0"/>
                  <c:y val="-0.0396585327824121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0"/>
                  <c:y val="-0.0483625685403187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-3.87387606915006E-017"/>
                  <c:y val="-0.0444567448870872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0"/>
                  <c:y val="-0.0494098386216574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layout>
                <c:manualLayout>
                  <c:x val="4.62082458665376E-017"/>
                  <c:y val="-0.0475803402646504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layout>
                <c:manualLayout>
                  <c:x val="0"/>
                  <c:y val="-0.0565245185935916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layout>
                <c:manualLayout>
                  <c:x val="-0.0012601750734908"/>
                  <c:y val="-0.0627896884176607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layout>
                <c:manualLayout>
                  <c:x val="-0.0012601750734908"/>
                  <c:y val="-0.0746947844390739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layout>
                <c:manualLayout>
                  <c:x val="0"/>
                  <c:y val="-0.0715651880148645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layout>
                <c:manualLayout>
                  <c:x val="-0.00126017507349096"/>
                  <c:y val="-0.0751381201112237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0"/>
              <c:layout>
                <c:manualLayout>
                  <c:x val="0"/>
                  <c:y val="-0.0920927210831319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HelveticaNeueCyr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4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2.32</c:v>
                </c:pt>
                <c:pt idx="3">
                  <c:v>3.09</c:v>
                </c:pt>
                <c:pt idx="4">
                  <c:v>3.63</c:v>
                </c:pt>
                <c:pt idx="5">
                  <c:v>4.23</c:v>
                </c:pt>
                <c:pt idx="6">
                  <c:v>4.85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</c:ser>
        <c:gapWidth val="150"/>
        <c:overlap val="100"/>
        <c:axId val="73838494"/>
        <c:axId val="54443921"/>
      </c:barChart>
      <c:catAx>
        <c:axId val="7383849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54443921"/>
        <c:crosses val="autoZero"/>
        <c:auto val="1"/>
        <c:lblAlgn val="ctr"/>
        <c:lblOffset val="100"/>
        <c:noMultiLvlLbl val="0"/>
      </c:catAx>
      <c:valAx>
        <c:axId val="54443921"/>
        <c:scaling>
          <c:orientation val="minMax"/>
          <c:max val="55"/>
          <c:min val="0"/>
        </c:scaling>
        <c:delete val="0"/>
        <c:axPos val="l"/>
        <c:majorGridlines>
          <c:spPr>
            <a:ln w="22320">
              <a:solidFill>
                <a:srgbClr val="e7e6e6"/>
              </a:solidFill>
              <a:prstDash val="sysDot"/>
              <a:round/>
            </a:ln>
          </c:spPr>
        </c:majorGridlines>
        <c:numFmt formatCode="#,##0.00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73838494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0488006328497013"/>
          <c:y val="0.830112441722278"/>
          <c:w val="0.915075459317585"/>
          <c:h val="0.13755613696667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197" strike="noStrike" u="none">
              <a:solidFill>
                <a:srgbClr val="595959"/>
              </a:solidFill>
              <a:uFillTx/>
              <a:latin typeface="HelveticaNeueCy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81192244971915"/>
          <c:y val="0.177038109020743"/>
          <c:w val="0.951078093857583"/>
          <c:h val="0.73642064640617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Lbls>
            <c:numFmt formatCode="#,##0.00" sourceLinked="0"/>
            <c:dLbl>
              <c:idx val="0"/>
              <c:layout>
                <c:manualLayout>
                  <c:x val="-9.68469017287516E-018"/>
                  <c:y val="-0.107239156986565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0"/>
                  <c:y val="-0.143354902419376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-0.00211304772027108"/>
                  <c:y val="-0.187106624048232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0"/>
                  <c:y val="-0.207047374028741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layout>
                <c:manualLayout>
                  <c:x val="-7.74775213830013E-017"/>
                  <c:y val="-0.249395545853798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layout>
                <c:manualLayout>
                  <c:x val="0.00211304772027093"/>
                  <c:y val="-0.309009641121592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layout>
                <c:manualLayout>
                  <c:x val="0"/>
                  <c:y val="-0.374911514773525"/>
                </c:manualLayout>
              </c:layout>
              <c:numFmt formatCode="#,##0.0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lang="ru-RU" sz="1400" strike="noStrike" u="none">
                    <a:solidFill>
                      <a:srgbClr val="404040"/>
                    </a:solidFill>
                    <a:uFillTx/>
                    <a:latin typeface="HelveticaNeueCyr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0</c:f>
              <c:numCache>
                <c:formatCode>#,##0.00</c:formatCode>
                <c:ptCount val="7"/>
                <c:pt idx="0">
                  <c:v>41</c:v>
                </c:pt>
                <c:pt idx="1">
                  <c:v>64.2</c:v>
                </c:pt>
                <c:pt idx="2">
                  <c:v>79</c:v>
                </c:pt>
                <c:pt idx="3">
                  <c:v>97</c:v>
                </c:pt>
                <c:pt idx="4">
                  <c:v>120</c:v>
                </c:pt>
                <c:pt idx="5">
                  <c:v>147</c:v>
                </c:pt>
                <c:pt idx="6">
                  <c:v>181</c:v>
                </c:pt>
              </c:numCache>
            </c:numRef>
          </c:val>
        </c:ser>
        <c:gapWidth val="150"/>
        <c:overlap val="100"/>
        <c:axId val="97293904"/>
        <c:axId val="59527066"/>
      </c:barChart>
      <c:catAx>
        <c:axId val="972939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2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59527066"/>
        <c:crosses val="autoZero"/>
        <c:auto val="1"/>
        <c:lblAlgn val="ctr"/>
        <c:lblOffset val="100"/>
        <c:noMultiLvlLbl val="0"/>
      </c:catAx>
      <c:valAx>
        <c:axId val="59527066"/>
        <c:scaling>
          <c:orientation val="minMax"/>
          <c:max val="200"/>
          <c:min val="0"/>
        </c:scaling>
        <c:delete val="0"/>
        <c:axPos val="l"/>
        <c:majorGridlines>
          <c:spPr>
            <a:ln w="22320">
              <a:solidFill>
                <a:srgbClr val="e7e6e6"/>
              </a:solidFill>
              <a:prstDash val="sysDot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97293904"/>
        <c:crosses val="autoZero"/>
        <c:crossBetween val="between"/>
        <c:majorUnit val="40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 w="0">
              <a:noFill/>
            </a:ln>
          </c:spPr>
          <c:invertIfNegative val="0"/>
          <c:dLbls>
            <c:numFmt formatCode="#,##0_ ;\-#,##0\ 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595959"/>
                    </a:solidFill>
                    <a:uFillTx/>
                    <a:latin typeface="HelveticaNeueCy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</c:ser>
        <c:gapWidth val="150"/>
        <c:overlap val="0"/>
        <c:axId val="1506535"/>
        <c:axId val="77711801"/>
      </c:barChart>
      <c:catAx>
        <c:axId val="150653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4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77711801"/>
        <c:crosses val="autoZero"/>
        <c:auto val="1"/>
        <c:lblAlgn val="ctr"/>
        <c:lblOffset val="100"/>
        <c:noMultiLvlLbl val="0"/>
      </c:catAx>
      <c:valAx>
        <c:axId val="77711801"/>
        <c:scaling>
          <c:orientation val="minMax"/>
          <c:max val="170000"/>
          <c:min val="0"/>
        </c:scaling>
        <c:delete val="0"/>
        <c:axPos val="l"/>
        <c:majorGridlines>
          <c:spPr>
            <a:ln w="9360">
              <a:solidFill>
                <a:srgbClr val="d9d9d9"/>
              </a:solidFill>
              <a:prstDash val="sysDot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1506535"/>
        <c:crosses val="autoZero"/>
        <c:crossBetween val="between"/>
        <c:majorUnit val="4000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400" strike="noStrike" u="none">
              <a:solidFill>
                <a:srgbClr val="595959"/>
              </a:solidFill>
              <a:uFillTx/>
              <a:latin typeface="HelveticaNeueCy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595959"/>
                    </a:solidFill>
                    <a:uFillTx/>
                    <a:latin typeface="HelveticaNeueCy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</c:ser>
        <c:gapWidth val="150"/>
        <c:overlap val="0"/>
        <c:axId val="60345984"/>
        <c:axId val="52260914"/>
      </c:barChart>
      <c:catAx>
        <c:axId val="603459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4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52260914"/>
        <c:crosses val="autoZero"/>
        <c:auto val="1"/>
        <c:lblAlgn val="ctr"/>
        <c:lblOffset val="100"/>
        <c:noMultiLvlLbl val="0"/>
      </c:catAx>
      <c:valAx>
        <c:axId val="52260914"/>
        <c:scaling>
          <c:orientation val="minMax"/>
          <c:max val="650"/>
          <c:min val="0"/>
        </c:scaling>
        <c:delete val="0"/>
        <c:axPos val="l"/>
        <c:majorGridlines>
          <c:spPr>
            <a:ln w="9360">
              <a:solidFill>
                <a:srgbClr val="d9d9d9"/>
              </a:solidFill>
              <a:prstDash val="sysDot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60345984"/>
        <c:crosses val="autoZero"/>
        <c:crossBetween val="between"/>
        <c:majorUnit val="10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400" strike="noStrike" u="none">
              <a:solidFill>
                <a:srgbClr val="595959"/>
              </a:solidFill>
              <a:uFillTx/>
              <a:latin typeface="HelveticaNeueCy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81186398610077"/>
          <c:y val="0.177077999658645"/>
          <c:w val="0.951104492429883"/>
          <c:h val="0.73638846219491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002060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layout>
                <c:manualLayout>
                  <c:x val="0.00656697391256686"/>
                  <c:y val="-0.0863451606494918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0"/>
                  <c:y val="-0.0836836707746271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400" strike="noStrike" u="none">
                        <a:solidFill>
                          <a:srgbClr val="404040"/>
                        </a:solidFill>
                        <a:uFillTx/>
                        <a:latin typeface="HelveticaNeueCyr"/>
                      </a:rPr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0.00445399403870443"/>
                  <c:y val="-0.109025930909462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0.00218899130418891"/>
                  <c:y val="-0.126663401539098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layout>
                <c:manualLayout>
                  <c:x val="0.00218899130418895"/>
                  <c:y val="-0.158564535499254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layout>
                <c:manualLayout>
                  <c:x val="-7.60114303265613E-005"/>
                  <c:y val="-0.192151888171435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layout>
                <c:manualLayout>
                  <c:x val="-1.60524174584894E-016"/>
                  <c:y val="-0.233622352366665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layout>
                <c:manualLayout>
                  <c:x val="-0.00437798260837791"/>
                  <c:y val="-0.28026860968624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layout>
                <c:manualLayout>
                  <c:x val="0.00218899130418895"/>
                  <c:y val="-0.344129974248264"/>
                </c:manualLayout>
              </c:layout>
              <c:numFmt formatCode="#,##0" sourceLinked="0"/>
              <c:txPr>
                <a:bodyPr wrap="square"/>
                <a:lstStyle/>
                <a:p>
                  <a:pPr>
                    <a:defRPr b="1" lang="ru-RU" sz="1400" strike="noStrike" u="none">
                      <a:solidFill>
                        <a:srgbClr val="404040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lang="ru-RU" sz="1400" strike="noStrike" u="none">
                    <a:solidFill>
                      <a:srgbClr val="404040"/>
                    </a:solidFill>
                    <a:uFillTx/>
                    <a:latin typeface="HelveticaNeueCyr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</c:ser>
        <c:gapWidth val="150"/>
        <c:overlap val="100"/>
        <c:axId val="2235259"/>
        <c:axId val="89528280"/>
      </c:barChart>
      <c:catAx>
        <c:axId val="223525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2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89528280"/>
        <c:crosses val="autoZero"/>
        <c:auto val="1"/>
        <c:lblAlgn val="ctr"/>
        <c:lblOffset val="100"/>
        <c:noMultiLvlLbl val="0"/>
      </c:catAx>
      <c:valAx>
        <c:axId val="89528280"/>
        <c:scaling>
          <c:orientation val="minMax"/>
          <c:max val="1000"/>
          <c:min val="0"/>
        </c:scaling>
        <c:delete val="0"/>
        <c:axPos val="l"/>
        <c:majorGridlines>
          <c:spPr>
            <a:ln w="22320">
              <a:solidFill>
                <a:srgbClr val="e7e6e6"/>
              </a:solidFill>
              <a:prstDash val="sysDot"/>
              <a:round/>
            </a:ln>
          </c:spPr>
        </c:majorGridlines>
        <c:numFmt formatCode="#,##0.00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2235259"/>
        <c:crosses val="autoZero"/>
        <c:crossBetween val="between"/>
        <c:majorUnit val="200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67331819811208"/>
          <c:y val="0.081482082049619"/>
          <c:w val="0.931353805711555"/>
          <c:h val="0.660045402951192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GPU RAM, ГБ</c:v>
                </c:pt>
              </c:strCache>
            </c:strRef>
          </c:tx>
          <c:spPr>
            <a:solidFill>
              <a:srgbClr val="0f24e7"/>
            </a:solidFill>
            <a:ln cap="rnd" w="38160">
              <a:solidFill>
                <a:srgbClr val="0f24e7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categories</c:f>
              <c:numCache>
                <c:formatCode>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0</c:f>
              <c:numCache>
                <c:formatCode>#,##0</c:formatCode>
                <c:ptCount val="6"/>
                <c:pt idx="0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solidFill>
              <a:srgbClr val="e91b11"/>
            </a:solidFill>
            <a:ln cap="rnd" w="38160">
              <a:solidFill>
                <a:srgbClr val="e91b11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categories</c:f>
              <c:numCache>
                <c:formatCode>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1</c:f>
              <c:numCache>
                <c:formatCode>General</c:formatCode>
                <c:ptCount val="6"/>
                <c:pt idx="2">
                  <c:v>5920</c:v>
                </c:pt>
                <c:pt idx="3">
                  <c:v>6000</c:v>
                </c:pt>
                <c:pt idx="4">
                  <c:v>7000</c:v>
                </c:pt>
                <c:pt idx="5">
                  <c:v>8512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56579643"/>
        <c:axId val="31578136"/>
      </c:lineChart>
      <c:dateAx>
        <c:axId val="56579643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31578136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  <c:noMultiLvlLbl val="0"/>
      </c:dateAx>
      <c:valAx>
        <c:axId val="3157813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prstDash val="sysDot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lang="ru-RU" sz="800" strike="noStrike" u="none">
                <a:solidFill>
                  <a:srgbClr val="808080"/>
                </a:solidFill>
                <a:uFillTx/>
                <a:latin typeface="Wix Madefor Display"/>
              </a:defRPr>
            </a:pPr>
          </a:p>
        </c:txPr>
        <c:crossAx val="56579643"/>
        <c:crosses val="autoZero"/>
        <c:crossBetween val="between"/>
        <c:majorUnit val="200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00" strike="noStrike" u="none">
              <a:solidFill>
                <a:srgbClr val="595959"/>
              </a:solidFill>
              <a:uFillTx/>
              <a:latin typeface="HelveticaNeueCy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HelveticaNeueCy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2020</c:v>
                </c:pt>
                <c:pt idx="1">
                  <c:v>2028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e91b11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e91b11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HelveticaNeueCyr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HelveticaNeueCy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2020</c:v>
                </c:pt>
                <c:pt idx="1">
                  <c:v>2028</c:v>
                </c:pt>
              </c:strCache>
            </c:strRef>
          </c:cat>
          <c:val>
            <c:numRef>
              <c:f>1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</c:ser>
        <c:gapWidth val="85"/>
        <c:overlap val="100"/>
        <c:axId val="36502727"/>
        <c:axId val="79118576"/>
      </c:barChart>
      <c:catAx>
        <c:axId val="3650272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4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79118576"/>
        <c:crosses val="autoZero"/>
        <c:auto val="1"/>
        <c:lblAlgn val="ctr"/>
        <c:lblOffset val="100"/>
        <c:noMultiLvlLbl val="0"/>
      </c:catAx>
      <c:valAx>
        <c:axId val="79118576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3650272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trike="noStrike" u="none">
              <a:solidFill>
                <a:srgbClr val="595959"/>
              </a:solidFill>
              <a:uFillTx/>
              <a:latin typeface="HelveticaNeueCy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996062992125984"/>
          <c:y val="0.014246947082768"/>
          <c:w val="0.822992125984252"/>
          <c:h val="0.8412483039348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spPr>
            <a:solidFill>
              <a:srgbClr val="cc000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</c:ser>
        <c:gapWidth val="150"/>
        <c:overlap val="100"/>
        <c:axId val="12023326"/>
        <c:axId val="71106004"/>
      </c:barChart>
      <c:catAx>
        <c:axId val="120233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Unbounded Medium"/>
              </a:defRPr>
            </a:pPr>
          </a:p>
        </c:txPr>
        <c:crossAx val="71106004"/>
        <c:crosses val="autoZero"/>
        <c:auto val="1"/>
        <c:lblAlgn val="ctr"/>
        <c:lblOffset val="100"/>
        <c:noMultiLvlLbl val="0"/>
      </c:catAx>
      <c:valAx>
        <c:axId val="711060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2023326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</c:ser>
        <c:gapWidth val="98"/>
        <c:overlap val="-27"/>
        <c:axId val="47123243"/>
        <c:axId val="71857199"/>
      </c:barChart>
      <c:catAx>
        <c:axId val="4712324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HelveticaNeueCyr"/>
              </a:defRPr>
            </a:pPr>
          </a:p>
        </c:txPr>
        <c:crossAx val="71857199"/>
        <c:crosses val="autoZero"/>
        <c:auto val="1"/>
        <c:lblAlgn val="ctr"/>
        <c:lblOffset val="100"/>
        <c:noMultiLvlLbl val="0"/>
      </c:catAx>
      <c:valAx>
        <c:axId val="71857199"/>
        <c:scaling>
          <c:orientation val="minMax"/>
          <c:max val="2500"/>
          <c:min val="0"/>
        </c:scaling>
        <c:delete val="0"/>
        <c:axPos val="l"/>
        <c:majorGridlines>
          <c:spPr>
            <a:ln w="9360">
              <a:solidFill>
                <a:srgbClr val="d9d9d9"/>
              </a:solidFill>
              <a:prstDash val="sysDot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0" strike="noStrike" u="none">
                <a:solidFill>
                  <a:srgbClr val="595959"/>
                </a:solidFill>
                <a:uFillTx/>
                <a:latin typeface="HelveticaNeueCyr"/>
              </a:defRPr>
            </a:pPr>
          </a:p>
        </c:txPr>
        <c:crossAx val="4712324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7FB7E7D-9812-41F3-A854-BDD912AF233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5"/>
          <p:cNvSpPr/>
          <p:nvPr/>
        </p:nvSpPr>
        <p:spPr>
          <a:xfrm>
            <a:off x="14442840" y="10226520"/>
            <a:ext cx="4237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ru-RU" sz="1600" strike="noStrike" u="none">
                <a:solidFill>
                  <a:schemeClr val="lt1">
                    <a:lumMod val="75000"/>
                  </a:schemeClr>
                </a:solidFill>
                <a:uFillTx/>
                <a:latin typeface="Unbounded Light"/>
                <a:ea typeface="Unbounded Light"/>
              </a:rPr>
              <a:t>/39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13677840" y="10226520"/>
            <a:ext cx="7552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600" strike="noStrike" u="none">
                <a:solidFill>
                  <a:schemeClr val="lt1">
                    <a:lumMod val="75000"/>
                  </a:schemeClr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9313C9-A711-44B2-8EC4-3D73A10A3D7E}" type="slidenum">
              <a:rPr b="0" lang="ru-RU" sz="1600" strike="noStrike" u="none">
                <a:solidFill>
                  <a:schemeClr val="lt1">
                    <a:lumMod val="75000"/>
                  </a:schemeClr>
                </a:solidFill>
                <a:uFillTx/>
                <a:latin typeface="Unbounded Light"/>
                <a:ea typeface="Unbounded Light"/>
              </a:rPr>
              <a:t>&lt;number&gt;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755640" y="426240"/>
            <a:ext cx="13604040" cy="17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755640" y="2500560"/>
            <a:ext cx="13604040" cy="61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statista.com/statistics/871513/worldwide-data-created/" TargetMode="External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hyperlink" Target="https://cloudscene.com/region/datacenters-in-europe#russia" TargetMode="External"/><Relationship Id="rId4" Type="http://schemas.openxmlformats.org/officeDocument/2006/relationships/hyperlink" Target="https://datareportal.com/reports/digital-2024-russian-federation" TargetMode="External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hyperlink" Target="https://www-file.huawei.com/-/media/corp2020/pdf/giv/intelligent_world_2030_en.pdf" TargetMode="External"/><Relationship Id="rId3" Type="http://schemas.openxmlformats.org/officeDocument/2006/relationships/hyperlink" Target="https://www.statista.com/forecasts/1474143/global-ai-market-size" TargetMode="External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chart" Target="../charts/chart7.xml"/><Relationship Id="rId9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chart" Target="../charts/chart8.xml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microsoft.com/office/2007/relationships/hdphoto" Target="../media/hdphoto1.wdp"/><Relationship Id="rId9" Type="http://schemas.openxmlformats.org/officeDocument/2006/relationships/image" Target="../media/image24.jpeg"/><Relationship Id="rId10" Type="http://schemas.openxmlformats.org/officeDocument/2006/relationships/image" Target="../media/image25.png"/><Relationship Id="rId1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jpeg"/><Relationship Id="rId5" Type="http://schemas.openxmlformats.org/officeDocument/2006/relationships/image" Target="../media/image24.jpe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29.png"/><Relationship Id="rId9" Type="http://schemas.openxmlformats.org/officeDocument/2006/relationships/chart" Target="../charts/chart9.xml"/><Relationship Id="rId1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4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9"/>
          <p:cNvSpPr/>
          <p:nvPr/>
        </p:nvSpPr>
        <p:spPr>
          <a:xfrm>
            <a:off x="0" y="0"/>
            <a:ext cx="15115680" cy="1068660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5" name="Прямоугольник: скругленные углы 1"/>
          <p:cNvSpPr/>
          <p:nvPr/>
        </p:nvSpPr>
        <p:spPr>
          <a:xfrm>
            <a:off x="249120" y="424440"/>
            <a:ext cx="4281480" cy="9791280"/>
          </a:xfrm>
          <a:prstGeom prst="roundRect">
            <a:avLst>
              <a:gd name="adj" fmla="val 16667"/>
            </a:avLst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6" name="Прямоугольник: скругленные углы 5"/>
          <p:cNvSpPr/>
          <p:nvPr/>
        </p:nvSpPr>
        <p:spPr>
          <a:xfrm>
            <a:off x="1870200" y="424440"/>
            <a:ext cx="4281480" cy="9791280"/>
          </a:xfrm>
          <a:prstGeom prst="roundRect">
            <a:avLst>
              <a:gd name="adj" fmla="val 16667"/>
            </a:avLst>
          </a:prstGeom>
          <a:solidFill>
            <a:srgbClr val="d8dfff"/>
          </a:solidFill>
          <a:ln w="76200">
            <a:solidFill>
              <a:srgbClr val="0f24e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7" name="Прямоугольник: скругленные углы 6"/>
          <p:cNvSpPr/>
          <p:nvPr/>
        </p:nvSpPr>
        <p:spPr>
          <a:xfrm>
            <a:off x="3586680" y="424440"/>
            <a:ext cx="4281480" cy="97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0">
            <a:solidFill>
              <a:srgbClr val="0f24e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8" name="Прямоугольник: скругленные углы 7"/>
          <p:cNvSpPr/>
          <p:nvPr/>
        </p:nvSpPr>
        <p:spPr>
          <a:xfrm>
            <a:off x="5221080" y="470880"/>
            <a:ext cx="9658800" cy="9705600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" name="Google Shape;15;p1"/>
          <p:cNvSpPr/>
          <p:nvPr/>
        </p:nvSpPr>
        <p:spPr>
          <a:xfrm>
            <a:off x="6210360" y="1353960"/>
            <a:ext cx="8642880" cy="47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6200" strike="noStrike" u="none">
                <a:solidFill>
                  <a:srgbClr val="ffffff"/>
                </a:solidFill>
                <a:uFillTx/>
                <a:latin typeface="Unbounded Light"/>
                <a:ea typeface="Unbounded Light"/>
              </a:rPr>
              <a:t>Вычислительные мощности</a:t>
            </a:r>
            <a:endParaRPr b="0" lang="en-GB" sz="6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6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6200" strike="noStrike" u="none">
                <a:solidFill>
                  <a:srgbClr val="ffffff"/>
                </a:solidFill>
                <a:uFillTx/>
                <a:latin typeface="Unbounded Light"/>
                <a:ea typeface="Calibri"/>
              </a:rPr>
              <a:t>Мировой опыт </a:t>
            </a:r>
            <a:br>
              <a:rPr sz="6200"/>
            </a:br>
            <a:r>
              <a:rPr b="0" lang="ru-RU" sz="6200" strike="noStrike" u="none">
                <a:solidFill>
                  <a:srgbClr val="ffffff"/>
                </a:solidFill>
                <a:uFillTx/>
                <a:latin typeface="Unbounded Light"/>
                <a:ea typeface="Calibri"/>
              </a:rPr>
              <a:t>и опыт ДИТ</a:t>
            </a:r>
            <a:endParaRPr b="0" lang="en-GB" sz="6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Google Shape;16;p1"/>
          <p:cNvSpPr/>
          <p:nvPr/>
        </p:nvSpPr>
        <p:spPr>
          <a:xfrm>
            <a:off x="7686000" y="7583040"/>
            <a:ext cx="606492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Wix Madefor Display"/>
                <a:ea typeface="Wix Madefor Display"/>
              </a:rPr>
              <a:t>Департамент информационных технологий</a:t>
            </a:r>
            <a:endParaRPr b="0" lang="en-GB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Прямоугольник: скругленные углы 8"/>
          <p:cNvSpPr/>
          <p:nvPr/>
        </p:nvSpPr>
        <p:spPr>
          <a:xfrm>
            <a:off x="5221080" y="470880"/>
            <a:ext cx="9632160" cy="9705600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12" name="Рисунок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47440" y="7719120"/>
            <a:ext cx="812880" cy="141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вал 8"/>
          <p:cNvSpPr/>
          <p:nvPr/>
        </p:nvSpPr>
        <p:spPr>
          <a:xfrm>
            <a:off x="1945080" y="4365000"/>
            <a:ext cx="3753360" cy="3463200"/>
          </a:xfrm>
          <a:prstGeom prst="ellipse">
            <a:avLst/>
          </a:prstGeom>
          <a:noFill/>
          <a:ln w="19050">
            <a:solidFill>
              <a:srgbClr val="0f24e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4" name="Прямоугольник: скругленные углы 23"/>
          <p:cNvSpPr/>
          <p:nvPr/>
        </p:nvSpPr>
        <p:spPr>
          <a:xfrm>
            <a:off x="7340760" y="4365000"/>
            <a:ext cx="2845440" cy="3463200"/>
          </a:xfrm>
          <a:prstGeom prst="roundRect">
            <a:avLst>
              <a:gd name="adj" fmla="val 16667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2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415135-7DAD-4D4F-8973-0DAC775B18B0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Что такое «вычислительные мощности» и зачем они нужны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Прямоугольник: скругленные углы 4"/>
          <p:cNvSpPr/>
          <p:nvPr/>
        </p:nvSpPr>
        <p:spPr>
          <a:xfrm>
            <a:off x="212760" y="816480"/>
            <a:ext cx="14388480" cy="157320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8" name="TextBox 5"/>
          <p:cNvSpPr/>
          <p:nvPr/>
        </p:nvSpPr>
        <p:spPr>
          <a:xfrm>
            <a:off x="468000" y="934560"/>
            <a:ext cx="13683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«Вычислительные мощности» </a:t>
            </a:r>
            <a:r>
              <a:rPr b="0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Прямоугольник 7"/>
          <p:cNvSpPr/>
          <p:nvPr/>
        </p:nvSpPr>
        <p:spPr>
          <a:xfrm>
            <a:off x="468000" y="1656360"/>
            <a:ext cx="13376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Производительность </a:t>
            </a:r>
            <a:r>
              <a:rPr b="0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– характеристика скорости выполнения операций на вычислительном оборудовании, измеряемая во флопсах (</a:t>
            </a:r>
            <a:r>
              <a:rPr b="1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</a:t>
            </a:r>
            <a:r>
              <a:rPr b="0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- </a:t>
            </a:r>
            <a:r>
              <a:rPr b="1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</a:t>
            </a:r>
            <a:r>
              <a:rPr b="0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oating-point </a:t>
            </a:r>
            <a:r>
              <a:rPr b="1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OP</a:t>
            </a:r>
            <a:r>
              <a:rPr b="0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erations per </a:t>
            </a:r>
            <a:r>
              <a:rPr b="1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S</a:t>
            </a:r>
            <a:r>
              <a:rPr b="0" i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econd</a:t>
            </a:r>
            <a:r>
              <a:rPr b="0" i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Прямоугольник 10"/>
          <p:cNvSpPr/>
          <p:nvPr/>
        </p:nvSpPr>
        <p:spPr>
          <a:xfrm>
            <a:off x="2086560" y="5844960"/>
            <a:ext cx="345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Центр обработки данных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Прямоугольник 11"/>
          <p:cNvSpPr/>
          <p:nvPr/>
        </p:nvSpPr>
        <p:spPr>
          <a:xfrm>
            <a:off x="2550240" y="3668760"/>
            <a:ext cx="2526840" cy="12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Unbounded SemiBold"/>
                <a:ea typeface="Arial"/>
              </a:rPr>
              <a:t>Сетевое оборудование</a:t>
            </a:r>
            <a:br>
              <a:rPr sz="1600"/>
            </a:br>
            <a:r>
              <a:rPr b="0" lang="ru-RU" sz="12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HelveticaNeueCyr"/>
                <a:ea typeface="Arial"/>
              </a:rPr>
              <a:t>маршрутизаторы, коммутаторы, и др. обеспечивает передачу данных между устройствами</a:t>
            </a:r>
            <a:br>
              <a:rPr sz="1200"/>
            </a:br>
            <a:r>
              <a:rPr b="0" lang="ru-RU" sz="12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HelveticaNeueCyr"/>
                <a:ea typeface="Arial"/>
              </a:rPr>
              <a:t>в ЦОДе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Прямоугольник 12"/>
          <p:cNvSpPr/>
          <p:nvPr/>
        </p:nvSpPr>
        <p:spPr>
          <a:xfrm>
            <a:off x="2583720" y="7544520"/>
            <a:ext cx="249372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  <a:ea typeface="Arial"/>
              </a:rPr>
              <a:t>Инженерное оборудование</a:t>
            </a:r>
            <a:br>
              <a:rPr sz="1600"/>
            </a:br>
            <a:r>
              <a:rPr b="0" lang="ru-RU" sz="12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HelveticaNeueCyr"/>
                <a:ea typeface="Arial"/>
              </a:rPr>
              <a:t>системы электропитания, охлаждения обеспечивают бесперебойную работу</a:t>
            </a:r>
            <a:br>
              <a:rPr sz="1200"/>
            </a:br>
            <a:r>
              <a:rPr b="0" lang="ru-RU" sz="12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HelveticaNeueCyr"/>
                <a:ea typeface="Arial"/>
              </a:rPr>
              <a:t>и поддерживают рабочую температуру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Прямоугольник 13"/>
          <p:cNvSpPr/>
          <p:nvPr/>
        </p:nvSpPr>
        <p:spPr>
          <a:xfrm>
            <a:off x="370800" y="5698440"/>
            <a:ext cx="214920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Unbounded SemiBold"/>
                <a:ea typeface="Arial"/>
              </a:rPr>
              <a:t>Системы безопасности</a:t>
            </a:r>
            <a:br>
              <a:rPr sz="1600"/>
            </a:br>
            <a:r>
              <a:rPr b="0" lang="ru-RU" sz="12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HelveticaNeueCyr"/>
                <a:ea typeface="Arial"/>
              </a:rPr>
              <a:t>СКУД, видеонаблюдение, пожарная сигнализация для защиты данных и оборудования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Прямоугольник 14"/>
          <p:cNvSpPr/>
          <p:nvPr/>
        </p:nvSpPr>
        <p:spPr>
          <a:xfrm>
            <a:off x="5175000" y="5765400"/>
            <a:ext cx="2483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highlight>
                  <a:srgbClr val="ffffff"/>
                </a:highlight>
                <a:uFillTx/>
                <a:latin typeface="Unbounded SemiBold"/>
                <a:ea typeface="Arial"/>
              </a:rPr>
              <a:t>Вычислительное оборудование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" name="Рисунок 3" descr="Сервер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461720" y="4715280"/>
            <a:ext cx="743040" cy="7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Прямоугольник 15"/>
          <p:cNvSpPr/>
          <p:nvPr/>
        </p:nvSpPr>
        <p:spPr>
          <a:xfrm>
            <a:off x="8201880" y="4919040"/>
            <a:ext cx="248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Серверы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" name="Рисунок 17" descr="Процессор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64240" y="5641200"/>
            <a:ext cx="743040" cy="7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Прямоугольник 18"/>
          <p:cNvSpPr/>
          <p:nvPr/>
        </p:nvSpPr>
        <p:spPr>
          <a:xfrm>
            <a:off x="8201880" y="5825160"/>
            <a:ext cx="2483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Процессоры,</a:t>
            </a:r>
            <a:br>
              <a:rPr sz="1400"/>
            </a:b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видеокарты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Прямоугольник 20"/>
          <p:cNvSpPr/>
          <p:nvPr/>
        </p:nvSpPr>
        <p:spPr>
          <a:xfrm>
            <a:off x="8132040" y="6919920"/>
            <a:ext cx="248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Жесткие диски (</a:t>
            </a:r>
            <a:r>
              <a:rPr b="1" lang="en-US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SSD</a:t>
            </a: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" name="Рисунок 22" descr="База данных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434000" y="6730920"/>
            <a:ext cx="743040" cy="7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Прямоугольник: скругленные углы 24"/>
          <p:cNvSpPr/>
          <p:nvPr/>
        </p:nvSpPr>
        <p:spPr>
          <a:xfrm>
            <a:off x="10735200" y="2649960"/>
            <a:ext cx="3785760" cy="7220160"/>
          </a:xfrm>
          <a:prstGeom prst="roundRect">
            <a:avLst>
              <a:gd name="adj" fmla="val 8616"/>
            </a:avLst>
          </a:prstGeom>
          <a:solidFill>
            <a:srgbClr val="f7cdd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32" name="Прямоугольник 25"/>
          <p:cNvSpPr/>
          <p:nvPr/>
        </p:nvSpPr>
        <p:spPr>
          <a:xfrm>
            <a:off x="10787760" y="2786400"/>
            <a:ext cx="364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Источники данных и вычислений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Прямоугольник 26"/>
          <p:cNvSpPr/>
          <p:nvPr/>
        </p:nvSpPr>
        <p:spPr>
          <a:xfrm>
            <a:off x="10787760" y="3454920"/>
            <a:ext cx="3363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Видеонаблюдение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&gt;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247 тыс. камер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&gt;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2.1</a:t>
            </a: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 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млрд ч видео/год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Прямоугольник 29"/>
          <p:cNvSpPr/>
          <p:nvPr/>
        </p:nvSpPr>
        <p:spPr>
          <a:xfrm>
            <a:off x="10787760" y="5390280"/>
            <a:ext cx="336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Обращения </a:t>
            </a:r>
            <a:r>
              <a:rPr b="1" lang="en-US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mos.ru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&gt;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763 млн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Прямоугольник 30"/>
          <p:cNvSpPr/>
          <p:nvPr/>
        </p:nvSpPr>
        <p:spPr>
          <a:xfrm>
            <a:off x="10805040" y="4530960"/>
            <a:ext cx="336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Пользователи </a:t>
            </a:r>
            <a:r>
              <a:rPr b="1" lang="en-US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mos.ru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&gt;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15.9 млн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Прямоугольник 31"/>
          <p:cNvSpPr/>
          <p:nvPr/>
        </p:nvSpPr>
        <p:spPr>
          <a:xfrm>
            <a:off x="10874520" y="6365160"/>
            <a:ext cx="3363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Пользователи ИС в контуре Правительства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~500 тыс. чел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Прямоугольник 32"/>
          <p:cNvSpPr/>
          <p:nvPr/>
        </p:nvSpPr>
        <p:spPr>
          <a:xfrm>
            <a:off x="10898640" y="7603560"/>
            <a:ext cx="336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Количество устройств (ПК и др.)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~500 тыс.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Левая фигурная скобка 2"/>
          <p:cNvSpPr/>
          <p:nvPr/>
        </p:nvSpPr>
        <p:spPr>
          <a:xfrm>
            <a:off x="10278000" y="2786400"/>
            <a:ext cx="419760" cy="7084080"/>
          </a:xfrm>
          <a:prstGeom prst="leftBrace">
            <a:avLst>
              <a:gd name="adj1" fmla="val 89721"/>
              <a:gd name="adj2" fmla="val 47283"/>
            </a:avLst>
          </a:prstGeom>
          <a:noFill/>
          <a:ln w="28575">
            <a:solidFill>
              <a:srgbClr val="0f24e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ru-RU" sz="14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9" name="Прямоугольник 34"/>
          <p:cNvSpPr/>
          <p:nvPr/>
        </p:nvSpPr>
        <p:spPr>
          <a:xfrm>
            <a:off x="10872000" y="8629200"/>
            <a:ext cx="33634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Количество электронных запросов в рамках межведомственного взаимодействия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&gt;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200</a:t>
            </a:r>
            <a:r>
              <a:rPr b="1" lang="en-US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 </a:t>
            </a:r>
            <a:r>
              <a:rPr b="1" lang="ru-RU" sz="14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Unbounded SemiBold"/>
                <a:ea typeface="Arial"/>
              </a:rPr>
              <a:t>млн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Num" idx="3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2C1EBC-ABE7-49F2-BFE9-812C6BC03F00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Как растут данные в мире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2" name="Диаграмма 15"/>
          <p:cNvGraphicFramePr/>
          <p:nvPr/>
        </p:nvGraphicFramePr>
        <p:xfrm>
          <a:off x="212760" y="1208160"/>
          <a:ext cx="5847480" cy="432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3" name="Google Shape;470;p10"/>
          <p:cNvSpPr/>
          <p:nvPr/>
        </p:nvSpPr>
        <p:spPr>
          <a:xfrm rot="2400">
            <a:off x="339840" y="992160"/>
            <a:ext cx="44604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Unbounded SemiBold"/>
              </a:rPr>
              <a:t>Количество подключённых устройств во всем мире, млрд шт.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19"/>
          <p:cNvSpPr/>
          <p:nvPr/>
        </p:nvSpPr>
        <p:spPr>
          <a:xfrm>
            <a:off x="311400" y="9939960"/>
            <a:ext cx="1012176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*Прогноз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Подключенные устройства, </a:t>
            </a:r>
            <a:r>
              <a:rPr b="0" lang="en-US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Ericsson Mobility Visualizer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, 2024</a:t>
            </a:r>
            <a:br>
              <a:rPr sz="1000"/>
            </a:br>
            <a:r>
              <a:rPr b="0" lang="en-US" sz="1000" strike="noStrike" u="sng">
                <a:solidFill>
                  <a:srgbClr val="0563c1"/>
                </a:solidFill>
                <a:uFillTx/>
                <a:latin typeface="HelveticaNeueCyr"/>
                <a:ea typeface="Arial"/>
                <a:hlinkClick r:id="rId2"/>
              </a:rPr>
              <a:t>https://www.statista.com/statistics/871513/worldwide-data-created/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5" name="Диаграмма 21"/>
          <p:cNvGraphicFramePr/>
          <p:nvPr/>
        </p:nvGraphicFramePr>
        <p:xfrm>
          <a:off x="343800" y="5815800"/>
          <a:ext cx="5960160" cy="373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Google Shape;470;p10"/>
          <p:cNvSpPr/>
          <p:nvPr/>
        </p:nvSpPr>
        <p:spPr>
          <a:xfrm rot="2400">
            <a:off x="510480" y="6133320"/>
            <a:ext cx="488664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Unbounded SemiBold"/>
              </a:rPr>
              <a:t>Объем данных, созданных, скопированных и потребленных в мире, зеттабайты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Прямоугольник: скругленные углы 24"/>
          <p:cNvSpPr/>
          <p:nvPr/>
        </p:nvSpPr>
        <p:spPr>
          <a:xfrm>
            <a:off x="6553800" y="6131880"/>
            <a:ext cx="7879320" cy="3415320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48" name="Прямоугольник 25"/>
          <p:cNvSpPr/>
          <p:nvPr/>
        </p:nvSpPr>
        <p:spPr>
          <a:xfrm>
            <a:off x="6617160" y="6328080"/>
            <a:ext cx="6456960" cy="21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1 зеттабайт (ЗБ)</a:t>
            </a: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=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chemeClr val="lt2">
                    <a:lumMod val="50000"/>
                  </a:schemeClr>
                </a:solidFill>
                <a:uFillTx/>
                <a:latin typeface="Unbounded SemiBold"/>
                <a:ea typeface="Arial"/>
              </a:rPr>
              <a:t>1 000 000 000 000 гигабайт (Гб)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chemeClr val="lt2">
                    <a:lumMod val="50000"/>
                  </a:schemeClr>
                </a:solidFill>
                <a:uFillTx/>
                <a:latin typeface="HelveticaNeueCyr"/>
                <a:ea typeface="Arial"/>
              </a:rPr>
              <a:t>с одного жесткого диска объемом 1 ЗБ</a:t>
            </a:r>
            <a:br>
              <a:rPr sz="2000"/>
            </a:br>
            <a:r>
              <a:rPr b="0" lang="ru-RU" sz="2000" strike="noStrike" u="none">
                <a:solidFill>
                  <a:schemeClr val="lt2">
                    <a:lumMod val="50000"/>
                  </a:schemeClr>
                </a:solidFill>
                <a:uFillTx/>
                <a:latin typeface="HelveticaNeueCyr"/>
                <a:ea typeface="Arial"/>
              </a:rPr>
              <a:t>можно 63 миллиона лет смотреть видео</a:t>
            </a:r>
            <a:br>
              <a:rPr sz="2000"/>
            </a:br>
            <a:r>
              <a:rPr b="0" lang="ru-RU" sz="2000" strike="noStrike" u="none">
                <a:solidFill>
                  <a:schemeClr val="lt2">
                    <a:lumMod val="50000"/>
                  </a:schemeClr>
                </a:solidFill>
                <a:uFillTx/>
                <a:latin typeface="HelveticaNeueCyr"/>
                <a:ea typeface="Arial"/>
              </a:rPr>
              <a:t>с разрешением 4К 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Box 27"/>
          <p:cNvSpPr/>
          <p:nvPr/>
        </p:nvSpPr>
        <p:spPr>
          <a:xfrm>
            <a:off x="6553800" y="937800"/>
            <a:ext cx="755604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До 2030 года прогнозируется экспоненциальный рост количества подключенных устройств, а следовательно: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Прямоугольник 30"/>
          <p:cNvSpPr/>
          <p:nvPr/>
        </p:nvSpPr>
        <p:spPr>
          <a:xfrm>
            <a:off x="6553800" y="2070720"/>
            <a:ext cx="7556040" cy="43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Рост количества данных</a:t>
            </a: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, которые необходимо правильно собирать, обрабатывать и хранить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0000"/>
              </a:lnSpc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Рост потребности в центрах обработки данных.</a:t>
            </a:r>
            <a:br>
              <a:rPr sz="1800"/>
            </a:b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ЦОДы становятся вычислительной основой новой цифровой инфраструктуры</a:t>
            </a:r>
            <a:br>
              <a:rPr sz="1800"/>
            </a:b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</a:rPr>
              <a:t>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Рост популярности и востребованности искусственного интеллекта. </a:t>
            </a: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Обработка больших данных, их переиспользование</a:t>
            </a:r>
            <a:br>
              <a:rPr sz="1800"/>
            </a:b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и получение качественно новой информации, </a:t>
            </a: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становится проблемой, если не использовать искусственный интеллект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: скругленные углы 14"/>
          <p:cNvSpPr/>
          <p:nvPr/>
        </p:nvSpPr>
        <p:spPr>
          <a:xfrm>
            <a:off x="212760" y="795960"/>
            <a:ext cx="4673160" cy="2491920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4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AA06D2-8ECE-427D-9855-A7AAFF9F6FD4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Как растут данные в России и Москве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4" name="Диаграмма 16"/>
          <p:cNvGraphicFramePr/>
          <p:nvPr/>
        </p:nvGraphicFramePr>
        <p:xfrm>
          <a:off x="456480" y="5861880"/>
          <a:ext cx="4722480" cy="385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5" name="Диаграмма 20"/>
          <p:cNvGraphicFramePr/>
          <p:nvPr/>
        </p:nvGraphicFramePr>
        <p:xfrm>
          <a:off x="5631840" y="5861880"/>
          <a:ext cx="4722480" cy="385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Прямоугольник 3"/>
          <p:cNvSpPr/>
          <p:nvPr/>
        </p:nvSpPr>
        <p:spPr>
          <a:xfrm>
            <a:off x="5692680" y="5878440"/>
            <a:ext cx="3384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Объем оперативной памяти*, Тбайт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Прямоугольник 8"/>
          <p:cNvSpPr/>
          <p:nvPr/>
        </p:nvSpPr>
        <p:spPr>
          <a:xfrm>
            <a:off x="456480" y="5861880"/>
            <a:ext cx="3598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Количество виртуальных процессоров ЦОД*, шт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Прямоугольник 4"/>
          <p:cNvSpPr/>
          <p:nvPr/>
        </p:nvSpPr>
        <p:spPr>
          <a:xfrm>
            <a:off x="87120" y="10045800"/>
            <a:ext cx="38455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000" strike="noStrike" u="sng">
                <a:solidFill>
                  <a:srgbClr val="0563c1"/>
                </a:solidFill>
                <a:uFillTx/>
                <a:latin typeface="HelveticaNeueCyr"/>
                <a:ea typeface="Arial"/>
                <a:hlinkClick r:id="rId3"/>
              </a:rPr>
              <a:t>https://cloudscene.com/region/datacenters-in-europe#russia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Box 13"/>
          <p:cNvSpPr/>
          <p:nvPr/>
        </p:nvSpPr>
        <p:spPr>
          <a:xfrm>
            <a:off x="212760" y="898920"/>
            <a:ext cx="46731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В 2024 году в РФ насчитывается 251 центр обработки данных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Среди 160 ЦОДов, расположение которых известно, 30% находятся</a:t>
            </a:r>
            <a:br>
              <a:rPr sz="1800"/>
            </a:b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 Москве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Прямоугольник: скругленные углы 17"/>
          <p:cNvSpPr/>
          <p:nvPr/>
        </p:nvSpPr>
        <p:spPr>
          <a:xfrm>
            <a:off x="5221440" y="795960"/>
            <a:ext cx="4673160" cy="2491920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5221440" y="898920"/>
            <a:ext cx="46731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130,4 млн пользователей интернета было в РФ на начало 2024 года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 Москве показатель использования интернета составляет 97%</a:t>
            </a:r>
            <a:br>
              <a:rPr sz="1800"/>
            </a:b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(выше среднего по стране на 7 п.п.)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Прямоугольник 5"/>
          <p:cNvSpPr/>
          <p:nvPr/>
        </p:nvSpPr>
        <p:spPr>
          <a:xfrm>
            <a:off x="62280" y="10242720"/>
            <a:ext cx="40406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000" strike="noStrike" u="sng">
                <a:solidFill>
                  <a:srgbClr val="0563c1"/>
                </a:solidFill>
                <a:uFillTx/>
                <a:latin typeface="HelveticaNeueCyr"/>
                <a:ea typeface="Arial"/>
                <a:hlinkClick r:id="rId4"/>
              </a:rPr>
              <a:t>https://datareportal.com/reports/digital-2024-russian-federation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Прямоугольник: скругленные углы 19"/>
          <p:cNvSpPr/>
          <p:nvPr/>
        </p:nvSpPr>
        <p:spPr>
          <a:xfrm>
            <a:off x="10229760" y="795960"/>
            <a:ext cx="4673160" cy="2491920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10229760" y="979200"/>
            <a:ext cx="4673160" cy="20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Более 15,9 млн пользователей зарегистрировано на портале </a:t>
            </a:r>
            <a:r>
              <a:rPr b="1" lang="en-US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mos.ru</a:t>
            </a: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(9 мес. 2024 года)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420 сервисов и услуг доступны москвичам в электронном виде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Более 763 млн обращений граждан через </a:t>
            </a:r>
            <a:r>
              <a:rPr b="1" lang="en-US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mos.ru</a:t>
            </a: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в год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212760" y="3520800"/>
            <a:ext cx="1422036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Москва является лидером в сфере цифровизации государственных услуг как в России,</a:t>
            </a:r>
            <a:br>
              <a:rPr sz="1800"/>
            </a:br>
            <a:r>
              <a:rPr b="1" lang="ru-RU" sz="18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так и в мире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Прямоугольник 23"/>
          <p:cNvSpPr/>
          <p:nvPr/>
        </p:nvSpPr>
        <p:spPr>
          <a:xfrm>
            <a:off x="212760" y="4215240"/>
            <a:ext cx="13903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Вызовы в Москве: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Необходимо </a:t>
            </a: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собирать, обрабатывать и хранить данные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Внедрять решения ИИ </a:t>
            </a: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для повышения качества и скорости работы с данными и</a:t>
            </a:r>
            <a:r>
              <a:rPr b="0" lang="en-US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</a:t>
            </a: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для повышения качества городских электронных услуг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Наращивать вычислительные мощности </a:t>
            </a:r>
            <a:r>
              <a:rPr b="0" lang="ru-RU" sz="18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для развития цифровых сервисов и услуг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Прямоугольник 25"/>
          <p:cNvSpPr/>
          <p:nvPr/>
        </p:nvSpPr>
        <p:spPr>
          <a:xfrm>
            <a:off x="3952800" y="10028160"/>
            <a:ext cx="101635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* 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b="0" lang="en-US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GPU) 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являются: Мос</a:t>
            </a:r>
            <a:r>
              <a:rPr b="0" lang="en-US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GPT, </a:t>
            </a:r>
            <a:r>
              <a:rPr b="0" lang="ru-RU" sz="10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Голосовой помощник, Цифровой Двойник и др.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Num" idx="5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83E966-A332-4423-8346-EDEE93E990E2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Google Shape;1046;p21"/>
          <p:cNvSpPr/>
          <p:nvPr/>
        </p:nvSpPr>
        <p:spPr>
          <a:xfrm>
            <a:off x="212760" y="266760"/>
            <a:ext cx="130215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Искусственный интеллект и потребности в вычислительных мощностях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70" name="Диаграмма 4"/>
          <p:cNvGraphicFramePr/>
          <p:nvPr/>
        </p:nvGraphicFramePr>
        <p:xfrm>
          <a:off x="212760" y="1152720"/>
          <a:ext cx="5801400" cy="4218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1" name="Google Shape;470;p10"/>
          <p:cNvSpPr/>
          <p:nvPr/>
        </p:nvSpPr>
        <p:spPr>
          <a:xfrm rot="2400">
            <a:off x="325440" y="1212120"/>
            <a:ext cx="48866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Unbounded SemiBold"/>
              </a:rPr>
              <a:t>Объем рынка ИИ в мире, млрд </a:t>
            </a:r>
            <a:r>
              <a:rPr b="1" lang="en-US" sz="1400" strike="noStrike" u="none">
                <a:solidFill>
                  <a:srgbClr val="222222"/>
                </a:solidFill>
                <a:uFillTx/>
                <a:latin typeface="Unbounded SemiBold"/>
                <a:ea typeface="Unbounded SemiBold"/>
              </a:rPr>
              <a:t>$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6499080" y="2571840"/>
            <a:ext cx="8033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По прогнозам мировой спрос на мощности ЦОДов может возрасти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 3 и более раз к 2030 году: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Прямоугольник 12"/>
          <p:cNvSpPr/>
          <p:nvPr/>
        </p:nvSpPr>
        <p:spPr>
          <a:xfrm>
            <a:off x="6499080" y="1517040"/>
            <a:ext cx="755604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Качественные данные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Алгоритмы и модели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Вычислительные мощности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4" name="Группа 35"/>
          <p:cNvGrpSpPr/>
          <p:nvPr/>
        </p:nvGrpSpPr>
        <p:grpSpPr>
          <a:xfrm>
            <a:off x="512280" y="6944400"/>
            <a:ext cx="13920840" cy="2771280"/>
            <a:chOff x="512280" y="6944400"/>
            <a:chExt cx="13920840" cy="2771280"/>
          </a:xfrm>
        </p:grpSpPr>
        <p:grpSp>
          <p:nvGrpSpPr>
            <p:cNvPr id="75" name="Схема 40"/>
            <p:cNvGrpSpPr/>
            <p:nvPr/>
          </p:nvGrpSpPr>
          <p:grpSpPr>
            <a:xfrm>
              <a:off x="729360" y="7363800"/>
              <a:ext cx="13703760" cy="2120760"/>
              <a:chOff x="729360" y="7363800"/>
              <a:chExt cx="13703760" cy="2120760"/>
            </a:xfrm>
          </p:grpSpPr>
          <p:sp>
            <p:nvSpPr>
              <p:cNvPr id="76" name=""/>
              <p:cNvSpPr/>
              <p:nvPr/>
            </p:nvSpPr>
            <p:spPr>
              <a:xfrm>
                <a:off x="729360" y="7363800"/>
                <a:ext cx="13703760" cy="212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729360" y="8139960"/>
                <a:ext cx="13703760" cy="567720"/>
              </a:xfrm>
              <a:prstGeom prst="notched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3000">
                    <a:srgbClr val="fce8e8"/>
                  </a:gs>
                  <a:gs pos="74000">
                    <a:srgbClr val="818cf7"/>
                  </a:gs>
                  <a:gs pos="83000">
                    <a:srgbClr val="0f24e7"/>
                  </a:gs>
                  <a:gs pos="100000">
                    <a:srgbClr val="0f24e7"/>
                  </a:gs>
                </a:gsLst>
                <a:lin ang="215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730080" y="73638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r>
                  <a:rPr b="0" lang="ru-RU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</a:t>
                </a:r>
                <a:r>
                  <a:rPr b="0" lang="en-US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18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1442520" y="8318160"/>
                <a:ext cx="211680" cy="211680"/>
              </a:xfrm>
              <a:prstGeom prst="ellipse">
                <a:avLst/>
              </a:prstGeom>
              <a:solidFill>
                <a:srgbClr val="7030a0">
                  <a:alpha val="90000"/>
                </a:srgb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2280960" y="86364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2020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2913120" y="8318160"/>
                <a:ext cx="211680" cy="211680"/>
              </a:xfrm>
              <a:prstGeom prst="ellipse">
                <a:avLst/>
              </a:prstGeom>
              <a:solidFill>
                <a:schemeClr val="accent1">
                  <a:alpha val="84000"/>
                  <a:hueOff val="0"/>
                  <a:satOff val="0"/>
                  <a:lumOff val="0"/>
                  <a:alphaOff val="-5714"/>
                </a:scheme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831480" y="73638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2021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4464000" y="8318160"/>
                <a:ext cx="211680" cy="211680"/>
              </a:xfrm>
              <a:prstGeom prst="ellipse">
                <a:avLst/>
              </a:prstGeom>
              <a:solidFill>
                <a:schemeClr val="accent1">
                  <a:alpha val="79000"/>
                  <a:hueOff val="0"/>
                  <a:satOff val="0"/>
                  <a:lumOff val="0"/>
                  <a:alphaOff val="-11429"/>
                </a:scheme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5382360" y="86364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6014880" y="831816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6901200" y="86364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202</a:t>
                </a:r>
                <a:r>
                  <a:rPr b="0" lang="ru-RU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4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7565760" y="8318160"/>
                <a:ext cx="211680" cy="211680"/>
              </a:xfrm>
              <a:prstGeom prst="ellipse">
                <a:avLst/>
              </a:prstGeom>
              <a:solidFill>
                <a:schemeClr val="accent1">
                  <a:alpha val="67000"/>
                  <a:hueOff val="0"/>
                  <a:satOff val="0"/>
                  <a:lumOff val="0"/>
                  <a:alphaOff val="-22857"/>
                </a:scheme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8484120" y="86364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9116640" y="831816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10035000" y="736380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10667160" y="831816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11937240" y="7374960"/>
                <a:ext cx="147672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2030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12571200" y="8318160"/>
                <a:ext cx="211680" cy="211680"/>
              </a:xfrm>
              <a:prstGeom prst="ellipse">
                <a:avLst/>
              </a:prstGeom>
              <a:solidFill>
                <a:schemeClr val="accent1">
                  <a:alpha val="50000"/>
                  <a:hueOff val="0"/>
                  <a:satOff val="0"/>
                  <a:lumOff val="0"/>
                  <a:alphaOff val="-40000"/>
                </a:scheme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94" name="Прямоугольник 51"/>
            <p:cNvSpPr/>
            <p:nvPr/>
          </p:nvSpPr>
          <p:spPr>
            <a:xfrm>
              <a:off x="8903880" y="8641080"/>
              <a:ext cx="288072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5" name="Прямоугольник 49"/>
            <p:cNvSpPr/>
            <p:nvPr/>
          </p:nvSpPr>
          <p:spPr>
            <a:xfrm>
              <a:off x="729360" y="7685280"/>
              <a:ext cx="288072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6" name="Прямоугольник 47"/>
            <p:cNvSpPr/>
            <p:nvPr/>
          </p:nvSpPr>
          <p:spPr>
            <a:xfrm>
              <a:off x="512280" y="6944400"/>
              <a:ext cx="328824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7" name="Прямоугольник 44"/>
            <p:cNvSpPr/>
            <p:nvPr/>
          </p:nvSpPr>
          <p:spPr>
            <a:xfrm>
              <a:off x="2806560" y="9166680"/>
              <a:ext cx="288072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98" name="TextBox 53"/>
          <p:cNvSpPr/>
          <p:nvPr/>
        </p:nvSpPr>
        <p:spPr>
          <a:xfrm>
            <a:off x="300600" y="6731280"/>
            <a:ext cx="3110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Google BERT-base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109 млн параметров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Затраченные компьютерные мощности: 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1,89 Пета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FLOPS-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дней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54"/>
          <p:cNvSpPr/>
          <p:nvPr/>
        </p:nvSpPr>
        <p:spPr>
          <a:xfrm>
            <a:off x="1956240" y="9011880"/>
            <a:ext cx="311652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Open AI GPT-3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175 млрд параметров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Затраченные компьютерные мощности: 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3 640 Пета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FLOPS-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дней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Прямоугольник 18"/>
          <p:cNvSpPr/>
          <p:nvPr/>
        </p:nvSpPr>
        <p:spPr>
          <a:xfrm>
            <a:off x="212760" y="6086880"/>
            <a:ext cx="14010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Визуализация роста затрат мощностей на обучение ИИ на примере конкретных популярных моделей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3654360" y="6756840"/>
            <a:ext cx="3270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Huawei PANGU-</a:t>
            </a:r>
            <a:r>
              <a:rPr b="1" lang="el-GR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α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200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млрд параметров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Затраченные компьютерные мощности: 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25 000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Пета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FLOPS-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дней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Прямоугольник 3"/>
          <p:cNvSpPr/>
          <p:nvPr/>
        </p:nvSpPr>
        <p:spPr>
          <a:xfrm>
            <a:off x="7341840" y="10149480"/>
            <a:ext cx="140202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Brown T. B. Language models are few-shot learners //arXiv preprint arXiv:2005.14165. – 2020.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Интеллектуальный мир, </a:t>
            </a:r>
            <a:r>
              <a:rPr b="0" lang="en-US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Huawei</a:t>
            </a:r>
            <a:r>
              <a:rPr b="0" lang="ru-RU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, </a:t>
            </a:r>
            <a:r>
              <a:rPr b="0" lang="en-US" sz="1000" strike="noStrike" u="sng">
                <a:solidFill>
                  <a:srgbClr val="0563c1"/>
                </a:solidFill>
                <a:uFillTx/>
                <a:latin typeface="HelveticaNeueCyr"/>
                <a:ea typeface="Arial"/>
                <a:hlinkClick r:id="rId2"/>
              </a:rPr>
              <a:t>https://www-file.huawei.com/-/media/corp2020/pdf/giv/intelligent_world_2030_en.pdf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23"/>
          <p:cNvSpPr/>
          <p:nvPr/>
        </p:nvSpPr>
        <p:spPr>
          <a:xfrm>
            <a:off x="6116040" y="9011880"/>
            <a:ext cx="3270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Meta** Llama 3.1 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– 405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B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4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05 млрд параметров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Затраченные компьютерные мощности: 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38 550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Пета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FLOPS-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дней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24"/>
          <p:cNvSpPr/>
          <p:nvPr/>
        </p:nvSpPr>
        <p:spPr>
          <a:xfrm>
            <a:off x="11162520" y="6793560"/>
            <a:ext cx="3270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Прогнозируемые компьютерные мощности для ИИ:</a:t>
            </a:r>
            <a:br>
              <a:rPr sz="1400"/>
            </a:b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105 *10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^6</a:t>
            </a: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Пета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FLOPS</a:t>
            </a:r>
            <a:br>
              <a:rPr sz="1400"/>
            </a:b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500 раз больше, чем в 2020 году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212760" y="6370560"/>
            <a:ext cx="13897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6496200" y="957240"/>
            <a:ext cx="8033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Развитие решений с искусственным интеллектом (ИИ) определяется тремя факторами: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Прямоугольник 31"/>
          <p:cNvSpPr/>
          <p:nvPr/>
        </p:nvSpPr>
        <p:spPr>
          <a:xfrm>
            <a:off x="6815520" y="3849840"/>
            <a:ext cx="1434960" cy="1343520"/>
          </a:xfrm>
          <a:prstGeom prst="rect">
            <a:avLst/>
          </a:prstGeom>
          <a:solidFill>
            <a:srgbClr val="8faadc"/>
          </a:solidFill>
          <a:ln w="12700">
            <a:solidFill>
              <a:srgbClr val="e7e6e6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08" name="Прямоугольник 41"/>
          <p:cNvSpPr/>
          <p:nvPr/>
        </p:nvSpPr>
        <p:spPr>
          <a:xfrm>
            <a:off x="8839800" y="3546360"/>
            <a:ext cx="1728720" cy="1640880"/>
          </a:xfrm>
          <a:prstGeom prst="rect">
            <a:avLst/>
          </a:prstGeom>
          <a:solidFill>
            <a:srgbClr val="a8b0fa"/>
          </a:solidFill>
          <a:ln w="12700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09" name="Прямоугольник 42"/>
          <p:cNvSpPr/>
          <p:nvPr/>
        </p:nvSpPr>
        <p:spPr>
          <a:xfrm>
            <a:off x="11157480" y="3286800"/>
            <a:ext cx="2012040" cy="1906560"/>
          </a:xfrm>
          <a:prstGeom prst="rect">
            <a:avLst/>
          </a:prstGeom>
          <a:solidFill>
            <a:srgbClr val="5c8efe"/>
          </a:solidFill>
          <a:ln w="12700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0" name="Прямоугольник 32"/>
          <p:cNvSpPr/>
          <p:nvPr/>
        </p:nvSpPr>
        <p:spPr>
          <a:xfrm>
            <a:off x="6833520" y="4378680"/>
            <a:ext cx="813600" cy="803520"/>
          </a:xfrm>
          <a:prstGeom prst="rect">
            <a:avLst/>
          </a:prstGeom>
          <a:noFill/>
          <a:ln w="22225">
            <a:solidFill>
              <a:srgbClr val="a5a5a5">
                <a:lumMod val="50000"/>
              </a:srgb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1" name="Прямоугольник 45"/>
          <p:cNvSpPr/>
          <p:nvPr/>
        </p:nvSpPr>
        <p:spPr>
          <a:xfrm>
            <a:off x="8850240" y="4369320"/>
            <a:ext cx="813600" cy="803520"/>
          </a:xfrm>
          <a:prstGeom prst="rect">
            <a:avLst/>
          </a:prstGeom>
          <a:noFill/>
          <a:ln w="22225">
            <a:solidFill>
              <a:srgbClr val="a5a5a5">
                <a:lumMod val="50000"/>
              </a:srgb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2" name="Прямоугольник 46"/>
          <p:cNvSpPr/>
          <p:nvPr/>
        </p:nvSpPr>
        <p:spPr>
          <a:xfrm>
            <a:off x="11177640" y="4378680"/>
            <a:ext cx="813600" cy="803520"/>
          </a:xfrm>
          <a:prstGeom prst="rect">
            <a:avLst/>
          </a:prstGeom>
          <a:noFill/>
          <a:ln w="22225">
            <a:solidFill>
              <a:srgbClr val="a5a5a5">
                <a:lumMod val="50000"/>
              </a:srgb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3" name="TextBox 33"/>
          <p:cNvSpPr/>
          <p:nvPr/>
        </p:nvSpPr>
        <p:spPr>
          <a:xfrm>
            <a:off x="6725160" y="357768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2030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Box 48"/>
          <p:cNvSpPr/>
          <p:nvPr/>
        </p:nvSpPr>
        <p:spPr>
          <a:xfrm>
            <a:off x="8759160" y="327132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2030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Box 50"/>
          <p:cNvSpPr/>
          <p:nvPr/>
        </p:nvSpPr>
        <p:spPr>
          <a:xfrm>
            <a:off x="11064240" y="302400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2030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52"/>
          <p:cNvSpPr/>
          <p:nvPr/>
        </p:nvSpPr>
        <p:spPr>
          <a:xfrm>
            <a:off x="6764040" y="435060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2023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55"/>
          <p:cNvSpPr/>
          <p:nvPr/>
        </p:nvSpPr>
        <p:spPr>
          <a:xfrm>
            <a:off x="7348320" y="434880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55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Box 56"/>
          <p:cNvSpPr/>
          <p:nvPr/>
        </p:nvSpPr>
        <p:spPr>
          <a:xfrm>
            <a:off x="8782200" y="434124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2023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57"/>
          <p:cNvSpPr/>
          <p:nvPr/>
        </p:nvSpPr>
        <p:spPr>
          <a:xfrm>
            <a:off x="9366840" y="433980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55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58"/>
          <p:cNvSpPr/>
          <p:nvPr/>
        </p:nvSpPr>
        <p:spPr>
          <a:xfrm>
            <a:off x="11105640" y="434844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2023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Box 59"/>
          <p:cNvSpPr/>
          <p:nvPr/>
        </p:nvSpPr>
        <p:spPr>
          <a:xfrm>
            <a:off x="11689920" y="4347000"/>
            <a:ext cx="61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55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60"/>
          <p:cNvSpPr/>
          <p:nvPr/>
        </p:nvSpPr>
        <p:spPr>
          <a:xfrm>
            <a:off x="7885080" y="358344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171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61"/>
          <p:cNvSpPr/>
          <p:nvPr/>
        </p:nvSpPr>
        <p:spPr>
          <a:xfrm>
            <a:off x="10185120" y="328212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219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62"/>
          <p:cNvSpPr/>
          <p:nvPr/>
        </p:nvSpPr>
        <p:spPr>
          <a:xfrm>
            <a:off x="12791520" y="3020400"/>
            <a:ext cx="61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2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98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63"/>
          <p:cNvSpPr/>
          <p:nvPr/>
        </p:nvSpPr>
        <p:spPr>
          <a:xfrm>
            <a:off x="6614640" y="5464440"/>
            <a:ext cx="803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Спрос на мощности ЦОД, ГВт, прогноз </a:t>
            </a:r>
            <a:r>
              <a:rPr b="0" i="1" lang="en-US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McKinsey. </a:t>
            </a: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64"/>
          <p:cNvSpPr/>
          <p:nvPr/>
        </p:nvSpPr>
        <p:spPr>
          <a:xfrm>
            <a:off x="11096640" y="5181480"/>
            <a:ext cx="231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Верхний диапазон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65"/>
          <p:cNvSpPr/>
          <p:nvPr/>
        </p:nvSpPr>
        <p:spPr>
          <a:xfrm>
            <a:off x="8719200" y="5169960"/>
            <a:ext cx="231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Средний диапазон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Box 66"/>
          <p:cNvSpPr/>
          <p:nvPr/>
        </p:nvSpPr>
        <p:spPr>
          <a:xfrm>
            <a:off x="6694200" y="5181840"/>
            <a:ext cx="231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2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Нижний диапазон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67"/>
          <p:cNvSpPr/>
          <p:nvPr/>
        </p:nvSpPr>
        <p:spPr>
          <a:xfrm>
            <a:off x="7160400" y="3872160"/>
            <a:ext cx="111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CAGR +19%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68"/>
          <p:cNvSpPr/>
          <p:nvPr/>
        </p:nvSpPr>
        <p:spPr>
          <a:xfrm>
            <a:off x="9496440" y="3567240"/>
            <a:ext cx="111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CAGR +22%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69"/>
          <p:cNvSpPr/>
          <p:nvPr/>
        </p:nvSpPr>
        <p:spPr>
          <a:xfrm>
            <a:off x="12100320" y="3314520"/>
            <a:ext cx="111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CAGR +27%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Прямоугольник 36"/>
          <p:cNvSpPr/>
          <p:nvPr/>
        </p:nvSpPr>
        <p:spPr>
          <a:xfrm>
            <a:off x="328680" y="10181160"/>
            <a:ext cx="755604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* Прогнозные значения, </a:t>
            </a:r>
            <a:r>
              <a:rPr b="0" lang="en-US" sz="1000" strike="noStrike" u="sng">
                <a:solidFill>
                  <a:srgbClr val="0563c1"/>
                </a:solidFill>
                <a:uFillTx/>
                <a:latin typeface="HelveticaNeueCyr"/>
                <a:ea typeface="Arial"/>
                <a:hlinkClick r:id="rId3"/>
              </a:rPr>
              <a:t>https://www.statista.com/forecasts/1474143/global-ai-market-size</a:t>
            </a:r>
            <a:r>
              <a:rPr b="0" lang="en-US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*</a:t>
            </a:r>
            <a:r>
              <a:rPr b="0" lang="en-US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*</a:t>
            </a:r>
            <a:r>
              <a:rPr b="0" lang="ru-RU" sz="10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Деятельность организации запрещена на территории РФ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Num" idx="6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C02C68-15ED-451F-9C10-4F12123EE7E1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4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Искусственный интеллект в контуре правительства 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Прямоугольник: скругленные углы 2"/>
          <p:cNvSpPr/>
          <p:nvPr/>
        </p:nvSpPr>
        <p:spPr>
          <a:xfrm>
            <a:off x="212760" y="914400"/>
            <a:ext cx="14630040" cy="335232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grpSp>
        <p:nvGrpSpPr>
          <p:cNvPr id="136" name="Группа 5"/>
          <p:cNvGrpSpPr/>
          <p:nvPr/>
        </p:nvGrpSpPr>
        <p:grpSpPr>
          <a:xfrm>
            <a:off x="900000" y="2283120"/>
            <a:ext cx="3333600" cy="1653120"/>
            <a:chOff x="900000" y="2283120"/>
            <a:chExt cx="3333600" cy="1653120"/>
          </a:xfrm>
        </p:grpSpPr>
        <p:sp>
          <p:nvSpPr>
            <p:cNvPr id="137" name="TextBox 3"/>
            <p:cNvSpPr/>
            <p:nvPr/>
          </p:nvSpPr>
          <p:spPr>
            <a:xfrm>
              <a:off x="900000" y="2283120"/>
              <a:ext cx="2880720" cy="57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50000"/>
                </a:lnSpc>
              </a:pPr>
              <a:r>
                <a:rPr b="0" lang="en-US" sz="3200" strike="noStrike" u="none">
                  <a:solidFill>
                    <a:srgbClr val="002060"/>
                  </a:solidFill>
                  <a:uFillTx/>
                  <a:latin typeface="Unbounded SemiBold"/>
                  <a:ea typeface="Arial"/>
                </a:rPr>
                <a:t>88</a:t>
              </a:r>
              <a:br>
                <a:rPr sz="3200"/>
              </a:br>
              <a:r>
                <a:rPr b="0" lang="ru-RU" sz="1800" strike="noStrike" u="none">
                  <a:solidFill>
                    <a:srgbClr val="002060"/>
                  </a:solidFill>
                  <a:uFillTx/>
                  <a:latin typeface="Unbounded SemiBold"/>
                  <a:ea typeface="Arial"/>
                </a:rPr>
                <a:t>проектов</a:t>
              </a:r>
              <a:r>
                <a:rPr b="0" lang="ru-RU" sz="3200" strike="noStrike" u="none">
                  <a:solidFill>
                    <a:srgbClr val="002060"/>
                  </a:solidFill>
                  <a:uFillTx/>
                  <a:latin typeface="Unbounded SemiBold"/>
                  <a:ea typeface="Arial"/>
                </a:rPr>
                <a:t> </a:t>
              </a:r>
              <a:endParaRPr b="0" lang="en-GB" sz="3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38" name="TextBox 4"/>
            <p:cNvSpPr/>
            <p:nvPr/>
          </p:nvSpPr>
          <p:spPr>
            <a:xfrm>
              <a:off x="906480" y="2871720"/>
              <a:ext cx="332712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600" strike="noStrike" u="none">
                  <a:solidFill>
                    <a:srgbClr val="000000"/>
                  </a:solidFill>
                  <a:uFillTx/>
                  <a:latin typeface="HelveticaNeueCyr"/>
                  <a:ea typeface="Arial"/>
                </a:rPr>
                <a:t>с применением искусственного интеллекта реализуется</a:t>
              </a:r>
              <a:br>
                <a:rPr sz="1600"/>
              </a:br>
              <a:r>
                <a:rPr b="0" lang="ru-RU" sz="1600" strike="noStrike" u="none">
                  <a:solidFill>
                    <a:srgbClr val="000000"/>
                  </a:solidFill>
                  <a:uFillTx/>
                  <a:latin typeface="HelveticaNeueCyr"/>
                  <a:ea typeface="Arial"/>
                </a:rPr>
                <a:t>в Москве в различных отраслях городского хозяйства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39" name="Группа 7"/>
          <p:cNvGrpSpPr/>
          <p:nvPr/>
        </p:nvGrpSpPr>
        <p:grpSpPr>
          <a:xfrm>
            <a:off x="412920" y="685080"/>
            <a:ext cx="13920840" cy="3101400"/>
            <a:chOff x="412920" y="685080"/>
            <a:chExt cx="13920840" cy="3101400"/>
          </a:xfrm>
        </p:grpSpPr>
        <p:grpSp>
          <p:nvGrpSpPr>
            <p:cNvPr id="140" name="Схема 8"/>
            <p:cNvGrpSpPr/>
            <p:nvPr/>
          </p:nvGrpSpPr>
          <p:grpSpPr>
            <a:xfrm>
              <a:off x="630000" y="685080"/>
              <a:ext cx="13703760" cy="2120760"/>
              <a:chOff x="630000" y="685080"/>
              <a:chExt cx="13703760" cy="2120760"/>
            </a:xfrm>
          </p:grpSpPr>
          <p:sp>
            <p:nvSpPr>
              <p:cNvPr id="141" name=""/>
              <p:cNvSpPr/>
              <p:nvPr/>
            </p:nvSpPr>
            <p:spPr>
              <a:xfrm>
                <a:off x="630000" y="685080"/>
                <a:ext cx="13703760" cy="212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630000" y="1461600"/>
                <a:ext cx="13703760" cy="567720"/>
              </a:xfrm>
              <a:prstGeom prst="notched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3000">
                    <a:srgbClr val="fce8e8"/>
                  </a:gs>
                  <a:gs pos="74000">
                    <a:srgbClr val="818cf7"/>
                  </a:gs>
                  <a:gs pos="83000">
                    <a:srgbClr val="0f24e7"/>
                  </a:gs>
                  <a:gs pos="100000">
                    <a:srgbClr val="0f24e7"/>
                  </a:gs>
                </a:gsLst>
                <a:lin ang="215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672480" y="6850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113760" rIns="113760" tIns="113760" bIns="113760" anchor="b">
                <a:noAutofit/>
              </a:bodyPr>
              <a:p>
                <a:pPr algn="ctr" defTabSz="711360">
                  <a:lnSpc>
                    <a:spcPct val="90000"/>
                  </a:lnSpc>
                  <a:spcAft>
                    <a:spcPts val="561"/>
                  </a:spcAft>
                  <a:tabLst>
                    <a:tab algn="l" pos="0"/>
                  </a:tabLst>
                </a:pPr>
                <a:r>
                  <a:rPr b="1" lang="ru-RU" sz="1600" strike="noStrike" u="none">
                    <a:solidFill>
                      <a:srgbClr val="000000"/>
                    </a:solidFill>
                    <a:uFillTx/>
                    <a:latin typeface="Unbounded Medium"/>
                    <a:ea typeface="Arial"/>
                  </a:rPr>
                  <a:t>2024</a:t>
                </a:r>
                <a:endParaRPr b="0" lang="en-GB" sz="16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395720" y="1639800"/>
                <a:ext cx="211680" cy="211680"/>
              </a:xfrm>
              <a:prstGeom prst="ellipse">
                <a:avLst/>
              </a:prstGeom>
              <a:solidFill>
                <a:srgbClr val="7030a0">
                  <a:alpha val="90000"/>
                </a:srgb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2404800" y="19576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3143160" y="163980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4178520" y="6850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4916880" y="163980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5952240" y="19576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6690600" y="163980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7725960" y="6850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b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8464320" y="163980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9499680" y="19576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99720" rIns="99720" tIns="99720" bIns="99720" anchor="t">
                <a:noAutofit/>
              </a:bodyPr>
              <a:p>
                <a:pPr algn="ctr" defTabSz="622440">
                  <a:lnSpc>
                    <a:spcPct val="90000"/>
                  </a:lnSpc>
                  <a:spcAft>
                    <a:spcPts val="490"/>
                  </a:spcAft>
                  <a:tabLst>
                    <a:tab algn="l" pos="0"/>
                  </a:tabLst>
                </a:pPr>
                <a:endParaRPr b="0" lang="ru-RU" sz="1400" strike="noStrike" u="none">
                  <a:solidFill>
                    <a:srgbClr val="000000"/>
                  </a:solidFill>
                  <a:uFillTx/>
                  <a:latin typeface="Unbounded Medium"/>
                  <a:ea typeface="Arial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10238040" y="1639800"/>
                <a:ext cx="211680" cy="2116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11273400" y="685080"/>
                <a:ext cx="1688760" cy="84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113760" rIns="113760" tIns="113760" bIns="113760" anchor="b">
                <a:noAutofit/>
              </a:bodyPr>
              <a:p>
                <a:pPr algn="ctr" defTabSz="711360">
                  <a:lnSpc>
                    <a:spcPct val="90000"/>
                  </a:lnSpc>
                  <a:spcAft>
                    <a:spcPts val="561"/>
                  </a:spcAft>
                  <a:tabLst>
                    <a:tab algn="l" pos="0"/>
                  </a:tabLst>
                </a:pPr>
                <a:r>
                  <a:rPr b="1" lang="en-US" sz="1600" strike="noStrike" u="none">
                    <a:solidFill>
                      <a:srgbClr val="000000"/>
                    </a:solidFill>
                    <a:uFillTx/>
                    <a:latin typeface="Unbounded Medium"/>
                  </a:rPr>
                  <a:t>2030</a:t>
                </a:r>
                <a:endParaRPr b="0" lang="en-GB" sz="16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12011760" y="1639800"/>
                <a:ext cx="211680" cy="211680"/>
              </a:xfrm>
              <a:prstGeom prst="ellipse">
                <a:avLst/>
              </a:prstGeom>
              <a:solidFill>
                <a:schemeClr val="accent1">
                  <a:alpha val="50000"/>
                  <a:hueOff val="0"/>
                  <a:satOff val="0"/>
                  <a:lumOff val="0"/>
                  <a:alphaOff val="-40000"/>
                </a:schemeClr>
              </a:solidFill>
              <a:ln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157" name="Прямоугольник 9"/>
            <p:cNvSpPr/>
            <p:nvPr/>
          </p:nvSpPr>
          <p:spPr>
            <a:xfrm>
              <a:off x="8804160" y="2711880"/>
              <a:ext cx="288072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8" name="Прямоугольник 10"/>
            <p:cNvSpPr/>
            <p:nvPr/>
          </p:nvSpPr>
          <p:spPr>
            <a:xfrm>
              <a:off x="630000" y="1756080"/>
              <a:ext cx="288072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9" name="Прямоугольник 11"/>
            <p:cNvSpPr/>
            <p:nvPr/>
          </p:nvSpPr>
          <p:spPr>
            <a:xfrm>
              <a:off x="412920" y="1015200"/>
              <a:ext cx="328824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0" name="Прямоугольник 12"/>
            <p:cNvSpPr/>
            <p:nvPr/>
          </p:nvSpPr>
          <p:spPr>
            <a:xfrm>
              <a:off x="2706840" y="3237480"/>
              <a:ext cx="288072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61" name="TextBox 15"/>
          <p:cNvSpPr/>
          <p:nvPr/>
        </p:nvSpPr>
        <p:spPr>
          <a:xfrm>
            <a:off x="11270520" y="2185920"/>
            <a:ext cx="353124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Обеспечение создания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эко-системы ИИ</a:t>
            </a:r>
            <a:br>
              <a:rPr sz="600"/>
            </a:br>
            <a:r>
              <a:rPr b="0" lang="ru-RU" sz="600" strike="noStrike" u="none">
                <a:solidFill>
                  <a:srgbClr val="000000"/>
                </a:solidFill>
                <a:uFillTx/>
                <a:latin typeface="HelveticaNeueCyr"/>
              </a:rPr>
              <a:t> 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Внедрение ИИ-технологий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деятельность все ОИВ Москвы</a:t>
            </a:r>
            <a:br>
              <a:rPr sz="600"/>
            </a:br>
            <a:r>
              <a:rPr b="0" lang="ru-RU" sz="600" strike="noStrike" u="none">
                <a:solidFill>
                  <a:srgbClr val="000000"/>
                </a:solidFill>
                <a:uFillTx/>
                <a:latin typeface="HelveticaNeueCyr"/>
              </a:rPr>
              <a:t> 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Масштабирование опыта Москвы на субъекты РФ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535320" y="4649400"/>
            <a:ext cx="2112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Объем </a:t>
            </a:r>
            <a:r>
              <a:rPr b="1" lang="en-US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GPU</a:t>
            </a: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 (</a:t>
            </a:r>
            <a:r>
              <a:rPr b="1" lang="en-US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RAM</a:t>
            </a:r>
            <a:r>
              <a:rPr b="1" lang="ru-RU" sz="1400" strike="noStrike" u="none">
                <a:solidFill>
                  <a:schemeClr val="dk1"/>
                </a:solidFill>
                <a:highlight>
                  <a:srgbClr val="ffffff"/>
                </a:highlight>
                <a:uFillTx/>
                <a:latin typeface="Unbounded SemiBold"/>
              </a:rPr>
              <a:t>), ГБ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63" name="Диаграмма 18"/>
          <p:cNvGraphicFramePr/>
          <p:nvPr/>
        </p:nvGraphicFramePr>
        <p:xfrm>
          <a:off x="412920" y="4912560"/>
          <a:ext cx="6025320" cy="4439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164" name="Прямая соединительная линия 19"/>
          <p:cNvCxnSpPr/>
          <p:nvPr/>
        </p:nvCxnSpPr>
        <p:spPr>
          <a:xfrm>
            <a:off x="3677400" y="6487200"/>
            <a:ext cx="360" cy="1735560"/>
          </a:xfrm>
          <a:prstGeom prst="straightConnector1">
            <a:avLst/>
          </a:prstGeom>
          <a:ln>
            <a:solidFill>
              <a:srgbClr val="3f6ec2"/>
            </a:solidFill>
            <a:round/>
          </a:ln>
        </p:spPr>
      </p:cxnSp>
      <p:sp>
        <p:nvSpPr>
          <p:cNvPr id="165" name="TextBox 20"/>
          <p:cNvSpPr/>
          <p:nvPr/>
        </p:nvSpPr>
        <p:spPr>
          <a:xfrm>
            <a:off x="3141360" y="822240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01.07.2024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TextBox 22"/>
          <p:cNvSpPr/>
          <p:nvPr/>
        </p:nvSpPr>
        <p:spPr>
          <a:xfrm>
            <a:off x="7146720" y="4587480"/>
            <a:ext cx="755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На текущий момент кластер </a:t>
            </a:r>
            <a:r>
              <a:rPr b="0" lang="en-US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GPU</a:t>
            </a: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 серверов включает в себя: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Box 25"/>
          <p:cNvSpPr/>
          <p:nvPr/>
        </p:nvSpPr>
        <p:spPr>
          <a:xfrm>
            <a:off x="7330320" y="6820920"/>
            <a:ext cx="28807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80000"/>
              </a:lnSpc>
            </a:pPr>
            <a:r>
              <a:rPr b="0" lang="ru-RU" sz="32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3 200 ГБ</a:t>
            </a: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генеративный ИИ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Box 27"/>
          <p:cNvSpPr/>
          <p:nvPr/>
        </p:nvSpPr>
        <p:spPr>
          <a:xfrm>
            <a:off x="7330320" y="5779440"/>
            <a:ext cx="28807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80000"/>
              </a:lnSpc>
            </a:pPr>
            <a:r>
              <a:rPr b="0" lang="ru-RU" sz="32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4 032 ГБ</a:t>
            </a: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 рендеринг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Box 29"/>
          <p:cNvSpPr/>
          <p:nvPr/>
        </p:nvSpPr>
        <p:spPr>
          <a:xfrm>
            <a:off x="7146720" y="7936920"/>
            <a:ext cx="715572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Показатель утилизации кластера </a:t>
            </a:r>
            <a:r>
              <a:rPr b="0" lang="en-US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GPU </a:t>
            </a:r>
            <a:r>
              <a:rPr b="0" lang="ru-RU" sz="18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серверов, на данный момент составляет до 100%.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Утилизация – доля ресурсов системы, которые используются 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для выполнения работ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Num" idx="7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41550D-50D4-49D7-B836-BA3AE24C1B31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1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Рынок графических процессоров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72" name="Таблица 13"/>
          <p:cNvGraphicFramePr/>
          <p:nvPr/>
        </p:nvGraphicFramePr>
        <p:xfrm>
          <a:off x="447840" y="763920"/>
          <a:ext cx="14220360" cy="10107360"/>
        </p:xfrm>
        <a:graphic>
          <a:graphicData uri="http://schemas.openxmlformats.org/drawingml/2006/table">
            <a:tbl>
              <a:tblPr/>
              <a:tblGrid>
                <a:gridCol w="1253880"/>
                <a:gridCol w="2291400"/>
                <a:gridCol w="2523600"/>
                <a:gridCol w="2661840"/>
                <a:gridCol w="2661840"/>
                <a:gridCol w="282672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Тип процессора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Центральный процессор (ЦП)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Central Processing Unit (CPU) 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Графический процессор (ГП)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Graphics Processing Unit (GPU)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Нейронный процессор (НП)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Neural Processing Unit </a:t>
                      </a:r>
                      <a:r>
                        <a:rPr b="1" i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(</a:t>
                      </a: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NPU</a:t>
                      </a:r>
                      <a:r>
                        <a:rPr b="1" i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Тензорный процессор (ТП)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Tensor Processing Unit</a:t>
                      </a:r>
                      <a:r>
                        <a:rPr b="1" i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 (</a:t>
                      </a:r>
                      <a:r>
                        <a:rPr b="1" i="1" lang="en-US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TPU</a:t>
                      </a:r>
                      <a:r>
                        <a:rPr b="1" i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Квантовый компьютер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Описание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с пониженной точностью, разработан для ускорения задач глубокого обучения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Является подвидом нейронных процессоров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Основные функции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Управление всеми операциями на компьютере, вводом/выводом, памятью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Обработка инструкций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Выполнение арифметических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 логических операций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Рендеринг графики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Обработка пикселей и вершин для создания трехмерных изображений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Большое количество вычислений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 области графики, машинного обучения, ИИ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Обработка и анализ данных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Распознавание образов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 изображений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Обучение на основе данных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Решение сложных ИИ задач классификации, прогнозирования и др.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Ускорение задач машинного обучения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Оптимизация и вычисление математических выражений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Поддержка программирования глубоких нейронных сетей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Разработка специализированных квантовых вычислителей для конкретных задач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Обработка данных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Последовательная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(выполняет каждый шаг алгоритма один за другим)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Параллельная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(выполняет шаги алгоритма одновременно)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Параллельная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(выполняет шаги алгоритма одновременно)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Параллельная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(выполняет шаги алгоритма одновременно)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Параллельная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(выполняет шаги алгоритма одновременно)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Количество ядер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От 1 до 96, высокая мощность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От 100 до 1000, меньше производительность, чем у ЦП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От 10 000 ядер и более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От 100 до 640, менее мощные, чем в ЦП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Ядро отсутствует, функционирование основано на принципах квантовой механики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Производители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Иностранные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 Core i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3,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5,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i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7,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;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Intel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Xeon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;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Pentium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AMD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Athlon, Phenom, Opteron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IBM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(POWER7)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Apple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Apple Silicon, A18)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ARM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Великобритания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Cortex M)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Российские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Baikal Electronics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РФ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Baikal-M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МЦСТ, РФ (Эльбрус)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Иностранные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 HD Graphics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AMD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AMD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Radeon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5700XT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Nvidia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GTX 1660 Super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ASUS, Тайвань (GeForce GTX 1060)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ARM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Великобритания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(Immortalis-G925, Arm Mali-G725)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Российские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Информация отсутствует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Иностранные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Qualcomm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Snapdragon X Elite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X Plus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Apple, США (Neural Engine)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Huawei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КНР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Kirin 970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Core Ultra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IBM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США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TrueNorth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Российские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МФТИ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Ncore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Мотив Нейроморфные Технологии (Алтай)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Иностранные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Google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Google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TPU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Российские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IVA Technologies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РФ (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IVA TPU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Иностранные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IBM, США (Osprey)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Google, США (Sycamore)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Intel, США (Tunnel Falls)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Xanadu </a:t>
                      </a: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Quantum Tech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Канада (Borealis)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Российские разработки: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МФТИ и НИТУ «МИСиС» (создан 4-кубитный процессор, разработка 8-кубитного)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МГУ (разработка 16-кубитного процессора)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РКЦиФИ им. П.Н. Лебедева РАН, создан 50-кубитный квантовый компьютер)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Доступность </a:t>
                      </a:r>
                      <a:br>
                        <a:rPr sz="1000"/>
                      </a:b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на рынке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 (производятся множеством компаний)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Средняя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Низкая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(являются специализированными устройствами)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Низкая 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(являются специализированными устройствами)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НИОКР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Плюсы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Работает самостоятельно, без дополнительного оборудования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Широкий выбор процессоров на рынке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 точность вычислений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Возможность параллельных вычислений, без последовательного перебора решений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 производительность для задач ИИ и машинного обучения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Память с высокой пропускной способностью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Меньшее потребление энергии при большом объеме задач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Возможность параллельных вычислений в больших объемах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Высокоскоростные матричные вычисления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 производительность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 энергоэффективность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Минусы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Перебирают решения последовательно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Физические ограничения (необходимость охлаждения для стабильной работы)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Монофункциональный 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Не работает самостоятельно (нужен ЦП)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Физические ограничения (требуется охлаждение при сложных вычислениях)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Низкая точность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Чаще используется в смартфонах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 качестве дополнительного модуля 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Не работает самостоятельно (нужен ЦП)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Выдают не точные результаты,</a:t>
                      </a:r>
                      <a:br>
                        <a:rPr sz="1000"/>
                      </a:b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а вероятностные (приближенные)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Помехи в данных из-за внешних факторов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1360" indent="-1713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Требуются специальные помещения (охлаждаемые, с наивысшим классом чистоты)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Использование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Запуск различных программ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Обработка графики, реже машинное обучение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Ускорение задач, связанных с ИИ и машинным обучением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Запуск нейросетей, задачи глубокого обучения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Квантовые вычисления, моделирование сложных молекулярных систем 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Скорость работы нейросетей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Низкая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требуется дополнительное оборудование для ускорения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Средняя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справляется с простыми задачами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увеличивает скорость вычисления задач ИИ 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Высокая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выполняет сложные вычисления, решает задачи глубокого обучения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Очень высокая</a:t>
                      </a: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uFillTx/>
                          <a:latin typeface="HelveticaNeueCyr"/>
                          <a:ea typeface="Arial"/>
                        </a:rPr>
                        <a:t>, быстро выполняет сложные вычисления</a:t>
                      </a:r>
                      <a:endParaRPr b="0" lang="en-GB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Реализация в ДИТ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c5d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Основной процессор для всех информационных систем и сервисов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Закупается для нужд искусственного интеллекта, рендеринга видео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</a:rPr>
                        <a:t>Не используется в ДИТ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Закупается для нужд искусственного интеллекта, рендеринга видео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000" strike="noStrike" u="none">
                          <a:solidFill>
                            <a:schemeClr val="lt1"/>
                          </a:solidFill>
                          <a:uFillTx/>
                          <a:latin typeface="HelveticaNeueCyr"/>
                          <a:ea typeface="Arial"/>
                        </a:rPr>
                        <a:t>Тестируется в ДИТ</a:t>
                      </a:r>
                      <a:endParaRPr b="0" lang="en-GB" sz="1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3c5dff"/>
                      </a:solidFill>
                      <a:prstDash val="solid"/>
                    </a:lnR>
                    <a:lnT w="12240">
                      <a:solidFill>
                        <a:srgbClr val="3c5dff"/>
                      </a:solidFill>
                      <a:prstDash val="solid"/>
                    </a:lnT>
                    <a:lnB w="12240">
                      <a:solidFill>
                        <a:srgbClr val="3c5dff"/>
                      </a:solidFill>
                      <a:prstDash val="solid"/>
                    </a:lnB>
                    <a:solidFill>
                      <a:srgbClr val="3c5d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Num" idx="8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82F3A8-DBDF-4083-B7A0-8210796BC198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4" name="Google Shape;1046;p21"/>
          <p:cNvSpPr/>
          <p:nvPr/>
        </p:nvSpPr>
        <p:spPr>
          <a:xfrm>
            <a:off x="212760" y="266760"/>
            <a:ext cx="1440144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Прямоугольник 39"/>
          <p:cNvSpPr/>
          <p:nvPr/>
        </p:nvSpPr>
        <p:spPr>
          <a:xfrm>
            <a:off x="456480" y="2799720"/>
            <a:ext cx="6431400" cy="32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Количество транзисторов на площади кремниевой пластины увеличивается в 2 раза каждые 2 года (Закон Мура)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Деннарда)</a:t>
            </a:r>
            <a:br>
              <a:rPr sz="700"/>
            </a:br>
            <a:r>
              <a:rPr b="0" lang="ru-RU" sz="700" strike="noStrike" u="none">
                <a:solidFill>
                  <a:srgbClr val="222222"/>
                </a:solidFill>
                <a:uFillTx/>
                <a:latin typeface="HelveticaNeueCyr"/>
              </a:rPr>
              <a:t> 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ru-RU" sz="14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Закон Мура определил текущие размеры микропроцессоров, а закон Деннарда расширил его и объяснял в каком именно направлении нужно двигаться, чтобы развивать полупроводниковую индустрию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ru-RU" sz="14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При этом с 2006 года тактовая частота массовых микропроцессоров</a:t>
            </a:r>
            <a:br>
              <a:rPr sz="1400"/>
            </a:br>
            <a:r>
              <a:rPr b="0" lang="ru-RU" sz="14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не растет выше 4 ГГц, что показывает некоторое нарушение закона Деннарда, производители перешли на многоядерные процессоры, чтобы увеличить производительность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TextBox 40"/>
          <p:cNvSpPr/>
          <p:nvPr/>
        </p:nvSpPr>
        <p:spPr>
          <a:xfrm>
            <a:off x="7623000" y="1987560"/>
            <a:ext cx="70236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2020-2023 гг. на рынке наблюдался дефицит полупроводниковых чипов на фоне последствий пандемии </a:t>
            </a:r>
            <a:r>
              <a:rPr b="1" lang="en-US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COVID-19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TextBox 41"/>
          <p:cNvSpPr/>
          <p:nvPr/>
        </p:nvSpPr>
        <p:spPr>
          <a:xfrm>
            <a:off x="7745040" y="4609440"/>
            <a:ext cx="7023600" cy="35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Факторы, которые влияют на рынок:</a:t>
            </a:r>
            <a:br>
              <a:rPr sz="500"/>
            </a:b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Международная напряженность, которая может нарушать мировые цепочки поставок (более </a:t>
            </a:r>
            <a:r>
              <a:rPr b="1" lang="en-US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50%</a:t>
            </a: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рынка сосредоточено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 странах Азии)</a:t>
            </a:r>
            <a:br>
              <a:rPr sz="600"/>
            </a:br>
            <a:r>
              <a:rPr b="1" lang="ru-RU" sz="600" strike="noStrike" u="none">
                <a:solidFill>
                  <a:srgbClr val="222222"/>
                </a:solidFill>
                <a:uFillTx/>
                <a:latin typeface="HelveticaNeueCyr"/>
              </a:rPr>
              <a:t> 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на строительство, закупку оборудования и технологии,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но и в качестве подготовки кадров, задействованных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 производстве)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Box 42"/>
          <p:cNvSpPr/>
          <p:nvPr/>
        </p:nvSpPr>
        <p:spPr>
          <a:xfrm>
            <a:off x="365040" y="2322720"/>
            <a:ext cx="6267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Ретроспективно, развитие электроники определялось двумя наблюдениями: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43"/>
          <p:cNvSpPr/>
          <p:nvPr/>
        </p:nvSpPr>
        <p:spPr>
          <a:xfrm>
            <a:off x="456480" y="6375960"/>
            <a:ext cx="669816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sz="1600"/>
            </a:br>
            <a:r>
              <a:rPr b="1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1.5 нм (при меньших размерах проявляются квантовомеханические эффекты, устройства становятся неработоспособными)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Левая фигурная скобка 8"/>
          <p:cNvSpPr/>
          <p:nvPr/>
        </p:nvSpPr>
        <p:spPr>
          <a:xfrm rot="16200000">
            <a:off x="7260840" y="1267920"/>
            <a:ext cx="537120" cy="14329080"/>
          </a:xfrm>
          <a:prstGeom prst="leftBrace">
            <a:avLst>
              <a:gd name="adj1" fmla="val 120273"/>
              <a:gd name="adj2" fmla="val 50000"/>
            </a:avLst>
          </a:prstGeom>
          <a:noFill/>
          <a:ln>
            <a:solidFill>
              <a:srgbClr val="00206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365040" y="9470160"/>
            <a:ext cx="14248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Поиск новых технологий (например квантовые вычисления, оптические интегральные схемы, спинтроника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дезагрегация памяти)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2" name="Рисунок 11" descr=""/>
          <p:cNvPicPr/>
          <p:nvPr/>
        </p:nvPicPr>
        <p:blipFill>
          <a:blip r:embed="rId1"/>
          <a:stretch/>
        </p:blipFill>
        <p:spPr>
          <a:xfrm>
            <a:off x="15556320" y="2009520"/>
            <a:ext cx="5725080" cy="32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Box 23"/>
          <p:cNvSpPr/>
          <p:nvPr/>
        </p:nvSpPr>
        <p:spPr>
          <a:xfrm>
            <a:off x="7623000" y="2621880"/>
            <a:ext cx="702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Сроки поставок чипов 2017-2022 гг., недели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Прямоугольник: скругленные углы 13"/>
          <p:cNvSpPr/>
          <p:nvPr/>
        </p:nvSpPr>
        <p:spPr>
          <a:xfrm>
            <a:off x="212760" y="1129320"/>
            <a:ext cx="7023600" cy="6999120"/>
          </a:xfrm>
          <a:prstGeom prst="roundRect">
            <a:avLst>
              <a:gd name="adj" fmla="val 5601"/>
            </a:avLst>
          </a:prstGeom>
          <a:noFill/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185" name="Picture 8" descr=""/>
          <p:cNvPicPr/>
          <p:nvPr/>
        </p:nvPicPr>
        <p:blipFill>
          <a:blip r:embed="rId2"/>
          <a:stretch/>
        </p:blipFill>
        <p:spPr>
          <a:xfrm>
            <a:off x="7862760" y="2898720"/>
            <a:ext cx="5837040" cy="17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Прямоугольник: скругленные углы 27"/>
          <p:cNvSpPr/>
          <p:nvPr/>
        </p:nvSpPr>
        <p:spPr>
          <a:xfrm>
            <a:off x="7409520" y="1129320"/>
            <a:ext cx="7204320" cy="6999120"/>
          </a:xfrm>
          <a:prstGeom prst="roundRect">
            <a:avLst>
              <a:gd name="adj" fmla="val 5166"/>
            </a:avLst>
          </a:prstGeom>
          <a:noFill/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1019880" y="1351800"/>
            <a:ext cx="4409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1. Технические ограничения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TextBox 29"/>
          <p:cNvSpPr/>
          <p:nvPr/>
        </p:nvSpPr>
        <p:spPr>
          <a:xfrm>
            <a:off x="8162640" y="1372680"/>
            <a:ext cx="4088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2. Рыночные ограничения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Прямоугольник: скругленные углы 30"/>
          <p:cNvSpPr/>
          <p:nvPr/>
        </p:nvSpPr>
        <p:spPr>
          <a:xfrm flipV="1">
            <a:off x="203040" y="8879760"/>
            <a:ext cx="14410800" cy="1346400"/>
          </a:xfrm>
          <a:prstGeom prst="roundRect">
            <a:avLst>
              <a:gd name="adj" fmla="val 26669"/>
            </a:avLst>
          </a:prstGeom>
          <a:noFill/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761040" y="9067680"/>
            <a:ext cx="206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3. Следствие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Num" idx="9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831DBC-E452-44F2-8243-15AA0AE542DA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2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Центральный процессор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Прямоугольник: скругленные углы 4"/>
          <p:cNvSpPr/>
          <p:nvPr/>
        </p:nvSpPr>
        <p:spPr>
          <a:xfrm>
            <a:off x="447840" y="898920"/>
            <a:ext cx="14220360" cy="85320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Прямоугольник 5"/>
          <p:cNvSpPr/>
          <p:nvPr/>
        </p:nvSpPr>
        <p:spPr>
          <a:xfrm>
            <a:off x="443880" y="1891080"/>
            <a:ext cx="4835160" cy="44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Особенности: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Универсальность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Последовательная обработка данных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Сценарии применения: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Повседневные вычислительные задачи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Разработка и компиляция ПО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Обработка графики и использование для игр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Применение в ИИ: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Небольшие модели могут быть напрямую обучены или точно настроены на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ЦП (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CPU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)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ЦП (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CPU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)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необходим в более крупных моделях как средство координации обучения на ГП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 </a:t>
            </a:r>
            <a:r>
              <a:rPr b="0" lang="en-US" sz="16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  <a:ea typeface="Arial"/>
              </a:rPr>
              <a:t>(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GPU)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 или ТП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 (TPU)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Иногда используются для генерации</a:t>
            </a:r>
            <a:br>
              <a:rPr sz="1600"/>
            </a:b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или обработки данных обучения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Прямоугольник: скругленные углы 8"/>
          <p:cNvSpPr/>
          <p:nvPr/>
        </p:nvSpPr>
        <p:spPr>
          <a:xfrm>
            <a:off x="453600" y="6449040"/>
            <a:ext cx="482544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Иностранные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6" name="Рисунок 12" descr=""/>
          <p:cNvPicPr/>
          <p:nvPr/>
        </p:nvPicPr>
        <p:blipFill>
          <a:blip r:embed="rId1"/>
          <a:stretch/>
        </p:blipFill>
        <p:spPr>
          <a:xfrm>
            <a:off x="635400" y="7213320"/>
            <a:ext cx="126936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Рисунок 14" descr=""/>
          <p:cNvPicPr/>
          <p:nvPr/>
        </p:nvPicPr>
        <p:blipFill>
          <a:blip r:embed="rId2"/>
          <a:srcRect l="0" t="29221" r="0" b="27952"/>
          <a:stretch/>
        </p:blipFill>
        <p:spPr>
          <a:xfrm>
            <a:off x="453600" y="7963200"/>
            <a:ext cx="157356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Рисунок 16" descr=""/>
          <p:cNvPicPr/>
          <p:nvPr/>
        </p:nvPicPr>
        <p:blipFill>
          <a:blip r:embed="rId3"/>
          <a:stretch/>
        </p:blipFill>
        <p:spPr>
          <a:xfrm>
            <a:off x="3759840" y="7213320"/>
            <a:ext cx="126936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Рисунок 18" descr=""/>
          <p:cNvPicPr/>
          <p:nvPr/>
        </p:nvPicPr>
        <p:blipFill>
          <a:blip r:embed="rId4"/>
          <a:stretch/>
        </p:blipFill>
        <p:spPr>
          <a:xfrm>
            <a:off x="2534040" y="7427880"/>
            <a:ext cx="654840" cy="76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Рисунок 23" descr=""/>
          <p:cNvPicPr/>
          <p:nvPr/>
        </p:nvPicPr>
        <p:blipFill>
          <a:blip r:embed="rId5"/>
          <a:stretch/>
        </p:blipFill>
        <p:spPr>
          <a:xfrm>
            <a:off x="3759840" y="7988760"/>
            <a:ext cx="126936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Рисунок 24" descr=""/>
          <p:cNvPicPr/>
          <p:nvPr/>
        </p:nvPicPr>
        <p:blipFill>
          <a:blip r:embed="rId6"/>
          <a:stretch/>
        </p:blipFill>
        <p:spPr>
          <a:xfrm>
            <a:off x="453600" y="9508680"/>
            <a:ext cx="2031840" cy="5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Прямоугольник: скругленные углы 25"/>
          <p:cNvSpPr/>
          <p:nvPr/>
        </p:nvSpPr>
        <p:spPr>
          <a:xfrm>
            <a:off x="443880" y="8743680"/>
            <a:ext cx="483516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Российские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3" name="Рисунок 27" descr=""/>
          <p:cNvPicPr/>
          <p:nvPr/>
        </p:nvPicPr>
        <p:blipFill>
          <a:blip r:embed="rId7"/>
          <a:stretch/>
        </p:blipFill>
        <p:spPr>
          <a:xfrm>
            <a:off x="3363840" y="9456120"/>
            <a:ext cx="1915200" cy="60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Прямоугольник 2"/>
          <p:cNvSpPr/>
          <p:nvPr/>
        </p:nvSpPr>
        <p:spPr>
          <a:xfrm>
            <a:off x="5941800" y="7670520"/>
            <a:ext cx="30283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Основной процессор для всех информационных систем</a:t>
            </a:r>
            <a:br>
              <a:rPr sz="1600"/>
            </a:b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и сервисов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Прямоугольник: скругленные углы 29"/>
          <p:cNvSpPr/>
          <p:nvPr/>
        </p:nvSpPr>
        <p:spPr>
          <a:xfrm>
            <a:off x="5941800" y="6903720"/>
            <a:ext cx="3028320" cy="55836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Реализация в ДИТ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TextBox 20"/>
          <p:cNvSpPr/>
          <p:nvPr/>
        </p:nvSpPr>
        <p:spPr>
          <a:xfrm>
            <a:off x="5882760" y="2015640"/>
            <a:ext cx="87854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Традиционно рынок вычислений и обработки данных ориентирован на использование ЦП</a:t>
            </a:r>
            <a:r>
              <a:rPr b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(CPU)</a:t>
            </a:r>
            <a:r>
              <a:rPr b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, этот компонент был самым дорогим в серверах общего назначения</a:t>
            </a:r>
            <a:br>
              <a:rPr sz="1400"/>
            </a:b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GPU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), специализированными ускорителями и др.)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07" name="Диаграмма 10"/>
          <p:cNvGraphicFramePr/>
          <p:nvPr/>
        </p:nvGraphicFramePr>
        <p:xfrm>
          <a:off x="6135840" y="3754440"/>
          <a:ext cx="6022800" cy="2940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08" name="TextBox 13"/>
          <p:cNvSpPr/>
          <p:nvPr/>
        </p:nvSpPr>
        <p:spPr>
          <a:xfrm>
            <a:off x="12204720" y="4592160"/>
            <a:ext cx="2228400" cy="11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*Сопроцессоры – графические процессоры </a:t>
            </a: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(GPU)</a:t>
            </a:r>
            <a:r>
              <a:rPr b="0" lang="ru-RU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, тензорные процессоры (</a:t>
            </a: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TPU</a:t>
            </a:r>
            <a:r>
              <a:rPr b="0" lang="ru-RU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HelveticaNeueCyr"/>
              </a:rPr>
              <a:t>) и другие специализированные интегральные схемы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Прямоугольник 15"/>
          <p:cNvSpPr/>
          <p:nvPr/>
        </p:nvSpPr>
        <p:spPr>
          <a:xfrm>
            <a:off x="5941800" y="3441600"/>
            <a:ext cx="755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00000"/>
                </a:solidFill>
                <a:uFillTx/>
                <a:latin typeface="Unbounded SemiBold"/>
                <a:ea typeface="Arial"/>
              </a:rPr>
              <a:t>Оценка доли серверов с сопроцессорами, прогноз роста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Прямоугольник: скругленные углы 28"/>
          <p:cNvSpPr/>
          <p:nvPr/>
        </p:nvSpPr>
        <p:spPr>
          <a:xfrm>
            <a:off x="9608040" y="6859800"/>
            <a:ext cx="482544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Дефицит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Прямоугольник 30"/>
          <p:cNvSpPr/>
          <p:nvPr/>
        </p:nvSpPr>
        <p:spPr>
          <a:xfrm>
            <a:off x="9608040" y="7554240"/>
            <a:ext cx="4825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Добавление сопроцессоров позволяет избавиться от необходимости увеличивать количество ЦП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 (CPU)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, следовательно снижается вероятность возникновения дефицита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Прямоугольник 3"/>
          <p:cNvSpPr/>
          <p:nvPr/>
        </p:nvSpPr>
        <p:spPr>
          <a:xfrm>
            <a:off x="5930640" y="8736480"/>
            <a:ext cx="33724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37 304 шт.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– количество физических ЦП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До 100%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нагрузки, так как используется виртуализация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Прямоугольник: скругленные углы 9"/>
          <p:cNvSpPr/>
          <p:nvPr/>
        </p:nvSpPr>
        <p:spPr>
          <a:xfrm>
            <a:off x="5941800" y="6903720"/>
            <a:ext cx="3028320" cy="324072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Num" idx="10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7478D7-BF15-43A2-BE18-40F16492167A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5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Графический процессор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Прямоугольник: скругленные углы 3"/>
          <p:cNvSpPr/>
          <p:nvPr/>
        </p:nvSpPr>
        <p:spPr>
          <a:xfrm>
            <a:off x="447840" y="898920"/>
            <a:ext cx="14220360" cy="85320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Прямоугольник 5"/>
          <p:cNvSpPr/>
          <p:nvPr/>
        </p:nvSpPr>
        <p:spPr>
          <a:xfrm>
            <a:off x="447840" y="2015640"/>
            <a:ext cx="4926240" cy="44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Особенности: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Параллельная обработка данных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Высокая пропускная способность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Использование для графического рендеринга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Сценарии применения: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Приложения с интенсивной графикой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Глубокое обучение, а также тренировка нейронных сетей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Анализ данных и научные вычисления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Применение в ИИ: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Выполнение определенных математических операций, которые также распространены</a:t>
            </a:r>
            <a:br>
              <a:rPr sz="1600"/>
            </a:b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в машинном обучении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Наиболее распространенный вариант ускорителя для обучения моделей 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Прямоугольник: скругленные углы 7"/>
          <p:cNvSpPr/>
          <p:nvPr/>
        </p:nvSpPr>
        <p:spPr>
          <a:xfrm>
            <a:off x="453600" y="6449040"/>
            <a:ext cx="482544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Иностранные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9" name="Рисунок 9" descr=""/>
          <p:cNvPicPr/>
          <p:nvPr/>
        </p:nvPicPr>
        <p:blipFill>
          <a:blip r:embed="rId1"/>
          <a:srcRect l="0" t="29221" r="0" b="27952"/>
          <a:stretch/>
        </p:blipFill>
        <p:spPr>
          <a:xfrm>
            <a:off x="3705480" y="7199640"/>
            <a:ext cx="157356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Рисунок 10" descr=""/>
          <p:cNvPicPr/>
          <p:nvPr/>
        </p:nvPicPr>
        <p:blipFill>
          <a:blip r:embed="rId2"/>
          <a:stretch/>
        </p:blipFill>
        <p:spPr>
          <a:xfrm>
            <a:off x="2076840" y="7203240"/>
            <a:ext cx="126360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Рисунок 12" descr=""/>
          <p:cNvPicPr/>
          <p:nvPr/>
        </p:nvPicPr>
        <p:blipFill>
          <a:blip r:embed="rId3"/>
          <a:stretch/>
        </p:blipFill>
        <p:spPr>
          <a:xfrm>
            <a:off x="2076840" y="8023320"/>
            <a:ext cx="126936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Прямоугольник: скругленные углы 14"/>
          <p:cNvSpPr/>
          <p:nvPr/>
        </p:nvSpPr>
        <p:spPr>
          <a:xfrm>
            <a:off x="443880" y="8743680"/>
            <a:ext cx="483516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Российские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3" name="Рисунок 15" descr=""/>
          <p:cNvPicPr/>
          <p:nvPr/>
        </p:nvPicPr>
        <p:blipFill>
          <a:blip r:embed="rId4"/>
          <a:stretch/>
        </p:blipFill>
        <p:spPr>
          <a:xfrm>
            <a:off x="453600" y="7089120"/>
            <a:ext cx="1263600" cy="13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Рисунок 16" descr=""/>
          <p:cNvPicPr/>
          <p:nvPr/>
        </p:nvPicPr>
        <p:blipFill>
          <a:blip r:embed="rId5"/>
          <a:stretch/>
        </p:blipFill>
        <p:spPr>
          <a:xfrm>
            <a:off x="3705480" y="7764120"/>
            <a:ext cx="15735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Прямоугольник 17"/>
          <p:cNvSpPr/>
          <p:nvPr/>
        </p:nvSpPr>
        <p:spPr>
          <a:xfrm>
            <a:off x="441720" y="9606240"/>
            <a:ext cx="280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Не производится в РФ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Прямоугольник: скругленные углы 13"/>
          <p:cNvSpPr/>
          <p:nvPr/>
        </p:nvSpPr>
        <p:spPr>
          <a:xfrm>
            <a:off x="6048720" y="6446520"/>
            <a:ext cx="3028320" cy="55836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Реализация в ДИТ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Прямоугольник 18"/>
          <p:cNvSpPr/>
          <p:nvPr/>
        </p:nvSpPr>
        <p:spPr>
          <a:xfrm>
            <a:off x="6043680" y="7120800"/>
            <a:ext cx="3028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Закупается для нужд искусственного интеллекта, рендеринга видео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Прямоугольник 4"/>
          <p:cNvSpPr/>
          <p:nvPr/>
        </p:nvSpPr>
        <p:spPr>
          <a:xfrm>
            <a:off x="9846720" y="7081560"/>
            <a:ext cx="482544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Unbounded SemiBold"/>
                <a:ea typeface="Arial"/>
              </a:rPr>
              <a:t>Причины: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Проблемы с глобальными цепочками поставок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Влияние криптовалюты, требующей ГП для майнинга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Рост спроса из-за развития и распространения генеративного ИИ, в частности, больших языковых моделей (LLM)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Unbounded SemiBold"/>
                <a:ea typeface="Arial"/>
              </a:rPr>
              <a:t>Инициативы в мире по снижению дефицитности: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Выпуск чипов специально предназначенных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для приложений ИИ (например, 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NVIDIA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Регулирование майнинга криптовалют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Прямоугольник: скругленные углы 23"/>
          <p:cNvSpPr/>
          <p:nvPr/>
        </p:nvSpPr>
        <p:spPr>
          <a:xfrm>
            <a:off x="9837000" y="6446520"/>
            <a:ext cx="482544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Дефицит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5882760" y="2015640"/>
            <a:ext cx="82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Unbounded Medium"/>
                <a:ea typeface="Arial"/>
              </a:rPr>
              <a:t>Прогнозируемый процентный рост спроса на ГП (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Unbounded Medium"/>
                <a:ea typeface="Arial"/>
              </a:rPr>
              <a:t>GPU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Unbounded Medium"/>
                <a:ea typeface="Arial"/>
              </a:rPr>
              <a:t>) к 2026 году в ЦОД, при сценариях быстрого внедрения ИИ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1" name="Группа 8"/>
          <p:cNvGrpSpPr/>
          <p:nvPr/>
        </p:nvGrpSpPr>
        <p:grpSpPr>
          <a:xfrm>
            <a:off x="5972040" y="2600280"/>
            <a:ext cx="4571640" cy="1060920"/>
            <a:chOff x="5972040" y="2600280"/>
            <a:chExt cx="4571640" cy="1060920"/>
          </a:xfrm>
        </p:grpSpPr>
        <p:graphicFrame>
          <p:nvGraphicFramePr>
            <p:cNvPr id="232" name="Диаграмма 21"/>
            <p:cNvGraphicFramePr/>
            <p:nvPr/>
          </p:nvGraphicFramePr>
          <p:xfrm>
            <a:off x="5972040" y="2600280"/>
            <a:ext cx="4571640" cy="10609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33" name="Прямоугольник 2"/>
            <p:cNvSpPr/>
            <p:nvPr/>
          </p:nvSpPr>
          <p:spPr>
            <a:xfrm>
              <a:off x="9584280" y="2692800"/>
              <a:ext cx="840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400" strike="noStrike" u="none">
                  <a:solidFill>
                    <a:schemeClr val="dk1"/>
                  </a:solidFill>
                  <a:uFillTx/>
                  <a:latin typeface="HelveticaNeueCyr"/>
                  <a:ea typeface="Arial"/>
                </a:rPr>
                <a:t>5%-10%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4" name="Прямоугольник 24"/>
            <p:cNvSpPr/>
            <p:nvPr/>
          </p:nvSpPr>
          <p:spPr>
            <a:xfrm>
              <a:off x="7999920" y="3149640"/>
              <a:ext cx="738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400" strike="noStrike" u="none">
                  <a:solidFill>
                    <a:schemeClr val="dk1"/>
                  </a:solidFill>
                  <a:uFillTx/>
                  <a:latin typeface="HelveticaNeueCyr"/>
                  <a:ea typeface="Arial"/>
                </a:rPr>
                <a:t>1%-5%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35" name="TextBox 11"/>
          <p:cNvSpPr/>
          <p:nvPr/>
        </p:nvSpPr>
        <p:spPr>
          <a:xfrm>
            <a:off x="5882760" y="3654360"/>
            <a:ext cx="4660920" cy="29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мире: 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Основной производитель интегральных микросхем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TSMC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(осуществляет производство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Nvidia A100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и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H100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)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CoWoS (Chip-on-Wafer-on-Substrate)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, которая позволяет создавать высокопроизводительные вычислительные устройства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Box 30"/>
          <p:cNvSpPr/>
          <p:nvPr/>
        </p:nvSpPr>
        <p:spPr>
          <a:xfrm>
            <a:off x="10482840" y="3620160"/>
            <a:ext cx="466092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РФ: 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Поставки высокопроизводительных графических процессоров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Nvidia A100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и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H100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,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AMD Instinct MI250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под санкциями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Прямоугольник 32"/>
          <p:cNvSpPr/>
          <p:nvPr/>
        </p:nvSpPr>
        <p:spPr>
          <a:xfrm>
            <a:off x="6032160" y="8050680"/>
            <a:ext cx="312984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4 032 ГБ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ГП используется для рендеринга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3 200 ГБ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ГП используется для рендеринга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До 100%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нагрузки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Прямоугольник: скругленные углы 33"/>
          <p:cNvSpPr/>
          <p:nvPr/>
        </p:nvSpPr>
        <p:spPr>
          <a:xfrm>
            <a:off x="6043680" y="6446520"/>
            <a:ext cx="3028320" cy="352872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Num" idx="11"/>
          </p:nvPr>
        </p:nvSpPr>
        <p:spPr>
          <a:xfrm>
            <a:off x="13629960" y="102229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DAFD07-0ED1-4FA0-84EA-3EE1CF0563C8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1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0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Нейронный и тензорный процессор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Прямоугольник: скругленные углы 5"/>
          <p:cNvSpPr/>
          <p:nvPr/>
        </p:nvSpPr>
        <p:spPr>
          <a:xfrm>
            <a:off x="447840" y="908280"/>
            <a:ext cx="14158440" cy="13935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Прямоугольник 8"/>
          <p:cNvSpPr/>
          <p:nvPr/>
        </p:nvSpPr>
        <p:spPr>
          <a:xfrm>
            <a:off x="458640" y="2444040"/>
            <a:ext cx="5234760" cy="54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Особенности: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Параллельная обработка данных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Высокая пропускная способность</a:t>
            </a:r>
            <a:br>
              <a:rPr sz="1600"/>
            </a:b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и эффективность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Низкая точность для снижения энергопотребления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Для использования необходимы специализированные навыки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Сценарии применения: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Применяются в различных сферах: интернет вещей, распознавание образов и др.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Глубокое обучение, тренировка нейронных сетей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Анализ данных и научные вычисления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Применение в ИИ: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Разработан специально для применения в задачах машинного обучения и других задачах 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Обучение и поддержка работоспособности  моделей нейронных сетей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Прямоугольник: скругленные углы 11"/>
          <p:cNvSpPr/>
          <p:nvPr/>
        </p:nvSpPr>
        <p:spPr>
          <a:xfrm>
            <a:off x="458640" y="7126560"/>
            <a:ext cx="523476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Иностранные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Прямоугольник: скругленные углы 15"/>
          <p:cNvSpPr/>
          <p:nvPr/>
        </p:nvSpPr>
        <p:spPr>
          <a:xfrm>
            <a:off x="448920" y="8893800"/>
            <a:ext cx="523476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Российские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5" name="Рисунок 19" descr=""/>
          <p:cNvPicPr/>
          <p:nvPr/>
        </p:nvPicPr>
        <p:blipFill>
          <a:blip r:embed="rId1"/>
          <a:stretch/>
        </p:blipFill>
        <p:spPr>
          <a:xfrm>
            <a:off x="2141280" y="8407800"/>
            <a:ext cx="1847520" cy="34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Рисунок 20" descr=""/>
          <p:cNvPicPr/>
          <p:nvPr/>
        </p:nvPicPr>
        <p:blipFill>
          <a:blip r:embed="rId2"/>
          <a:stretch/>
        </p:blipFill>
        <p:spPr>
          <a:xfrm>
            <a:off x="509760" y="7796160"/>
            <a:ext cx="1055160" cy="37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Рисунок 21" descr=""/>
          <p:cNvPicPr/>
          <p:nvPr/>
        </p:nvPicPr>
        <p:blipFill>
          <a:blip r:embed="rId3"/>
          <a:stretch/>
        </p:blipFill>
        <p:spPr>
          <a:xfrm>
            <a:off x="4542840" y="7790400"/>
            <a:ext cx="1140840" cy="38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22" descr=""/>
          <p:cNvPicPr/>
          <p:nvPr/>
        </p:nvPicPr>
        <p:blipFill>
          <a:blip r:embed="rId4"/>
          <a:stretch/>
        </p:blipFill>
        <p:spPr>
          <a:xfrm>
            <a:off x="4825440" y="8293320"/>
            <a:ext cx="406440" cy="47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Рисунок 4" descr=""/>
          <p:cNvPicPr/>
          <p:nvPr/>
        </p:nvPicPr>
        <p:blipFill>
          <a:blip r:embed="rId5"/>
          <a:stretch/>
        </p:blipFill>
        <p:spPr>
          <a:xfrm>
            <a:off x="2141280" y="7571160"/>
            <a:ext cx="1747440" cy="84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Рисунок 24" descr=""/>
          <p:cNvPicPr/>
          <p:nvPr/>
        </p:nvPicPr>
        <p:blipFill>
          <a:blip r:embed="rId6"/>
          <a:stretch/>
        </p:blipFill>
        <p:spPr>
          <a:xfrm>
            <a:off x="278640" y="9189000"/>
            <a:ext cx="1744560" cy="117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Рисунок 13" descr=""/>
          <p:cNvPicPr/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389320" y="9506160"/>
            <a:ext cx="1725120" cy="57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Прямоугольник: скругленные углы 29"/>
          <p:cNvSpPr/>
          <p:nvPr/>
        </p:nvSpPr>
        <p:spPr>
          <a:xfrm>
            <a:off x="6195960" y="6688440"/>
            <a:ext cx="3028320" cy="63648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Реализация в ДИТ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3" name="Прямоугольник 18"/>
          <p:cNvSpPr/>
          <p:nvPr/>
        </p:nvSpPr>
        <p:spPr>
          <a:xfrm>
            <a:off x="9863640" y="2454120"/>
            <a:ext cx="4804200" cy="39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Unbounded SemiBold"/>
                <a:ea typeface="Arial"/>
              </a:rPr>
              <a:t>Разработка НП в РФ: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июне 2024 года российские ученые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нейроморфного компьютера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Компания «Мотив нейроморфные технологии» («Мотив НТ») представила в 2019 году прототип нейроморфного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Прямоугольник: скругленные углы 23"/>
          <p:cNvSpPr/>
          <p:nvPr/>
        </p:nvSpPr>
        <p:spPr>
          <a:xfrm>
            <a:off x="6208560" y="2454120"/>
            <a:ext cx="3028320" cy="55836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Виды нейронных процессоров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Прямоугольник 2"/>
          <p:cNvSpPr/>
          <p:nvPr/>
        </p:nvSpPr>
        <p:spPr>
          <a:xfrm>
            <a:off x="6208560" y="3042720"/>
            <a:ext cx="30283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Нейроморфные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Тензорные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Процессоры машинного зрения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Прямоугольник 26"/>
          <p:cNvSpPr/>
          <p:nvPr/>
        </p:nvSpPr>
        <p:spPr>
          <a:xfrm>
            <a:off x="6208560" y="7412400"/>
            <a:ext cx="3028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ТП закупаются для нужд искусственного интеллекта, рендеринга видео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7" name="Рисунок 26" descr=""/>
          <p:cNvPicPr/>
          <p:nvPr/>
        </p:nvPicPr>
        <p:blipFill>
          <a:blip r:embed="rId9"/>
          <a:stretch/>
        </p:blipFill>
        <p:spPr>
          <a:xfrm>
            <a:off x="372240" y="8293320"/>
            <a:ext cx="1557360" cy="57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Рисунок 27" descr=""/>
          <p:cNvPicPr/>
          <p:nvPr/>
        </p:nvPicPr>
        <p:blipFill>
          <a:blip r:embed="rId10"/>
          <a:stretch/>
        </p:blipFill>
        <p:spPr>
          <a:xfrm>
            <a:off x="4480560" y="9433800"/>
            <a:ext cx="1058400" cy="71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Прямоугольник 7"/>
          <p:cNvSpPr/>
          <p:nvPr/>
        </p:nvSpPr>
        <p:spPr>
          <a:xfrm>
            <a:off x="447840" y="10145880"/>
            <a:ext cx="5180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*IVA TPU</a:t>
            </a:r>
            <a:r>
              <a:rPr b="0" lang="ru-RU" sz="9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 – проект российской компании, презентация проведена в сентябре 2018 года </a:t>
            </a:r>
            <a:br>
              <a:rPr sz="900"/>
            </a:br>
            <a:r>
              <a:rPr b="0" lang="ru-RU" sz="9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На данный момент на сайте компании не представлена, с 2020 года нет публичных новостей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Прямоугольник 9"/>
          <p:cNvSpPr/>
          <p:nvPr/>
        </p:nvSpPr>
        <p:spPr>
          <a:xfrm>
            <a:off x="5349240" y="9452520"/>
            <a:ext cx="289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*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TextBox 30"/>
          <p:cNvSpPr/>
          <p:nvPr/>
        </p:nvSpPr>
        <p:spPr>
          <a:xfrm>
            <a:off x="9863640" y="6274800"/>
            <a:ext cx="4742280" cy="42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Unbounded SemiBold"/>
                <a:ea typeface="Arial"/>
              </a:rPr>
              <a:t>Разработка НП и ТП в мире: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настоящее время </a:t>
            </a: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ТП производится и используется только компанией </a:t>
            </a:r>
            <a:r>
              <a:rPr b="1" lang="en-US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Google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.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Процессоры не продаются в формате физического вычислительного устройства. Использовать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Google Cloud TPU 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возможно через аренду облачных вычислительных мощностей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декабре 2023 года австралийские ученые анонсировали проект нейроморфного суперкомпьютера нового типа </a:t>
            </a: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DeepSouth</a:t>
            </a: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 высокой скоростью, потребляя меньше энергии, чем обычные суперкомпьютеры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Прямоугольник 31"/>
          <p:cNvSpPr/>
          <p:nvPr/>
        </p:nvSpPr>
        <p:spPr>
          <a:xfrm>
            <a:off x="6184440" y="8343000"/>
            <a:ext cx="3129840" cy="19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4 видеокарты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ГП с тензорными сопроцессорами используется для тестов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2025 год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ожидаемый срок основной поставки мощностей в рамках создания кластера 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Прямоугольник: скругленные углы 32"/>
          <p:cNvSpPr/>
          <p:nvPr/>
        </p:nvSpPr>
        <p:spPr>
          <a:xfrm>
            <a:off x="6195960" y="6675120"/>
            <a:ext cx="3028320" cy="36928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Num" idx="12"/>
          </p:nvPr>
        </p:nvSpPr>
        <p:spPr>
          <a:xfrm>
            <a:off x="13677840" y="10226520"/>
            <a:ext cx="75528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78654E-7C83-4CAB-836F-8C54967D0612}" type="slidenum">
              <a:rPr b="0" lang="ru-RU" sz="1600" strike="noStrike" u="none">
                <a:solidFill>
                  <a:srgbClr val="bfbfbf"/>
                </a:solidFill>
                <a:uFillTx/>
                <a:latin typeface="Unbounded Light"/>
                <a:ea typeface="Unbounded Light"/>
              </a:rPr>
              <a:t>&lt;number&gt;</a:t>
            </a:fld>
            <a:endParaRPr b="0" lang="en-GB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5" name="Google Shape;1046;p21"/>
          <p:cNvSpPr/>
          <p:nvPr/>
        </p:nvSpPr>
        <p:spPr>
          <a:xfrm>
            <a:off x="212760" y="266760"/>
            <a:ext cx="11991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Unbounded Medium"/>
                <a:ea typeface="Unbounded Medium"/>
              </a:rPr>
              <a:t>Квантовый компьютер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Прямоугольник: скругленные углы 7"/>
          <p:cNvSpPr/>
          <p:nvPr/>
        </p:nvSpPr>
        <p:spPr>
          <a:xfrm>
            <a:off x="447840" y="898920"/>
            <a:ext cx="14220360" cy="85320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устройство, которое выполняет вычисления, основываясь на законах квантовой механики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Прямоугольник: скругленные углы 18"/>
          <p:cNvSpPr/>
          <p:nvPr/>
        </p:nvSpPr>
        <p:spPr>
          <a:xfrm>
            <a:off x="453600" y="7082640"/>
            <a:ext cx="414360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Иностранные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Прямоугольник: скругленные углы 19"/>
          <p:cNvSpPr/>
          <p:nvPr/>
        </p:nvSpPr>
        <p:spPr>
          <a:xfrm>
            <a:off x="502560" y="8776800"/>
            <a:ext cx="4094640" cy="55836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Российские производители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9" name="Рисунок 21" descr=""/>
          <p:cNvPicPr/>
          <p:nvPr/>
        </p:nvPicPr>
        <p:blipFill>
          <a:blip r:embed="rId1"/>
          <a:stretch/>
        </p:blipFill>
        <p:spPr>
          <a:xfrm>
            <a:off x="376920" y="9016560"/>
            <a:ext cx="1721520" cy="116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Рисунок 22" descr=""/>
          <p:cNvPicPr/>
          <p:nvPr/>
        </p:nvPicPr>
        <p:blipFill>
          <a:blip r:embed="rId2"/>
          <a:stretch/>
        </p:blipFill>
        <p:spPr>
          <a:xfrm>
            <a:off x="3000600" y="9289440"/>
            <a:ext cx="1627920" cy="80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Рисунок 23" descr=""/>
          <p:cNvPicPr/>
          <p:nvPr/>
        </p:nvPicPr>
        <p:blipFill>
          <a:blip r:embed="rId3"/>
          <a:stretch/>
        </p:blipFill>
        <p:spPr>
          <a:xfrm>
            <a:off x="1983600" y="9260640"/>
            <a:ext cx="1163160" cy="116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Рисунок 24" descr=""/>
          <p:cNvPicPr/>
          <p:nvPr/>
        </p:nvPicPr>
        <p:blipFill>
          <a:blip r:embed="rId4"/>
          <a:stretch/>
        </p:blipFill>
        <p:spPr>
          <a:xfrm>
            <a:off x="467280" y="9837360"/>
            <a:ext cx="1521720" cy="67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Прямоугольник 26"/>
          <p:cNvSpPr/>
          <p:nvPr/>
        </p:nvSpPr>
        <p:spPr>
          <a:xfrm>
            <a:off x="447840" y="1937520"/>
            <a:ext cx="4143600" cy="49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Особенности: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Работа на основе принципов квантовой механики, основной элемент – квантовый бит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Параллельная обработка данных</a:t>
            </a:r>
            <a:br>
              <a:rPr sz="1600"/>
            </a:b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с возможностью одновременного перебора всех вариантов ответов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Сценарии применения: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и безопасности, биоинформатика и др.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Применение в ИИ: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Обработка больших объемов данных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Обучение моделей для классификации и кластеризации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4" name="Рисунок 27" descr=""/>
          <p:cNvPicPr/>
          <p:nvPr/>
        </p:nvPicPr>
        <p:blipFill>
          <a:blip r:embed="rId5"/>
          <a:stretch/>
        </p:blipFill>
        <p:spPr>
          <a:xfrm>
            <a:off x="650880" y="8241840"/>
            <a:ext cx="1434600" cy="50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Рисунок 28" descr=""/>
          <p:cNvPicPr/>
          <p:nvPr/>
        </p:nvPicPr>
        <p:blipFill>
          <a:blip r:embed="rId6"/>
          <a:stretch/>
        </p:blipFill>
        <p:spPr>
          <a:xfrm>
            <a:off x="914400" y="7785720"/>
            <a:ext cx="998280" cy="35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Рисунок 29" descr=""/>
          <p:cNvPicPr/>
          <p:nvPr/>
        </p:nvPicPr>
        <p:blipFill>
          <a:blip r:embed="rId7"/>
          <a:stretch/>
        </p:blipFill>
        <p:spPr>
          <a:xfrm>
            <a:off x="3601800" y="7800480"/>
            <a:ext cx="995400" cy="35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Рисунок 10" descr=""/>
          <p:cNvPicPr/>
          <p:nvPr/>
        </p:nvPicPr>
        <p:blipFill>
          <a:blip r:embed="rId8"/>
          <a:stretch/>
        </p:blipFill>
        <p:spPr>
          <a:xfrm>
            <a:off x="2321280" y="7871040"/>
            <a:ext cx="991800" cy="7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Прямоугольник: скругленные углы 31"/>
          <p:cNvSpPr/>
          <p:nvPr/>
        </p:nvSpPr>
        <p:spPr>
          <a:xfrm>
            <a:off x="5030280" y="8302320"/>
            <a:ext cx="4519080" cy="55836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Реализация в ДИТ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9" name="Прямоугольник 4"/>
          <p:cNvSpPr/>
          <p:nvPr/>
        </p:nvSpPr>
        <p:spPr>
          <a:xfrm>
            <a:off x="9896040" y="1970280"/>
            <a:ext cx="471744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Unbounded SemiBold"/>
                <a:ea typeface="Arial"/>
              </a:rPr>
              <a:t>Развитие мирового рынка квантовых вычислений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Google намерена показать устройство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на 1 000 кубитов после 2025 года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IBM в октябре 2024 года открыла свой первый квантовый центр обработки данных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Европе, а также объявила о создании модульной системы, способной поддерживать до 16 632 кубитов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Прямоугольник 8"/>
          <p:cNvSpPr/>
          <p:nvPr/>
        </p:nvSpPr>
        <p:spPr>
          <a:xfrm>
            <a:off x="9936720" y="7347960"/>
            <a:ext cx="4614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Сумма инвестиций в квантовые разработки</a:t>
            </a:r>
            <a:br>
              <a:rPr sz="1400"/>
            </a:br>
            <a:r>
              <a:rPr b="1" lang="ru-RU" sz="14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в мире, млн </a:t>
            </a:r>
            <a:r>
              <a:rPr b="1" lang="en-US" sz="14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$</a:t>
            </a:r>
            <a:r>
              <a:rPr b="1" lang="ru-RU" sz="14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81" name="Диаграмма 34"/>
          <p:cNvGraphicFramePr/>
          <p:nvPr/>
        </p:nvGraphicFramePr>
        <p:xfrm>
          <a:off x="9936720" y="7903800"/>
          <a:ext cx="4676400" cy="210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82" name="Прямоугольник: скругленные углы 35"/>
          <p:cNvSpPr/>
          <p:nvPr/>
        </p:nvSpPr>
        <p:spPr>
          <a:xfrm>
            <a:off x="9896040" y="6687360"/>
            <a:ext cx="4717440" cy="558360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Объем частных инвестиций в КТ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Прямоугольник 37"/>
          <p:cNvSpPr/>
          <p:nvPr/>
        </p:nvSpPr>
        <p:spPr>
          <a:xfrm>
            <a:off x="5003640" y="2751120"/>
            <a:ext cx="453960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Фокус на рост количества кубитов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Повышение точности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Квантовая коррекция ошибки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Потенциальное расширение фокуса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 роста количества кубитов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Прямоугольник: скругленные углы 38"/>
          <p:cNvSpPr/>
          <p:nvPr/>
        </p:nvSpPr>
        <p:spPr>
          <a:xfrm>
            <a:off x="5036040" y="1937520"/>
            <a:ext cx="4513320" cy="748440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Основные тренды на рынке квантовых вычислений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5" name="Прямоугольник: скругленные углы 39"/>
          <p:cNvSpPr/>
          <p:nvPr/>
        </p:nvSpPr>
        <p:spPr>
          <a:xfrm>
            <a:off x="5036040" y="5174280"/>
            <a:ext cx="4501800" cy="558360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222222"/>
                </a:solidFill>
                <a:uFillTx/>
                <a:latin typeface="Unbounded SemiBold"/>
                <a:ea typeface="Arial"/>
              </a:rPr>
              <a:t>Государственные инвестиции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Прямоугольник 11"/>
          <p:cNvSpPr/>
          <p:nvPr/>
        </p:nvSpPr>
        <p:spPr>
          <a:xfrm>
            <a:off x="5048640" y="5737680"/>
            <a:ext cx="41180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Китай</a:t>
            </a: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является лидером</a:t>
            </a:r>
            <a:br>
              <a:rPr sz="1600"/>
            </a:b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по госфинансированию квантовых</a:t>
            </a:r>
            <a:r>
              <a:rPr b="0" lang="en-US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 </a:t>
            </a:r>
            <a:r>
              <a:rPr b="0" lang="ru-RU" sz="1600" strike="noStrike" u="none">
                <a:solidFill>
                  <a:srgbClr val="222222"/>
                </a:solidFill>
                <a:uFillTx/>
                <a:latin typeface="HelveticaNeueCyr"/>
                <a:ea typeface="Arial"/>
              </a:rPr>
              <a:t>технологий (КТ) с объемом </a:t>
            </a: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15,3 млрд $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, </a:t>
            </a:r>
            <a:br>
              <a:rPr sz="1600"/>
            </a:b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обогоняя Евросоюз с </a:t>
            </a: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8,4 млрд $</a:t>
            </a:r>
            <a:br>
              <a:rPr sz="1600"/>
            </a:b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и США с </a:t>
            </a: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3,7 млрд $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Прямоугольник 41"/>
          <p:cNvSpPr/>
          <p:nvPr/>
        </p:nvSpPr>
        <p:spPr>
          <a:xfrm>
            <a:off x="9936720" y="4344480"/>
            <a:ext cx="482148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Unbounded SemiBold"/>
                <a:ea typeface="Arial"/>
              </a:rPr>
              <a:t>Проблемы рынка квантовых компьютеров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Высокая стоимость и техническая сложность создания и обслуживания компьютеров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Мало вариантов использования в реальных задачах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Сложность создания и поддержки кубитов</a:t>
            </a:r>
            <a:br>
              <a:rPr sz="1600"/>
            </a:br>
            <a:r>
              <a:rPr b="0" lang="ru-RU" sz="1600" strike="noStrike" u="none">
                <a:solidFill>
                  <a:srgbClr val="000000"/>
                </a:solidFill>
                <a:uFillTx/>
                <a:latin typeface="HelveticaNeueCyr"/>
                <a:ea typeface="Arial"/>
              </a:rPr>
              <a:t>в стабильном состоянии (температура помещения, вибрации)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Прямоугольник: скругленные углы 42"/>
          <p:cNvSpPr/>
          <p:nvPr/>
        </p:nvSpPr>
        <p:spPr>
          <a:xfrm>
            <a:off x="5016960" y="7198200"/>
            <a:ext cx="4507560" cy="870120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1600" strike="noStrike" u="none">
                <a:solidFill>
                  <a:srgbClr val="0f24e7"/>
                </a:solidFill>
                <a:uFillTx/>
                <a:latin typeface="HelveticaNeueCyr"/>
                <a:ea typeface="Arial"/>
              </a:rPr>
              <a:t>IBM Quantum Condor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– самый мощный квантовый компьютер на сегодняшний день, имеющий </a:t>
            </a:r>
            <a:r>
              <a:rPr b="1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433 кубита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Прямоугольник 44"/>
          <p:cNvSpPr/>
          <p:nvPr/>
        </p:nvSpPr>
        <p:spPr>
          <a:xfrm>
            <a:off x="5108760" y="8956440"/>
            <a:ext cx="4259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trike="noStrike" u="none">
                <a:solidFill>
                  <a:srgbClr val="002060"/>
                </a:solidFill>
                <a:uFillTx/>
                <a:latin typeface="Unbounded SemiBold"/>
                <a:ea typeface="Arial"/>
              </a:rPr>
              <a:t>2 двухкубитовых компьютера 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HelveticaNeueCyr"/>
                <a:ea typeface="Arial"/>
              </a:rPr>
              <a:t>на текущий момент тестируются в ДИТ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Прямоугольник: скругленные углы 45"/>
          <p:cNvSpPr/>
          <p:nvPr/>
        </p:nvSpPr>
        <p:spPr>
          <a:xfrm>
            <a:off x="5041080" y="8302320"/>
            <a:ext cx="4483440" cy="17064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7092</TotalTime>
  <Application>LibreOffice/24.8.6.2$Linux_X86_64 LibreOffice_project/480$Build-2</Application>
  <AppVersion>15.0000</AppVersion>
  <Words>3470</Words>
  <Paragraphs>460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2024-02-24T12:25:12Z</dcterms:created>
  <dc:creator>PptxGenJS</dc:creator>
  <dc:description/>
  <dc:language>en-GB</dc:language>
  <cp:lastModifiedBy/>
  <cp:lastPrinted>2024-11-08T10:52:42Z</cp:lastPrinted>
  <dcterms:modified xsi:type="dcterms:W3CDTF">2025-04-24T08:03:46Z</dcterms:modified>
  <cp:revision>572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Произвольный</vt:lpwstr>
  </property>
  <property fmtid="{D5CDD505-2E9C-101B-9397-08002B2CF9AE}" pid="4" name="Slides">
    <vt:i4>12</vt:i4>
  </property>
</Properties>
</file>