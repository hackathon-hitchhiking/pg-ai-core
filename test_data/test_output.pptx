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593" r:id="rId40"/>
    <p:sldId id="256" r:id="rId2"/>
    <p:sldId id="594" r:id="rId41"/>
    <p:sldId id="574" r:id="rId3"/>
    <p:sldId id="586" r:id="rId4"/>
    <p:sldId id="573" r:id="rId5"/>
    <p:sldId id="578" r:id="rId6"/>
    <p:sldId id="588" r:id="rId7"/>
    <p:sldId id="579" r:id="rId8"/>
    <p:sldId id="590" r:id="rId9"/>
    <p:sldId id="587" r:id="rId10"/>
    <p:sldId id="591" r:id="rId11"/>
    <p:sldId id="583" r:id="rId12"/>
    <p:sldId id="592" r:id="rId13"/>
  </p:sldIdLst>
  <p:sldSz cx="15116175" cy="10687050"/>
  <p:notesSz cx="6797675" cy="9926638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HelveticaNeueCyr" panose="02000503040000020004" pitchFamily="2" charset="-52"/>
      <p:regular r:id="rId20"/>
      <p:bold r:id="rId21"/>
      <p:italic r:id="rId22"/>
      <p:boldItalic r:id="rId23"/>
    </p:embeddedFont>
    <p:embeddedFont>
      <p:font typeface="Unbounded" pitchFamily="2" charset="-52"/>
      <p:regular r:id="rId24"/>
      <p:bold r:id="rId25"/>
    </p:embeddedFont>
    <p:embeddedFont>
      <p:font typeface="Unbounded Light" pitchFamily="2" charset="-52"/>
      <p:regular r:id="rId26"/>
    </p:embeddedFont>
    <p:embeddedFont>
      <p:font typeface="Unbounded Medium" pitchFamily="2" charset="-52"/>
      <p:regular r:id="rId27"/>
      <p:bold r:id="rId28"/>
    </p:embeddedFont>
    <p:embeddedFont>
      <p:font typeface="Unbounded SemiBold" pitchFamily="2" charset="-52"/>
      <p:bold r:id="rId29"/>
    </p:embeddedFont>
    <p:embeddedFont>
      <p:font typeface="Wix Madefor Display" panose="020B0503020203020203" pitchFamily="34" charset="-52"/>
      <p:regular r:id="rId30"/>
      <p:bold r:id="rId31"/>
    </p:embeddedFont>
    <p:embeddedFont>
      <p:font typeface="Wix Madefor Display ExtraBold" panose="020B0503020203020203" pitchFamily="34" charset="-52"/>
      <p:bold r:id="rId32"/>
    </p:embeddedFont>
    <p:embeddedFont>
      <p:font typeface="Wix Madefor Display SemiBold" panose="020B0503020203020203" pitchFamily="34" charset="-5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1" userDrawn="1">
          <p15:clr>
            <a:srgbClr val="A4A3A4"/>
          </p15:clr>
        </p15:guide>
        <p15:guide id="2" pos="134" userDrawn="1">
          <p15:clr>
            <a:srgbClr val="A4A3A4"/>
          </p15:clr>
        </p15:guide>
        <p15:guide id="3" pos="815" userDrawn="1">
          <p15:clr>
            <a:srgbClr val="A4A3A4"/>
          </p15:clr>
        </p15:guide>
        <p15:guide id="4" orient="horz" pos="1348" userDrawn="1">
          <p15:clr>
            <a:srgbClr val="A4A3A4"/>
          </p15:clr>
        </p15:guide>
        <p15:guide id="5" orient="horz" pos="5203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6" roundtripDataSignature="AMtx7mgK7fn+KLoFlbeLqjeX6repJ7KMT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Жбанкова Елена Александровна" initials="ЖЕА" lastIdx="3" clrIdx="0">
    <p:extLst>
      <p:ext uri="{19B8F6BF-5375-455C-9EA6-DF929625EA0E}">
        <p15:presenceInfo xmlns:p15="http://schemas.microsoft.com/office/powerpoint/2012/main" userId="e88e9ec258894a2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CF7"/>
    <a:srgbClr val="0F24E7"/>
    <a:srgbClr val="EFF2FF"/>
    <a:srgbClr val="E7E9FD"/>
    <a:srgbClr val="A8B0FA"/>
    <a:srgbClr val="5C8EFE"/>
    <a:srgbClr val="E91B11"/>
    <a:srgbClr val="8FAADC"/>
    <a:srgbClr val="D8DFFF"/>
    <a:srgbClr val="5CF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32" autoAdjust="0"/>
    <p:restoredTop sz="95033" autoAdjust="0"/>
  </p:normalViewPr>
  <p:slideViewPr>
    <p:cSldViewPr snapToGrid="0">
      <p:cViewPr varScale="1">
        <p:scale>
          <a:sx n="42" d="100"/>
          <a:sy n="42" d="100"/>
        </p:scale>
        <p:origin x="1204" y="32"/>
      </p:cViewPr>
      <p:guideLst>
        <p:guide orient="horz" pos="191"/>
        <p:guide pos="134"/>
        <p:guide pos="815"/>
        <p:guide orient="horz" pos="1348"/>
        <p:guide orient="horz" pos="52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font" Target="fonts/font13.fntdata"/><Relationship Id="rId29" Type="http://schemas.openxmlformats.org/officeDocument/2006/relationships/font" Target="fonts/font14.fntdata"/><Relationship Id="rId30" Type="http://schemas.openxmlformats.org/officeDocument/2006/relationships/font" Target="fonts/font15.fntdata"/><Relationship Id="rId31" Type="http://schemas.openxmlformats.org/officeDocument/2006/relationships/font" Target="fonts/font16.fntdata"/><Relationship Id="rId32" Type="http://schemas.openxmlformats.org/officeDocument/2006/relationships/font" Target="fonts/font17.fntdata"/><Relationship Id="rId33" Type="http://schemas.openxmlformats.org/officeDocument/2006/relationships/font" Target="fonts/font18.fntdata"/><Relationship Id="rId40" Type="http://schemas.openxmlformats.org/officeDocument/2006/relationships/slide" Target="slides/slide13.xml"/><Relationship Id="rId41" Type="http://schemas.openxmlformats.org/officeDocument/2006/relationships/slide" Target="slides/slide14.xml"/><Relationship Id="rId96" Type="http://customschemas.google.com/relationships/presentationmetadata" Target="metadata"/><Relationship Id="rId97" Type="http://schemas.openxmlformats.org/officeDocument/2006/relationships/commentAuthors" Target="commentAuthors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oleObject" Target="file:///C:\Users\zhbankovaea\Desktop\&#1050;&#1085;&#1080;&#1075;&#1072;1.xlsx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oleObject" Target="&#1050;&#1085;&#1080;&#1075;&#1072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430867465429537E-2"/>
          <c:y val="3.845682691262152E-2"/>
          <c:w val="0.9511382650691409"/>
          <c:h val="0.6945679203777912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Мобильные телефоны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Лист1!$B$2:$B$12</c:f>
              <c:numCache>
                <c:formatCode>#,##0.00</c:formatCode>
                <c:ptCount val="11"/>
                <c:pt idx="0">
                  <c:v>7.75</c:v>
                </c:pt>
                <c:pt idx="1">
                  <c:v>7.79</c:v>
                </c:pt>
                <c:pt idx="2">
                  <c:v>8.02</c:v>
                </c:pt>
                <c:pt idx="3">
                  <c:v>8.15</c:v>
                </c:pt>
                <c:pt idx="4">
                  <c:v>8.32</c:v>
                </c:pt>
                <c:pt idx="5">
                  <c:v>8.44</c:v>
                </c:pt>
                <c:pt idx="6">
                  <c:v>8.5399999999999991</c:v>
                </c:pt>
                <c:pt idx="7">
                  <c:v>8.64</c:v>
                </c:pt>
                <c:pt idx="8">
                  <c:v>8.73</c:v>
                </c:pt>
                <c:pt idx="9">
                  <c:v>8.83</c:v>
                </c:pt>
                <c:pt idx="10">
                  <c:v>8.91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FD-456B-8512-9CBF275F85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IoT-ближнего действия</c:v>
                </c:pt>
              </c:strCache>
            </c:strRef>
          </c:tx>
          <c:spPr>
            <a:solidFill>
              <a:srgbClr val="0F24E7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Лист1!$C$2:$C$12</c:f>
              <c:numCache>
                <c:formatCode>#,##0.00</c:formatCode>
                <c:ptCount val="11"/>
                <c:pt idx="0">
                  <c:v>5.56</c:v>
                </c:pt>
                <c:pt idx="1">
                  <c:v>7.01</c:v>
                </c:pt>
                <c:pt idx="2">
                  <c:v>8.5500000000000007</c:v>
                </c:pt>
                <c:pt idx="3">
                  <c:v>10.07</c:v>
                </c:pt>
                <c:pt idx="4">
                  <c:v>12.09</c:v>
                </c:pt>
                <c:pt idx="5">
                  <c:v>14.49</c:v>
                </c:pt>
                <c:pt idx="6">
                  <c:v>17.45</c:v>
                </c:pt>
                <c:pt idx="7">
                  <c:v>20.97</c:v>
                </c:pt>
                <c:pt idx="8">
                  <c:v>24.53</c:v>
                </c:pt>
                <c:pt idx="9">
                  <c:v>28.09</c:v>
                </c:pt>
                <c:pt idx="10">
                  <c:v>31.63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FD-456B-8512-9CBF275F85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ПК/ноутбуки/планшеты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Лист1!$D$2:$D$12</c:f>
              <c:numCache>
                <c:formatCode>#,##0.00</c:formatCode>
                <c:ptCount val="11"/>
                <c:pt idx="0">
                  <c:v>1.57</c:v>
                </c:pt>
                <c:pt idx="1">
                  <c:v>1.57</c:v>
                </c:pt>
                <c:pt idx="2">
                  <c:v>1.6</c:v>
                </c:pt>
                <c:pt idx="3">
                  <c:v>1.64</c:v>
                </c:pt>
                <c:pt idx="4">
                  <c:v>1.67</c:v>
                </c:pt>
                <c:pt idx="5">
                  <c:v>1.7</c:v>
                </c:pt>
                <c:pt idx="6">
                  <c:v>1.73</c:v>
                </c:pt>
                <c:pt idx="7">
                  <c:v>1.77</c:v>
                </c:pt>
                <c:pt idx="8">
                  <c:v>1.8</c:v>
                </c:pt>
                <c:pt idx="9">
                  <c:v>1.83</c:v>
                </c:pt>
                <c:pt idx="10">
                  <c:v>1.87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FD-456B-8512-9CBF275F857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Стационарные телефоны</c:v>
                </c:pt>
              </c:strCache>
            </c:strRef>
          </c:tx>
          <c:spPr>
            <a:solidFill>
              <a:srgbClr val="C5CAFB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Лист1!$E$2:$E$12</c:f>
              <c:numCache>
                <c:formatCode>#,##0.00</c:formatCode>
                <c:ptCount val="11"/>
                <c:pt idx="0">
                  <c:v>0.89</c:v>
                </c:pt>
                <c:pt idx="1">
                  <c:v>0.87</c:v>
                </c:pt>
                <c:pt idx="2">
                  <c:v>0.85</c:v>
                </c:pt>
                <c:pt idx="3">
                  <c:v>0.82</c:v>
                </c:pt>
                <c:pt idx="4">
                  <c:v>0.8</c:v>
                </c:pt>
                <c:pt idx="5">
                  <c:v>0.79</c:v>
                </c:pt>
                <c:pt idx="6">
                  <c:v>0.77</c:v>
                </c:pt>
                <c:pt idx="7">
                  <c:v>0.75</c:v>
                </c:pt>
                <c:pt idx="8">
                  <c:v>0.74</c:v>
                </c:pt>
                <c:pt idx="9">
                  <c:v>0.72</c:v>
                </c:pt>
                <c:pt idx="10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0FD-456B-8512-9CBF275F857D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IoT-дальнего действия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3.965853278241209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17.4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0FD-456B-8512-9CBF275F857D}"/>
                </c:ext>
              </c:extLst>
            </c:dLbl>
            <c:dLbl>
              <c:idx val="1"/>
              <c:layout>
                <c:manualLayout>
                  <c:x val="0"/>
                  <c:y val="-4.836256854031865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19.1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0FD-456B-8512-9CBF275F857D}"/>
                </c:ext>
              </c:extLst>
            </c:dLbl>
            <c:dLbl>
              <c:idx val="2"/>
              <c:layout>
                <c:manualLayout>
                  <c:x val="-3.8738760691500626E-17"/>
                  <c:y val="-4.4456744887087195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21.3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0FD-456B-8512-9CBF275F857D}"/>
                </c:ext>
              </c:extLst>
            </c:dLbl>
            <c:dLbl>
              <c:idx val="3"/>
              <c:layout>
                <c:manualLayout>
                  <c:x val="0"/>
                  <c:y val="-4.940983862165743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23.7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0FD-456B-8512-9CBF275F857D}"/>
                </c:ext>
              </c:extLst>
            </c:dLbl>
            <c:dLbl>
              <c:idx val="4"/>
              <c:layout>
                <c:manualLayout>
                  <c:x val="4.620824586653759E-17"/>
                  <c:y val="-4.758034026465035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26.5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0FD-456B-8512-9CBF275F857D}"/>
                </c:ext>
              </c:extLst>
            </c:dLbl>
            <c:dLbl>
              <c:idx val="5"/>
              <c:layout>
                <c:manualLayout>
                  <c:x val="0"/>
                  <c:y val="-5.652451859359164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29.65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0FD-456B-8512-9CBF275F857D}"/>
                </c:ext>
              </c:extLst>
            </c:dLbl>
            <c:dLbl>
              <c:idx val="6"/>
              <c:layout>
                <c:manualLayout>
                  <c:x val="-1.2601750734908014E-3"/>
                  <c:y val="-6.278968841766066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33.3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0FD-456B-8512-9CBF275F857D}"/>
                </c:ext>
              </c:extLst>
            </c:dLbl>
            <c:dLbl>
              <c:idx val="7"/>
              <c:layout>
                <c:manualLayout>
                  <c:x val="-1.2601750734908014E-3"/>
                  <c:y val="-7.4694784439073861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37.6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0FD-456B-8512-9CBF275F857D}"/>
                </c:ext>
              </c:extLst>
            </c:dLbl>
            <c:dLbl>
              <c:idx val="8"/>
              <c:layout>
                <c:manualLayout>
                  <c:x val="0"/>
                  <c:y val="-7.156518801486447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41.8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0FD-456B-8512-9CBF275F857D}"/>
                </c:ext>
              </c:extLst>
            </c:dLbl>
            <c:dLbl>
              <c:idx val="9"/>
              <c:layout>
                <c:manualLayout>
                  <c:x val="-1.2601750734909565E-3"/>
                  <c:y val="-7.513812011122372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46.0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0FD-456B-8512-9CBF275F857D}"/>
                </c:ext>
              </c:extLst>
            </c:dLbl>
            <c:dLbl>
              <c:idx val="10"/>
              <c:layout>
                <c:manualLayout>
                  <c:x val="0"/>
                  <c:y val="-9.209272108313193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50.3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0FD-456B-8512-9CBF275F85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Лист1!$F$2:$F$12</c:f>
              <c:numCache>
                <c:formatCode>#,##0.00</c:formatCode>
                <c:ptCount val="11"/>
                <c:pt idx="0">
                  <c:v>1.64</c:v>
                </c:pt>
                <c:pt idx="1">
                  <c:v>1.87</c:v>
                </c:pt>
                <c:pt idx="2">
                  <c:v>2.3199999999999998</c:v>
                </c:pt>
                <c:pt idx="3">
                  <c:v>3.09</c:v>
                </c:pt>
                <c:pt idx="4">
                  <c:v>3.63</c:v>
                </c:pt>
                <c:pt idx="5">
                  <c:v>4.2300000000000004</c:v>
                </c:pt>
                <c:pt idx="6">
                  <c:v>4.8499999999999996</c:v>
                </c:pt>
                <c:pt idx="7">
                  <c:v>5.47</c:v>
                </c:pt>
                <c:pt idx="8">
                  <c:v>6.03</c:v>
                </c:pt>
                <c:pt idx="9">
                  <c:v>6.6</c:v>
                </c:pt>
                <c:pt idx="10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FD-456B-8512-9CBF275F8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55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8800632849701271E-2"/>
          <c:y val="0.83011244172227794"/>
          <c:w val="0.91507545931758527"/>
          <c:h val="0.137556136966677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091681646566646E-2"/>
          <c:y val="0.17707076219432966"/>
          <c:w val="0.9511382650691409"/>
          <c:h val="0.73648917647670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6846901728751565E-18"/>
                  <c:y val="-0.107239156986564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D1BC-4559-9534-C402012FCCEB}"/>
                </c:ext>
              </c:extLst>
            </c:dLbl>
            <c:dLbl>
              <c:idx val="1"/>
              <c:layout>
                <c:manualLayout>
                  <c:x val="0"/>
                  <c:y val="-0.14335490241937579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D1BC-4559-9534-C402012FCCEB}"/>
                </c:ext>
              </c:extLst>
            </c:dLbl>
            <c:dLbl>
              <c:idx val="2"/>
              <c:layout>
                <c:manualLayout>
                  <c:x val="-2.1130477202710822E-3"/>
                  <c:y val="-0.187106624048231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1BC-4559-9534-C402012FCCEB}"/>
                </c:ext>
              </c:extLst>
            </c:dLbl>
            <c:dLbl>
              <c:idx val="3"/>
              <c:layout>
                <c:manualLayout>
                  <c:x val="0"/>
                  <c:y val="-0.207047374028741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1BC-4559-9534-C402012FCCEB}"/>
                </c:ext>
              </c:extLst>
            </c:dLbl>
            <c:dLbl>
              <c:idx val="4"/>
              <c:layout>
                <c:manualLayout>
                  <c:x val="-7.7477521383001252E-17"/>
                  <c:y val="-0.249395545853798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1BC-4559-9534-C402012FCCEB}"/>
                </c:ext>
              </c:extLst>
            </c:dLbl>
            <c:dLbl>
              <c:idx val="5"/>
              <c:layout>
                <c:manualLayout>
                  <c:x val="2.1130477202709274E-3"/>
                  <c:y val="-0.309009641121592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1BC-4559-9534-C402012FCCEB}"/>
                </c:ext>
              </c:extLst>
            </c:dLbl>
            <c:dLbl>
              <c:idx val="6"/>
              <c:layout>
                <c:manualLayout>
                  <c:x val="0"/>
                  <c:y val="-0.374911514773524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1BC-4559-9534-C402012FCCE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</c:strCache>
            </c:strRef>
          </c:cat>
          <c:val>
            <c:numRef>
              <c:f>Лист1!$B$2:$B$8</c:f>
              <c:numCache>
                <c:formatCode>#,##0.00</c:formatCode>
                <c:ptCount val="7"/>
                <c:pt idx="0" formatCode="#,##0">
                  <c:v>41</c:v>
                </c:pt>
                <c:pt idx="1">
                  <c:v>64.2</c:v>
                </c:pt>
                <c:pt idx="2" formatCode="#,##0">
                  <c:v>79</c:v>
                </c:pt>
                <c:pt idx="3" formatCode="#,##0">
                  <c:v>97</c:v>
                </c:pt>
                <c:pt idx="4" formatCode="#,##0">
                  <c:v>120</c:v>
                </c:pt>
                <c:pt idx="5" formatCode="#,##0">
                  <c:v>147</c:v>
                </c:pt>
                <c:pt idx="6" formatCode="#,##0">
                  <c:v>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BC-4559-9534-C402012FC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200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numFmt formatCode="#,##0_ ;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79076</c:v>
                </c:pt>
                <c:pt idx="1">
                  <c:v>97697</c:v>
                </c:pt>
                <c:pt idx="2">
                  <c:v>114186</c:v>
                </c:pt>
                <c:pt idx="3">
                  <c:v>149216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21-4419-B898-ABB00F36F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9105744"/>
        <c:axId val="456062096"/>
      </c:barChart>
      <c:catAx>
        <c:axId val="46910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456062096"/>
        <c:crosses val="autoZero"/>
        <c:auto val="1"/>
        <c:lblAlgn val="ctr"/>
        <c:lblOffset val="100"/>
        <c:noMultiLvlLbl val="0"/>
      </c:catAx>
      <c:valAx>
        <c:axId val="456062096"/>
        <c:scaling>
          <c:orientation val="minMax"/>
          <c:max val="17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9105744"/>
        <c:crosses val="autoZero"/>
        <c:crossBetween val="between"/>
        <c:majorUnit val="4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235</c:v>
                </c:pt>
                <c:pt idx="1">
                  <c:v>291</c:v>
                </c:pt>
                <c:pt idx="2">
                  <c:v>339</c:v>
                </c:pt>
                <c:pt idx="3">
                  <c:v>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B-4C5C-962A-F16AA7E39E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9105744"/>
        <c:axId val="456062096"/>
      </c:barChart>
      <c:catAx>
        <c:axId val="46910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456062096"/>
        <c:crosses val="autoZero"/>
        <c:auto val="1"/>
        <c:lblAlgn val="ctr"/>
        <c:lblOffset val="100"/>
        <c:noMultiLvlLbl val="0"/>
      </c:catAx>
      <c:valAx>
        <c:axId val="456062096"/>
        <c:scaling>
          <c:orientation val="minMax"/>
          <c:max val="6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910574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091681646566646E-2"/>
          <c:y val="0.17707076219432966"/>
          <c:w val="0.9511382650691409"/>
          <c:h val="0.73648917647670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5669739125668609E-3"/>
                  <c:y val="-8.634516064949182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4DA-44AB-99D7-DD6F814DB77F}"/>
                </c:ext>
              </c:extLst>
            </c:dLbl>
            <c:dLbl>
              <c:idx val="1"/>
              <c:layout>
                <c:manualLayout>
                  <c:x val="0"/>
                  <c:y val="-8.368367077462712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136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728472864867367E-2"/>
                      <c:h val="6.93431960492924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4DA-44AB-99D7-DD6F814DB77F}"/>
                </c:ext>
              </c:extLst>
            </c:dLbl>
            <c:dLbl>
              <c:idx val="2"/>
              <c:layout>
                <c:manualLayout>
                  <c:x val="4.4539940387044287E-3"/>
                  <c:y val="-0.1090259309094615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4DA-44AB-99D7-DD6F814DB77F}"/>
                </c:ext>
              </c:extLst>
            </c:dLbl>
            <c:dLbl>
              <c:idx val="3"/>
              <c:layout>
                <c:manualLayout>
                  <c:x val="2.1889913041889136E-3"/>
                  <c:y val="-0.126663401539098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4DA-44AB-99D7-DD6F814DB77F}"/>
                </c:ext>
              </c:extLst>
            </c:dLbl>
            <c:dLbl>
              <c:idx val="4"/>
              <c:layout>
                <c:manualLayout>
                  <c:x val="2.1889913041889539E-3"/>
                  <c:y val="-0.1585645354992539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4DA-44AB-99D7-DD6F814DB77F}"/>
                </c:ext>
              </c:extLst>
            </c:dLbl>
            <c:dLbl>
              <c:idx val="5"/>
              <c:layout>
                <c:manualLayout>
                  <c:x val="-7.6011430326561306E-5"/>
                  <c:y val="-0.192151888171435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DA-44AB-99D7-DD6F814DB77F}"/>
                </c:ext>
              </c:extLst>
            </c:dLbl>
            <c:dLbl>
              <c:idx val="6"/>
              <c:layout>
                <c:manualLayout>
                  <c:x val="-1.6052417458489373E-16"/>
                  <c:y val="-0.2336223523666653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4DA-44AB-99D7-DD6F814DB77F}"/>
                </c:ext>
              </c:extLst>
            </c:dLbl>
            <c:dLbl>
              <c:idx val="7"/>
              <c:layout>
                <c:manualLayout>
                  <c:x val="-4.3779826083779078E-3"/>
                  <c:y val="-0.2802686096862396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4DA-44AB-99D7-DD6F814DB77F}"/>
                </c:ext>
              </c:extLst>
            </c:dLbl>
            <c:dLbl>
              <c:idx val="8"/>
              <c:layout>
                <c:manualLayout>
                  <c:x val="2.1889913041889539E-3"/>
                  <c:y val="-0.344129974248263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4DA-44AB-99D7-DD6F814DB77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Лист1!$A$2:$A$10</c:f>
              <c:strCache>
                <c:ptCount val="9"/>
                <c:pt idx="0">
                  <c:v>2022</c:v>
                </c:pt>
                <c:pt idx="1">
                  <c:v>2023</c:v>
                </c:pt>
                <c:pt idx="2">
                  <c:v>2024*</c:v>
                </c:pt>
                <c:pt idx="3">
                  <c:v>2025*</c:v>
                </c:pt>
                <c:pt idx="4">
                  <c:v>2026*</c:v>
                </c:pt>
                <c:pt idx="5">
                  <c:v>2027*</c:v>
                </c:pt>
                <c:pt idx="6">
                  <c:v>2028*</c:v>
                </c:pt>
                <c:pt idx="7">
                  <c:v>2029*</c:v>
                </c:pt>
                <c:pt idx="8">
                  <c:v>2030*</c:v>
                </c:pt>
              </c:strCache>
            </c:strRef>
          </c:cat>
          <c:val>
            <c:numRef>
              <c:f>Лист1!$B$2:$B$10</c:f>
              <c:numCache>
                <c:formatCode>#,##0.00</c:formatCode>
                <c:ptCount val="9"/>
                <c:pt idx="0">
                  <c:v>124.79</c:v>
                </c:pt>
                <c:pt idx="1">
                  <c:v>135.93</c:v>
                </c:pt>
                <c:pt idx="2">
                  <c:v>184.04</c:v>
                </c:pt>
                <c:pt idx="3">
                  <c:v>243.72</c:v>
                </c:pt>
                <c:pt idx="4">
                  <c:v>320.14</c:v>
                </c:pt>
                <c:pt idx="5">
                  <c:v>415.61</c:v>
                </c:pt>
                <c:pt idx="6">
                  <c:v>529.23</c:v>
                </c:pt>
                <c:pt idx="7">
                  <c:v>667.74</c:v>
                </c:pt>
                <c:pt idx="8">
                  <c:v>826.73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4DA-44AB-99D7-DD6F814DB7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1000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31802192022783E-2"/>
          <c:y val="8.1465102778976825E-2"/>
          <c:w val="0.93142173863427757"/>
          <c:h val="0.66009274462748779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GPU RAM, ГБ</c:v>
                </c:pt>
              </c:strCache>
            </c:strRef>
          </c:tx>
          <c:spPr>
            <a:ln w="38100" cap="rnd">
              <a:solidFill>
                <a:srgbClr val="0F24E7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Лист1!$A$2:$A$7</c:f>
              <c:numCache>
                <c:formatCode>m/d/yyyy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Лист1!$B$2:$B$7</c:f>
              <c:numCache>
                <c:formatCode>#,##0</c:formatCode>
                <c:ptCount val="6"/>
                <c:pt idx="0" formatCode="General">
                  <c:v>640</c:v>
                </c:pt>
                <c:pt idx="1">
                  <c:v>2560</c:v>
                </c:pt>
                <c:pt idx="2">
                  <c:v>5920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7C-4E4D-9576-42D6D180974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GPU RAM, ГБ прогноз</c:v>
                </c:pt>
              </c:strCache>
            </c:strRef>
          </c:tx>
          <c:spPr>
            <a:ln w="38100" cap="rnd">
              <a:solidFill>
                <a:srgbClr val="E91B11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Лист1!$A$2:$A$7</c:f>
              <c:numCache>
                <c:formatCode>m/d/yyyy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Лист1!$C$2:$C$7</c:f>
              <c:numCache>
                <c:formatCode>General</c:formatCode>
                <c:ptCount val="6"/>
                <c:pt idx="2" formatCode="#,##0">
                  <c:v>5920</c:v>
                </c:pt>
                <c:pt idx="3" formatCode="#,##0">
                  <c:v>6000</c:v>
                </c:pt>
                <c:pt idx="4" formatCode="#,##0">
                  <c:v>7000</c:v>
                </c:pt>
                <c:pt idx="5" formatCode="#,##0">
                  <c:v>8512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7C-4E4D-9576-42D6D1809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8627280"/>
        <c:axId val="1488748144"/>
      </c:lineChart>
      <c:dateAx>
        <c:axId val="1808627280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1488748144"/>
        <c:crosses val="autoZero"/>
        <c:auto val="1"/>
        <c:lblOffset val="100"/>
        <c:baseTimeUnit val="months"/>
        <c:majorUnit val="4"/>
        <c:majorTimeUnit val="years"/>
        <c:minorUnit val="1"/>
        <c:minorTimeUnit val="years"/>
      </c:dateAx>
      <c:valAx>
        <c:axId val="1488748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8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Wix Madefor Display" panose="020B0503020203020203" pitchFamily="34" charset="0"/>
                <a:ea typeface="+mn-ea"/>
                <a:cs typeface="Wix Madefor Display" panose="020B0503020203020203" pitchFamily="34" charset="0"/>
              </a:defRPr>
            </a:pPr>
            <a:endParaRPr lang="ru-RU"/>
          </a:p>
        </c:txPr>
        <c:crossAx val="1808627280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Серверы без сопроцессоров</c:v>
                </c:pt>
              </c:strCache>
            </c:strRef>
          </c:tx>
          <c:spPr>
            <a:solidFill>
              <a:srgbClr val="0F24E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2020</c:v>
                </c:pt>
                <c:pt idx="1">
                  <c:v>2028</c:v>
                </c:pt>
              </c:numCache>
            </c:numRef>
          </c:cat>
          <c:val>
            <c:numRef>
              <c:f>Лист1!$B$2:$B$3</c:f>
              <c:numCache>
                <c:formatCode>0%</c:formatCode>
                <c:ptCount val="2"/>
                <c:pt idx="0">
                  <c:v>0.89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F7-496B-854F-98EA153C8D8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Серверы с сопроцессорами*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1B1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2F7-496B-854F-98EA153C8D83}"/>
              </c:ext>
            </c:extLst>
          </c:dPt>
          <c:dPt>
            <c:idx val="1"/>
            <c:invertIfNegative val="0"/>
            <c:bubble3D val="0"/>
            <c:spPr>
              <a:solidFill>
                <a:srgbClr val="E91B1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F7-496B-854F-98EA153C8D8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2020</c:v>
                </c:pt>
                <c:pt idx="1">
                  <c:v>2028</c:v>
                </c:pt>
              </c:numCache>
            </c:numRef>
          </c:cat>
          <c:val>
            <c:numRef>
              <c:f>Лист1!$C$2:$C$3</c:f>
              <c:numCache>
                <c:formatCode>0%</c:formatCode>
                <c:ptCount val="2"/>
                <c:pt idx="0">
                  <c:v>0.11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F7-496B-854F-98EA153C8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overlap val="100"/>
        <c:axId val="1688824896"/>
        <c:axId val="2052737568"/>
      </c:barChart>
      <c:catAx>
        <c:axId val="1688824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2052737568"/>
        <c:crosses val="autoZero"/>
        <c:auto val="1"/>
        <c:lblAlgn val="ctr"/>
        <c:lblOffset val="100"/>
        <c:noMultiLvlLbl val="0"/>
      </c:catAx>
      <c:valAx>
        <c:axId val="205273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824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65288713910761E-2"/>
          <c:y val="1.4235002878851705E-2"/>
          <c:w val="0.82307130358705161"/>
          <c:h val="0.841674686497521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FF7C8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Лист1!$A$4:$A$5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Лист1!$B$4:$B$5</c:f>
              <c:numCache>
                <c:formatCode>General</c:formatCode>
                <c:ptCount val="2"/>
                <c:pt idx="0">
                  <c:v>1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B2-4E80-B245-0614EAAB04FA}"/>
            </c:ext>
          </c:extLst>
        </c:ser>
        <c:ser>
          <c:idx val="1"/>
          <c:order val="1"/>
          <c:spPr>
            <a:solidFill>
              <a:srgbClr val="CC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Лист1!$A$4:$A$5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Лист1!$C$4:$C$5</c:f>
              <c:numCache>
                <c:formatCode>General</c:formatCode>
                <c:ptCount val="2"/>
                <c:pt idx="0">
                  <c:v>4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B2-4E80-B245-0614EAAB04F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27792319"/>
        <c:axId val="987251279"/>
      </c:barChart>
      <c:catAx>
        <c:axId val="1227792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200" b="0" i="0" u="none" strike="noStrike" kern="1200" baseline="0">
                <a:solidFill>
                  <a:schemeClr val="tx1"/>
                </a:solidFill>
                <a:latin typeface="Unbounded Medium" pitchFamily="2" charset="-52"/>
                <a:ea typeface="+mn-ea"/>
                <a:cs typeface="+mn-cs"/>
              </a:defRPr>
            </a:pPr>
            <a:endParaRPr lang="ru-RU"/>
          </a:p>
        </c:txPr>
        <c:crossAx val="987251279"/>
        <c:crosses val="autoZero"/>
        <c:auto val="1"/>
        <c:lblAlgn val="ctr"/>
        <c:lblOffset val="100"/>
        <c:noMultiLvlLbl val="0"/>
      </c:catAx>
      <c:valAx>
        <c:axId val="9872512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27792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F24E7"/>
            </a:solidFill>
            <a:ln>
              <a:noFill/>
            </a:ln>
            <a:effectLst/>
          </c:spPr>
          <c:invertIfNegative val="0"/>
          <c:cat>
            <c:numRef>
              <c:f>Лист1!$A$2:$A$13</c:f>
              <c:numCache>
                <c:formatCode>General</c:formatCode>
                <c:ptCount val="12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60</c:v>
                </c:pt>
                <c:pt idx="1">
                  <c:v>20</c:v>
                </c:pt>
                <c:pt idx="2">
                  <c:v>100</c:v>
                </c:pt>
                <c:pt idx="3">
                  <c:v>180</c:v>
                </c:pt>
                <c:pt idx="4">
                  <c:v>200</c:v>
                </c:pt>
                <c:pt idx="5">
                  <c:v>480</c:v>
                </c:pt>
                <c:pt idx="6">
                  <c:v>400</c:v>
                </c:pt>
                <c:pt idx="7">
                  <c:v>800</c:v>
                </c:pt>
                <c:pt idx="8">
                  <c:v>700</c:v>
                </c:pt>
                <c:pt idx="9">
                  <c:v>2400</c:v>
                </c:pt>
                <c:pt idx="10">
                  <c:v>2370</c:v>
                </c:pt>
                <c:pt idx="1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4-4B4D-B0F9-076F688074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8"/>
        <c:overlap val="-27"/>
        <c:axId val="129307696"/>
        <c:axId val="564723280"/>
      </c:barChart>
      <c:catAx>
        <c:axId val="12930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elveticaNeueCyr" panose="020B0604020202020204" charset="-52"/>
                <a:ea typeface="+mn-ea"/>
                <a:cs typeface="+mn-cs"/>
              </a:defRPr>
            </a:pPr>
            <a:endParaRPr lang="ru-RU"/>
          </a:p>
        </c:txPr>
        <c:crossAx val="564723280"/>
        <c:crosses val="autoZero"/>
        <c:auto val="1"/>
        <c:lblAlgn val="ctr"/>
        <c:lblOffset val="100"/>
        <c:noMultiLvlLbl val="0"/>
      </c:catAx>
      <c:valAx>
        <c:axId val="564723280"/>
        <c:scaling>
          <c:orientation val="minMax"/>
          <c:max val="25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B0604020202020204" charset="-52"/>
                <a:ea typeface="+mn-ea"/>
                <a:cs typeface="+mn-cs"/>
              </a:defRPr>
            </a:pPr>
            <a:endParaRPr lang="ru-RU"/>
          </a:p>
        </c:txPr>
        <c:crossAx val="129307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BC9AF-E696-43D8-9E60-3627CB4A9F90}" type="doc">
      <dgm:prSet loTypeId="urn:microsoft.com/office/officeart/2005/8/layout/hProcess1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1F0860FF-4FB4-4022-BDED-9962A2A76FF8}">
      <dgm:prSet phldrT="[Текст]" custT="1"/>
      <dgm:spPr/>
      <dgm:t>
        <a:bodyPr/>
        <a:lstStyle/>
        <a:p>
          <a:r>
            <a:rPr lang="ru-RU" sz="1400" dirty="0">
              <a:latin typeface="Unbounded Medium" pitchFamily="2" charset="-52"/>
              <a:cs typeface="Wix Madefor Display SemiBold" panose="020B0503020203020203" pitchFamily="34" charset="-52"/>
            </a:rPr>
            <a:t>20</a:t>
          </a:r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18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1FB9C28-67CB-4327-BBF7-79D25BC66BD5}" type="sib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91163880-C1A4-4D32-8D5B-85A99B39D091}" type="par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C668E378-17DA-480A-88B4-77CF53BF79A8}">
      <dgm:prSet phldrT="[Текст]" custT="1"/>
      <dgm:spPr/>
      <dgm:t>
        <a:bodyPr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2020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51D37406-DB1F-4B97-94BD-876F75966382}" type="par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812D3EA7-45C8-49B4-9275-2E42090C19BF}" type="sib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D661AD-3996-4CCF-83D1-C4A85893EC6C}">
      <dgm:prSet phldrT="[Текст]" custT="1"/>
      <dgm:spPr/>
      <dgm:t>
        <a:bodyPr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2021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FF653D4E-B0B1-45D2-9947-0F1971349724}" type="par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300D15C8-F99B-49F2-AC6F-A7ADE48D7D03}" type="sib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2DDB093B-2E9B-473F-9A2C-C9E173FB119B}">
      <dgm:prSet phldrT="[Текст]" custT="1"/>
      <dgm:spPr/>
      <dgm:t>
        <a:bodyPr anchor="b"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2030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58C9FD5-D55C-4E8C-B06A-FDE9E7345377}" type="par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C83EB55-3DCF-4C3A-8281-42F1058EC5C4}" type="sib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20ED6B4-C641-41F3-A99D-E30E12FBE2B6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092BABC-AC4B-420C-B47C-319EBA110278}" type="par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120CE9-276E-4238-BF7F-1B7C3C5D7A79}" type="sib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F8597F2C-DFB0-4EEA-8E92-94A09C904D79}">
      <dgm:prSet phldrT="[Текст]" custT="1"/>
      <dgm:spPr/>
      <dgm:t>
        <a:bodyPr anchor="t"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</a:t>
          </a:r>
          <a:r>
            <a:rPr lang="ru-RU" sz="1400" dirty="0">
              <a:latin typeface="Unbounded Medium" pitchFamily="2" charset="-52"/>
              <a:cs typeface="Wix Madefor Display SemiBold" panose="020B0503020203020203" pitchFamily="34" charset="-52"/>
            </a:rPr>
            <a:t>4</a:t>
          </a:r>
        </a:p>
      </dgm:t>
    </dgm:pt>
    <dgm:pt modelId="{16C5496B-8AB4-42CF-85BE-48CCEF63BD97}" type="parTrans" cxnId="{2CC57279-F030-42BC-94EA-D25F21AE13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64AEB3-7ABF-4EFA-89FF-8597CF26D773}" type="sibTrans" cxnId="{2CC57279-F030-42BC-94EA-D25F21AE13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E74F700-3D6F-45EE-88D7-8BE1C41B4A12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936D5318-7CEA-496B-88F3-62A3EB49856E}" type="par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FF9728C-451F-4C85-835F-7859F22FF8F3}" type="sib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E2A85686-2DD6-4C5E-A94E-2826806706FE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74A7167-E495-49D0-B8E8-4905A0CE2C5B}" type="parTrans" cxnId="{8889E6E8-D9CB-4CDA-AF4C-099370C6AB5E}">
      <dgm:prSet/>
      <dgm:spPr/>
      <dgm:t>
        <a:bodyPr/>
        <a:lstStyle/>
        <a:p>
          <a:endParaRPr lang="ru-RU"/>
        </a:p>
      </dgm:t>
    </dgm:pt>
    <dgm:pt modelId="{77471447-A646-4DD7-8633-0C3AD7CF7200}" type="sibTrans" cxnId="{8889E6E8-D9CB-4CDA-AF4C-099370C6AB5E}">
      <dgm:prSet/>
      <dgm:spPr/>
      <dgm:t>
        <a:bodyPr/>
        <a:lstStyle/>
        <a:p>
          <a:endParaRPr lang="ru-RU"/>
        </a:p>
      </dgm:t>
    </dgm:pt>
    <dgm:pt modelId="{D2A4328F-7466-4460-BC6C-D99B0B11EAE0}" type="pres">
      <dgm:prSet presAssocID="{5D9BC9AF-E696-43D8-9E60-3627CB4A9F90}" presName="Name0" presStyleCnt="0">
        <dgm:presLayoutVars>
          <dgm:dir/>
          <dgm:resizeHandles val="exact"/>
        </dgm:presLayoutVars>
      </dgm:prSet>
      <dgm:spPr/>
    </dgm:pt>
    <dgm:pt modelId="{D33221A1-79F6-4B9A-A116-6505E25D210B}" type="pres">
      <dgm:prSet presAssocID="{5D9BC9AF-E696-43D8-9E60-3627CB4A9F90}" presName="arrow" presStyleLbl="bgShp" presStyleIdx="0" presStyleCnt="1" custScaleY="66972"/>
      <dgm:spPr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</dgm:spPr>
    </dgm:pt>
    <dgm:pt modelId="{274DDA60-0D25-4037-898D-3D412116E35E}" type="pres">
      <dgm:prSet presAssocID="{5D9BC9AF-E696-43D8-9E60-3627CB4A9F90}" presName="points" presStyleCnt="0"/>
      <dgm:spPr/>
    </dgm:pt>
    <dgm:pt modelId="{B3448F0B-296F-478E-803C-4405495B3A4D}" type="pres">
      <dgm:prSet presAssocID="{1F0860FF-4FB4-4022-BDED-9962A2A76FF8}" presName="compositeA" presStyleCnt="0"/>
      <dgm:spPr/>
    </dgm:pt>
    <dgm:pt modelId="{FE56CBDF-F2C5-4808-A416-1BC6315153D5}" type="pres">
      <dgm:prSet presAssocID="{1F0860FF-4FB4-4022-BDED-9962A2A76FF8}" presName="textA" presStyleLbl="revTx" presStyleIdx="0" presStyleCnt="8" custLinFactNeighborY="-1253">
        <dgm:presLayoutVars>
          <dgm:bulletEnabled val="1"/>
        </dgm:presLayoutVars>
      </dgm:prSet>
      <dgm:spPr/>
    </dgm:pt>
    <dgm:pt modelId="{75AE5A0C-DC8B-45AF-95A9-E7C2CCAB5B90}" type="pres">
      <dgm:prSet presAssocID="{1F0860FF-4FB4-4022-BDED-9962A2A76FF8}" presName="circleA" presStyleLbl="node1" presStyleIdx="0" presStyleCnt="8" custLinFactNeighborX="37815"/>
      <dgm:spPr>
        <a:solidFill>
          <a:srgbClr val="7030A0">
            <a:alpha val="90000"/>
          </a:srgbClr>
        </a:solidFill>
      </dgm:spPr>
    </dgm:pt>
    <dgm:pt modelId="{61C323FF-DEA6-41A7-BFEC-D137AE1BE343}" type="pres">
      <dgm:prSet presAssocID="{1F0860FF-4FB4-4022-BDED-9962A2A76FF8}" presName="spaceA" presStyleCnt="0"/>
      <dgm:spPr/>
    </dgm:pt>
    <dgm:pt modelId="{A4524CA2-32D1-4613-B7C9-17ECB61189FA}" type="pres">
      <dgm:prSet presAssocID="{01FB9C28-67CB-4327-BBF7-79D25BC66BD5}" presName="space" presStyleCnt="0"/>
      <dgm:spPr/>
    </dgm:pt>
    <dgm:pt modelId="{5EC0F21C-6EE8-4D71-AE93-D95B48EEE23F}" type="pres">
      <dgm:prSet presAssocID="{C668E378-17DA-480A-88B4-77CF53BF79A8}" presName="compositeB" presStyleCnt="0"/>
      <dgm:spPr/>
    </dgm:pt>
    <dgm:pt modelId="{DD90B13C-8EAE-462D-8484-162E133A7583}" type="pres">
      <dgm:prSet presAssocID="{C668E378-17DA-480A-88B4-77CF53BF79A8}" presName="textB" presStyleLbl="revTx" presStyleIdx="1" presStyleCnt="8">
        <dgm:presLayoutVars>
          <dgm:bulletEnabled val="1"/>
        </dgm:presLayoutVars>
      </dgm:prSet>
      <dgm:spPr/>
    </dgm:pt>
    <dgm:pt modelId="{262B059D-5AE4-4F28-AE00-70369AA00314}" type="pres">
      <dgm:prSet presAssocID="{C668E378-17DA-480A-88B4-77CF53BF79A8}" presName="circleB" presStyleLbl="node1" presStyleIdx="1" presStyleCnt="8"/>
      <dgm:spPr/>
    </dgm:pt>
    <dgm:pt modelId="{F9BF097B-38D7-4909-AD1F-2A4DFBEE35B5}" type="pres">
      <dgm:prSet presAssocID="{C668E378-17DA-480A-88B4-77CF53BF79A8}" presName="spaceB" presStyleCnt="0"/>
      <dgm:spPr/>
    </dgm:pt>
    <dgm:pt modelId="{C704625A-C43D-4D1A-88C8-D78A5219D054}" type="pres">
      <dgm:prSet presAssocID="{812D3EA7-45C8-49B4-9275-2E42090C19BF}" presName="space" presStyleCnt="0"/>
      <dgm:spPr/>
    </dgm:pt>
    <dgm:pt modelId="{5AA94A6E-27B0-48C7-B4CA-BF8DD1F39EDE}" type="pres">
      <dgm:prSet presAssocID="{BFD661AD-3996-4CCF-83D1-C4A85893EC6C}" presName="compositeA" presStyleCnt="0"/>
      <dgm:spPr/>
    </dgm:pt>
    <dgm:pt modelId="{E8924F09-77E3-4F93-9CFC-C83189BE752E}" type="pres">
      <dgm:prSet presAssocID="{BFD661AD-3996-4CCF-83D1-C4A85893EC6C}" presName="textA" presStyleLbl="revTx" presStyleIdx="2" presStyleCnt="8">
        <dgm:presLayoutVars>
          <dgm:bulletEnabled val="1"/>
        </dgm:presLayoutVars>
      </dgm:prSet>
      <dgm:spPr/>
    </dgm:pt>
    <dgm:pt modelId="{14861258-B25B-44DB-9BF3-35337BB97F1E}" type="pres">
      <dgm:prSet presAssocID="{BFD661AD-3996-4CCF-83D1-C4A85893EC6C}" presName="circleA" presStyleLbl="node1" presStyleIdx="2" presStyleCnt="8"/>
      <dgm:spPr/>
    </dgm:pt>
    <dgm:pt modelId="{152450DA-199C-4A56-B52F-58C46C8895FE}" type="pres">
      <dgm:prSet presAssocID="{BFD661AD-3996-4CCF-83D1-C4A85893EC6C}" presName="spaceA" presStyleCnt="0"/>
      <dgm:spPr/>
    </dgm:pt>
    <dgm:pt modelId="{E57875CA-AC09-4EB9-9019-4FA21E8CD022}" type="pres">
      <dgm:prSet presAssocID="{300D15C8-F99B-49F2-AC6F-A7ADE48D7D03}" presName="space" presStyleCnt="0"/>
      <dgm:spPr/>
    </dgm:pt>
    <dgm:pt modelId="{A58794BC-B306-48AE-89CC-622A215F077E}" type="pres">
      <dgm:prSet presAssocID="{E2A85686-2DD6-4C5E-A94E-2826806706FE}" presName="compositeB" presStyleCnt="0"/>
      <dgm:spPr/>
    </dgm:pt>
    <dgm:pt modelId="{87EDBE43-1A8E-46A4-AC79-5C57FCFB0390}" type="pres">
      <dgm:prSet presAssocID="{E2A85686-2DD6-4C5E-A94E-2826806706FE}" presName="textB" presStyleLbl="revTx" presStyleIdx="3" presStyleCnt="8">
        <dgm:presLayoutVars>
          <dgm:bulletEnabled val="1"/>
        </dgm:presLayoutVars>
      </dgm:prSet>
      <dgm:spPr/>
    </dgm:pt>
    <dgm:pt modelId="{68F82039-05DF-4105-9F89-7CD890C618F4}" type="pres">
      <dgm:prSet presAssocID="{E2A85686-2DD6-4C5E-A94E-2826806706FE}" presName="circleB" presStyleLbl="node1" presStyleIdx="3" presStyleCnt="8"/>
      <dgm:spPr>
        <a:noFill/>
        <a:ln>
          <a:noFill/>
        </a:ln>
      </dgm:spPr>
    </dgm:pt>
    <dgm:pt modelId="{A075D48A-AB1F-4AF3-BDC1-FFEA20FAAD78}" type="pres">
      <dgm:prSet presAssocID="{E2A85686-2DD6-4C5E-A94E-2826806706FE}" presName="spaceB" presStyleCnt="0"/>
      <dgm:spPr/>
    </dgm:pt>
    <dgm:pt modelId="{5D7BC807-4222-4415-AEDC-F4357749F70B}" type="pres">
      <dgm:prSet presAssocID="{77471447-A646-4DD7-8633-0C3AD7CF7200}" presName="space" presStyleCnt="0"/>
      <dgm:spPr/>
    </dgm:pt>
    <dgm:pt modelId="{8AC95435-C51D-46A9-BB6D-DE237B448142}" type="pres">
      <dgm:prSet presAssocID="{F8597F2C-DFB0-4EEA-8E92-94A09C904D79}" presName="compositeA" presStyleCnt="0"/>
      <dgm:spPr/>
    </dgm:pt>
    <dgm:pt modelId="{F45E5754-3BDA-40B9-B76C-818CEA8DEA04}" type="pres">
      <dgm:prSet presAssocID="{F8597F2C-DFB0-4EEA-8E92-94A09C904D79}" presName="textA" presStyleLbl="revTx" presStyleIdx="4" presStyleCnt="8" custLinFactY="51796" custLinFactNeighborX="-2164" custLinFactNeighborY="100000">
        <dgm:presLayoutVars>
          <dgm:bulletEnabled val="1"/>
        </dgm:presLayoutVars>
      </dgm:prSet>
      <dgm:spPr/>
    </dgm:pt>
    <dgm:pt modelId="{12F6BDAE-7495-4BC3-84D3-22AA063CB94E}" type="pres">
      <dgm:prSet presAssocID="{F8597F2C-DFB0-4EEA-8E92-94A09C904D79}" presName="circleA" presStyleLbl="node1" presStyleIdx="4" presStyleCnt="8"/>
      <dgm:spPr/>
    </dgm:pt>
    <dgm:pt modelId="{F10BE51E-0CED-4672-B954-9950BD63E33F}" type="pres">
      <dgm:prSet presAssocID="{F8597F2C-DFB0-4EEA-8E92-94A09C904D79}" presName="spaceA" presStyleCnt="0"/>
      <dgm:spPr/>
    </dgm:pt>
    <dgm:pt modelId="{BDA8DAEF-D929-496A-891B-2A0F54615A6C}" type="pres">
      <dgm:prSet presAssocID="{BF64AEB3-7ABF-4EFA-89FF-8597CF26D773}" presName="space" presStyleCnt="0"/>
      <dgm:spPr/>
    </dgm:pt>
    <dgm:pt modelId="{4790DF73-67D1-4ED1-BE9F-A1FC66379E18}" type="pres">
      <dgm:prSet presAssocID="{0E74F700-3D6F-45EE-88D7-8BE1C41B4A12}" presName="compositeB" presStyleCnt="0"/>
      <dgm:spPr/>
    </dgm:pt>
    <dgm:pt modelId="{8BE185DB-E5A4-4F39-809D-DD0A9A1A6749}" type="pres">
      <dgm:prSet presAssocID="{0E74F700-3D6F-45EE-88D7-8BE1C41B4A12}" presName="textB" presStyleLbl="revTx" presStyleIdx="5" presStyleCnt="8">
        <dgm:presLayoutVars>
          <dgm:bulletEnabled val="1"/>
        </dgm:presLayoutVars>
      </dgm:prSet>
      <dgm:spPr/>
    </dgm:pt>
    <dgm:pt modelId="{232A4D32-E568-4D31-A413-A607EFA2754D}" type="pres">
      <dgm:prSet presAssocID="{0E74F700-3D6F-45EE-88D7-8BE1C41B4A12}" presName="circleB" presStyleLbl="node1" presStyleIdx="5" presStyleCnt="8"/>
      <dgm:spPr>
        <a:noFill/>
        <a:ln>
          <a:noFill/>
        </a:ln>
      </dgm:spPr>
    </dgm:pt>
    <dgm:pt modelId="{17A99B4B-C797-48F1-B84D-CC9E4BCBDE55}" type="pres">
      <dgm:prSet presAssocID="{0E74F700-3D6F-45EE-88D7-8BE1C41B4A12}" presName="spaceB" presStyleCnt="0"/>
      <dgm:spPr/>
    </dgm:pt>
    <dgm:pt modelId="{845E178C-DDE2-4A56-842E-504643243F09}" type="pres">
      <dgm:prSet presAssocID="{DFF9728C-451F-4C85-835F-7859F22FF8F3}" presName="space" presStyleCnt="0"/>
      <dgm:spPr/>
    </dgm:pt>
    <dgm:pt modelId="{F8EFF0C2-BBC3-42C6-BA93-39A5C7E89972}" type="pres">
      <dgm:prSet presAssocID="{D20ED6B4-C641-41F3-A99D-E30E12FBE2B6}" presName="compositeA" presStyleCnt="0"/>
      <dgm:spPr/>
    </dgm:pt>
    <dgm:pt modelId="{C8769335-1F8C-42AA-9205-ECFC5EDB86A2}" type="pres">
      <dgm:prSet presAssocID="{D20ED6B4-C641-41F3-A99D-E30E12FBE2B6}" presName="textA" presStyleLbl="revTx" presStyleIdx="6" presStyleCnt="8">
        <dgm:presLayoutVars>
          <dgm:bulletEnabled val="1"/>
        </dgm:presLayoutVars>
      </dgm:prSet>
      <dgm:spPr/>
    </dgm:pt>
    <dgm:pt modelId="{06CEDFC9-B1F3-4A20-B5CB-511DC701012D}" type="pres">
      <dgm:prSet presAssocID="{D20ED6B4-C641-41F3-A99D-E30E12FBE2B6}" presName="circleA" presStyleLbl="node1" presStyleIdx="6" presStyleCnt="8"/>
      <dgm:spPr>
        <a:noFill/>
        <a:ln>
          <a:noFill/>
        </a:ln>
      </dgm:spPr>
    </dgm:pt>
    <dgm:pt modelId="{CA6872C3-2AC5-4ECD-B288-8525B30D819C}" type="pres">
      <dgm:prSet presAssocID="{D20ED6B4-C641-41F3-A99D-E30E12FBE2B6}" presName="spaceA" presStyleCnt="0"/>
      <dgm:spPr/>
    </dgm:pt>
    <dgm:pt modelId="{EBCA0B6F-51C2-4299-AFF6-B9C60D2BCB39}" type="pres">
      <dgm:prSet presAssocID="{BF120CE9-276E-4238-BF7F-1B7C3C5D7A79}" presName="space" presStyleCnt="0"/>
      <dgm:spPr/>
    </dgm:pt>
    <dgm:pt modelId="{708FB9C8-194B-4E75-B6CB-BC9413CD85D3}" type="pres">
      <dgm:prSet presAssocID="{2DDB093B-2E9B-473F-9A2C-C9E173FB119B}" presName="compositeB" presStyleCnt="0"/>
      <dgm:spPr/>
    </dgm:pt>
    <dgm:pt modelId="{A4B7C786-82A5-4A8A-9E36-60E52675459D}" type="pres">
      <dgm:prSet presAssocID="{2DDB093B-2E9B-473F-9A2C-C9E173FB119B}" presName="textB" presStyleLbl="revTx" presStyleIdx="7" presStyleCnt="8" custLinFactY="-48662" custLinFactNeighborX="23806" custLinFactNeighborY="-100000">
        <dgm:presLayoutVars>
          <dgm:bulletEnabled val="1"/>
        </dgm:presLayoutVars>
      </dgm:prSet>
      <dgm:spPr/>
    </dgm:pt>
    <dgm:pt modelId="{1B1D0CA2-7024-475A-8311-0610CD8E21B6}" type="pres">
      <dgm:prSet presAssocID="{2DDB093B-2E9B-473F-9A2C-C9E173FB119B}" presName="circleB" presStyleLbl="node1" presStyleIdx="7" presStyleCnt="8" custLinFactX="66427" custLinFactNeighborX="100000"/>
      <dgm:spPr/>
    </dgm:pt>
    <dgm:pt modelId="{6FA8471C-F2D8-4738-B5A9-9E5DD0431317}" type="pres">
      <dgm:prSet presAssocID="{2DDB093B-2E9B-473F-9A2C-C9E173FB119B}" presName="spaceB" presStyleCnt="0"/>
      <dgm:spPr/>
    </dgm:pt>
  </dgm:ptLst>
  <dgm:cxnLst>
    <dgm:cxn modelId="{D8FE0608-1625-4D57-BE74-F6CFF7A11DCE}" type="presOf" srcId="{2DDB093B-2E9B-473F-9A2C-C9E173FB119B}" destId="{A4B7C786-82A5-4A8A-9E36-60E52675459D}" srcOrd="0" destOrd="0" presId="urn:microsoft.com/office/officeart/2005/8/layout/hProcess11"/>
    <dgm:cxn modelId="{933E5C0E-02F8-4364-950E-DBBB04D3D1BB}" type="presOf" srcId="{E2A85686-2DD6-4C5E-A94E-2826806706FE}" destId="{87EDBE43-1A8E-46A4-AC79-5C57FCFB0390}" srcOrd="0" destOrd="0" presId="urn:microsoft.com/office/officeart/2005/8/layout/hProcess11"/>
    <dgm:cxn modelId="{2B8C3719-7056-4591-B6E0-08F67CC3A04A}" srcId="{5D9BC9AF-E696-43D8-9E60-3627CB4A9F90}" destId="{BFD661AD-3996-4CCF-83D1-C4A85893EC6C}" srcOrd="2" destOrd="0" parTransId="{FF653D4E-B0B1-45D2-9947-0F1971349724}" sibTransId="{300D15C8-F99B-49F2-AC6F-A7ADE48D7D03}"/>
    <dgm:cxn modelId="{6077E05C-8292-44E4-8591-0A73B4F4EBAB}" srcId="{5D9BC9AF-E696-43D8-9E60-3627CB4A9F90}" destId="{2DDB093B-2E9B-473F-9A2C-C9E173FB119B}" srcOrd="7" destOrd="0" parTransId="{B58C9FD5-D55C-4E8C-B06A-FDE9E7345377}" sibTransId="{0C83EB55-3DCF-4C3A-8281-42F1058EC5C4}"/>
    <dgm:cxn modelId="{350D7C5E-F771-4676-A038-E2121E8004EC}" srcId="{5D9BC9AF-E696-43D8-9E60-3627CB4A9F90}" destId="{1F0860FF-4FB4-4022-BDED-9962A2A76FF8}" srcOrd="0" destOrd="0" parTransId="{91163880-C1A4-4D32-8D5B-85A99B39D091}" sibTransId="{01FB9C28-67CB-4327-BBF7-79D25BC66BD5}"/>
    <dgm:cxn modelId="{EB3B184F-005A-4D3E-A3B3-B5FCC50E16AB}" type="presOf" srcId="{1F0860FF-4FB4-4022-BDED-9962A2A76FF8}" destId="{FE56CBDF-F2C5-4808-A416-1BC6315153D5}" srcOrd="0" destOrd="0" presId="urn:microsoft.com/office/officeart/2005/8/layout/hProcess11"/>
    <dgm:cxn modelId="{70403673-8A55-4BE6-9F71-558F0E47458A}" srcId="{5D9BC9AF-E696-43D8-9E60-3627CB4A9F90}" destId="{D20ED6B4-C641-41F3-A99D-E30E12FBE2B6}" srcOrd="6" destOrd="0" parTransId="{B092BABC-AC4B-420C-B47C-319EBA110278}" sibTransId="{BF120CE9-276E-4238-BF7F-1B7C3C5D7A79}"/>
    <dgm:cxn modelId="{2CC57279-F030-42BC-94EA-D25F21AE13AB}" srcId="{5D9BC9AF-E696-43D8-9E60-3627CB4A9F90}" destId="{F8597F2C-DFB0-4EEA-8E92-94A09C904D79}" srcOrd="4" destOrd="0" parTransId="{16C5496B-8AB4-42CF-85BE-48CCEF63BD97}" sibTransId="{BF64AEB3-7ABF-4EFA-89FF-8597CF26D773}"/>
    <dgm:cxn modelId="{C2FB417E-7845-4A34-B6BD-A5B8CE3ABAA8}" type="presOf" srcId="{BFD661AD-3996-4CCF-83D1-C4A85893EC6C}" destId="{E8924F09-77E3-4F93-9CFC-C83189BE752E}" srcOrd="0" destOrd="0" presId="urn:microsoft.com/office/officeart/2005/8/layout/hProcess11"/>
    <dgm:cxn modelId="{C2AC437E-D925-43ED-99DA-6964F8229F6E}" type="presOf" srcId="{C668E378-17DA-480A-88B4-77CF53BF79A8}" destId="{DD90B13C-8EAE-462D-8484-162E133A7583}" srcOrd="0" destOrd="0" presId="urn:microsoft.com/office/officeart/2005/8/layout/hProcess11"/>
    <dgm:cxn modelId="{467B6E88-1BEC-4B6E-94BE-953C91C55B77}" type="presOf" srcId="{0E74F700-3D6F-45EE-88D7-8BE1C41B4A12}" destId="{8BE185DB-E5A4-4F39-809D-DD0A9A1A6749}" srcOrd="0" destOrd="0" presId="urn:microsoft.com/office/officeart/2005/8/layout/hProcess11"/>
    <dgm:cxn modelId="{B12C5C94-4BC0-4801-87D2-F8B74CB76D4E}" type="presOf" srcId="{F8597F2C-DFB0-4EEA-8E92-94A09C904D79}" destId="{F45E5754-3BDA-40B9-B76C-818CEA8DEA04}" srcOrd="0" destOrd="0" presId="urn:microsoft.com/office/officeart/2005/8/layout/hProcess11"/>
    <dgm:cxn modelId="{F24825BF-2AE5-47BC-9A2E-22296634C552}" type="presOf" srcId="{5D9BC9AF-E696-43D8-9E60-3627CB4A9F90}" destId="{D2A4328F-7466-4460-BC6C-D99B0B11EAE0}" srcOrd="0" destOrd="0" presId="urn:microsoft.com/office/officeart/2005/8/layout/hProcess11"/>
    <dgm:cxn modelId="{38A582D2-11D8-4F59-AE84-B70A3C2FA6F3}" type="presOf" srcId="{D20ED6B4-C641-41F3-A99D-E30E12FBE2B6}" destId="{C8769335-1F8C-42AA-9205-ECFC5EDB86A2}" srcOrd="0" destOrd="0" presId="urn:microsoft.com/office/officeart/2005/8/layout/hProcess11"/>
    <dgm:cxn modelId="{D9FDE2DE-BE99-4679-85BD-22553BD4F516}" srcId="{5D9BC9AF-E696-43D8-9E60-3627CB4A9F90}" destId="{0E74F700-3D6F-45EE-88D7-8BE1C41B4A12}" srcOrd="5" destOrd="0" parTransId="{936D5318-7CEA-496B-88F3-62A3EB49856E}" sibTransId="{DFF9728C-451F-4C85-835F-7859F22FF8F3}"/>
    <dgm:cxn modelId="{8889E6E8-D9CB-4CDA-AF4C-099370C6AB5E}" srcId="{5D9BC9AF-E696-43D8-9E60-3627CB4A9F90}" destId="{E2A85686-2DD6-4C5E-A94E-2826806706FE}" srcOrd="3" destOrd="0" parTransId="{074A7167-E495-49D0-B8E8-4905A0CE2C5B}" sibTransId="{77471447-A646-4DD7-8633-0C3AD7CF7200}"/>
    <dgm:cxn modelId="{F82101F4-A47C-40E5-AB57-E837FD532585}" srcId="{5D9BC9AF-E696-43D8-9E60-3627CB4A9F90}" destId="{C668E378-17DA-480A-88B4-77CF53BF79A8}" srcOrd="1" destOrd="0" parTransId="{51D37406-DB1F-4B97-94BD-876F75966382}" sibTransId="{812D3EA7-45C8-49B4-9275-2E42090C19BF}"/>
    <dgm:cxn modelId="{CA0D3870-85B1-4E6A-92B5-DA017D6227FC}" type="presParOf" srcId="{D2A4328F-7466-4460-BC6C-D99B0B11EAE0}" destId="{D33221A1-79F6-4B9A-A116-6505E25D210B}" srcOrd="0" destOrd="0" presId="urn:microsoft.com/office/officeart/2005/8/layout/hProcess11"/>
    <dgm:cxn modelId="{E3BBC772-E296-48AD-8956-D876F71D8DA6}" type="presParOf" srcId="{D2A4328F-7466-4460-BC6C-D99B0B11EAE0}" destId="{274DDA60-0D25-4037-898D-3D412116E35E}" srcOrd="1" destOrd="0" presId="urn:microsoft.com/office/officeart/2005/8/layout/hProcess11"/>
    <dgm:cxn modelId="{30F639EC-6E8E-4DC8-8240-1F7FEBCEBE22}" type="presParOf" srcId="{274DDA60-0D25-4037-898D-3D412116E35E}" destId="{B3448F0B-296F-478E-803C-4405495B3A4D}" srcOrd="0" destOrd="0" presId="urn:microsoft.com/office/officeart/2005/8/layout/hProcess11"/>
    <dgm:cxn modelId="{E4541187-45D3-4B2D-BE4E-46E52D4D23C3}" type="presParOf" srcId="{B3448F0B-296F-478E-803C-4405495B3A4D}" destId="{FE56CBDF-F2C5-4808-A416-1BC6315153D5}" srcOrd="0" destOrd="0" presId="urn:microsoft.com/office/officeart/2005/8/layout/hProcess11"/>
    <dgm:cxn modelId="{FF95B1A0-F902-4177-B775-8D30894C1308}" type="presParOf" srcId="{B3448F0B-296F-478E-803C-4405495B3A4D}" destId="{75AE5A0C-DC8B-45AF-95A9-E7C2CCAB5B90}" srcOrd="1" destOrd="0" presId="urn:microsoft.com/office/officeart/2005/8/layout/hProcess11"/>
    <dgm:cxn modelId="{E3A5CCE2-819A-48A9-971C-030722618142}" type="presParOf" srcId="{B3448F0B-296F-478E-803C-4405495B3A4D}" destId="{61C323FF-DEA6-41A7-BFEC-D137AE1BE343}" srcOrd="2" destOrd="0" presId="urn:microsoft.com/office/officeart/2005/8/layout/hProcess11"/>
    <dgm:cxn modelId="{E46D10F3-FF13-4333-B728-4E7FE60D01C5}" type="presParOf" srcId="{274DDA60-0D25-4037-898D-3D412116E35E}" destId="{A4524CA2-32D1-4613-B7C9-17ECB61189FA}" srcOrd="1" destOrd="0" presId="urn:microsoft.com/office/officeart/2005/8/layout/hProcess11"/>
    <dgm:cxn modelId="{D20F0FF7-F153-4BD5-8E8E-5DE2DE209CED}" type="presParOf" srcId="{274DDA60-0D25-4037-898D-3D412116E35E}" destId="{5EC0F21C-6EE8-4D71-AE93-D95B48EEE23F}" srcOrd="2" destOrd="0" presId="urn:microsoft.com/office/officeart/2005/8/layout/hProcess11"/>
    <dgm:cxn modelId="{CA3CD318-152E-42CE-BE65-37840AEF3AB5}" type="presParOf" srcId="{5EC0F21C-6EE8-4D71-AE93-D95B48EEE23F}" destId="{DD90B13C-8EAE-462D-8484-162E133A7583}" srcOrd="0" destOrd="0" presId="urn:microsoft.com/office/officeart/2005/8/layout/hProcess11"/>
    <dgm:cxn modelId="{F75DFA75-B512-4BB4-80B5-B876F8D32350}" type="presParOf" srcId="{5EC0F21C-6EE8-4D71-AE93-D95B48EEE23F}" destId="{262B059D-5AE4-4F28-AE00-70369AA00314}" srcOrd="1" destOrd="0" presId="urn:microsoft.com/office/officeart/2005/8/layout/hProcess11"/>
    <dgm:cxn modelId="{0F06E630-3E2F-4245-8FC5-94F8D4E87B62}" type="presParOf" srcId="{5EC0F21C-6EE8-4D71-AE93-D95B48EEE23F}" destId="{F9BF097B-38D7-4909-AD1F-2A4DFBEE35B5}" srcOrd="2" destOrd="0" presId="urn:microsoft.com/office/officeart/2005/8/layout/hProcess11"/>
    <dgm:cxn modelId="{C3A20930-8F50-43E2-9A8F-6ECABE2AE179}" type="presParOf" srcId="{274DDA60-0D25-4037-898D-3D412116E35E}" destId="{C704625A-C43D-4D1A-88C8-D78A5219D054}" srcOrd="3" destOrd="0" presId="urn:microsoft.com/office/officeart/2005/8/layout/hProcess11"/>
    <dgm:cxn modelId="{2B1ED4FF-A901-483C-A882-DC487ACFB919}" type="presParOf" srcId="{274DDA60-0D25-4037-898D-3D412116E35E}" destId="{5AA94A6E-27B0-48C7-B4CA-BF8DD1F39EDE}" srcOrd="4" destOrd="0" presId="urn:microsoft.com/office/officeart/2005/8/layout/hProcess11"/>
    <dgm:cxn modelId="{5358BEBF-40B0-4828-B99A-76B3D0E2DFA2}" type="presParOf" srcId="{5AA94A6E-27B0-48C7-B4CA-BF8DD1F39EDE}" destId="{E8924F09-77E3-4F93-9CFC-C83189BE752E}" srcOrd="0" destOrd="0" presId="urn:microsoft.com/office/officeart/2005/8/layout/hProcess11"/>
    <dgm:cxn modelId="{03B70E25-93BE-46BA-AD38-98039F54E132}" type="presParOf" srcId="{5AA94A6E-27B0-48C7-B4CA-BF8DD1F39EDE}" destId="{14861258-B25B-44DB-9BF3-35337BB97F1E}" srcOrd="1" destOrd="0" presId="urn:microsoft.com/office/officeart/2005/8/layout/hProcess11"/>
    <dgm:cxn modelId="{7F8663AB-6039-4195-A9E9-84D2D6AD9850}" type="presParOf" srcId="{5AA94A6E-27B0-48C7-B4CA-BF8DD1F39EDE}" destId="{152450DA-199C-4A56-B52F-58C46C8895FE}" srcOrd="2" destOrd="0" presId="urn:microsoft.com/office/officeart/2005/8/layout/hProcess11"/>
    <dgm:cxn modelId="{233AF4C6-979B-4BB3-9C05-1D2CDE201F9E}" type="presParOf" srcId="{274DDA60-0D25-4037-898D-3D412116E35E}" destId="{E57875CA-AC09-4EB9-9019-4FA21E8CD022}" srcOrd="5" destOrd="0" presId="urn:microsoft.com/office/officeart/2005/8/layout/hProcess11"/>
    <dgm:cxn modelId="{6211E767-04A7-4751-903B-3A2803E19EC0}" type="presParOf" srcId="{274DDA60-0D25-4037-898D-3D412116E35E}" destId="{A58794BC-B306-48AE-89CC-622A215F077E}" srcOrd="6" destOrd="0" presId="urn:microsoft.com/office/officeart/2005/8/layout/hProcess11"/>
    <dgm:cxn modelId="{D1903AF3-46CF-4675-B671-52C5BA5C47A7}" type="presParOf" srcId="{A58794BC-B306-48AE-89CC-622A215F077E}" destId="{87EDBE43-1A8E-46A4-AC79-5C57FCFB0390}" srcOrd="0" destOrd="0" presId="urn:microsoft.com/office/officeart/2005/8/layout/hProcess11"/>
    <dgm:cxn modelId="{56D638C7-026A-45F7-9EC5-DC0E3BE5D0A6}" type="presParOf" srcId="{A58794BC-B306-48AE-89CC-622A215F077E}" destId="{68F82039-05DF-4105-9F89-7CD890C618F4}" srcOrd="1" destOrd="0" presId="urn:microsoft.com/office/officeart/2005/8/layout/hProcess11"/>
    <dgm:cxn modelId="{D617AF99-54D3-4253-B62A-722CB5718B17}" type="presParOf" srcId="{A58794BC-B306-48AE-89CC-622A215F077E}" destId="{A075D48A-AB1F-4AF3-BDC1-FFEA20FAAD78}" srcOrd="2" destOrd="0" presId="urn:microsoft.com/office/officeart/2005/8/layout/hProcess11"/>
    <dgm:cxn modelId="{8BBD4B28-BB34-4B24-BF7C-9A0F7E2E9736}" type="presParOf" srcId="{274DDA60-0D25-4037-898D-3D412116E35E}" destId="{5D7BC807-4222-4415-AEDC-F4357749F70B}" srcOrd="7" destOrd="0" presId="urn:microsoft.com/office/officeart/2005/8/layout/hProcess11"/>
    <dgm:cxn modelId="{B73B5166-0179-4340-9CD5-F3E484369F0E}" type="presParOf" srcId="{274DDA60-0D25-4037-898D-3D412116E35E}" destId="{8AC95435-C51D-46A9-BB6D-DE237B448142}" srcOrd="8" destOrd="0" presId="urn:microsoft.com/office/officeart/2005/8/layout/hProcess11"/>
    <dgm:cxn modelId="{C6E01A62-69E7-4641-A802-2651F9B0D30A}" type="presParOf" srcId="{8AC95435-C51D-46A9-BB6D-DE237B448142}" destId="{F45E5754-3BDA-40B9-B76C-818CEA8DEA04}" srcOrd="0" destOrd="0" presId="urn:microsoft.com/office/officeart/2005/8/layout/hProcess11"/>
    <dgm:cxn modelId="{D2FFDE06-9BBF-4718-AFDE-C1967597AB7B}" type="presParOf" srcId="{8AC95435-C51D-46A9-BB6D-DE237B448142}" destId="{12F6BDAE-7495-4BC3-84D3-22AA063CB94E}" srcOrd="1" destOrd="0" presId="urn:microsoft.com/office/officeart/2005/8/layout/hProcess11"/>
    <dgm:cxn modelId="{F14447AA-2C38-48D5-8198-64F97BE9F455}" type="presParOf" srcId="{8AC95435-C51D-46A9-BB6D-DE237B448142}" destId="{F10BE51E-0CED-4672-B954-9950BD63E33F}" srcOrd="2" destOrd="0" presId="urn:microsoft.com/office/officeart/2005/8/layout/hProcess11"/>
    <dgm:cxn modelId="{7084AC0F-180D-406B-8B9B-FB2A6E2F38DA}" type="presParOf" srcId="{274DDA60-0D25-4037-898D-3D412116E35E}" destId="{BDA8DAEF-D929-496A-891B-2A0F54615A6C}" srcOrd="9" destOrd="0" presId="urn:microsoft.com/office/officeart/2005/8/layout/hProcess11"/>
    <dgm:cxn modelId="{FC66EC89-8331-483B-BC84-F5410F5A02A0}" type="presParOf" srcId="{274DDA60-0D25-4037-898D-3D412116E35E}" destId="{4790DF73-67D1-4ED1-BE9F-A1FC66379E18}" srcOrd="10" destOrd="0" presId="urn:microsoft.com/office/officeart/2005/8/layout/hProcess11"/>
    <dgm:cxn modelId="{85EE743D-4055-415B-99F1-96361BA09B14}" type="presParOf" srcId="{4790DF73-67D1-4ED1-BE9F-A1FC66379E18}" destId="{8BE185DB-E5A4-4F39-809D-DD0A9A1A6749}" srcOrd="0" destOrd="0" presId="urn:microsoft.com/office/officeart/2005/8/layout/hProcess11"/>
    <dgm:cxn modelId="{6C206465-89AF-46EC-B91E-A146ECEA5EAD}" type="presParOf" srcId="{4790DF73-67D1-4ED1-BE9F-A1FC66379E18}" destId="{232A4D32-E568-4D31-A413-A607EFA2754D}" srcOrd="1" destOrd="0" presId="urn:microsoft.com/office/officeart/2005/8/layout/hProcess11"/>
    <dgm:cxn modelId="{D16E4EAF-771D-4309-B8F7-518194A30BD0}" type="presParOf" srcId="{4790DF73-67D1-4ED1-BE9F-A1FC66379E18}" destId="{17A99B4B-C797-48F1-B84D-CC9E4BCBDE55}" srcOrd="2" destOrd="0" presId="urn:microsoft.com/office/officeart/2005/8/layout/hProcess11"/>
    <dgm:cxn modelId="{885B9ED4-4549-4F62-8FC8-97FF37CFC6A6}" type="presParOf" srcId="{274DDA60-0D25-4037-898D-3D412116E35E}" destId="{845E178C-DDE2-4A56-842E-504643243F09}" srcOrd="11" destOrd="0" presId="urn:microsoft.com/office/officeart/2005/8/layout/hProcess11"/>
    <dgm:cxn modelId="{53EA7E1F-2D09-49BD-B9EF-D61AFC8B804F}" type="presParOf" srcId="{274DDA60-0D25-4037-898D-3D412116E35E}" destId="{F8EFF0C2-BBC3-42C6-BA93-39A5C7E89972}" srcOrd="12" destOrd="0" presId="urn:microsoft.com/office/officeart/2005/8/layout/hProcess11"/>
    <dgm:cxn modelId="{FEC6C4CE-9B13-45D0-A64C-FC0797084C18}" type="presParOf" srcId="{F8EFF0C2-BBC3-42C6-BA93-39A5C7E89972}" destId="{C8769335-1F8C-42AA-9205-ECFC5EDB86A2}" srcOrd="0" destOrd="0" presId="urn:microsoft.com/office/officeart/2005/8/layout/hProcess11"/>
    <dgm:cxn modelId="{3BE057F6-684E-41BB-AC7A-A72045A7843D}" type="presParOf" srcId="{F8EFF0C2-BBC3-42C6-BA93-39A5C7E89972}" destId="{06CEDFC9-B1F3-4A20-B5CB-511DC701012D}" srcOrd="1" destOrd="0" presId="urn:microsoft.com/office/officeart/2005/8/layout/hProcess11"/>
    <dgm:cxn modelId="{2CF20C31-B61F-46E3-8149-D711D7048888}" type="presParOf" srcId="{F8EFF0C2-BBC3-42C6-BA93-39A5C7E89972}" destId="{CA6872C3-2AC5-4ECD-B288-8525B30D819C}" srcOrd="2" destOrd="0" presId="urn:microsoft.com/office/officeart/2005/8/layout/hProcess11"/>
    <dgm:cxn modelId="{462B5DD3-EC6D-4417-B0C1-8228279A7C38}" type="presParOf" srcId="{274DDA60-0D25-4037-898D-3D412116E35E}" destId="{EBCA0B6F-51C2-4299-AFF6-B9C60D2BCB39}" srcOrd="13" destOrd="0" presId="urn:microsoft.com/office/officeart/2005/8/layout/hProcess11"/>
    <dgm:cxn modelId="{EAE3A03F-3ACE-45DF-B3C1-0CF464F34439}" type="presParOf" srcId="{274DDA60-0D25-4037-898D-3D412116E35E}" destId="{708FB9C8-194B-4E75-B6CB-BC9413CD85D3}" srcOrd="14" destOrd="0" presId="urn:microsoft.com/office/officeart/2005/8/layout/hProcess11"/>
    <dgm:cxn modelId="{E9940A76-C8DE-4332-B1CD-CA7C8D4C5ED2}" type="presParOf" srcId="{708FB9C8-194B-4E75-B6CB-BC9413CD85D3}" destId="{A4B7C786-82A5-4A8A-9E36-60E52675459D}" srcOrd="0" destOrd="0" presId="urn:microsoft.com/office/officeart/2005/8/layout/hProcess11"/>
    <dgm:cxn modelId="{1E632432-F23D-47A5-AC0E-F4AF578E374E}" type="presParOf" srcId="{708FB9C8-194B-4E75-B6CB-BC9413CD85D3}" destId="{1B1D0CA2-7024-475A-8311-0610CD8E21B6}" srcOrd="1" destOrd="0" presId="urn:microsoft.com/office/officeart/2005/8/layout/hProcess11"/>
    <dgm:cxn modelId="{D6CB2C82-D9A9-470F-A8AA-42A81EF71EE0}" type="presParOf" srcId="{708FB9C8-194B-4E75-B6CB-BC9413CD85D3}" destId="{6FA8471C-F2D8-4738-B5A9-9E5DD043131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9BC9AF-E696-43D8-9E60-3627CB4A9F90}" type="doc">
      <dgm:prSet loTypeId="urn:microsoft.com/office/officeart/2005/8/layout/hProcess1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1F0860FF-4FB4-4022-BDED-9962A2A76FF8}">
      <dgm:prSet phldrT="[Текст]" custT="1"/>
      <dgm:spPr/>
      <dgm:t>
        <a:bodyPr/>
        <a:lstStyle/>
        <a:p>
          <a:r>
            <a:rPr lang="ru-RU" sz="1600" b="1" dirty="0">
              <a:latin typeface="Unbounded Medium" pitchFamily="2" charset="-52"/>
              <a:cs typeface="Wix Madefor Display SemiBold" panose="020B0503020203020203" pitchFamily="34" charset="-52"/>
            </a:rPr>
            <a:t>2024</a:t>
          </a:r>
        </a:p>
      </dgm:t>
    </dgm:pt>
    <dgm:pt modelId="{01FB9C28-67CB-4327-BBF7-79D25BC66BD5}" type="sib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91163880-C1A4-4D32-8D5B-85A99B39D091}" type="par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C668E378-17DA-480A-88B4-77CF53BF79A8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51D37406-DB1F-4B97-94BD-876F75966382}" type="par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812D3EA7-45C8-49B4-9275-2E42090C19BF}" type="sib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D661AD-3996-4CCF-83D1-C4A85893EC6C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FF653D4E-B0B1-45D2-9947-0F1971349724}" type="par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300D15C8-F99B-49F2-AC6F-A7ADE48D7D03}" type="sib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2DDB093B-2E9B-473F-9A2C-C9E173FB119B}">
      <dgm:prSet phldrT="[Текст]" custT="1"/>
      <dgm:spPr/>
      <dgm:t>
        <a:bodyPr anchor="b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Unbounded Medium" pitchFamily="2" charset="-52"/>
              <a:ea typeface="+mn-ea"/>
              <a:cs typeface="Wix Madefor Display SemiBold" panose="020B0503020203020203" pitchFamily="34" charset="-52"/>
            </a:rPr>
            <a:t>2030</a:t>
          </a:r>
          <a:endParaRPr lang="ru-RU" sz="16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Unbounded Medium" pitchFamily="2" charset="-52"/>
            <a:ea typeface="+mn-ea"/>
            <a:cs typeface="Wix Madefor Display SemiBold" panose="020B0503020203020203" pitchFamily="34" charset="-52"/>
          </a:endParaRPr>
        </a:p>
      </dgm:t>
    </dgm:pt>
    <dgm:pt modelId="{B58C9FD5-D55C-4E8C-B06A-FDE9E7345377}" type="par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C83EB55-3DCF-4C3A-8281-42F1058EC5C4}" type="sib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20ED6B4-C641-41F3-A99D-E30E12FBE2B6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092BABC-AC4B-420C-B47C-319EBA110278}" type="par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120CE9-276E-4238-BF7F-1B7C3C5D7A79}" type="sib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E74F700-3D6F-45EE-88D7-8BE1C41B4A12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936D5318-7CEA-496B-88F3-62A3EB49856E}" type="par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FF9728C-451F-4C85-835F-7859F22FF8F3}" type="sib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E2A85686-2DD6-4C5E-A94E-2826806706FE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74A7167-E495-49D0-B8E8-4905A0CE2C5B}" type="parTrans" cxnId="{8889E6E8-D9CB-4CDA-AF4C-099370C6AB5E}">
      <dgm:prSet/>
      <dgm:spPr/>
      <dgm:t>
        <a:bodyPr/>
        <a:lstStyle/>
        <a:p>
          <a:endParaRPr lang="ru-RU"/>
        </a:p>
      </dgm:t>
    </dgm:pt>
    <dgm:pt modelId="{77471447-A646-4DD7-8633-0C3AD7CF7200}" type="sibTrans" cxnId="{8889E6E8-D9CB-4CDA-AF4C-099370C6AB5E}">
      <dgm:prSet/>
      <dgm:spPr/>
      <dgm:t>
        <a:bodyPr/>
        <a:lstStyle/>
        <a:p>
          <a:endParaRPr lang="ru-RU"/>
        </a:p>
      </dgm:t>
    </dgm:pt>
    <dgm:pt modelId="{D2A4328F-7466-4460-BC6C-D99B0B11EAE0}" type="pres">
      <dgm:prSet presAssocID="{5D9BC9AF-E696-43D8-9E60-3627CB4A9F90}" presName="Name0" presStyleCnt="0">
        <dgm:presLayoutVars>
          <dgm:dir/>
          <dgm:resizeHandles val="exact"/>
        </dgm:presLayoutVars>
      </dgm:prSet>
      <dgm:spPr/>
    </dgm:pt>
    <dgm:pt modelId="{D33221A1-79F6-4B9A-A116-6505E25D210B}" type="pres">
      <dgm:prSet presAssocID="{5D9BC9AF-E696-43D8-9E60-3627CB4A9F90}" presName="arrow" presStyleLbl="bgShp" presStyleIdx="0" presStyleCnt="1" custScaleY="66972"/>
      <dgm:spPr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</dgm:spPr>
    </dgm:pt>
    <dgm:pt modelId="{274DDA60-0D25-4037-898D-3D412116E35E}" type="pres">
      <dgm:prSet presAssocID="{5D9BC9AF-E696-43D8-9E60-3627CB4A9F90}" presName="points" presStyleCnt="0"/>
      <dgm:spPr/>
    </dgm:pt>
    <dgm:pt modelId="{B3448F0B-296F-478E-803C-4405495B3A4D}" type="pres">
      <dgm:prSet presAssocID="{1F0860FF-4FB4-4022-BDED-9962A2A76FF8}" presName="compositeA" presStyleCnt="0"/>
      <dgm:spPr/>
    </dgm:pt>
    <dgm:pt modelId="{FE56CBDF-F2C5-4808-A416-1BC6315153D5}" type="pres">
      <dgm:prSet presAssocID="{1F0860FF-4FB4-4022-BDED-9962A2A76FF8}" presName="textA" presStyleLbl="revTx" presStyleIdx="0" presStyleCnt="7" custLinFactNeighborX="2449">
        <dgm:presLayoutVars>
          <dgm:bulletEnabled val="1"/>
        </dgm:presLayoutVars>
      </dgm:prSet>
      <dgm:spPr/>
    </dgm:pt>
    <dgm:pt modelId="{75AE5A0C-DC8B-45AF-95A9-E7C2CCAB5B90}" type="pres">
      <dgm:prSet presAssocID="{1F0860FF-4FB4-4022-BDED-9962A2A76FF8}" presName="circleA" presStyleLbl="node1" presStyleIdx="0" presStyleCnt="7" custLinFactNeighborX="12296"/>
      <dgm:spPr>
        <a:solidFill>
          <a:srgbClr val="7030A0">
            <a:alpha val="90000"/>
          </a:srgbClr>
        </a:solidFill>
      </dgm:spPr>
    </dgm:pt>
    <dgm:pt modelId="{61C323FF-DEA6-41A7-BFEC-D137AE1BE343}" type="pres">
      <dgm:prSet presAssocID="{1F0860FF-4FB4-4022-BDED-9962A2A76FF8}" presName="spaceA" presStyleCnt="0"/>
      <dgm:spPr/>
    </dgm:pt>
    <dgm:pt modelId="{A4524CA2-32D1-4613-B7C9-17ECB61189FA}" type="pres">
      <dgm:prSet presAssocID="{01FB9C28-67CB-4327-BBF7-79D25BC66BD5}" presName="space" presStyleCnt="0"/>
      <dgm:spPr/>
    </dgm:pt>
    <dgm:pt modelId="{5EC0F21C-6EE8-4D71-AE93-D95B48EEE23F}" type="pres">
      <dgm:prSet presAssocID="{C668E378-17DA-480A-88B4-77CF53BF79A8}" presName="compositeB" presStyleCnt="0"/>
      <dgm:spPr/>
    </dgm:pt>
    <dgm:pt modelId="{DD90B13C-8EAE-462D-8484-162E133A7583}" type="pres">
      <dgm:prSet presAssocID="{C668E378-17DA-480A-88B4-77CF53BF79A8}" presName="textB" presStyleLbl="revTx" presStyleIdx="1" presStyleCnt="7">
        <dgm:presLayoutVars>
          <dgm:bulletEnabled val="1"/>
        </dgm:presLayoutVars>
      </dgm:prSet>
      <dgm:spPr/>
    </dgm:pt>
    <dgm:pt modelId="{262B059D-5AE4-4F28-AE00-70369AA00314}" type="pres">
      <dgm:prSet presAssocID="{C668E378-17DA-480A-88B4-77CF53BF79A8}" presName="circleB" presStyleLbl="node1" presStyleIdx="1" presStyleCnt="7"/>
      <dgm:spPr>
        <a:noFill/>
        <a:ln>
          <a:noFill/>
        </a:ln>
      </dgm:spPr>
    </dgm:pt>
    <dgm:pt modelId="{F9BF097B-38D7-4909-AD1F-2A4DFBEE35B5}" type="pres">
      <dgm:prSet presAssocID="{C668E378-17DA-480A-88B4-77CF53BF79A8}" presName="spaceB" presStyleCnt="0"/>
      <dgm:spPr/>
    </dgm:pt>
    <dgm:pt modelId="{C704625A-C43D-4D1A-88C8-D78A5219D054}" type="pres">
      <dgm:prSet presAssocID="{812D3EA7-45C8-49B4-9275-2E42090C19BF}" presName="space" presStyleCnt="0"/>
      <dgm:spPr/>
    </dgm:pt>
    <dgm:pt modelId="{5AA94A6E-27B0-48C7-B4CA-BF8DD1F39EDE}" type="pres">
      <dgm:prSet presAssocID="{BFD661AD-3996-4CCF-83D1-C4A85893EC6C}" presName="compositeA" presStyleCnt="0"/>
      <dgm:spPr/>
    </dgm:pt>
    <dgm:pt modelId="{E8924F09-77E3-4F93-9CFC-C83189BE752E}" type="pres">
      <dgm:prSet presAssocID="{BFD661AD-3996-4CCF-83D1-C4A85893EC6C}" presName="textA" presStyleLbl="revTx" presStyleIdx="2" presStyleCnt="7">
        <dgm:presLayoutVars>
          <dgm:bulletEnabled val="1"/>
        </dgm:presLayoutVars>
      </dgm:prSet>
      <dgm:spPr/>
    </dgm:pt>
    <dgm:pt modelId="{14861258-B25B-44DB-9BF3-35337BB97F1E}" type="pres">
      <dgm:prSet presAssocID="{BFD661AD-3996-4CCF-83D1-C4A85893EC6C}" presName="circleA" presStyleLbl="node1" presStyleIdx="2" presStyleCnt="7"/>
      <dgm:spPr>
        <a:noFill/>
        <a:ln>
          <a:noFill/>
        </a:ln>
      </dgm:spPr>
    </dgm:pt>
    <dgm:pt modelId="{152450DA-199C-4A56-B52F-58C46C8895FE}" type="pres">
      <dgm:prSet presAssocID="{BFD661AD-3996-4CCF-83D1-C4A85893EC6C}" presName="spaceA" presStyleCnt="0"/>
      <dgm:spPr/>
    </dgm:pt>
    <dgm:pt modelId="{E57875CA-AC09-4EB9-9019-4FA21E8CD022}" type="pres">
      <dgm:prSet presAssocID="{300D15C8-F99B-49F2-AC6F-A7ADE48D7D03}" presName="space" presStyleCnt="0"/>
      <dgm:spPr/>
    </dgm:pt>
    <dgm:pt modelId="{A58794BC-B306-48AE-89CC-622A215F077E}" type="pres">
      <dgm:prSet presAssocID="{E2A85686-2DD6-4C5E-A94E-2826806706FE}" presName="compositeB" presStyleCnt="0"/>
      <dgm:spPr/>
    </dgm:pt>
    <dgm:pt modelId="{87EDBE43-1A8E-46A4-AC79-5C57FCFB0390}" type="pres">
      <dgm:prSet presAssocID="{E2A85686-2DD6-4C5E-A94E-2826806706FE}" presName="textB" presStyleLbl="revTx" presStyleIdx="3" presStyleCnt="7">
        <dgm:presLayoutVars>
          <dgm:bulletEnabled val="1"/>
        </dgm:presLayoutVars>
      </dgm:prSet>
      <dgm:spPr/>
    </dgm:pt>
    <dgm:pt modelId="{68F82039-05DF-4105-9F89-7CD890C618F4}" type="pres">
      <dgm:prSet presAssocID="{E2A85686-2DD6-4C5E-A94E-2826806706FE}" presName="circleB" presStyleLbl="node1" presStyleIdx="3" presStyleCnt="7"/>
      <dgm:spPr>
        <a:noFill/>
        <a:ln>
          <a:noFill/>
        </a:ln>
      </dgm:spPr>
    </dgm:pt>
    <dgm:pt modelId="{A075D48A-AB1F-4AF3-BDC1-FFEA20FAAD78}" type="pres">
      <dgm:prSet presAssocID="{E2A85686-2DD6-4C5E-A94E-2826806706FE}" presName="spaceB" presStyleCnt="0"/>
      <dgm:spPr/>
    </dgm:pt>
    <dgm:pt modelId="{5D7BC807-4222-4415-AEDC-F4357749F70B}" type="pres">
      <dgm:prSet presAssocID="{77471447-A646-4DD7-8633-0C3AD7CF7200}" presName="space" presStyleCnt="0"/>
      <dgm:spPr/>
    </dgm:pt>
    <dgm:pt modelId="{F3014C0A-D571-4BA1-9016-E984C51D7E77}" type="pres">
      <dgm:prSet presAssocID="{0E74F700-3D6F-45EE-88D7-8BE1C41B4A12}" presName="compositeA" presStyleCnt="0"/>
      <dgm:spPr/>
    </dgm:pt>
    <dgm:pt modelId="{93183C24-E580-42E5-AAEB-9858E9DBAAB7}" type="pres">
      <dgm:prSet presAssocID="{0E74F700-3D6F-45EE-88D7-8BE1C41B4A12}" presName="textA" presStyleLbl="revTx" presStyleIdx="4" presStyleCnt="7">
        <dgm:presLayoutVars>
          <dgm:bulletEnabled val="1"/>
        </dgm:presLayoutVars>
      </dgm:prSet>
      <dgm:spPr/>
    </dgm:pt>
    <dgm:pt modelId="{F7182513-2A9C-4734-B895-09536018C630}" type="pres">
      <dgm:prSet presAssocID="{0E74F700-3D6F-45EE-88D7-8BE1C41B4A12}" presName="circleA" presStyleLbl="node1" presStyleIdx="4" presStyleCnt="7"/>
      <dgm:spPr>
        <a:noFill/>
        <a:ln>
          <a:noFill/>
        </a:ln>
      </dgm:spPr>
    </dgm:pt>
    <dgm:pt modelId="{ABD578DB-86EC-4B48-B9A9-8DAEA32C9711}" type="pres">
      <dgm:prSet presAssocID="{0E74F700-3D6F-45EE-88D7-8BE1C41B4A12}" presName="spaceA" presStyleCnt="0"/>
      <dgm:spPr/>
    </dgm:pt>
    <dgm:pt modelId="{845E178C-DDE2-4A56-842E-504643243F09}" type="pres">
      <dgm:prSet presAssocID="{DFF9728C-451F-4C85-835F-7859F22FF8F3}" presName="space" presStyleCnt="0"/>
      <dgm:spPr/>
    </dgm:pt>
    <dgm:pt modelId="{3A461237-3E3B-43B4-BDB8-0A14C043211C}" type="pres">
      <dgm:prSet presAssocID="{D20ED6B4-C641-41F3-A99D-E30E12FBE2B6}" presName="compositeB" presStyleCnt="0"/>
      <dgm:spPr/>
    </dgm:pt>
    <dgm:pt modelId="{070F8EAE-07ED-43F9-AA0F-1E49BB9F3327}" type="pres">
      <dgm:prSet presAssocID="{D20ED6B4-C641-41F3-A99D-E30E12FBE2B6}" presName="textB" presStyleLbl="revTx" presStyleIdx="5" presStyleCnt="7">
        <dgm:presLayoutVars>
          <dgm:bulletEnabled val="1"/>
        </dgm:presLayoutVars>
      </dgm:prSet>
      <dgm:spPr/>
    </dgm:pt>
    <dgm:pt modelId="{EE592F79-D54C-4AD3-BFBE-A9D493D3797A}" type="pres">
      <dgm:prSet presAssocID="{D20ED6B4-C641-41F3-A99D-E30E12FBE2B6}" presName="circleB" presStyleLbl="node1" presStyleIdx="5" presStyleCnt="7"/>
      <dgm:spPr>
        <a:noFill/>
        <a:ln>
          <a:noFill/>
        </a:ln>
      </dgm:spPr>
    </dgm:pt>
    <dgm:pt modelId="{66C8F2AA-8BE2-41A1-8878-0976A69E6F67}" type="pres">
      <dgm:prSet presAssocID="{D20ED6B4-C641-41F3-A99D-E30E12FBE2B6}" presName="spaceB" presStyleCnt="0"/>
      <dgm:spPr/>
    </dgm:pt>
    <dgm:pt modelId="{EBCA0B6F-51C2-4299-AFF6-B9C60D2BCB39}" type="pres">
      <dgm:prSet presAssocID="{BF120CE9-276E-4238-BF7F-1B7C3C5D7A79}" presName="space" presStyleCnt="0"/>
      <dgm:spPr/>
    </dgm:pt>
    <dgm:pt modelId="{F1845B5F-80A8-4511-B6DB-20F79D9837C9}" type="pres">
      <dgm:prSet presAssocID="{2DDB093B-2E9B-473F-9A2C-C9E173FB119B}" presName="compositeA" presStyleCnt="0"/>
      <dgm:spPr/>
    </dgm:pt>
    <dgm:pt modelId="{B917A7A3-B923-4C0A-B478-5A2EE5CD6081}" type="pres">
      <dgm:prSet presAssocID="{2DDB093B-2E9B-473F-9A2C-C9E173FB119B}" presName="textA" presStyleLbl="revTx" presStyleIdx="6" presStyleCnt="7">
        <dgm:presLayoutVars>
          <dgm:bulletEnabled val="1"/>
        </dgm:presLayoutVars>
      </dgm:prSet>
      <dgm:spPr/>
    </dgm:pt>
    <dgm:pt modelId="{1BBD324A-DB21-48BA-BFFD-9F0130395B3C}" type="pres">
      <dgm:prSet presAssocID="{2DDB093B-2E9B-473F-9A2C-C9E173FB119B}" presName="circleA" presStyleLbl="node1" presStyleIdx="6" presStyleCnt="7"/>
      <dgm:spPr/>
    </dgm:pt>
    <dgm:pt modelId="{885E982D-237A-4FEC-8A55-24EE16FE8C11}" type="pres">
      <dgm:prSet presAssocID="{2DDB093B-2E9B-473F-9A2C-C9E173FB119B}" presName="spaceA" presStyleCnt="0"/>
      <dgm:spPr/>
    </dgm:pt>
  </dgm:ptLst>
  <dgm:cxnLst>
    <dgm:cxn modelId="{933E5C0E-02F8-4364-950E-DBBB04D3D1BB}" type="presOf" srcId="{E2A85686-2DD6-4C5E-A94E-2826806706FE}" destId="{87EDBE43-1A8E-46A4-AC79-5C57FCFB0390}" srcOrd="0" destOrd="0" presId="urn:microsoft.com/office/officeart/2005/8/layout/hProcess11"/>
    <dgm:cxn modelId="{2B8C3719-7056-4591-B6E0-08F67CC3A04A}" srcId="{5D9BC9AF-E696-43D8-9E60-3627CB4A9F90}" destId="{BFD661AD-3996-4CCF-83D1-C4A85893EC6C}" srcOrd="2" destOrd="0" parTransId="{FF653D4E-B0B1-45D2-9947-0F1971349724}" sibTransId="{300D15C8-F99B-49F2-AC6F-A7ADE48D7D03}"/>
    <dgm:cxn modelId="{91BF7E2E-8792-4612-B8F6-23ED05F4580C}" type="presOf" srcId="{D20ED6B4-C641-41F3-A99D-E30E12FBE2B6}" destId="{070F8EAE-07ED-43F9-AA0F-1E49BB9F3327}" srcOrd="0" destOrd="0" presId="urn:microsoft.com/office/officeart/2005/8/layout/hProcess11"/>
    <dgm:cxn modelId="{6077E05C-8292-44E4-8591-0A73B4F4EBAB}" srcId="{5D9BC9AF-E696-43D8-9E60-3627CB4A9F90}" destId="{2DDB093B-2E9B-473F-9A2C-C9E173FB119B}" srcOrd="6" destOrd="0" parTransId="{B58C9FD5-D55C-4E8C-B06A-FDE9E7345377}" sibTransId="{0C83EB55-3DCF-4C3A-8281-42F1058EC5C4}"/>
    <dgm:cxn modelId="{350D7C5E-F771-4676-A038-E2121E8004EC}" srcId="{5D9BC9AF-E696-43D8-9E60-3627CB4A9F90}" destId="{1F0860FF-4FB4-4022-BDED-9962A2A76FF8}" srcOrd="0" destOrd="0" parTransId="{91163880-C1A4-4D32-8D5B-85A99B39D091}" sibTransId="{01FB9C28-67CB-4327-BBF7-79D25BC66BD5}"/>
    <dgm:cxn modelId="{EB3B184F-005A-4D3E-A3B3-B5FCC50E16AB}" type="presOf" srcId="{1F0860FF-4FB4-4022-BDED-9962A2A76FF8}" destId="{FE56CBDF-F2C5-4808-A416-1BC6315153D5}" srcOrd="0" destOrd="0" presId="urn:microsoft.com/office/officeart/2005/8/layout/hProcess11"/>
    <dgm:cxn modelId="{70403673-8A55-4BE6-9F71-558F0E47458A}" srcId="{5D9BC9AF-E696-43D8-9E60-3627CB4A9F90}" destId="{D20ED6B4-C641-41F3-A99D-E30E12FBE2B6}" srcOrd="5" destOrd="0" parTransId="{B092BABC-AC4B-420C-B47C-319EBA110278}" sibTransId="{BF120CE9-276E-4238-BF7F-1B7C3C5D7A79}"/>
    <dgm:cxn modelId="{C2FB417E-7845-4A34-B6BD-A5B8CE3ABAA8}" type="presOf" srcId="{BFD661AD-3996-4CCF-83D1-C4A85893EC6C}" destId="{E8924F09-77E3-4F93-9CFC-C83189BE752E}" srcOrd="0" destOrd="0" presId="urn:microsoft.com/office/officeart/2005/8/layout/hProcess11"/>
    <dgm:cxn modelId="{C2AC437E-D925-43ED-99DA-6964F8229F6E}" type="presOf" srcId="{C668E378-17DA-480A-88B4-77CF53BF79A8}" destId="{DD90B13C-8EAE-462D-8484-162E133A7583}" srcOrd="0" destOrd="0" presId="urn:microsoft.com/office/officeart/2005/8/layout/hProcess11"/>
    <dgm:cxn modelId="{2DB0AD90-AFD8-4FF3-9339-83DA9B1ED699}" type="presOf" srcId="{2DDB093B-2E9B-473F-9A2C-C9E173FB119B}" destId="{B917A7A3-B923-4C0A-B478-5A2EE5CD6081}" srcOrd="0" destOrd="0" presId="urn:microsoft.com/office/officeart/2005/8/layout/hProcess11"/>
    <dgm:cxn modelId="{F24825BF-2AE5-47BC-9A2E-22296634C552}" type="presOf" srcId="{5D9BC9AF-E696-43D8-9E60-3627CB4A9F90}" destId="{D2A4328F-7466-4460-BC6C-D99B0B11EAE0}" srcOrd="0" destOrd="0" presId="urn:microsoft.com/office/officeart/2005/8/layout/hProcess11"/>
    <dgm:cxn modelId="{D9FDE2DE-BE99-4679-85BD-22553BD4F516}" srcId="{5D9BC9AF-E696-43D8-9E60-3627CB4A9F90}" destId="{0E74F700-3D6F-45EE-88D7-8BE1C41B4A12}" srcOrd="4" destOrd="0" parTransId="{936D5318-7CEA-496B-88F3-62A3EB49856E}" sibTransId="{DFF9728C-451F-4C85-835F-7859F22FF8F3}"/>
    <dgm:cxn modelId="{8889E6E8-D9CB-4CDA-AF4C-099370C6AB5E}" srcId="{5D9BC9AF-E696-43D8-9E60-3627CB4A9F90}" destId="{E2A85686-2DD6-4C5E-A94E-2826806706FE}" srcOrd="3" destOrd="0" parTransId="{074A7167-E495-49D0-B8E8-4905A0CE2C5B}" sibTransId="{77471447-A646-4DD7-8633-0C3AD7CF7200}"/>
    <dgm:cxn modelId="{F82101F4-A47C-40E5-AB57-E837FD532585}" srcId="{5D9BC9AF-E696-43D8-9E60-3627CB4A9F90}" destId="{C668E378-17DA-480A-88B4-77CF53BF79A8}" srcOrd="1" destOrd="0" parTransId="{51D37406-DB1F-4B97-94BD-876F75966382}" sibTransId="{812D3EA7-45C8-49B4-9275-2E42090C19BF}"/>
    <dgm:cxn modelId="{ED550DFF-87BC-429C-9562-A93DEC4E9A8A}" type="presOf" srcId="{0E74F700-3D6F-45EE-88D7-8BE1C41B4A12}" destId="{93183C24-E580-42E5-AAEB-9858E9DBAAB7}" srcOrd="0" destOrd="0" presId="urn:microsoft.com/office/officeart/2005/8/layout/hProcess11"/>
    <dgm:cxn modelId="{CA0D3870-85B1-4E6A-92B5-DA017D6227FC}" type="presParOf" srcId="{D2A4328F-7466-4460-BC6C-D99B0B11EAE0}" destId="{D33221A1-79F6-4B9A-A116-6505E25D210B}" srcOrd="0" destOrd="0" presId="urn:microsoft.com/office/officeart/2005/8/layout/hProcess11"/>
    <dgm:cxn modelId="{E3BBC772-E296-48AD-8956-D876F71D8DA6}" type="presParOf" srcId="{D2A4328F-7466-4460-BC6C-D99B0B11EAE0}" destId="{274DDA60-0D25-4037-898D-3D412116E35E}" srcOrd="1" destOrd="0" presId="urn:microsoft.com/office/officeart/2005/8/layout/hProcess11"/>
    <dgm:cxn modelId="{30F639EC-6E8E-4DC8-8240-1F7FEBCEBE22}" type="presParOf" srcId="{274DDA60-0D25-4037-898D-3D412116E35E}" destId="{B3448F0B-296F-478E-803C-4405495B3A4D}" srcOrd="0" destOrd="0" presId="urn:microsoft.com/office/officeart/2005/8/layout/hProcess11"/>
    <dgm:cxn modelId="{E4541187-45D3-4B2D-BE4E-46E52D4D23C3}" type="presParOf" srcId="{B3448F0B-296F-478E-803C-4405495B3A4D}" destId="{FE56CBDF-F2C5-4808-A416-1BC6315153D5}" srcOrd="0" destOrd="0" presId="urn:microsoft.com/office/officeart/2005/8/layout/hProcess11"/>
    <dgm:cxn modelId="{FF95B1A0-F902-4177-B775-8D30894C1308}" type="presParOf" srcId="{B3448F0B-296F-478E-803C-4405495B3A4D}" destId="{75AE5A0C-DC8B-45AF-95A9-E7C2CCAB5B90}" srcOrd="1" destOrd="0" presId="urn:microsoft.com/office/officeart/2005/8/layout/hProcess11"/>
    <dgm:cxn modelId="{E3A5CCE2-819A-48A9-971C-030722618142}" type="presParOf" srcId="{B3448F0B-296F-478E-803C-4405495B3A4D}" destId="{61C323FF-DEA6-41A7-BFEC-D137AE1BE343}" srcOrd="2" destOrd="0" presId="urn:microsoft.com/office/officeart/2005/8/layout/hProcess11"/>
    <dgm:cxn modelId="{E46D10F3-FF13-4333-B728-4E7FE60D01C5}" type="presParOf" srcId="{274DDA60-0D25-4037-898D-3D412116E35E}" destId="{A4524CA2-32D1-4613-B7C9-17ECB61189FA}" srcOrd="1" destOrd="0" presId="urn:microsoft.com/office/officeart/2005/8/layout/hProcess11"/>
    <dgm:cxn modelId="{D20F0FF7-F153-4BD5-8E8E-5DE2DE209CED}" type="presParOf" srcId="{274DDA60-0D25-4037-898D-3D412116E35E}" destId="{5EC0F21C-6EE8-4D71-AE93-D95B48EEE23F}" srcOrd="2" destOrd="0" presId="urn:microsoft.com/office/officeart/2005/8/layout/hProcess11"/>
    <dgm:cxn modelId="{CA3CD318-152E-42CE-BE65-37840AEF3AB5}" type="presParOf" srcId="{5EC0F21C-6EE8-4D71-AE93-D95B48EEE23F}" destId="{DD90B13C-8EAE-462D-8484-162E133A7583}" srcOrd="0" destOrd="0" presId="urn:microsoft.com/office/officeart/2005/8/layout/hProcess11"/>
    <dgm:cxn modelId="{F75DFA75-B512-4BB4-80B5-B876F8D32350}" type="presParOf" srcId="{5EC0F21C-6EE8-4D71-AE93-D95B48EEE23F}" destId="{262B059D-5AE4-4F28-AE00-70369AA00314}" srcOrd="1" destOrd="0" presId="urn:microsoft.com/office/officeart/2005/8/layout/hProcess11"/>
    <dgm:cxn modelId="{0F06E630-3E2F-4245-8FC5-94F8D4E87B62}" type="presParOf" srcId="{5EC0F21C-6EE8-4D71-AE93-D95B48EEE23F}" destId="{F9BF097B-38D7-4909-AD1F-2A4DFBEE35B5}" srcOrd="2" destOrd="0" presId="urn:microsoft.com/office/officeart/2005/8/layout/hProcess11"/>
    <dgm:cxn modelId="{C3A20930-8F50-43E2-9A8F-6ECABE2AE179}" type="presParOf" srcId="{274DDA60-0D25-4037-898D-3D412116E35E}" destId="{C704625A-C43D-4D1A-88C8-D78A5219D054}" srcOrd="3" destOrd="0" presId="urn:microsoft.com/office/officeart/2005/8/layout/hProcess11"/>
    <dgm:cxn modelId="{2B1ED4FF-A901-483C-A882-DC487ACFB919}" type="presParOf" srcId="{274DDA60-0D25-4037-898D-3D412116E35E}" destId="{5AA94A6E-27B0-48C7-B4CA-BF8DD1F39EDE}" srcOrd="4" destOrd="0" presId="urn:microsoft.com/office/officeart/2005/8/layout/hProcess11"/>
    <dgm:cxn modelId="{5358BEBF-40B0-4828-B99A-76B3D0E2DFA2}" type="presParOf" srcId="{5AA94A6E-27B0-48C7-B4CA-BF8DD1F39EDE}" destId="{E8924F09-77E3-4F93-9CFC-C83189BE752E}" srcOrd="0" destOrd="0" presId="urn:microsoft.com/office/officeart/2005/8/layout/hProcess11"/>
    <dgm:cxn modelId="{03B70E25-93BE-46BA-AD38-98039F54E132}" type="presParOf" srcId="{5AA94A6E-27B0-48C7-B4CA-BF8DD1F39EDE}" destId="{14861258-B25B-44DB-9BF3-35337BB97F1E}" srcOrd="1" destOrd="0" presId="urn:microsoft.com/office/officeart/2005/8/layout/hProcess11"/>
    <dgm:cxn modelId="{7F8663AB-6039-4195-A9E9-84D2D6AD9850}" type="presParOf" srcId="{5AA94A6E-27B0-48C7-B4CA-BF8DD1F39EDE}" destId="{152450DA-199C-4A56-B52F-58C46C8895FE}" srcOrd="2" destOrd="0" presId="urn:microsoft.com/office/officeart/2005/8/layout/hProcess11"/>
    <dgm:cxn modelId="{233AF4C6-979B-4BB3-9C05-1D2CDE201F9E}" type="presParOf" srcId="{274DDA60-0D25-4037-898D-3D412116E35E}" destId="{E57875CA-AC09-4EB9-9019-4FA21E8CD022}" srcOrd="5" destOrd="0" presId="urn:microsoft.com/office/officeart/2005/8/layout/hProcess11"/>
    <dgm:cxn modelId="{6211E767-04A7-4751-903B-3A2803E19EC0}" type="presParOf" srcId="{274DDA60-0D25-4037-898D-3D412116E35E}" destId="{A58794BC-B306-48AE-89CC-622A215F077E}" srcOrd="6" destOrd="0" presId="urn:microsoft.com/office/officeart/2005/8/layout/hProcess11"/>
    <dgm:cxn modelId="{D1903AF3-46CF-4675-B671-52C5BA5C47A7}" type="presParOf" srcId="{A58794BC-B306-48AE-89CC-622A215F077E}" destId="{87EDBE43-1A8E-46A4-AC79-5C57FCFB0390}" srcOrd="0" destOrd="0" presId="urn:microsoft.com/office/officeart/2005/8/layout/hProcess11"/>
    <dgm:cxn modelId="{56D638C7-026A-45F7-9EC5-DC0E3BE5D0A6}" type="presParOf" srcId="{A58794BC-B306-48AE-89CC-622A215F077E}" destId="{68F82039-05DF-4105-9F89-7CD890C618F4}" srcOrd="1" destOrd="0" presId="urn:microsoft.com/office/officeart/2005/8/layout/hProcess11"/>
    <dgm:cxn modelId="{D617AF99-54D3-4253-B62A-722CB5718B17}" type="presParOf" srcId="{A58794BC-B306-48AE-89CC-622A215F077E}" destId="{A075D48A-AB1F-4AF3-BDC1-FFEA20FAAD78}" srcOrd="2" destOrd="0" presId="urn:microsoft.com/office/officeart/2005/8/layout/hProcess11"/>
    <dgm:cxn modelId="{8BBD4B28-BB34-4B24-BF7C-9A0F7E2E9736}" type="presParOf" srcId="{274DDA60-0D25-4037-898D-3D412116E35E}" destId="{5D7BC807-4222-4415-AEDC-F4357749F70B}" srcOrd="7" destOrd="0" presId="urn:microsoft.com/office/officeart/2005/8/layout/hProcess11"/>
    <dgm:cxn modelId="{C70B763A-92DA-403B-ACBE-16D0440103DC}" type="presParOf" srcId="{274DDA60-0D25-4037-898D-3D412116E35E}" destId="{F3014C0A-D571-4BA1-9016-E984C51D7E77}" srcOrd="8" destOrd="0" presId="urn:microsoft.com/office/officeart/2005/8/layout/hProcess11"/>
    <dgm:cxn modelId="{FBB72C77-E1FE-44ED-8DCE-39BEED2E63F2}" type="presParOf" srcId="{F3014C0A-D571-4BA1-9016-E984C51D7E77}" destId="{93183C24-E580-42E5-AAEB-9858E9DBAAB7}" srcOrd="0" destOrd="0" presId="urn:microsoft.com/office/officeart/2005/8/layout/hProcess11"/>
    <dgm:cxn modelId="{263792AB-78BC-4EF2-A73B-AA23536D6BC6}" type="presParOf" srcId="{F3014C0A-D571-4BA1-9016-E984C51D7E77}" destId="{F7182513-2A9C-4734-B895-09536018C630}" srcOrd="1" destOrd="0" presId="urn:microsoft.com/office/officeart/2005/8/layout/hProcess11"/>
    <dgm:cxn modelId="{10865AAF-6643-4CD6-B3A7-47291F26D368}" type="presParOf" srcId="{F3014C0A-D571-4BA1-9016-E984C51D7E77}" destId="{ABD578DB-86EC-4B48-B9A9-8DAEA32C9711}" srcOrd="2" destOrd="0" presId="urn:microsoft.com/office/officeart/2005/8/layout/hProcess11"/>
    <dgm:cxn modelId="{885B9ED4-4549-4F62-8FC8-97FF37CFC6A6}" type="presParOf" srcId="{274DDA60-0D25-4037-898D-3D412116E35E}" destId="{845E178C-DDE2-4A56-842E-504643243F09}" srcOrd="9" destOrd="0" presId="urn:microsoft.com/office/officeart/2005/8/layout/hProcess11"/>
    <dgm:cxn modelId="{C99A3645-9EE5-46A8-898E-9E7C83F42481}" type="presParOf" srcId="{274DDA60-0D25-4037-898D-3D412116E35E}" destId="{3A461237-3E3B-43B4-BDB8-0A14C043211C}" srcOrd="10" destOrd="0" presId="urn:microsoft.com/office/officeart/2005/8/layout/hProcess11"/>
    <dgm:cxn modelId="{5B44B717-1226-495D-97B5-49AF8FCBFA71}" type="presParOf" srcId="{3A461237-3E3B-43B4-BDB8-0A14C043211C}" destId="{070F8EAE-07ED-43F9-AA0F-1E49BB9F3327}" srcOrd="0" destOrd="0" presId="urn:microsoft.com/office/officeart/2005/8/layout/hProcess11"/>
    <dgm:cxn modelId="{B539B33A-B6BA-442C-BB29-1F33CA04FC84}" type="presParOf" srcId="{3A461237-3E3B-43B4-BDB8-0A14C043211C}" destId="{EE592F79-D54C-4AD3-BFBE-A9D493D3797A}" srcOrd="1" destOrd="0" presId="urn:microsoft.com/office/officeart/2005/8/layout/hProcess11"/>
    <dgm:cxn modelId="{A4216133-698A-4B07-B035-8D857FE6255E}" type="presParOf" srcId="{3A461237-3E3B-43B4-BDB8-0A14C043211C}" destId="{66C8F2AA-8BE2-41A1-8878-0976A69E6F67}" srcOrd="2" destOrd="0" presId="urn:microsoft.com/office/officeart/2005/8/layout/hProcess11"/>
    <dgm:cxn modelId="{462B5DD3-EC6D-4417-B0C1-8228279A7C38}" type="presParOf" srcId="{274DDA60-0D25-4037-898D-3D412116E35E}" destId="{EBCA0B6F-51C2-4299-AFF6-B9C60D2BCB39}" srcOrd="11" destOrd="0" presId="urn:microsoft.com/office/officeart/2005/8/layout/hProcess11"/>
    <dgm:cxn modelId="{D8CC9FCF-F25B-450D-A726-62D1DB3D30F7}" type="presParOf" srcId="{274DDA60-0D25-4037-898D-3D412116E35E}" destId="{F1845B5F-80A8-4511-B6DB-20F79D9837C9}" srcOrd="12" destOrd="0" presId="urn:microsoft.com/office/officeart/2005/8/layout/hProcess11"/>
    <dgm:cxn modelId="{9DA7B686-7EBA-435D-B489-E361B639D51F}" type="presParOf" srcId="{F1845B5F-80A8-4511-B6DB-20F79D9837C9}" destId="{B917A7A3-B923-4C0A-B478-5A2EE5CD6081}" srcOrd="0" destOrd="0" presId="urn:microsoft.com/office/officeart/2005/8/layout/hProcess11"/>
    <dgm:cxn modelId="{7DF77258-4AA9-467C-A83D-F48966148E3B}" type="presParOf" srcId="{F1845B5F-80A8-4511-B6DB-20F79D9837C9}" destId="{1BBD324A-DB21-48BA-BFFD-9F0130395B3C}" srcOrd="1" destOrd="0" presId="urn:microsoft.com/office/officeart/2005/8/layout/hProcess11"/>
    <dgm:cxn modelId="{AD901331-B901-4014-AF8A-9F5157DA2575}" type="presParOf" srcId="{F1845B5F-80A8-4511-B6DB-20F79D9837C9}" destId="{885E982D-237A-4FEC-8A55-24EE16FE8C1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221A1-79F6-4B9A-A116-6505E25D210B}">
      <dsp:nvSpPr>
        <dsp:cNvPr id="0" name=""/>
        <dsp:cNvSpPr/>
      </dsp:nvSpPr>
      <dsp:spPr>
        <a:xfrm>
          <a:off x="0" y="776404"/>
          <a:ext cx="13704037" cy="568190"/>
        </a:xfrm>
        <a:prstGeom prst="notchedRightArrow">
          <a:avLst/>
        </a:prstGeom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CBDF-F2C5-4808-A416-1BC6315153D5}">
      <dsp:nvSpPr>
        <dsp:cNvPr id="0" name=""/>
        <dsp:cNvSpPr/>
      </dsp:nvSpPr>
      <dsp:spPr>
        <a:xfrm>
          <a:off x="489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</a:t>
          </a: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18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489" y="0"/>
        <a:ext cx="1476964" cy="848399"/>
      </dsp:txXfrm>
    </dsp:sp>
    <dsp:sp modelId="{75AE5A0C-DC8B-45AF-95A9-E7C2CCAB5B90}">
      <dsp:nvSpPr>
        <dsp:cNvPr id="0" name=""/>
        <dsp:cNvSpPr/>
      </dsp:nvSpPr>
      <dsp:spPr>
        <a:xfrm>
          <a:off x="713127" y="954449"/>
          <a:ext cx="212099" cy="212099"/>
        </a:xfrm>
        <a:prstGeom prst="ellipse">
          <a:avLst/>
        </a:prstGeom>
        <a:solidFill>
          <a:srgbClr val="7030A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0B13C-8EAE-462D-8484-162E133A7583}">
      <dsp:nvSpPr>
        <dsp:cNvPr id="0" name=""/>
        <dsp:cNvSpPr/>
      </dsp:nvSpPr>
      <dsp:spPr>
        <a:xfrm>
          <a:off x="1551302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2020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551302" y="1272599"/>
        <a:ext cx="1476964" cy="848399"/>
      </dsp:txXfrm>
    </dsp:sp>
    <dsp:sp modelId="{262B059D-5AE4-4F28-AE00-70369AA00314}">
      <dsp:nvSpPr>
        <dsp:cNvPr id="0" name=""/>
        <dsp:cNvSpPr/>
      </dsp:nvSpPr>
      <dsp:spPr>
        <a:xfrm>
          <a:off x="2183734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5714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24F09-77E3-4F93-9CFC-C83189BE752E}">
      <dsp:nvSpPr>
        <dsp:cNvPr id="0" name=""/>
        <dsp:cNvSpPr/>
      </dsp:nvSpPr>
      <dsp:spPr>
        <a:xfrm>
          <a:off x="3102115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2021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3102115" y="0"/>
        <a:ext cx="1476964" cy="848399"/>
      </dsp:txXfrm>
    </dsp:sp>
    <dsp:sp modelId="{14861258-B25B-44DB-9BF3-35337BB97F1E}">
      <dsp:nvSpPr>
        <dsp:cNvPr id="0" name=""/>
        <dsp:cNvSpPr/>
      </dsp:nvSpPr>
      <dsp:spPr>
        <a:xfrm>
          <a:off x="3734547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11429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BE43-1A8E-46A4-AC79-5C57FCFB0390}">
      <dsp:nvSpPr>
        <dsp:cNvPr id="0" name=""/>
        <dsp:cNvSpPr/>
      </dsp:nvSpPr>
      <dsp:spPr>
        <a:xfrm>
          <a:off x="4652927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4652927" y="1272599"/>
        <a:ext cx="1476964" cy="848399"/>
      </dsp:txXfrm>
    </dsp:sp>
    <dsp:sp modelId="{68F82039-05DF-4105-9F89-7CD890C618F4}">
      <dsp:nvSpPr>
        <dsp:cNvPr id="0" name=""/>
        <dsp:cNvSpPr/>
      </dsp:nvSpPr>
      <dsp:spPr>
        <a:xfrm>
          <a:off x="5285360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E5754-3BDA-40B9-B76C-818CEA8DEA04}">
      <dsp:nvSpPr>
        <dsp:cNvPr id="0" name=""/>
        <dsp:cNvSpPr/>
      </dsp:nvSpPr>
      <dsp:spPr>
        <a:xfrm>
          <a:off x="6171779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</a:t>
          </a:r>
          <a:r>
            <a:rPr lang="ru-RU" sz="1400" kern="1200" dirty="0">
              <a:latin typeface="Unbounded Medium" pitchFamily="2" charset="-52"/>
              <a:cs typeface="Wix Madefor Display SemiBold" panose="020B0503020203020203" pitchFamily="34" charset="-52"/>
            </a:rPr>
            <a:t>4</a:t>
          </a:r>
        </a:p>
      </dsp:txBody>
      <dsp:txXfrm>
        <a:off x="6171779" y="1272599"/>
        <a:ext cx="1476964" cy="848399"/>
      </dsp:txXfrm>
    </dsp:sp>
    <dsp:sp modelId="{12F6BDAE-7495-4BC3-84D3-22AA063CB94E}">
      <dsp:nvSpPr>
        <dsp:cNvPr id="0" name=""/>
        <dsp:cNvSpPr/>
      </dsp:nvSpPr>
      <dsp:spPr>
        <a:xfrm>
          <a:off x="6836173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2285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185DB-E5A4-4F39-809D-DD0A9A1A6749}">
      <dsp:nvSpPr>
        <dsp:cNvPr id="0" name=""/>
        <dsp:cNvSpPr/>
      </dsp:nvSpPr>
      <dsp:spPr>
        <a:xfrm>
          <a:off x="7754553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7754553" y="1272599"/>
        <a:ext cx="1476964" cy="848399"/>
      </dsp:txXfrm>
    </dsp:sp>
    <dsp:sp modelId="{232A4D32-E568-4D31-A413-A607EFA2754D}">
      <dsp:nvSpPr>
        <dsp:cNvPr id="0" name=""/>
        <dsp:cNvSpPr/>
      </dsp:nvSpPr>
      <dsp:spPr>
        <a:xfrm>
          <a:off x="8386985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69335-1F8C-42AA-9205-ECFC5EDB86A2}">
      <dsp:nvSpPr>
        <dsp:cNvPr id="0" name=""/>
        <dsp:cNvSpPr/>
      </dsp:nvSpPr>
      <dsp:spPr>
        <a:xfrm>
          <a:off x="9305366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9305366" y="0"/>
        <a:ext cx="1476964" cy="848399"/>
      </dsp:txXfrm>
    </dsp:sp>
    <dsp:sp modelId="{06CEDFC9-B1F3-4A20-B5CB-511DC701012D}">
      <dsp:nvSpPr>
        <dsp:cNvPr id="0" name=""/>
        <dsp:cNvSpPr/>
      </dsp:nvSpPr>
      <dsp:spPr>
        <a:xfrm>
          <a:off x="9937798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7C786-82A5-4A8A-9E36-60E52675459D}">
      <dsp:nvSpPr>
        <dsp:cNvPr id="0" name=""/>
        <dsp:cNvSpPr/>
      </dsp:nvSpPr>
      <dsp:spPr>
        <a:xfrm>
          <a:off x="11207785" y="11351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2030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1207785" y="11351"/>
        <a:ext cx="1476964" cy="848399"/>
      </dsp:txXfrm>
    </dsp:sp>
    <dsp:sp modelId="{1B1D0CA2-7024-475A-8311-0610CD8E21B6}">
      <dsp:nvSpPr>
        <dsp:cNvPr id="0" name=""/>
        <dsp:cNvSpPr/>
      </dsp:nvSpPr>
      <dsp:spPr>
        <a:xfrm>
          <a:off x="11841603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221A1-79F6-4B9A-A116-6505E25D210B}">
      <dsp:nvSpPr>
        <dsp:cNvPr id="0" name=""/>
        <dsp:cNvSpPr/>
      </dsp:nvSpPr>
      <dsp:spPr>
        <a:xfrm>
          <a:off x="0" y="776404"/>
          <a:ext cx="13704037" cy="568190"/>
        </a:xfrm>
        <a:prstGeom prst="notchedRightArrow">
          <a:avLst/>
        </a:prstGeom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CBDF-F2C5-4808-A416-1BC6315153D5}">
      <dsp:nvSpPr>
        <dsp:cNvPr id="0" name=""/>
        <dsp:cNvSpPr/>
      </dsp:nvSpPr>
      <dsp:spPr>
        <a:xfrm>
          <a:off x="42423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>
              <a:latin typeface="Unbounded Medium" pitchFamily="2" charset="-52"/>
              <a:cs typeface="Wix Madefor Display SemiBold" panose="020B0503020203020203" pitchFamily="34" charset="-52"/>
            </a:rPr>
            <a:t>2024</a:t>
          </a:r>
        </a:p>
      </dsp:txBody>
      <dsp:txXfrm>
        <a:off x="42423" y="0"/>
        <a:ext cx="1689250" cy="848399"/>
      </dsp:txXfrm>
    </dsp:sp>
    <dsp:sp modelId="{75AE5A0C-DC8B-45AF-95A9-E7C2CCAB5B90}">
      <dsp:nvSpPr>
        <dsp:cNvPr id="0" name=""/>
        <dsp:cNvSpPr/>
      </dsp:nvSpPr>
      <dsp:spPr>
        <a:xfrm>
          <a:off x="765708" y="954449"/>
          <a:ext cx="212099" cy="212099"/>
        </a:xfrm>
        <a:prstGeom prst="ellipse">
          <a:avLst/>
        </a:prstGeom>
        <a:solidFill>
          <a:srgbClr val="7030A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0B13C-8EAE-462D-8484-162E133A7583}">
      <dsp:nvSpPr>
        <dsp:cNvPr id="0" name=""/>
        <dsp:cNvSpPr/>
      </dsp:nvSpPr>
      <dsp:spPr>
        <a:xfrm>
          <a:off x="1774766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774766" y="1272599"/>
        <a:ext cx="1689250" cy="848399"/>
      </dsp:txXfrm>
    </dsp:sp>
    <dsp:sp modelId="{262B059D-5AE4-4F28-AE00-70369AA00314}">
      <dsp:nvSpPr>
        <dsp:cNvPr id="0" name=""/>
        <dsp:cNvSpPr/>
      </dsp:nvSpPr>
      <dsp:spPr>
        <a:xfrm>
          <a:off x="2513341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24F09-77E3-4F93-9CFC-C83189BE752E}">
      <dsp:nvSpPr>
        <dsp:cNvPr id="0" name=""/>
        <dsp:cNvSpPr/>
      </dsp:nvSpPr>
      <dsp:spPr>
        <a:xfrm>
          <a:off x="3548479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3548479" y="0"/>
        <a:ext cx="1689250" cy="848399"/>
      </dsp:txXfrm>
    </dsp:sp>
    <dsp:sp modelId="{14861258-B25B-44DB-9BF3-35337BB97F1E}">
      <dsp:nvSpPr>
        <dsp:cNvPr id="0" name=""/>
        <dsp:cNvSpPr/>
      </dsp:nvSpPr>
      <dsp:spPr>
        <a:xfrm>
          <a:off x="4287054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BE43-1A8E-46A4-AC79-5C57FCFB0390}">
      <dsp:nvSpPr>
        <dsp:cNvPr id="0" name=""/>
        <dsp:cNvSpPr/>
      </dsp:nvSpPr>
      <dsp:spPr>
        <a:xfrm>
          <a:off x="5322191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5322191" y="1272599"/>
        <a:ext cx="1689250" cy="848399"/>
      </dsp:txXfrm>
    </dsp:sp>
    <dsp:sp modelId="{68F82039-05DF-4105-9F89-7CD890C618F4}">
      <dsp:nvSpPr>
        <dsp:cNvPr id="0" name=""/>
        <dsp:cNvSpPr/>
      </dsp:nvSpPr>
      <dsp:spPr>
        <a:xfrm>
          <a:off x="6060766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83C24-E580-42E5-AAEB-9858E9DBAAB7}">
      <dsp:nvSpPr>
        <dsp:cNvPr id="0" name=""/>
        <dsp:cNvSpPr/>
      </dsp:nvSpPr>
      <dsp:spPr>
        <a:xfrm>
          <a:off x="7095904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7095904" y="0"/>
        <a:ext cx="1689250" cy="848399"/>
      </dsp:txXfrm>
    </dsp:sp>
    <dsp:sp modelId="{F7182513-2A9C-4734-B895-09536018C630}">
      <dsp:nvSpPr>
        <dsp:cNvPr id="0" name=""/>
        <dsp:cNvSpPr/>
      </dsp:nvSpPr>
      <dsp:spPr>
        <a:xfrm>
          <a:off x="7834479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F8EAE-07ED-43F9-AA0F-1E49BB9F3327}">
      <dsp:nvSpPr>
        <dsp:cNvPr id="0" name=""/>
        <dsp:cNvSpPr/>
      </dsp:nvSpPr>
      <dsp:spPr>
        <a:xfrm>
          <a:off x="8869616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8869616" y="1272599"/>
        <a:ext cx="1689250" cy="848399"/>
      </dsp:txXfrm>
    </dsp:sp>
    <dsp:sp modelId="{EE592F79-D54C-4AD3-BFBE-A9D493D3797A}">
      <dsp:nvSpPr>
        <dsp:cNvPr id="0" name=""/>
        <dsp:cNvSpPr/>
      </dsp:nvSpPr>
      <dsp:spPr>
        <a:xfrm>
          <a:off x="9608191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7A7A3-B923-4C0A-B478-5A2EE5CD6081}">
      <dsp:nvSpPr>
        <dsp:cNvPr id="0" name=""/>
        <dsp:cNvSpPr/>
      </dsp:nvSpPr>
      <dsp:spPr>
        <a:xfrm>
          <a:off x="10643329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Unbounded Medium" pitchFamily="2" charset="-52"/>
              <a:ea typeface="+mn-ea"/>
              <a:cs typeface="Wix Madefor Display SemiBold" panose="020B0503020203020203" pitchFamily="34" charset="-52"/>
            </a:rPr>
            <a:t>2030</a:t>
          </a:r>
          <a:endParaRPr lang="ru-RU" sz="16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Unbounded Medium" pitchFamily="2" charset="-52"/>
            <a:ea typeface="+mn-ea"/>
            <a:cs typeface="Wix Madefor Display SemiBold" panose="020B0503020203020203" pitchFamily="34" charset="-52"/>
          </a:endParaRPr>
        </a:p>
      </dsp:txBody>
      <dsp:txXfrm>
        <a:off x="10643329" y="0"/>
        <a:ext cx="1689250" cy="848399"/>
      </dsp:txXfrm>
    </dsp:sp>
    <dsp:sp modelId="{1BBD324A-DB21-48BA-BFFD-9F0130395B3C}">
      <dsp:nvSpPr>
        <dsp:cNvPr id="0" name=""/>
        <dsp:cNvSpPr/>
      </dsp:nvSpPr>
      <dsp:spPr>
        <a:xfrm>
          <a:off x="11381904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AA38FD0-1C7E-4B14-B500-0FA967FD3E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2047A3-7BFC-4694-9DD2-5DBB4F031D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9A1FF-5275-47A2-8965-91FBA58C80C1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416034-E22B-4114-B215-41658F5880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/>
              <a:t>111111111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534A03-F7B1-4AB0-852E-400D3B459E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00478-2519-4E5A-BFBB-3F0217F11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565047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33150" y="744475"/>
            <a:ext cx="4532000" cy="37224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50" y="4715125"/>
            <a:ext cx="5438125" cy="446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0"/>
            <a:ext cx="42418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25" tIns="29600" rIns="59225" bIns="29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92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88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81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183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55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74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40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250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67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41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095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94A8B559-1BA2-4571-96D5-5743683B7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kumimoji="0" lang="ru-RU" sz="1600" kern="1200" spc="0" normalizeH="0" baseline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algn="r">
              <a:buClrTx/>
              <a:buFontTx/>
              <a:buNone/>
            </a:pPr>
            <a:fld id="{39FD2042-F21C-415A-9EA3-4A549B5658B7}" type="slidenum">
              <a:rPr lang="ru-RU" smtClean="0"/>
              <a:pPr algn="r">
                <a:buClrTx/>
                <a:buFontTx/>
                <a:buNone/>
              </a:pPr>
              <a:t>‹#›</a:t>
            </a:fld>
            <a:endParaRPr lang="ru-RU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6" userDrawn="1">
          <p15:clr>
            <a:srgbClr val="FBAE40"/>
          </p15:clr>
        </p15:guide>
        <p15:guide id="2" pos="4761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18CF5-FB04-464E-A6B6-FC26E41968BA}"/>
              </a:ext>
            </a:extLst>
          </p:cNvPr>
          <p:cNvSpPr txBox="1"/>
          <p:nvPr userDrawn="1"/>
        </p:nvSpPr>
        <p:spPr>
          <a:xfrm>
            <a:off x="14442918" y="10226562"/>
            <a:ext cx="42402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r">
              <a:buClrTx/>
              <a:buFontTx/>
              <a:buNone/>
              <a:defRPr kumimoji="0" sz="1600" kern="1200" spc="0" normalizeH="0" baseline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lvl="0"/>
            <a:r>
              <a:rPr lang="ru-RU" dirty="0"/>
              <a:t>/39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1E1EF8-FB99-41BD-9BE3-F2C0F7D1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kumimoji="0" lang="ru-RU" sz="1600" kern="1200" spc="0" normalizeH="0" baseline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algn="r">
              <a:buClrTx/>
              <a:buFontTx/>
              <a:buNone/>
            </a:pPr>
            <a:fld id="{39FD2042-F21C-415A-9EA3-4A549B5658B7}" type="slidenum">
              <a:rPr lang="ru-RU" smtClean="0"/>
              <a:pPr algn="r">
                <a:buClrTx/>
                <a:buFontTx/>
                <a:buNone/>
              </a:pPr>
              <a:t>‹#›</a:t>
            </a:fld>
            <a:endParaRPr lang="ru-RU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hyperlink" Target="https://www.statista.com/statistics/871513/worldwide-data-created/" TargetMode="External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hyperlink" Target="https://cloudscene.com/region/datacenters-in-europe#russia" TargetMode="External"/><Relationship Id="rId6" Type="http://schemas.openxmlformats.org/officeDocument/2006/relationships/hyperlink" Target="https://datareportal.com/reports/digital-2024-russian-federation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9" Type="http://schemas.openxmlformats.org/officeDocument/2006/relationships/hyperlink" Target="https://www-file.huawei.com/-/media/corp2020/pdf/giv/intelligent_world_2030_en.pdf" TargetMode="External"/><Relationship Id="rId10" Type="http://schemas.openxmlformats.org/officeDocument/2006/relationships/hyperlink" Target="https://www.statista.com/forecasts/1474143/global-ai-market-siz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microsoft.com/office/2007/relationships/hdphoto" Target="../media/hdphoto1.wdp"/><Relationship Id="rId11" Type="http://schemas.openxmlformats.org/officeDocument/2006/relationships/image" Target="../media/image24.jpg"/><Relationship Id="rId12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jpg"/><Relationship Id="rId7" Type="http://schemas.openxmlformats.org/officeDocument/2006/relationships/image" Target="../media/image24.jpg"/><Relationship Id="rId8" Type="http://schemas.openxmlformats.org/officeDocument/2006/relationships/image" Target="../media/image11.png"/><Relationship Id="rId9" Type="http://schemas.openxmlformats.org/officeDocument/2006/relationships/image" Target="../media/image13.png"/><Relationship Id="rId10" Type="http://schemas.openxmlformats.org/officeDocument/2006/relationships/image" Target="../media/image29.png"/><Relationship Id="rId11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453C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0DC9D5C-23E7-4D7E-9307-ADA4CFA986F3}"/>
              </a:ext>
            </a:extLst>
          </p:cNvPr>
          <p:cNvSpPr/>
          <p:nvPr/>
        </p:nvSpPr>
        <p:spPr>
          <a:xfrm>
            <a:off x="0" y="0"/>
            <a:ext cx="15116175" cy="10687050"/>
          </a:xfrm>
          <a:prstGeom prst="roundRect">
            <a:avLst>
              <a:gd name="adj" fmla="val 0"/>
            </a:avLst>
          </a:prstGeom>
          <a:solidFill>
            <a:srgbClr val="0F24E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A3B924F-212D-4543-9050-48D44D3995F9}"/>
              </a:ext>
            </a:extLst>
          </p:cNvPr>
          <p:cNvSpPr/>
          <p:nvPr/>
        </p:nvSpPr>
        <p:spPr>
          <a:xfrm>
            <a:off x="249238" y="424516"/>
            <a:ext cx="4281714" cy="9791700"/>
          </a:xfrm>
          <a:prstGeom prst="roundRect">
            <a:avLst/>
          </a:prstGeom>
          <a:solidFill>
            <a:srgbClr val="818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9D7981-2CCE-4685-9CDA-508813E05E7F}"/>
              </a:ext>
            </a:extLst>
          </p:cNvPr>
          <p:cNvSpPr/>
          <p:nvPr/>
        </p:nvSpPr>
        <p:spPr>
          <a:xfrm>
            <a:off x="1870299" y="424516"/>
            <a:ext cx="4281714" cy="9791700"/>
          </a:xfrm>
          <a:prstGeom prst="roundRect">
            <a:avLst/>
          </a:prstGeom>
          <a:solidFill>
            <a:srgbClr val="D8DFFF"/>
          </a:solidFill>
          <a:ln w="7620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DEDFE77-4463-4E62-AF8C-D852B3CB19D3}"/>
              </a:ext>
            </a:extLst>
          </p:cNvPr>
          <p:cNvSpPr/>
          <p:nvPr/>
        </p:nvSpPr>
        <p:spPr>
          <a:xfrm>
            <a:off x="3586622" y="424516"/>
            <a:ext cx="4281714" cy="9791700"/>
          </a:xfrm>
          <a:prstGeom prst="roundRect">
            <a:avLst/>
          </a:prstGeom>
          <a:solidFill>
            <a:srgbClr val="FFFFFF"/>
          </a:solidFill>
          <a:ln w="7620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6DC617F-2C5A-4E0F-BACE-526F53318DCC}"/>
              </a:ext>
            </a:extLst>
          </p:cNvPr>
          <p:cNvSpPr/>
          <p:nvPr/>
        </p:nvSpPr>
        <p:spPr>
          <a:xfrm>
            <a:off x="5221002" y="470834"/>
            <a:ext cx="9659255" cy="9705853"/>
          </a:xfrm>
          <a:prstGeom prst="roundRect">
            <a:avLst>
              <a:gd name="adj" fmla="val 5991"/>
            </a:avLst>
          </a:prstGeom>
          <a:solidFill>
            <a:srgbClr val="0F24E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Google Shape;15;p1"/>
          <p:cNvSpPr/>
          <p:nvPr/>
        </p:nvSpPr>
        <p:spPr>
          <a:xfrm>
            <a:off x="6210300" y="1353963"/>
            <a:ext cx="8643317" cy="477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200" b="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"/>
              </a:rPr>
              <a:t>Вычислительные мощности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6200" dirty="0">
              <a:solidFill>
                <a:srgbClr val="FFFFFF"/>
              </a:solidFill>
              <a:latin typeface="Unbounded Light"/>
              <a:ea typeface="Calibri"/>
              <a:cs typeface="Calibri"/>
              <a:sym typeface="Unbound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  <a:t>Мировой опыт </a:t>
            </a:r>
            <a:b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</a:br>
            <a: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  <a:t>и опыт ДИТ</a:t>
            </a:r>
            <a:endParaRPr sz="6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686177" y="7583121"/>
            <a:ext cx="6065148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Департамент</a:t>
            </a:r>
            <a:r>
              <a:rPr lang="en-US" sz="3600" dirty="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информационных</a:t>
            </a:r>
            <a:r>
              <a:rPr lang="en-US" sz="3600" dirty="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технологий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A790AED-B9D9-4E8A-9772-17D0F603C25C}"/>
              </a:ext>
            </a:extLst>
          </p:cNvPr>
          <p:cNvSpPr/>
          <p:nvPr/>
        </p:nvSpPr>
        <p:spPr>
          <a:xfrm>
            <a:off x="5221002" y="470834"/>
            <a:ext cx="9632615" cy="9705853"/>
          </a:xfrm>
          <a:prstGeom prst="roundRect">
            <a:avLst>
              <a:gd name="adj" fmla="val 6115"/>
            </a:avLst>
          </a:prstGeom>
          <a:noFill/>
          <a:ln w="571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ADACA1-4A73-75FB-C527-9D9A9340F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7275" y="7719060"/>
            <a:ext cx="813411" cy="1420373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220AA6B-91E7-4837-ACA0-C882BD39B49A}"/>
              </a:ext>
            </a:extLst>
          </p:cNvPr>
          <p:cNvSpPr/>
          <p:nvPr/>
        </p:nvSpPr>
        <p:spPr>
          <a:xfrm>
            <a:off x="7558087" y="3611880"/>
            <a:ext cx="7102793" cy="1731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Оформление в красном стиле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Все графики и диаграммы нам нужны в редактируемых форматах, не изображениями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6D31DF59-B187-4C50-B30A-BE4E3BFDEC4F}"/>
              </a:ext>
            </a:extLst>
          </p:cNvPr>
          <p:cNvSpPr/>
          <p:nvPr/>
        </p:nvSpPr>
        <p:spPr>
          <a:xfrm>
            <a:off x="1945101" y="4364962"/>
            <a:ext cx="3753856" cy="3463589"/>
          </a:xfrm>
          <a:prstGeom prst="ellipse">
            <a:avLst/>
          </a:prstGeom>
          <a:noFill/>
          <a:ln w="1905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41ACE53E-6A03-433B-AD2D-AC41793739DA}"/>
              </a:ext>
            </a:extLst>
          </p:cNvPr>
          <p:cNvSpPr/>
          <p:nvPr/>
        </p:nvSpPr>
        <p:spPr>
          <a:xfrm>
            <a:off x="7340669" y="4364962"/>
            <a:ext cx="2845766" cy="3463589"/>
          </a:xfrm>
          <a:prstGeom prst="roundRect">
            <a:avLst/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Что такое «вычислительные мощности» и зачем они нужны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99C5B8F-37A4-42DF-BF7D-897637058C03}"/>
              </a:ext>
            </a:extLst>
          </p:cNvPr>
          <p:cNvSpPr/>
          <p:nvPr/>
        </p:nvSpPr>
        <p:spPr>
          <a:xfrm>
            <a:off x="212724" y="816544"/>
            <a:ext cx="14388806" cy="1573729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604C3-9074-41DB-A70A-81E23E782872}"/>
              </a:ext>
            </a:extLst>
          </p:cNvPr>
          <p:cNvSpPr txBox="1"/>
          <p:nvPr/>
        </p:nvSpPr>
        <p:spPr>
          <a:xfrm>
            <a:off x="467831" y="934545"/>
            <a:ext cx="1368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>
                <a:latin typeface="HelveticaNeueCyr" panose="02000503040000020004" pitchFamily="2" charset="-52"/>
              </a:rPr>
              <a:t>«Вычислительные мощности» </a:t>
            </a:r>
            <a:r>
              <a:rPr lang="ru-RU" sz="1600" i="1" dirty="0">
                <a:latin typeface="HelveticaNeueCyr" panose="02000503040000020004" pitchFamily="2" charset="-52"/>
              </a:rPr>
              <a:t>– оборудование (серверы, процессоры и др.), которое используется для обработки, хранения информации, проведения вычислений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C4B865E-B2C4-4968-A4B1-81570D3D3E19}"/>
              </a:ext>
            </a:extLst>
          </p:cNvPr>
          <p:cNvSpPr/>
          <p:nvPr/>
        </p:nvSpPr>
        <p:spPr>
          <a:xfrm>
            <a:off x="467831" y="1656349"/>
            <a:ext cx="133765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i="1" dirty="0">
                <a:latin typeface="HelveticaNeueCyr" panose="02000503040000020004" pitchFamily="2" charset="-52"/>
              </a:rPr>
              <a:t>Производительность </a:t>
            </a:r>
            <a:r>
              <a:rPr lang="ru-RU" sz="1600" i="1" dirty="0">
                <a:latin typeface="HelveticaNeueCyr" panose="02000503040000020004" pitchFamily="2" charset="-52"/>
              </a:rPr>
              <a:t>– характеристика скорости выполнения операций на вычислительном оборудовании, измеряемая во </a:t>
            </a:r>
            <a:r>
              <a:rPr lang="ru-RU" sz="1600" i="1" dirty="0" err="1">
                <a:latin typeface="HelveticaNeueCyr" panose="02000503040000020004" pitchFamily="2" charset="-52"/>
              </a:rPr>
              <a:t>флопсах</a:t>
            </a:r>
            <a:r>
              <a:rPr lang="ru-RU" sz="1600" i="1" dirty="0">
                <a:latin typeface="HelveticaNeueCyr" panose="02000503040000020004" pitchFamily="2" charset="-52"/>
              </a:rPr>
              <a:t> (</a:t>
            </a:r>
            <a:r>
              <a:rPr lang="en-US" sz="1600" b="1" i="1" dirty="0">
                <a:latin typeface="HelveticaNeueCyr" panose="02000503040000020004" pitchFamily="2" charset="-52"/>
              </a:rPr>
              <a:t>FLOPS</a:t>
            </a:r>
            <a:r>
              <a:rPr lang="ru-RU" sz="1600" i="1" dirty="0">
                <a:latin typeface="HelveticaNeueCyr" panose="02000503040000020004" pitchFamily="2" charset="-52"/>
              </a:rPr>
              <a:t> - </a:t>
            </a:r>
            <a:r>
              <a:rPr lang="en-US" sz="1600" b="1" i="1" dirty="0" err="1">
                <a:latin typeface="HelveticaNeueCyr" panose="02000503040000020004" pitchFamily="2" charset="-52"/>
              </a:rPr>
              <a:t>FL</a:t>
            </a:r>
            <a:r>
              <a:rPr lang="en-US" sz="1600" i="1" dirty="0" err="1">
                <a:latin typeface="HelveticaNeueCyr" panose="02000503040000020004" pitchFamily="2" charset="-52"/>
              </a:rPr>
              <a:t>oating-point</a:t>
            </a:r>
            <a:r>
              <a:rPr lang="en-US" sz="1600" i="1" dirty="0">
                <a:latin typeface="HelveticaNeueCyr" panose="02000503040000020004" pitchFamily="2" charset="-52"/>
              </a:rPr>
              <a:t> </a:t>
            </a:r>
            <a:r>
              <a:rPr lang="en-US" sz="1600" b="1" i="1" dirty="0" err="1">
                <a:latin typeface="HelveticaNeueCyr" panose="02000503040000020004" pitchFamily="2" charset="-52"/>
              </a:rPr>
              <a:t>OP</a:t>
            </a:r>
            <a:r>
              <a:rPr lang="en-US" sz="1600" i="1" dirty="0" err="1">
                <a:latin typeface="HelveticaNeueCyr" panose="02000503040000020004" pitchFamily="2" charset="-52"/>
              </a:rPr>
              <a:t>erations</a:t>
            </a:r>
            <a:r>
              <a:rPr lang="en-US" sz="1600" i="1" dirty="0">
                <a:latin typeface="HelveticaNeueCyr" panose="02000503040000020004" pitchFamily="2" charset="-52"/>
              </a:rPr>
              <a:t> per </a:t>
            </a:r>
            <a:r>
              <a:rPr lang="en-US" sz="1600" b="1" i="1" dirty="0">
                <a:latin typeface="HelveticaNeueCyr" panose="02000503040000020004" pitchFamily="2" charset="-52"/>
              </a:rPr>
              <a:t>S</a:t>
            </a:r>
            <a:r>
              <a:rPr lang="en-US" sz="1600" i="1" dirty="0">
                <a:latin typeface="HelveticaNeueCyr" panose="02000503040000020004" pitchFamily="2" charset="-52"/>
              </a:rPr>
              <a:t>econd</a:t>
            </a:r>
            <a:r>
              <a:rPr lang="ru-RU" sz="1600" i="1" dirty="0">
                <a:latin typeface="HelveticaNeueCyr" panose="02000503040000020004" pitchFamily="2" charset="-52"/>
              </a:rPr>
              <a:t>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DFD4213-17EB-4CAA-89FD-17F259E870C8}"/>
              </a:ext>
            </a:extLst>
          </p:cNvPr>
          <p:cNvSpPr/>
          <p:nvPr/>
        </p:nvSpPr>
        <p:spPr>
          <a:xfrm>
            <a:off x="2086432" y="5845026"/>
            <a:ext cx="34551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rgbClr val="222222"/>
                </a:solidFill>
                <a:latin typeface="Unbounded SemiBold"/>
              </a:rPr>
              <a:t>Центр обработки данных</a:t>
            </a:r>
            <a:endParaRPr lang="ru-RU" sz="16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5806F0B-D39B-43A4-B6EE-5FC14C4418B6}"/>
              </a:ext>
            </a:extLst>
          </p:cNvPr>
          <p:cNvSpPr/>
          <p:nvPr/>
        </p:nvSpPr>
        <p:spPr>
          <a:xfrm>
            <a:off x="2550369" y="3668720"/>
            <a:ext cx="2527278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Сетевое оборудование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маршрутизаторы, коммутаторы, и др. обеспечивает передачу данных между устройствами</a:t>
            </a:r>
            <a:b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в </a:t>
            </a:r>
            <a:r>
              <a:rPr lang="ru-RU" sz="1200" dirty="0" err="1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ЦОДе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5FB559B-EF31-4E31-94F9-9531B4889084}"/>
              </a:ext>
            </a:extLst>
          </p:cNvPr>
          <p:cNvSpPr/>
          <p:nvPr/>
        </p:nvSpPr>
        <p:spPr>
          <a:xfrm>
            <a:off x="2583735" y="7544547"/>
            <a:ext cx="249391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/>
                </a:solidFill>
                <a:highlight>
                  <a:srgbClr val="FFFFFF"/>
                </a:highlight>
                <a:latin typeface="Unbounded SemiBold"/>
              </a:rPr>
              <a:t>Инженерное оборудование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системы электропитания, охлаждения обеспечивают бесперебойную работу</a:t>
            </a:r>
            <a:b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и поддерживают рабочую температуру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37F4D9F-1591-4AFA-B479-88762D3E6A9D}"/>
              </a:ext>
            </a:extLst>
          </p:cNvPr>
          <p:cNvSpPr/>
          <p:nvPr/>
        </p:nvSpPr>
        <p:spPr>
          <a:xfrm>
            <a:off x="370772" y="5698545"/>
            <a:ext cx="2149476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Системы безопасности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СКУД, видеонаблюдение, пожарная сигнализация для защиты данных и оборудования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DE7F312-D4AA-4A24-B3DD-EEE543C974A7}"/>
              </a:ext>
            </a:extLst>
          </p:cNvPr>
          <p:cNvSpPr/>
          <p:nvPr/>
        </p:nvSpPr>
        <p:spPr>
          <a:xfrm>
            <a:off x="5175023" y="5765220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Вычислительное оборудование</a:t>
            </a:r>
          </a:p>
        </p:txBody>
      </p:sp>
      <p:pic>
        <p:nvPicPr>
          <p:cNvPr id="4" name="Рисунок 3" descr="Сервер">
            <a:extLst>
              <a:ext uri="{FF2B5EF4-FFF2-40B4-BE49-F238E27FC236}">
                <a16:creationId xmlns:a16="http://schemas.microsoft.com/office/drawing/2014/main" id="{18778A66-C3F3-4E6D-920D-FD627A5CE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1835" y="4715432"/>
            <a:ext cx="743255" cy="74325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25C5201-171D-43AC-B695-756AA1ADADF0}"/>
              </a:ext>
            </a:extLst>
          </p:cNvPr>
          <p:cNvSpPr/>
          <p:nvPr/>
        </p:nvSpPr>
        <p:spPr>
          <a:xfrm>
            <a:off x="8202057" y="4918989"/>
            <a:ext cx="24834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Серверы</a:t>
            </a:r>
          </a:p>
        </p:txBody>
      </p:sp>
      <p:pic>
        <p:nvPicPr>
          <p:cNvPr id="18" name="Рисунок 17" descr="Процессор">
            <a:extLst>
              <a:ext uri="{FF2B5EF4-FFF2-40B4-BE49-F238E27FC236}">
                <a16:creationId xmlns:a16="http://schemas.microsoft.com/office/drawing/2014/main" id="{B101C4DA-B163-4948-A0F1-CE12EDDE53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090" y="5641378"/>
            <a:ext cx="743255" cy="743255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4E4F5DA-EABE-4BC0-9113-DBA2F86F5A69}"/>
              </a:ext>
            </a:extLst>
          </p:cNvPr>
          <p:cNvSpPr/>
          <p:nvPr/>
        </p:nvSpPr>
        <p:spPr>
          <a:xfrm>
            <a:off x="8202056" y="5825173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Процессоры,</a:t>
            </a:r>
            <a:br>
              <a:rPr lang="ru-RU" b="1" dirty="0">
                <a:solidFill>
                  <a:srgbClr val="222222"/>
                </a:solidFill>
                <a:latin typeface="Unbounded SemiBold"/>
              </a:rPr>
            </a:br>
            <a:r>
              <a:rPr lang="ru-RU" b="1" dirty="0">
                <a:solidFill>
                  <a:srgbClr val="222222"/>
                </a:solidFill>
                <a:latin typeface="Unbounded SemiBold"/>
              </a:rPr>
              <a:t>видеокарты 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E3C96D4-85FC-46B8-8DE2-F11D78B6A0E3}"/>
              </a:ext>
            </a:extLst>
          </p:cNvPr>
          <p:cNvSpPr/>
          <p:nvPr/>
        </p:nvSpPr>
        <p:spPr>
          <a:xfrm>
            <a:off x="8132191" y="6919906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Жесткие диски (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SSD</a:t>
            </a:r>
            <a:r>
              <a:rPr lang="ru-RU" b="1" dirty="0">
                <a:solidFill>
                  <a:srgbClr val="222222"/>
                </a:solidFill>
                <a:latin typeface="Unbounded SemiBold"/>
              </a:rPr>
              <a:t>)</a:t>
            </a:r>
          </a:p>
        </p:txBody>
      </p:sp>
      <p:pic>
        <p:nvPicPr>
          <p:cNvPr id="23" name="Рисунок 22" descr="База данных">
            <a:extLst>
              <a:ext uri="{FF2B5EF4-FFF2-40B4-BE49-F238E27FC236}">
                <a16:creationId xmlns:a16="http://schemas.microsoft.com/office/drawing/2014/main" id="{4CD213BB-A8ED-4BE4-BBCC-142E13CD4E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3874" y="6730921"/>
            <a:ext cx="743256" cy="743256"/>
          </a:xfrm>
          <a:prstGeom prst="rect">
            <a:avLst/>
          </a:prstGeom>
        </p:spPr>
      </p:pic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C8021B0C-8050-4215-AE2B-387273627D2F}"/>
              </a:ext>
            </a:extLst>
          </p:cNvPr>
          <p:cNvSpPr/>
          <p:nvPr/>
        </p:nvSpPr>
        <p:spPr>
          <a:xfrm>
            <a:off x="10735284" y="2650048"/>
            <a:ext cx="3786036" cy="7220458"/>
          </a:xfrm>
          <a:prstGeom prst="roundRect">
            <a:avLst>
              <a:gd name="adj" fmla="val 8616"/>
            </a:avLst>
          </a:prstGeom>
          <a:solidFill>
            <a:srgbClr val="F7CDD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0E04B16-3B0C-4097-854C-838721501553}"/>
              </a:ext>
            </a:extLst>
          </p:cNvPr>
          <p:cNvSpPr/>
          <p:nvPr/>
        </p:nvSpPr>
        <p:spPr>
          <a:xfrm>
            <a:off x="10787917" y="2786228"/>
            <a:ext cx="36456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Источники данных и вычислений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BFF7935-C375-450F-8224-89F779B9AFD3}"/>
              </a:ext>
            </a:extLst>
          </p:cNvPr>
          <p:cNvSpPr/>
          <p:nvPr/>
        </p:nvSpPr>
        <p:spPr>
          <a:xfrm>
            <a:off x="10787917" y="3454895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Видеонаблюдение</a:t>
            </a: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247 тыс. камер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2.1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млрд ч видео/год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990187D-6FE7-466D-947E-4D63B23B598A}"/>
              </a:ext>
            </a:extLst>
          </p:cNvPr>
          <p:cNvSpPr/>
          <p:nvPr/>
        </p:nvSpPr>
        <p:spPr>
          <a:xfrm>
            <a:off x="10787917" y="5390417"/>
            <a:ext cx="33640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Обращения 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mos.ru</a:t>
            </a:r>
            <a:endParaRPr lang="ru-RU" b="1" dirty="0">
              <a:solidFill>
                <a:srgbClr val="222222"/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763 млн 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46D9EC9-D741-4A4B-BB2F-A5A0259BF00F}"/>
              </a:ext>
            </a:extLst>
          </p:cNvPr>
          <p:cNvSpPr/>
          <p:nvPr/>
        </p:nvSpPr>
        <p:spPr>
          <a:xfrm>
            <a:off x="10805150" y="4530861"/>
            <a:ext cx="33640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Пользователи 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mos.ru</a:t>
            </a:r>
            <a:endParaRPr lang="ru-RU" b="1" dirty="0">
              <a:solidFill>
                <a:srgbClr val="222222"/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15.9 млн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FEF9571-B20D-4266-ACB2-1736AAAFE310}"/>
              </a:ext>
            </a:extLst>
          </p:cNvPr>
          <p:cNvSpPr/>
          <p:nvPr/>
        </p:nvSpPr>
        <p:spPr>
          <a:xfrm>
            <a:off x="10874416" y="6365140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Пользователи ИС в контуре Правительства</a:t>
            </a:r>
          </a:p>
          <a:p>
            <a:pPr lvl="3" algn="r"/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~500 тыс. чел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C7C1519-C3B2-4C0D-8979-EE56A78D3A74}"/>
              </a:ext>
            </a:extLst>
          </p:cNvPr>
          <p:cNvSpPr/>
          <p:nvPr/>
        </p:nvSpPr>
        <p:spPr>
          <a:xfrm>
            <a:off x="10898478" y="7603502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Количество устройств (ПК и др.)</a:t>
            </a:r>
          </a:p>
          <a:p>
            <a:pPr lvl="3" algn="r"/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~500 тыс.</a:t>
            </a:r>
          </a:p>
        </p:txBody>
      </p:sp>
      <p:sp>
        <p:nvSpPr>
          <p:cNvPr id="3" name="Левая фигурная скобка 2">
            <a:extLst>
              <a:ext uri="{FF2B5EF4-FFF2-40B4-BE49-F238E27FC236}">
                <a16:creationId xmlns:a16="http://schemas.microsoft.com/office/drawing/2014/main" id="{8B00A9D6-2C28-458A-A7B9-1A5D1F8C5060}"/>
              </a:ext>
            </a:extLst>
          </p:cNvPr>
          <p:cNvSpPr/>
          <p:nvPr/>
        </p:nvSpPr>
        <p:spPr>
          <a:xfrm>
            <a:off x="10277909" y="2786228"/>
            <a:ext cx="419977" cy="7084278"/>
          </a:xfrm>
          <a:prstGeom prst="leftBrace">
            <a:avLst>
              <a:gd name="adj1" fmla="val 89721"/>
              <a:gd name="adj2" fmla="val 47283"/>
            </a:avLst>
          </a:prstGeom>
          <a:ln w="28575">
            <a:solidFill>
              <a:srgbClr val="0F24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0A7082E-0278-42B3-9B1E-A55A4F41931A}"/>
              </a:ext>
            </a:extLst>
          </p:cNvPr>
          <p:cNvSpPr/>
          <p:nvPr/>
        </p:nvSpPr>
        <p:spPr>
          <a:xfrm>
            <a:off x="10872115" y="8629285"/>
            <a:ext cx="336401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Количество электронных запросов в рамках межведомственного взаимодействия</a:t>
            </a:r>
          </a:p>
          <a:p>
            <a:pPr lvl="3"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200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млн</a:t>
            </a:r>
          </a:p>
        </p:txBody>
      </p:sp>
    </p:spTree>
    <p:extLst>
      <p:ext uri="{BB962C8B-B14F-4D97-AF65-F5344CB8AC3E}">
        <p14:creationId xmlns:p14="http://schemas.microsoft.com/office/powerpoint/2010/main" val="283154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Как растут данные в м</a:t>
            </a:r>
            <a:r>
              <a:rPr lang="ru-RU" sz="2400" dirty="0" err="1">
                <a:latin typeface="Unbounded Medium"/>
                <a:ea typeface="Unbounded Medium"/>
                <a:cs typeface="Unbounded Medium"/>
                <a:sym typeface="Unbounded Medium"/>
              </a:rPr>
              <a:t>ире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4F81533A-864E-4C74-8122-B18DD44FE8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598952"/>
              </p:ext>
            </p:extLst>
          </p:nvPr>
        </p:nvGraphicFramePr>
        <p:xfrm>
          <a:off x="212724" y="1208024"/>
          <a:ext cx="5847834" cy="4320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Google Shape;470;p10">
            <a:extLst>
              <a:ext uri="{FF2B5EF4-FFF2-40B4-BE49-F238E27FC236}">
                <a16:creationId xmlns:a16="http://schemas.microsoft.com/office/drawing/2014/main" id="{82067238-D579-459B-96A8-DE529DC168AF}"/>
              </a:ext>
            </a:extLst>
          </p:cNvPr>
          <p:cNvSpPr/>
          <p:nvPr/>
        </p:nvSpPr>
        <p:spPr>
          <a:xfrm rot="2434">
            <a:off x="339867" y="992300"/>
            <a:ext cx="4460918" cy="48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Количество подключённых устройств во всем мире, млрд шт.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84AAE6-EF2D-4B6F-B98F-FE08F0C21ABE}"/>
              </a:ext>
            </a:extLst>
          </p:cNvPr>
          <p:cNvSpPr txBox="1"/>
          <p:nvPr/>
        </p:nvSpPr>
        <p:spPr>
          <a:xfrm>
            <a:off x="311526" y="9939943"/>
            <a:ext cx="101221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</a:rPr>
              <a:t>*Прогноз</a:t>
            </a:r>
          </a:p>
          <a:p>
            <a:r>
              <a:rPr lang="ru-RU" sz="1000" dirty="0">
                <a:latin typeface="HelveticaNeueCyr" panose="02000503040000020004" pitchFamily="2" charset="-52"/>
              </a:rPr>
              <a:t>Подключенные устройства, </a:t>
            </a:r>
            <a:r>
              <a:rPr lang="en-US" sz="1000" dirty="0">
                <a:latin typeface="HelveticaNeueCyr" panose="02000503040000020004" pitchFamily="2" charset="-52"/>
              </a:rPr>
              <a:t>Ericsson Mobility Visualizer</a:t>
            </a:r>
            <a:r>
              <a:rPr lang="ru-RU" sz="1000" dirty="0">
                <a:latin typeface="HelveticaNeueCyr" panose="02000503040000020004" pitchFamily="2" charset="-52"/>
              </a:rPr>
              <a:t>, 2024</a:t>
            </a:r>
            <a:br>
              <a:rPr lang="ru-RU" sz="1000" dirty="0">
                <a:latin typeface="HelveticaNeueCyr" panose="02000503040000020004" pitchFamily="2" charset="-52"/>
              </a:rPr>
            </a:br>
            <a:r>
              <a:rPr lang="en-US" sz="1000" dirty="0">
                <a:latin typeface="HelveticaNeueCyr" panose="02000503040000020004" pitchFamily="2" charset="-52"/>
                <a:hlinkClick r:id="rId4"/>
              </a:rPr>
              <a:t>https://www.statista.com/statistics/871513/worldwide-data-created/</a:t>
            </a:r>
            <a:r>
              <a:rPr lang="ru-RU" sz="1000" dirty="0">
                <a:latin typeface="HelveticaNeueCyr" panose="02000503040000020004" pitchFamily="2" charset="-52"/>
              </a:rPr>
              <a:t>  </a:t>
            </a:r>
            <a:endParaRPr lang="en-US" sz="1000" dirty="0">
              <a:latin typeface="HelveticaNeueCyr" panose="02000503040000020004" pitchFamily="2" charset="-52"/>
            </a:endParaRPr>
          </a:p>
          <a:p>
            <a:endParaRPr lang="ru-RU" sz="1200" dirty="0">
              <a:latin typeface="HelveticaNeueCyr" panose="02000503040000020004" pitchFamily="2" charset="-52"/>
            </a:endParaRPr>
          </a:p>
        </p:txBody>
      </p:sp>
      <p:graphicFrame>
        <p:nvGraphicFramePr>
          <p:cNvPr id="22" name="Диаграмма 21">
            <a:extLst>
              <a:ext uri="{FF2B5EF4-FFF2-40B4-BE49-F238E27FC236}">
                <a16:creationId xmlns:a16="http://schemas.microsoft.com/office/drawing/2014/main" id="{C335A513-D63C-4734-9466-E55122FE11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720993"/>
              </p:ext>
            </p:extLst>
          </p:nvPr>
        </p:nvGraphicFramePr>
        <p:xfrm>
          <a:off x="343859" y="5815916"/>
          <a:ext cx="5960688" cy="3731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Google Shape;470;p10">
            <a:extLst>
              <a:ext uri="{FF2B5EF4-FFF2-40B4-BE49-F238E27FC236}">
                <a16:creationId xmlns:a16="http://schemas.microsoft.com/office/drawing/2014/main" id="{F3B9EEED-DFBA-4EE0-B1EC-018FC5EACA15}"/>
              </a:ext>
            </a:extLst>
          </p:cNvPr>
          <p:cNvSpPr/>
          <p:nvPr/>
        </p:nvSpPr>
        <p:spPr>
          <a:xfrm rot="2434">
            <a:off x="510621" y="6133510"/>
            <a:ext cx="4886983" cy="73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Unbounded SemiBold"/>
                <a:ea typeface="Unbounded SemiBold"/>
                <a:cs typeface="Unbounded SemiBold"/>
                <a:sym typeface="Unbounded SemiBold"/>
              </a:rPr>
              <a:t>Объем данных,</a:t>
            </a: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 созданных, скопированных и потребленных в мире, зеттабайты 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4DE2741-FA04-46EC-9A21-8B1397857363}"/>
              </a:ext>
            </a:extLst>
          </p:cNvPr>
          <p:cNvSpPr/>
          <p:nvPr/>
        </p:nvSpPr>
        <p:spPr>
          <a:xfrm>
            <a:off x="6553901" y="6131780"/>
            <a:ext cx="7879655" cy="3415691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2ABDB37-7121-44E8-A1E7-F71247334229}"/>
              </a:ext>
            </a:extLst>
          </p:cNvPr>
          <p:cNvSpPr/>
          <p:nvPr/>
        </p:nvSpPr>
        <p:spPr>
          <a:xfrm>
            <a:off x="6616994" y="6328121"/>
            <a:ext cx="645732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1 зеттабайт (ЗБ)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=</a:t>
            </a:r>
          </a:p>
          <a:p>
            <a:endParaRPr lang="ru-RU" sz="1200" dirty="0">
              <a:latin typeface="Unbounded SemiBold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Unbounded SemiBold" pitchFamily="2" charset="-52"/>
              </a:rPr>
              <a:t>1 000 000 000 000 гигабайт (Гб)</a:t>
            </a:r>
          </a:p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Unbounded SemiBold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с одного жесткого диска объемом 1 ЗБ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можно 63 миллиона лет смотреть видео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с разрешением 4К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813B14-BBCE-424E-86E4-528278B43609}"/>
              </a:ext>
            </a:extLst>
          </p:cNvPr>
          <p:cNvSpPr txBox="1"/>
          <p:nvPr/>
        </p:nvSpPr>
        <p:spPr>
          <a:xfrm>
            <a:off x="6553901" y="937902"/>
            <a:ext cx="7556500" cy="106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До 2030 года прогнозируется экспоненциальный рост количества подключенных устройств, а следовательно: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815288D-2CE3-46EB-9747-06E4E27A859E}"/>
              </a:ext>
            </a:extLst>
          </p:cNvPr>
          <p:cNvSpPr/>
          <p:nvPr/>
        </p:nvSpPr>
        <p:spPr>
          <a:xfrm>
            <a:off x="6553901" y="2070621"/>
            <a:ext cx="7556500" cy="37186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количества данных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, которые необходимо правильно собирать, обрабатывать и хранить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потребности в центрах обработки данных.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ЦОДы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 становятся вычислительной основой новой цифровой инфраструктуры</a:t>
            </a:r>
            <a:b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популярности и востребованности искусственного интеллекта.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Обработка больших данных, их </a:t>
            </a:r>
            <a:r>
              <a:rPr lang="ru-RU" sz="18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переиспользование</a:t>
            </a:r>
            <a:b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и получение качественно новой информации, 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становится проблемой, если не использовать искусственный интеллект</a:t>
            </a:r>
          </a:p>
        </p:txBody>
      </p:sp>
    </p:spTree>
    <p:extLst>
      <p:ext uri="{BB962C8B-B14F-4D97-AF65-F5344CB8AC3E}">
        <p14:creationId xmlns:p14="http://schemas.microsoft.com/office/powerpoint/2010/main" val="3450132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1A6EB33-6025-4E6B-B126-85F09F106F69}"/>
              </a:ext>
            </a:extLst>
          </p:cNvPr>
          <p:cNvSpPr/>
          <p:nvPr/>
        </p:nvSpPr>
        <p:spPr>
          <a:xfrm>
            <a:off x="21272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>
                <a:latin typeface="Unbounded Medium"/>
                <a:ea typeface="Unbounded Medium"/>
                <a:cs typeface="Unbounded Medium"/>
                <a:sym typeface="Unbounded Medium"/>
              </a:rPr>
              <a:t>Как растут данные в России и Москве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14BE5172-922B-4B44-A20B-7E49388617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410550"/>
              </p:ext>
            </p:extLst>
          </p:nvPr>
        </p:nvGraphicFramePr>
        <p:xfrm>
          <a:off x="456563" y="5861859"/>
          <a:ext cx="4722665" cy="385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Диаграмма 20">
            <a:extLst>
              <a:ext uri="{FF2B5EF4-FFF2-40B4-BE49-F238E27FC236}">
                <a16:creationId xmlns:a16="http://schemas.microsoft.com/office/drawing/2014/main" id="{8C2E5E79-D758-496A-83CF-D35A910C8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9197580"/>
              </p:ext>
            </p:extLst>
          </p:nvPr>
        </p:nvGraphicFramePr>
        <p:xfrm>
          <a:off x="5631907" y="5861859"/>
          <a:ext cx="4722664" cy="385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D63A3E-2A84-4685-BCD2-F7A28DC8BA93}"/>
              </a:ext>
            </a:extLst>
          </p:cNvPr>
          <p:cNvSpPr/>
          <p:nvPr/>
        </p:nvSpPr>
        <p:spPr>
          <a:xfrm>
            <a:off x="5692616" y="5878398"/>
            <a:ext cx="33851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Объем оперативной памяти*, Тбайт</a:t>
            </a:r>
            <a:endParaRPr lang="en-US" b="1" kern="1200" dirty="0">
              <a:solidFill>
                <a:schemeClr val="tx1"/>
              </a:solidFill>
              <a:highlight>
                <a:srgbClr val="FFFFFF"/>
              </a:highlight>
              <a:latin typeface="Unbounded SemiBold" pitchFamily="2" charset="-52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E41831-025D-4E8B-8AE4-29E11571C18A}"/>
              </a:ext>
            </a:extLst>
          </p:cNvPr>
          <p:cNvSpPr/>
          <p:nvPr/>
        </p:nvSpPr>
        <p:spPr>
          <a:xfrm>
            <a:off x="456564" y="5861858"/>
            <a:ext cx="35987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Количество виртуальных процессоров ЦОД*, </a:t>
            </a:r>
            <a:r>
              <a:rPr lang="ru-RU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шт</a:t>
            </a:r>
            <a:endParaRPr lang="ru-RU" b="1" kern="1200" dirty="0">
              <a:solidFill>
                <a:schemeClr val="tx1"/>
              </a:solidFill>
              <a:highlight>
                <a:srgbClr val="FFFFFF"/>
              </a:highlight>
              <a:latin typeface="Unbounded SemiBold" pitchFamily="2" charset="-52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6D81E02-F5A5-435F-A2AB-E7752F9BFDF5}"/>
              </a:ext>
            </a:extLst>
          </p:cNvPr>
          <p:cNvSpPr/>
          <p:nvPr/>
        </p:nvSpPr>
        <p:spPr>
          <a:xfrm>
            <a:off x="212725" y="10045905"/>
            <a:ext cx="35942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  <a:hlinkClick r:id="rId5"/>
              </a:rPr>
              <a:t>https://cloudscene.com/region/datacenters-in-europe#russia</a:t>
            </a:r>
            <a:r>
              <a:rPr lang="ru-RU" sz="1000" dirty="0">
                <a:latin typeface="HelveticaNeueCyr" panose="02000503040000020004" pitchFamily="2" charset="-52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C6CA6C-A18B-4639-B1F7-65BE36BF29F3}"/>
              </a:ext>
            </a:extLst>
          </p:cNvPr>
          <p:cNvSpPr txBox="1"/>
          <p:nvPr/>
        </p:nvSpPr>
        <p:spPr>
          <a:xfrm>
            <a:off x="212725" y="89894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В 2024 году в РФ насчитывается 251 центр обработки данных</a:t>
            </a:r>
          </a:p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Среди 160 </a:t>
            </a:r>
            <a:r>
              <a:rPr lang="ru-RU" sz="18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ЦОДов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, расположение которых известно, 30% находятся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Москве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7287EE3-78EE-4B21-9400-3BE63C78D3F1}"/>
              </a:ext>
            </a:extLst>
          </p:cNvPr>
          <p:cNvSpPr/>
          <p:nvPr/>
        </p:nvSpPr>
        <p:spPr>
          <a:xfrm>
            <a:off x="522131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3CA81C-6DE1-411C-A3D1-8343A3E5DF85}"/>
              </a:ext>
            </a:extLst>
          </p:cNvPr>
          <p:cNvSpPr txBox="1"/>
          <p:nvPr/>
        </p:nvSpPr>
        <p:spPr>
          <a:xfrm>
            <a:off x="5221315" y="89894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130,4 млн пользователей интернета было в РФ на начало 2024 года</a:t>
            </a:r>
          </a:p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Москве показатель использования интернета составляет 97%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(выше среднего по стране на 7 </a:t>
            </a:r>
            <a:r>
              <a:rPr lang="ru-RU" sz="18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п.п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.)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5F8ADB3-64C6-41AE-BB5E-232DE59E255D}"/>
              </a:ext>
            </a:extLst>
          </p:cNvPr>
          <p:cNvSpPr/>
          <p:nvPr/>
        </p:nvSpPr>
        <p:spPr>
          <a:xfrm>
            <a:off x="212725" y="10242694"/>
            <a:ext cx="37401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  <a:hlinkClick r:id="rId6"/>
              </a:rPr>
              <a:t>https://datareportal.com/reports/digital-2024-russian-federation</a:t>
            </a:r>
            <a:r>
              <a:rPr lang="ru-RU" sz="1000" dirty="0">
                <a:latin typeface="HelveticaNeueCyr" panose="02000503040000020004" pitchFamily="2" charset="-52"/>
              </a:rPr>
              <a:t> 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A827867-61BF-4473-AB81-3AF7685FB395}"/>
              </a:ext>
            </a:extLst>
          </p:cNvPr>
          <p:cNvSpPr/>
          <p:nvPr/>
        </p:nvSpPr>
        <p:spPr>
          <a:xfrm>
            <a:off x="1022990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FD8DE8-D2F0-4DC1-B70D-C1F8C60B2049}"/>
              </a:ext>
            </a:extLst>
          </p:cNvPr>
          <p:cNvSpPr txBox="1"/>
          <p:nvPr/>
        </p:nvSpPr>
        <p:spPr>
          <a:xfrm>
            <a:off x="10229905" y="97915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Более 15,9 млн пользователей зарегистрировано на портале </a:t>
            </a:r>
            <a:r>
              <a:rPr lang="en-US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mos.ru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(9 мес. 2024 года)</a:t>
            </a: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endParaRPr lang="en-US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420 сервисов и услуг доступны москвичам в электронном виде</a:t>
            </a: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Более 763 млн обращений граждан через </a:t>
            </a:r>
            <a:r>
              <a:rPr lang="en-US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mos.ru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в год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AEEA20-EC25-4335-B052-2DA0031E52BB}"/>
              </a:ext>
            </a:extLst>
          </p:cNvPr>
          <p:cNvSpPr txBox="1"/>
          <p:nvPr/>
        </p:nvSpPr>
        <p:spPr>
          <a:xfrm>
            <a:off x="212724" y="3520830"/>
            <a:ext cx="14220831" cy="72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Москва является лидером в сфере цифровизации государственных услуг как в России,</a:t>
            </a:r>
            <a:br>
              <a:rPr lang="ru-RU" sz="1800" b="1" dirty="0">
                <a:solidFill>
                  <a:srgbClr val="222222"/>
                </a:solidFill>
                <a:latin typeface="Unbounded SemiBold"/>
              </a:rPr>
            </a:b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так и в мире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974CD3-A069-4FCC-8292-07E377305996}"/>
              </a:ext>
            </a:extLst>
          </p:cNvPr>
          <p:cNvSpPr/>
          <p:nvPr/>
        </p:nvSpPr>
        <p:spPr>
          <a:xfrm>
            <a:off x="212725" y="4215325"/>
            <a:ext cx="1390411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Вызовы в Москве: </a:t>
            </a:r>
            <a:endParaRPr lang="en-US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Необходимо 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собирать, обрабатывать и хранить данные</a:t>
            </a:r>
            <a:endParaRPr lang="en-US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Внедрять решения ИИ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повышения качества и скорости работы с данными и</a:t>
            </a:r>
            <a:r>
              <a:rPr lang="en-US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повышения качества городских электронных услуг</a:t>
            </a:r>
            <a:endParaRPr lang="en-US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Наращивать вычислительные мощности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развития цифровых сервисов и услуг</a:t>
            </a: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DD3C1FD-E4B3-4493-8EE5-6384FD54DCC2}"/>
              </a:ext>
            </a:extLst>
          </p:cNvPr>
          <p:cNvSpPr/>
          <p:nvPr/>
        </p:nvSpPr>
        <p:spPr>
          <a:xfrm>
            <a:off x="3952852" y="10028237"/>
            <a:ext cx="101639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NeueCyr" panose="02000503040000020004" pitchFamily="2" charset="-52"/>
              </a:rPr>
              <a:t>* </a:t>
            </a:r>
            <a:r>
              <a:rPr lang="ru-RU" sz="1000" dirty="0">
                <a:latin typeface="HelveticaNeueCyr" panose="02000503040000020004" pitchFamily="2" charset="-52"/>
              </a:rPr>
              <a:t>Приведены данные о состоянии ЦОД СОЦСФЕРА. ЦОД СОЦСФЕРА  представляет из себя три физические площадки, логически объединенные посредством высокоскоростных магистральных каналов связи в один виртуальный ЦОД В ЦОД СОЦСФЕРЫ размещена Общегородская платформа ИИ. Основными потребителями высокопроизводительных мощностей (</a:t>
            </a:r>
            <a:r>
              <a:rPr lang="en-US" sz="1000" dirty="0">
                <a:latin typeface="HelveticaNeueCyr" panose="02000503040000020004" pitchFamily="2" charset="-52"/>
              </a:rPr>
              <a:t>GPU) </a:t>
            </a:r>
            <a:r>
              <a:rPr lang="ru-RU" sz="1000" dirty="0">
                <a:latin typeface="HelveticaNeueCyr" panose="02000503040000020004" pitchFamily="2" charset="-52"/>
              </a:rPr>
              <a:t>являются: </a:t>
            </a:r>
            <a:r>
              <a:rPr lang="ru-RU" sz="1000" dirty="0" err="1">
                <a:latin typeface="HelveticaNeueCyr" panose="02000503040000020004" pitchFamily="2" charset="-52"/>
              </a:rPr>
              <a:t>Мос</a:t>
            </a:r>
            <a:r>
              <a:rPr lang="en-US" sz="1000" dirty="0">
                <a:latin typeface="HelveticaNeueCyr" panose="02000503040000020004" pitchFamily="2" charset="-52"/>
              </a:rPr>
              <a:t>GPT, </a:t>
            </a:r>
            <a:r>
              <a:rPr lang="ru-RU" sz="1000" dirty="0">
                <a:latin typeface="HelveticaNeueCyr" panose="02000503040000020004" pitchFamily="2" charset="-52"/>
              </a:rPr>
              <a:t>Голосовой помощник, Цифровой Двойник и др.</a:t>
            </a:r>
          </a:p>
          <a:p>
            <a:endParaRPr lang="ru-RU" sz="1000" dirty="0">
              <a:latin typeface="HelveticaNeueCyr" panose="0200050304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7158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30220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 dirty="0">
                <a:latin typeface="Unbounded Medium"/>
                <a:ea typeface="Unbounded Medium"/>
                <a:cs typeface="Unbounded Medium"/>
                <a:sym typeface="Unbounded Medium"/>
              </a:rPr>
              <a:t>Искусственный интеллект и потребности в вычислительных мощностях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AB8DDDBF-C2EF-403F-BD95-573679D7AF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5041773"/>
              </p:ext>
            </p:extLst>
          </p:nvPr>
        </p:nvGraphicFramePr>
        <p:xfrm>
          <a:off x="212724" y="1152552"/>
          <a:ext cx="5801759" cy="4218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Google Shape;470;p10">
            <a:extLst>
              <a:ext uri="{FF2B5EF4-FFF2-40B4-BE49-F238E27FC236}">
                <a16:creationId xmlns:a16="http://schemas.microsoft.com/office/drawing/2014/main" id="{842E648F-927C-4A6A-BD3A-7E30754C318D}"/>
              </a:ext>
            </a:extLst>
          </p:cNvPr>
          <p:cNvSpPr/>
          <p:nvPr/>
        </p:nvSpPr>
        <p:spPr>
          <a:xfrm rot="2434">
            <a:off x="325831" y="1212553"/>
            <a:ext cx="4886983" cy="24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Unbounded SemiBold"/>
                <a:ea typeface="Unbounded SemiBold"/>
                <a:cs typeface="Unbounded SemiBold"/>
                <a:sym typeface="Unbounded SemiBold"/>
              </a:rPr>
              <a:t>Объем </a:t>
            </a: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рынка ИИ в мире, млрд </a:t>
            </a:r>
            <a:r>
              <a:rPr lang="en-US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$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A40BB-BECB-41BD-B36C-388016AC55B7}"/>
              </a:ext>
            </a:extLst>
          </p:cNvPr>
          <p:cNvSpPr txBox="1"/>
          <p:nvPr/>
        </p:nvSpPr>
        <p:spPr>
          <a:xfrm>
            <a:off x="6499231" y="2571843"/>
            <a:ext cx="803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По прогнозам мировой спрос на мощности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ЦОДов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может возрасти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3 и более раз к 2030 году: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F583EC-8143-4CDB-9BC0-138B819641B3}"/>
              </a:ext>
            </a:extLst>
          </p:cNvPr>
          <p:cNvSpPr/>
          <p:nvPr/>
        </p:nvSpPr>
        <p:spPr>
          <a:xfrm>
            <a:off x="6499231" y="1517203"/>
            <a:ext cx="7556500" cy="9521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00503040000020004" pitchFamily="2" charset="-52"/>
              </a:rPr>
              <a:t>Качественные данные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00503040000020004" pitchFamily="2" charset="-52"/>
              </a:rPr>
              <a:t>Алгоритмы и модели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Вычислительные мощности</a:t>
            </a:r>
            <a:endParaRPr lang="ru-RU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FA83779D-355A-4D40-B90F-2A9E5330EFCF}"/>
              </a:ext>
            </a:extLst>
          </p:cNvPr>
          <p:cNvGrpSpPr/>
          <p:nvPr/>
        </p:nvGrpSpPr>
        <p:grpSpPr>
          <a:xfrm>
            <a:off x="512430" y="6944405"/>
            <a:ext cx="13921126" cy="2771853"/>
            <a:chOff x="356347" y="1739155"/>
            <a:chExt cx="13921126" cy="2771853"/>
          </a:xfrm>
        </p:grpSpPr>
        <p:graphicFrame>
          <p:nvGraphicFramePr>
            <p:cNvPr id="41" name="Схема 40">
              <a:extLst>
                <a:ext uri="{FF2B5EF4-FFF2-40B4-BE49-F238E27FC236}">
                  <a16:creationId xmlns:a16="http://schemas.microsoft.com/office/drawing/2014/main" id="{D9D27C93-63AE-492C-90D4-3E047E3FA8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80799526"/>
                </p:ext>
              </p:extLst>
            </p:nvPr>
          </p:nvGraphicFramePr>
          <p:xfrm>
            <a:off x="573436" y="2158471"/>
            <a:ext cx="13704037" cy="21209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id="{324D7399-7CC5-40D3-8D2F-B667686AF295}"/>
                </a:ext>
              </a:extLst>
            </p:cNvPr>
            <p:cNvSpPr/>
            <p:nvPr/>
          </p:nvSpPr>
          <p:spPr>
            <a:xfrm>
              <a:off x="8747812" y="3435807"/>
              <a:ext cx="2880918" cy="54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3B313095-D843-423B-9EB3-FF9CA0AB1D81}"/>
                </a:ext>
              </a:extLst>
            </p:cNvPr>
            <p:cNvSpPr/>
            <p:nvPr/>
          </p:nvSpPr>
          <p:spPr>
            <a:xfrm>
              <a:off x="573437" y="2480045"/>
              <a:ext cx="2880918" cy="5495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CFC70CC2-5C03-4A80-AD4C-8611B632A51F}"/>
                </a:ext>
              </a:extLst>
            </p:cNvPr>
            <p:cNvSpPr/>
            <p:nvPr/>
          </p:nvSpPr>
          <p:spPr>
            <a:xfrm>
              <a:off x="356347" y="1739155"/>
              <a:ext cx="3288510" cy="5495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DEC82565-F9EC-4EDF-B575-4836C396584D}"/>
                </a:ext>
              </a:extLst>
            </p:cNvPr>
            <p:cNvSpPr/>
            <p:nvPr/>
          </p:nvSpPr>
          <p:spPr>
            <a:xfrm>
              <a:off x="2650330" y="3961486"/>
              <a:ext cx="2880918" cy="5495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17BFDF19-979F-4CA1-A3B8-9AE715000FE1}"/>
              </a:ext>
            </a:extLst>
          </p:cNvPr>
          <p:cNvSpPr txBox="1"/>
          <p:nvPr/>
        </p:nvSpPr>
        <p:spPr>
          <a:xfrm>
            <a:off x="300667" y="6731188"/>
            <a:ext cx="3110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Google BERT-base</a:t>
            </a:r>
            <a:endParaRPr lang="ru-RU" b="1" dirty="0">
              <a:latin typeface="HelveticaNeueCyr" panose="02000503040000020004" pitchFamily="2" charset="-52"/>
            </a:endParaRPr>
          </a:p>
          <a:p>
            <a:r>
              <a:rPr lang="ru-RU" dirty="0">
                <a:latin typeface="HelveticaNeueCyr" panose="02000503040000020004" pitchFamily="2" charset="-52"/>
              </a:rPr>
              <a:t>109 млн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ru-RU" b="1" dirty="0">
                <a:latin typeface="HelveticaNeueCyr" panose="02000503040000020004" pitchFamily="2" charset="-52"/>
              </a:rPr>
              <a:t>1,89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7A6DC9-28FB-41C9-B670-F5CC0FB681B0}"/>
              </a:ext>
            </a:extLst>
          </p:cNvPr>
          <p:cNvSpPr txBox="1"/>
          <p:nvPr/>
        </p:nvSpPr>
        <p:spPr>
          <a:xfrm>
            <a:off x="1956364" y="9011961"/>
            <a:ext cx="31168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Open AI GPT-3</a:t>
            </a:r>
            <a:endParaRPr lang="ru-RU" b="1" dirty="0">
              <a:latin typeface="HelveticaNeueCyr" panose="02000503040000020004" pitchFamily="2" charset="-52"/>
            </a:endParaRPr>
          </a:p>
          <a:p>
            <a:r>
              <a:rPr lang="ru-RU" dirty="0">
                <a:latin typeface="HelveticaNeueCyr" panose="02000503040000020004" pitchFamily="2" charset="-52"/>
              </a:rPr>
              <a:t>175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ru-RU" b="1" dirty="0">
                <a:latin typeface="HelveticaNeueCyr" panose="02000503040000020004" pitchFamily="2" charset="-52"/>
              </a:rPr>
              <a:t>3 640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B54955A-E9BE-4FBB-851A-20D0F3E03BA0}"/>
              </a:ext>
            </a:extLst>
          </p:cNvPr>
          <p:cNvSpPr/>
          <p:nvPr/>
        </p:nvSpPr>
        <p:spPr>
          <a:xfrm>
            <a:off x="212724" y="6087025"/>
            <a:ext cx="140112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Визуализация роста затрат мощностей на обучение ИИ на примере конкретных популярных моделей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32E1A-BC18-462C-81E5-B8B0777B982F}"/>
              </a:ext>
            </a:extLst>
          </p:cNvPr>
          <p:cNvSpPr txBox="1"/>
          <p:nvPr/>
        </p:nvSpPr>
        <p:spPr>
          <a:xfrm>
            <a:off x="3654482" y="6756681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Huawei PANGU-</a:t>
            </a:r>
            <a:r>
              <a:rPr lang="el-GR" b="1" dirty="0">
                <a:latin typeface="HelveticaNeueCyr" panose="02000503040000020004" pitchFamily="2" charset="-52"/>
              </a:rPr>
              <a:t>α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en-US" dirty="0">
                <a:latin typeface="HelveticaNeueCyr" panose="02000503040000020004" pitchFamily="2" charset="-52"/>
              </a:rPr>
              <a:t>200</a:t>
            </a:r>
            <a:r>
              <a:rPr lang="ru-RU" dirty="0">
                <a:latin typeface="HelveticaNeueCyr" panose="02000503040000020004" pitchFamily="2" charset="-52"/>
              </a:rPr>
              <a:t>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en-US" b="1" dirty="0">
                <a:latin typeface="HelveticaNeueCyr" panose="02000503040000020004" pitchFamily="2" charset="-52"/>
              </a:rPr>
              <a:t>25 000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AF9264-C9CE-4F4E-99CF-70FB60D6D00A}"/>
              </a:ext>
            </a:extLst>
          </p:cNvPr>
          <p:cNvSpPr/>
          <p:nvPr/>
        </p:nvSpPr>
        <p:spPr>
          <a:xfrm>
            <a:off x="7341896" y="10149617"/>
            <a:ext cx="140204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Brown T. B. Language models are few-shot learners //</a:t>
            </a:r>
            <a:r>
              <a:rPr lang="en-US" sz="10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arXiv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 preprint arXiv:2005.14165. – 2020.</a:t>
            </a:r>
            <a:endParaRPr lang="ru-RU" sz="10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Интеллектуальный мир,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Huawei</a:t>
            </a:r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  <a:hlinkClick r:id="rId9"/>
              </a:rPr>
              <a:t>https://www-file.huawei.com/-/media/corp2020/pdf/giv/intelligent_world_2030_en.pdf</a:t>
            </a:r>
            <a:endParaRPr lang="ru-RU" sz="10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6C3ABD-ED6E-4159-923C-8BBAE5959764}"/>
              </a:ext>
            </a:extLst>
          </p:cNvPr>
          <p:cNvSpPr txBox="1"/>
          <p:nvPr/>
        </p:nvSpPr>
        <p:spPr>
          <a:xfrm>
            <a:off x="6116183" y="9011961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Meta** Llama 3.1 </a:t>
            </a:r>
            <a:r>
              <a:rPr lang="ru-RU" b="1" dirty="0">
                <a:latin typeface="HelveticaNeueCyr" panose="02000503040000020004" pitchFamily="2" charset="-52"/>
              </a:rPr>
              <a:t>– 405</a:t>
            </a:r>
            <a:r>
              <a:rPr lang="en-US" b="1" dirty="0">
                <a:latin typeface="HelveticaNeueCyr" panose="02000503040000020004" pitchFamily="2" charset="-52"/>
              </a:rPr>
              <a:t>B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en-US" dirty="0">
                <a:latin typeface="HelveticaNeueCyr" panose="02000503040000020004" pitchFamily="2" charset="-52"/>
              </a:rPr>
              <a:t>4</a:t>
            </a:r>
            <a:r>
              <a:rPr lang="ru-RU" dirty="0">
                <a:latin typeface="HelveticaNeueCyr" panose="02000503040000020004" pitchFamily="2" charset="-52"/>
              </a:rPr>
              <a:t>05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en-US" b="1" dirty="0">
                <a:latin typeface="HelveticaNeueCyr" panose="02000503040000020004" pitchFamily="2" charset="-52"/>
              </a:rPr>
              <a:t>38 550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6001CF-8283-46BD-8BC0-535C434846E3}"/>
              </a:ext>
            </a:extLst>
          </p:cNvPr>
          <p:cNvSpPr txBox="1"/>
          <p:nvPr/>
        </p:nvSpPr>
        <p:spPr>
          <a:xfrm>
            <a:off x="11162453" y="6793422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Прогнозируемые компьютерные мощности для ИИ: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ru-RU" b="1" dirty="0">
                <a:latin typeface="HelveticaNeueCyr" panose="02000503040000020004" pitchFamily="2" charset="-52"/>
              </a:rPr>
              <a:t>105 *10</a:t>
            </a:r>
            <a:r>
              <a:rPr lang="en-US" b="1" dirty="0">
                <a:latin typeface="HelveticaNeueCyr" panose="02000503040000020004" pitchFamily="2" charset="-52"/>
              </a:rPr>
              <a:t>^6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ru-RU" dirty="0">
                <a:latin typeface="HelveticaNeueCyr" panose="02000503040000020004" pitchFamily="2" charset="-52"/>
              </a:rPr>
              <a:t>в 500 раз больше, чем в 2020 году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9DFBB9-E247-4F6C-9A3C-4FB4A9860EAA}"/>
              </a:ext>
            </a:extLst>
          </p:cNvPr>
          <p:cNvSpPr txBox="1"/>
          <p:nvPr/>
        </p:nvSpPr>
        <p:spPr>
          <a:xfrm>
            <a:off x="212724" y="6370563"/>
            <a:ext cx="1389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Порядок расположения моделей не связан с техническими характеристиками, отражена хронология по году релиза моделей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781E26-423D-4BCA-8161-9458D8AF0D33}"/>
              </a:ext>
            </a:extLst>
          </p:cNvPr>
          <p:cNvSpPr txBox="1"/>
          <p:nvPr/>
        </p:nvSpPr>
        <p:spPr>
          <a:xfrm>
            <a:off x="6496207" y="957126"/>
            <a:ext cx="803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Развитие решений с искусственным интеллектом (ИИ) определяется тремя факторами: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69C9289-51CB-4216-99A9-B265E9E17266}"/>
              </a:ext>
            </a:extLst>
          </p:cNvPr>
          <p:cNvSpPr/>
          <p:nvPr/>
        </p:nvSpPr>
        <p:spPr>
          <a:xfrm>
            <a:off x="6815477" y="3849809"/>
            <a:ext cx="1435395" cy="1344026"/>
          </a:xfrm>
          <a:prstGeom prst="rect">
            <a:avLst/>
          </a:prstGeom>
          <a:solidFill>
            <a:srgbClr val="8FAADC"/>
          </a:soli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686B9D2-028B-4749-9FC9-8CE7151B6459}"/>
              </a:ext>
            </a:extLst>
          </p:cNvPr>
          <p:cNvSpPr/>
          <p:nvPr/>
        </p:nvSpPr>
        <p:spPr>
          <a:xfrm>
            <a:off x="8839717" y="3546484"/>
            <a:ext cx="1729053" cy="1641246"/>
          </a:xfrm>
          <a:prstGeom prst="rect">
            <a:avLst/>
          </a:prstGeom>
          <a:solidFill>
            <a:srgbClr val="A8B0FA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1CD12A5-5DDA-401B-A3E4-BAE7B8C42971}"/>
              </a:ext>
            </a:extLst>
          </p:cNvPr>
          <p:cNvSpPr/>
          <p:nvPr/>
        </p:nvSpPr>
        <p:spPr>
          <a:xfrm>
            <a:off x="11157615" y="3286854"/>
            <a:ext cx="2012285" cy="1906981"/>
          </a:xfrm>
          <a:prstGeom prst="rect">
            <a:avLst/>
          </a:prstGeom>
          <a:solidFill>
            <a:srgbClr val="5C8EFE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F4B95BB-63FC-44BA-ABA3-6DCC565AD678}"/>
              </a:ext>
            </a:extLst>
          </p:cNvPr>
          <p:cNvSpPr/>
          <p:nvPr/>
        </p:nvSpPr>
        <p:spPr>
          <a:xfrm>
            <a:off x="6833493" y="4378666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51BAA76-BF56-4A11-A47A-727207F73209}"/>
              </a:ext>
            </a:extLst>
          </p:cNvPr>
          <p:cNvSpPr/>
          <p:nvPr/>
        </p:nvSpPr>
        <p:spPr>
          <a:xfrm>
            <a:off x="8850170" y="4369411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06EE1D6C-F0CC-4414-8A6E-741FD616BD1B}"/>
              </a:ext>
            </a:extLst>
          </p:cNvPr>
          <p:cNvSpPr/>
          <p:nvPr/>
        </p:nvSpPr>
        <p:spPr>
          <a:xfrm>
            <a:off x="11177551" y="4378688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C71B2A-BCAB-436D-9C24-AB7BC4812199}"/>
              </a:ext>
            </a:extLst>
          </p:cNvPr>
          <p:cNvSpPr txBox="1"/>
          <p:nvPr/>
        </p:nvSpPr>
        <p:spPr>
          <a:xfrm>
            <a:off x="6725026" y="3577504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38C9CC-A7B6-433D-8031-C6C25ED18CEC}"/>
              </a:ext>
            </a:extLst>
          </p:cNvPr>
          <p:cNvSpPr txBox="1"/>
          <p:nvPr/>
        </p:nvSpPr>
        <p:spPr>
          <a:xfrm>
            <a:off x="8759013" y="3271417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33D2EB-7C23-4A71-A402-AB880FB8A205}"/>
              </a:ext>
            </a:extLst>
          </p:cNvPr>
          <p:cNvSpPr txBox="1"/>
          <p:nvPr/>
        </p:nvSpPr>
        <p:spPr>
          <a:xfrm>
            <a:off x="11064063" y="3023846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AF145A-D2BD-448B-9F4F-F06F594AE758}"/>
              </a:ext>
            </a:extLst>
          </p:cNvPr>
          <p:cNvSpPr txBox="1"/>
          <p:nvPr/>
        </p:nvSpPr>
        <p:spPr>
          <a:xfrm>
            <a:off x="6763888" y="4350472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2E0785-B1AC-4E85-8E52-A51D5EE3CB93}"/>
              </a:ext>
            </a:extLst>
          </p:cNvPr>
          <p:cNvSpPr txBox="1"/>
          <p:nvPr/>
        </p:nvSpPr>
        <p:spPr>
          <a:xfrm>
            <a:off x="7348445" y="4348968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816B3B-D1B7-4D59-B985-DD9560478740}"/>
              </a:ext>
            </a:extLst>
          </p:cNvPr>
          <p:cNvSpPr txBox="1"/>
          <p:nvPr/>
        </p:nvSpPr>
        <p:spPr>
          <a:xfrm>
            <a:off x="8782182" y="4341328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F50B88-62DF-4814-B86A-942DA3D2778F}"/>
              </a:ext>
            </a:extLst>
          </p:cNvPr>
          <p:cNvSpPr txBox="1"/>
          <p:nvPr/>
        </p:nvSpPr>
        <p:spPr>
          <a:xfrm>
            <a:off x="9366739" y="4339824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20EE62-8E01-44B6-B975-B49EEBB49B46}"/>
              </a:ext>
            </a:extLst>
          </p:cNvPr>
          <p:cNvSpPr txBox="1"/>
          <p:nvPr/>
        </p:nvSpPr>
        <p:spPr>
          <a:xfrm>
            <a:off x="11105462" y="4348505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60328C-C632-4FF2-8492-11376674C75B}"/>
              </a:ext>
            </a:extLst>
          </p:cNvPr>
          <p:cNvSpPr txBox="1"/>
          <p:nvPr/>
        </p:nvSpPr>
        <p:spPr>
          <a:xfrm>
            <a:off x="11690019" y="4347001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041997-728D-4298-AA7B-934E6714E57C}"/>
              </a:ext>
            </a:extLst>
          </p:cNvPr>
          <p:cNvSpPr txBox="1"/>
          <p:nvPr/>
        </p:nvSpPr>
        <p:spPr>
          <a:xfrm>
            <a:off x="7885085" y="3583321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171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F308D0-4106-485A-BCC2-D1848FBDE1A4}"/>
              </a:ext>
            </a:extLst>
          </p:cNvPr>
          <p:cNvSpPr txBox="1"/>
          <p:nvPr/>
        </p:nvSpPr>
        <p:spPr>
          <a:xfrm>
            <a:off x="10184963" y="3281971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219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77C870-7B89-4F42-82DD-A98F921F6F72}"/>
              </a:ext>
            </a:extLst>
          </p:cNvPr>
          <p:cNvSpPr txBox="1"/>
          <p:nvPr/>
        </p:nvSpPr>
        <p:spPr>
          <a:xfrm>
            <a:off x="12791655" y="3020307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</a:t>
            </a:r>
            <a:r>
              <a:rPr lang="en-US" b="1" dirty="0">
                <a:latin typeface="HelveticaNeueCyr" panose="02000503040000020004" pitchFamily="2" charset="-52"/>
              </a:rPr>
              <a:t>98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482013-C80B-415D-BDD6-A01CB8D15F85}"/>
              </a:ext>
            </a:extLst>
          </p:cNvPr>
          <p:cNvSpPr txBox="1"/>
          <p:nvPr/>
        </p:nvSpPr>
        <p:spPr>
          <a:xfrm>
            <a:off x="6614733" y="5464419"/>
            <a:ext cx="8033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Спрос на мощности ЦОД, ГВт, прогноз </a:t>
            </a:r>
            <a:r>
              <a:rPr lang="en-US" sz="1200" i="1" dirty="0">
                <a:latin typeface="HelveticaNeueCyr" panose="02000503040000020004" pitchFamily="2" charset="-52"/>
              </a:rPr>
              <a:t>McKinsey. </a:t>
            </a:r>
            <a:r>
              <a:rPr lang="ru-RU" sz="1200" i="1" dirty="0">
                <a:latin typeface="HelveticaNeueCyr" panose="02000503040000020004" pitchFamily="2" charset="-52"/>
              </a:rPr>
              <a:t>Сценарии учитывают тенденции внедрения ИИ, поставки различных типов чипов и связанного потребления электроэнергии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362FD9-C10F-4DEE-BE84-6BAE7DC82443}"/>
              </a:ext>
            </a:extLst>
          </p:cNvPr>
          <p:cNvSpPr txBox="1"/>
          <p:nvPr/>
        </p:nvSpPr>
        <p:spPr>
          <a:xfrm>
            <a:off x="11096530" y="5181636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Верхний диапазон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E28162-9EE7-404F-B8D0-155887667FD6}"/>
              </a:ext>
            </a:extLst>
          </p:cNvPr>
          <p:cNvSpPr txBox="1"/>
          <p:nvPr/>
        </p:nvSpPr>
        <p:spPr>
          <a:xfrm>
            <a:off x="8719334" y="5169800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Средний диапазон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8A94D4B-2740-4962-A048-AD55D973540F}"/>
              </a:ext>
            </a:extLst>
          </p:cNvPr>
          <p:cNvSpPr txBox="1"/>
          <p:nvPr/>
        </p:nvSpPr>
        <p:spPr>
          <a:xfrm>
            <a:off x="6694313" y="5181916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Нижний диапазон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E3B9BD-6F36-4B41-906E-684564526732}"/>
              </a:ext>
            </a:extLst>
          </p:cNvPr>
          <p:cNvSpPr txBox="1"/>
          <p:nvPr/>
        </p:nvSpPr>
        <p:spPr>
          <a:xfrm>
            <a:off x="7160291" y="3872135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+19%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6C49C5-825E-4BF0-95FE-320B2E525B44}"/>
              </a:ext>
            </a:extLst>
          </p:cNvPr>
          <p:cNvSpPr txBox="1"/>
          <p:nvPr/>
        </p:nvSpPr>
        <p:spPr>
          <a:xfrm>
            <a:off x="9496266" y="3567362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+22%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10A139-9277-4775-AC52-EACE69FEEF49}"/>
              </a:ext>
            </a:extLst>
          </p:cNvPr>
          <p:cNvSpPr txBox="1"/>
          <p:nvPr/>
        </p:nvSpPr>
        <p:spPr>
          <a:xfrm>
            <a:off x="12100367" y="3314653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+27%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FA70E3F-524B-40BB-9B8E-4C9BC473BEFA}"/>
              </a:ext>
            </a:extLst>
          </p:cNvPr>
          <p:cNvSpPr/>
          <p:nvPr/>
        </p:nvSpPr>
        <p:spPr>
          <a:xfrm>
            <a:off x="328585" y="10181100"/>
            <a:ext cx="75565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 Прогнозные значения,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  <a:hlinkClick r:id="rId10"/>
              </a:rPr>
              <a:t>https://www.statista.com/forecasts/1474143/global-ai-market-size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 </a:t>
            </a:r>
          </a:p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</a:t>
            </a:r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Деятельность организации запрещена на территории РФ </a:t>
            </a:r>
            <a:endParaRPr lang="ru-RU" sz="1000" dirty="0">
              <a:latin typeface="HelveticaNeueCyr" panose="0200050304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9875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Искусственный интеллект в контуре правительства 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7A15473-FBA7-4642-BA4A-5124810ECA16}"/>
              </a:ext>
            </a:extLst>
          </p:cNvPr>
          <p:cNvSpPr/>
          <p:nvPr/>
        </p:nvSpPr>
        <p:spPr>
          <a:xfrm>
            <a:off x="212724" y="914400"/>
            <a:ext cx="14630327" cy="3352800"/>
          </a:xfrm>
          <a:prstGeom prst="roundRect">
            <a:avLst>
              <a:gd name="adj" fmla="val 10624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FEE7748-D7DD-4604-8236-1DC562AC9205}"/>
              </a:ext>
            </a:extLst>
          </p:cNvPr>
          <p:cNvGrpSpPr/>
          <p:nvPr/>
        </p:nvGrpSpPr>
        <p:grpSpPr>
          <a:xfrm>
            <a:off x="900035" y="2283075"/>
            <a:ext cx="3333750" cy="1665832"/>
            <a:chOff x="615951" y="2486275"/>
            <a:chExt cx="3333750" cy="16658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4BA32E-BA94-4282-8A20-8978DC6912F0}"/>
                </a:ext>
              </a:extLst>
            </p:cNvPr>
            <p:cNvSpPr txBox="1"/>
            <p:nvPr/>
          </p:nvSpPr>
          <p:spPr>
            <a:xfrm>
              <a:off x="615951" y="2486275"/>
              <a:ext cx="2880918" cy="620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sz="3200" dirty="0">
                  <a:solidFill>
                    <a:srgbClr val="002060"/>
                  </a:solidFill>
                  <a:latin typeface="Unbounded SemiBold" pitchFamily="2" charset="-52"/>
                </a:rPr>
                <a:t>88</a:t>
              </a:r>
              <a:br>
                <a:rPr lang="ru-RU" sz="3200" dirty="0">
                  <a:solidFill>
                    <a:srgbClr val="002060"/>
                  </a:solidFill>
                  <a:latin typeface="Unbounded SemiBold" pitchFamily="2" charset="-52"/>
                </a:rPr>
              </a:br>
              <a:r>
                <a:rPr lang="ru-RU" sz="1800" dirty="0">
                  <a:solidFill>
                    <a:srgbClr val="002060"/>
                  </a:solidFill>
                  <a:latin typeface="Unbounded SemiBold" pitchFamily="2" charset="-52"/>
                </a:rPr>
                <a:t>проектов</a:t>
              </a:r>
              <a:r>
                <a:rPr lang="ru-RU" sz="3200" dirty="0">
                  <a:solidFill>
                    <a:srgbClr val="002060"/>
                  </a:solidFill>
                  <a:latin typeface="Unbounded SemiBold" pitchFamily="2" charset="-52"/>
                </a:rPr>
                <a:t>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951809-C124-4D55-AB18-9B1A9157C311}"/>
                </a:ext>
              </a:extLst>
            </p:cNvPr>
            <p:cNvSpPr txBox="1"/>
            <p:nvPr/>
          </p:nvSpPr>
          <p:spPr>
            <a:xfrm>
              <a:off x="622301" y="3074889"/>
              <a:ext cx="33274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HelveticaNeueCyr" panose="02000503040000020004" pitchFamily="2" charset="-52"/>
                </a:rPr>
                <a:t>с применением искусственного интеллекта реализуется</a:t>
              </a:r>
              <a:br>
                <a:rPr lang="ru-RU" sz="1600" dirty="0">
                  <a:latin typeface="HelveticaNeueCyr" panose="02000503040000020004" pitchFamily="2" charset="-52"/>
                </a:rPr>
              </a:br>
              <a:r>
                <a:rPr lang="ru-RU" sz="1600" dirty="0">
                  <a:latin typeface="HelveticaNeueCyr" panose="02000503040000020004" pitchFamily="2" charset="-52"/>
                </a:rPr>
                <a:t>в Москве в различных отраслях городского хозяйства</a:t>
              </a: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365B79F-6AC3-4665-942C-EDB7D17E3B72}"/>
              </a:ext>
            </a:extLst>
          </p:cNvPr>
          <p:cNvGrpSpPr/>
          <p:nvPr/>
        </p:nvGrpSpPr>
        <p:grpSpPr>
          <a:xfrm>
            <a:off x="412824" y="685223"/>
            <a:ext cx="13921126" cy="3101837"/>
            <a:chOff x="356347" y="1409171"/>
            <a:chExt cx="13921126" cy="3101837"/>
          </a:xfrm>
        </p:grpSpPr>
        <p:graphicFrame>
          <p:nvGraphicFramePr>
            <p:cNvPr id="9" name="Схема 8">
              <a:extLst>
                <a:ext uri="{FF2B5EF4-FFF2-40B4-BE49-F238E27FC236}">
                  <a16:creationId xmlns:a16="http://schemas.microsoft.com/office/drawing/2014/main" id="{88D8D8C7-6BC3-47C6-9F30-A3F468E8521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78634834"/>
                </p:ext>
              </p:extLst>
            </p:nvPr>
          </p:nvGraphicFramePr>
          <p:xfrm>
            <a:off x="573436" y="1409171"/>
            <a:ext cx="13704037" cy="21209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112A8C9-734B-479B-96FF-D91E0CD7A443}"/>
                </a:ext>
              </a:extLst>
            </p:cNvPr>
            <p:cNvSpPr/>
            <p:nvPr/>
          </p:nvSpPr>
          <p:spPr>
            <a:xfrm>
              <a:off x="8747812" y="3435807"/>
              <a:ext cx="2880918" cy="54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6F0406D-9B1E-480A-839A-0553DC7AF874}"/>
                </a:ext>
              </a:extLst>
            </p:cNvPr>
            <p:cNvSpPr/>
            <p:nvPr/>
          </p:nvSpPr>
          <p:spPr>
            <a:xfrm>
              <a:off x="573437" y="2480045"/>
              <a:ext cx="2880918" cy="5495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48CBF977-A72D-4B7A-8AA7-D1ABF14C1AAB}"/>
                </a:ext>
              </a:extLst>
            </p:cNvPr>
            <p:cNvSpPr/>
            <p:nvPr/>
          </p:nvSpPr>
          <p:spPr>
            <a:xfrm>
              <a:off x="356347" y="1739155"/>
              <a:ext cx="3288510" cy="5495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8FFCFC8-EBE8-4F32-9E58-84A3BFAE01CA}"/>
                </a:ext>
              </a:extLst>
            </p:cNvPr>
            <p:cNvSpPr/>
            <p:nvPr/>
          </p:nvSpPr>
          <p:spPr>
            <a:xfrm>
              <a:off x="2650330" y="3961486"/>
              <a:ext cx="2880918" cy="5495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D4A6660-5CEF-40CF-AE8D-1EC38C5E7BB6}"/>
              </a:ext>
            </a:extLst>
          </p:cNvPr>
          <p:cNvSpPr txBox="1"/>
          <p:nvPr/>
        </p:nvSpPr>
        <p:spPr>
          <a:xfrm>
            <a:off x="11270513" y="2185745"/>
            <a:ext cx="35314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Обеспечение создания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эко-системы ИИ</a:t>
            </a:r>
            <a:br>
              <a:rPr lang="ru-RU" sz="1600" dirty="0">
                <a:latin typeface="HelveticaNeueCyr" panose="02000503040000020004" pitchFamily="2" charset="-52"/>
              </a:rPr>
            </a:br>
            <a:endParaRPr lang="ru-RU" sz="600" dirty="0"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Внедрение ИИ-технологий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в деятельность все ОИВ Москвы</a:t>
            </a:r>
            <a:br>
              <a:rPr lang="ru-RU" sz="1600" dirty="0">
                <a:latin typeface="HelveticaNeueCyr" panose="02000503040000020004" pitchFamily="2" charset="-52"/>
              </a:rPr>
            </a:br>
            <a:endParaRPr lang="ru-RU" sz="600" dirty="0"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Масштабирование опыта Москвы на субъекты РФ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0795E8-75E8-4C47-AAF7-229FF4F62A22}"/>
              </a:ext>
            </a:extLst>
          </p:cNvPr>
          <p:cNvSpPr txBox="1"/>
          <p:nvPr/>
        </p:nvSpPr>
        <p:spPr>
          <a:xfrm>
            <a:off x="310945" y="4649363"/>
            <a:ext cx="2561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Объем 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GPU</a:t>
            </a:r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 (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RAM</a:t>
            </a:r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), ГБ</a:t>
            </a:r>
          </a:p>
        </p:txBody>
      </p:sp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93D79870-2041-4962-9C94-D5ADFC7151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24327"/>
              </p:ext>
            </p:extLst>
          </p:nvPr>
        </p:nvGraphicFramePr>
        <p:xfrm>
          <a:off x="412824" y="4912452"/>
          <a:ext cx="6025572" cy="4440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47BDF933-48AE-49D8-A3F8-2ED66BA22D57}"/>
              </a:ext>
            </a:extLst>
          </p:cNvPr>
          <p:cNvCxnSpPr>
            <a:cxnSpLocks/>
          </p:cNvCxnSpPr>
          <p:nvPr/>
        </p:nvCxnSpPr>
        <p:spPr>
          <a:xfrm>
            <a:off x="3677481" y="6487485"/>
            <a:ext cx="0" cy="1734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EC5D350-7A04-468A-878B-53E6FEB7926E}"/>
              </a:ext>
            </a:extLst>
          </p:cNvPr>
          <p:cNvSpPr txBox="1"/>
          <p:nvPr/>
        </p:nvSpPr>
        <p:spPr>
          <a:xfrm>
            <a:off x="3141421" y="8222421"/>
            <a:ext cx="1426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01.07.2024</a:t>
            </a:r>
            <a:endParaRPr lang="ru-RU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2B0A66-2781-4D6D-A4C1-0ADF93643ABF}"/>
              </a:ext>
            </a:extLst>
          </p:cNvPr>
          <p:cNvSpPr txBox="1"/>
          <p:nvPr/>
        </p:nvSpPr>
        <p:spPr>
          <a:xfrm>
            <a:off x="7146851" y="4587639"/>
            <a:ext cx="7556500" cy="72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На текущий момент кластер </a:t>
            </a:r>
            <a:r>
              <a:rPr lang="en-US" sz="1800" dirty="0">
                <a:solidFill>
                  <a:srgbClr val="002060"/>
                </a:solidFill>
                <a:latin typeface="Unbounded SemiBold" pitchFamily="2" charset="-52"/>
              </a:rPr>
              <a:t>GPU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серверов включает в себя: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5BBC65-47E3-4124-8D52-080039C06156}"/>
              </a:ext>
            </a:extLst>
          </p:cNvPr>
          <p:cNvSpPr txBox="1"/>
          <p:nvPr/>
        </p:nvSpPr>
        <p:spPr>
          <a:xfrm>
            <a:off x="7330347" y="6820960"/>
            <a:ext cx="288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dirty="0">
                <a:solidFill>
                  <a:srgbClr val="002060"/>
                </a:solidFill>
                <a:latin typeface="Unbounded SemiBold" pitchFamily="2" charset="-52"/>
              </a:rPr>
              <a:t>3 200 ГБ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генеративный ИИ</a:t>
            </a:r>
            <a:endParaRPr lang="ru-RU" sz="3200" dirty="0">
              <a:solidFill>
                <a:srgbClr val="002060"/>
              </a:solidFill>
              <a:latin typeface="Unbounded SemiBold" pitchFamily="2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CF28A-D0B2-4797-AC73-4E6A3A0ADAD5}"/>
              </a:ext>
            </a:extLst>
          </p:cNvPr>
          <p:cNvSpPr txBox="1"/>
          <p:nvPr/>
        </p:nvSpPr>
        <p:spPr>
          <a:xfrm>
            <a:off x="7330347" y="5779599"/>
            <a:ext cx="288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dirty="0">
                <a:solidFill>
                  <a:srgbClr val="002060"/>
                </a:solidFill>
                <a:latin typeface="Unbounded SemiBold" pitchFamily="2" charset="-52"/>
              </a:rPr>
              <a:t>4 032 ГБ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рендеринг</a:t>
            </a:r>
            <a:endParaRPr lang="ru-RU" sz="3200" dirty="0">
              <a:solidFill>
                <a:srgbClr val="002060"/>
              </a:solidFill>
              <a:latin typeface="Unbounded SemiBold" pitchFamily="2" charset="-5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2A1002-3F1D-4E3A-9706-A8F117BC83D3}"/>
              </a:ext>
            </a:extLst>
          </p:cNvPr>
          <p:cNvSpPr txBox="1"/>
          <p:nvPr/>
        </p:nvSpPr>
        <p:spPr>
          <a:xfrm>
            <a:off x="7146851" y="7936775"/>
            <a:ext cx="715600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Показатель утилизации кластера </a:t>
            </a:r>
            <a:r>
              <a:rPr lang="en-US" sz="1800" dirty="0">
                <a:solidFill>
                  <a:srgbClr val="002060"/>
                </a:solidFill>
                <a:latin typeface="Unbounded SemiBold" pitchFamily="2" charset="-52"/>
              </a:rPr>
              <a:t>GPU 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серверов, на данный момент составляет до 100%.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Утилизация – доля ресурсов системы, которые используются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для выполнения работ</a:t>
            </a:r>
          </a:p>
        </p:txBody>
      </p:sp>
    </p:spTree>
    <p:extLst>
      <p:ext uri="{BB962C8B-B14F-4D97-AF65-F5344CB8AC3E}">
        <p14:creationId xmlns:p14="http://schemas.microsoft.com/office/powerpoint/2010/main" val="720180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Рынок графических процессоров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384FEDC1-004B-4AFE-B12A-3905D3F76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63025"/>
              </p:ext>
            </p:extLst>
          </p:nvPr>
        </p:nvGraphicFramePr>
        <p:xfrm>
          <a:off x="447674" y="763905"/>
          <a:ext cx="14220825" cy="947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200">
                  <a:extLst>
                    <a:ext uri="{9D8B030D-6E8A-4147-A177-3AD203B41FA5}">
                      <a16:colId xmlns:a16="http://schemas.microsoft.com/office/drawing/2014/main" val="2584254708"/>
                    </a:ext>
                  </a:extLst>
                </a:gridCol>
                <a:gridCol w="2291622">
                  <a:extLst>
                    <a:ext uri="{9D8B030D-6E8A-4147-A177-3AD203B41FA5}">
                      <a16:colId xmlns:a16="http://schemas.microsoft.com/office/drawing/2014/main" val="722765251"/>
                    </a:ext>
                  </a:extLst>
                </a:gridCol>
                <a:gridCol w="2523881">
                  <a:extLst>
                    <a:ext uri="{9D8B030D-6E8A-4147-A177-3AD203B41FA5}">
                      <a16:colId xmlns:a16="http://schemas.microsoft.com/office/drawing/2014/main" val="2020830982"/>
                    </a:ext>
                  </a:extLst>
                </a:gridCol>
                <a:gridCol w="2662068">
                  <a:extLst>
                    <a:ext uri="{9D8B030D-6E8A-4147-A177-3AD203B41FA5}">
                      <a16:colId xmlns:a16="http://schemas.microsoft.com/office/drawing/2014/main" val="2594056973"/>
                    </a:ext>
                  </a:extLst>
                </a:gridCol>
                <a:gridCol w="2662068">
                  <a:extLst>
                    <a:ext uri="{9D8B030D-6E8A-4147-A177-3AD203B41FA5}">
                      <a16:colId xmlns:a16="http://schemas.microsoft.com/office/drawing/2014/main" val="3223612353"/>
                    </a:ext>
                  </a:extLst>
                </a:gridCol>
                <a:gridCol w="2826986">
                  <a:extLst>
                    <a:ext uri="{9D8B030D-6E8A-4147-A177-3AD203B41FA5}">
                      <a16:colId xmlns:a16="http://schemas.microsoft.com/office/drawing/2014/main" val="2444594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00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Тип процессора</a:t>
                      </a:r>
                      <a:endParaRPr lang="ru-RU" sz="1000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Центральный процессор (ЦП)</a:t>
                      </a:r>
                    </a:p>
                    <a:p>
                      <a:pPr algn="ctr"/>
                      <a:r>
                        <a:rPr lang="en-US" sz="1000" b="1" i="1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Central Processing Unit (CPU) </a:t>
                      </a:r>
                      <a:endParaRPr lang="ru-RU" sz="1000" b="0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Графический процессор (ГП)</a:t>
                      </a:r>
                      <a:endParaRPr lang="ru-RU" sz="1000" b="1" i="0" kern="120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 ExtraBold" panose="020B0503020203020203" pitchFamily="34" charset="-52"/>
                      </a:endParaRPr>
                    </a:p>
                    <a:p>
                      <a:pPr algn="ctr"/>
                      <a:r>
                        <a:rPr lang="en-US" sz="1000" b="1" i="1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Graphics Processing Unit (GPU)</a:t>
                      </a:r>
                      <a:endParaRPr lang="en-US" sz="1000" b="1" i="1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Нейронный процессор (НП)</a:t>
                      </a:r>
                    </a:p>
                    <a:p>
                      <a:pPr algn="ctr"/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Neural Processing Unit 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NPU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Тензорный процессор (ТП)</a:t>
                      </a:r>
                    </a:p>
                    <a:p>
                      <a:pPr algn="ctr"/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Tensor Processing Unit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 (</a:t>
                      </a:r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TPU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Квантовый компьютер</a:t>
                      </a:r>
                      <a:endParaRPr lang="ru-RU" sz="1000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 ExtraBold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959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Описание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Главная часть компьютера, представляющая собой микросхему, которая исполняет машинные инструкции (код программ)</a:t>
                      </a:r>
                      <a:endParaRPr lang="ru-RU" sz="1000" kern="120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kern="120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Микросхема компьютера, ускоряющая производительность, которая обрабатывает графику и выполняет расчеты, связанные с ней, помогая ЦП</a:t>
                      </a:r>
                      <a:endParaRPr lang="ru-RU" sz="1000" b="0" i="0" kern="120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Микросхема, используемая для аппаратного ускорения работы алгоритмов искусственных нейронных сетей, компьютерного зрения, машинного обучения и др.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Интегральная схема для выполнения высокопроизводительных вычислений</a:t>
                      </a:r>
                      <a:b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</a:b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с пониженной точностью, разработан для ускорения задач глубокого обучения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Является подвидом нейронных процессоров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Вычислительное устройство, которое использует явления квантовой механики для передачи и обработки данных</a:t>
                      </a:r>
                      <a:endParaRPr lang="ru-RU" sz="1000" b="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803855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Основные функции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Управление всеми операциями на компьютере, вводом/выводом, памятью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инструкций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Выполнение арифметических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логических операций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Рендеринг графики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пикселей и вершин для создания трехмерных изображений</a:t>
                      </a:r>
                      <a:endParaRPr lang="en-US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Большое количество вычислений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 области графики, машинного обучения, ИИ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и анализ данных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Распознавание образов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изображений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Обучение на основе данных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Решение сложных ИИ задач классификации, прогнозирования и др.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Ускорение задач машинного обучения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Оптимизация и вычисление математических выражений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Поддержка программирования глубоких нейронных сетей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Решение сложных алгоритмических задач, на которые обычные компьютеры тратят много времени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Разработка специализированных квантовых вычислителей для конкретных задач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720568"/>
                  </a:ext>
                </a:extLst>
              </a:tr>
              <a:tr h="398047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данных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Последовательная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каждый шаг алгоритма один за другим)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54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Количество ядер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 до 96, высокая мощность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100 до 1000, меньше производительность, чем у ЦП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10 000 ядер и более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100 до 640, менее мощные, чем в ЦП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Ядро отсутствует, функционирование основано на принципах квантовой механики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473245"/>
                  </a:ext>
                </a:extLst>
              </a:tr>
              <a:tr h="445672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Производители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 Core 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3,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5,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7,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;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Intel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Xeon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;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Pentium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Athlon, Phenom, Opteron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(POWER7)</a:t>
                      </a:r>
                      <a:endParaRPr lang="ru-RU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 Silicon, A18)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ARM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Великобритания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Cortex M)</a:t>
                      </a:r>
                      <a:endParaRPr lang="ru-RU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Baikal Electronics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РФ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Baikal-M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МЦСТ, РФ (Эльбрус)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 HD Graphics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Radeon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5700XT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Nvidia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GTX 1660 Super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ASUS, Тайвань (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GeForce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GTX 1060)</a:t>
                      </a:r>
                      <a:endParaRPr lang="en-US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ARM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Великобритания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(Immortalis-G925, Arm Mali-G725)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Информация отсутствует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Qualcomm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Snapdragon X Elite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X Plus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Neural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Engine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Huawei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КНР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Kirin 970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Core Ultra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TrueNorth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МФТИ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Ncore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Мотив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Нейроморфные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Технологии (Алтай)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TPU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IVA Technologies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РФ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IVA TPU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IBM, США (Osprey)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Google, США (Sycamore)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Intel, США (Tunnel Falls)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Xanadu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Quantum Tech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Канада (Borealis)</a:t>
                      </a:r>
                    </a:p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МФТИ и НИТУ «МИСиС» (создан 4-кубитный процессор, разработка 8-кубитного)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МГУ (разработка 16-кубитного процессора)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РКЦиФИ им. П.Н. Лебедева РАН, создан 50-кубитный квантовый компьютер)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745571"/>
                  </a:ext>
                </a:extLst>
              </a:tr>
              <a:tr h="445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Доступность </a:t>
                      </a:r>
                      <a:b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на рынке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(производятся множеством компаний)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Средняя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(ограниченное производство, требует инвестиций и специализированного оборудования)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(являются специализированными устройствами)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(являются специализированными устройствами)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НИОКР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67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Плюсы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Работает самостоятельно, без дополнительного оборудования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Широкий выбор процессоров на рынке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точность вычислений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вычислений, без последовательного перебора решений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производительность для задач ИИ и машинного обучения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Память с высокой пропускной способностью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Меньшее потребление энергии при большом объеме задач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 в больших объемах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Высокоскоростные матричные вычисления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производительность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энергоэффективность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вычислений, без последовательного перебора решений, компьютер может обрабатывать одновременно все варианты ответов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56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Минусы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Перебирают решения последовательно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Физические ограничения (необходимость охлаждения для стабильной работы)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Монофункциональный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 работает самостоятельно (нужен ЦП)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Физические ограничения (требуется охлаждение при сложных вычислениях)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точность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Чаще используется в смартфонах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 качестве дополнительного модуля 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 работает самостоятельно (нужен ЦП)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Сложность настройки и управления, требующая специализированных знаний и навыков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Выдают не точные результаты,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а вероятностные (приближенные)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Помехи в данных из-за внешних факторов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Требуются специальные помещения (охлаждаемые, с наивысшим классом чистоты)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62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Использование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Запуск различных программ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графики, реже машинное обучение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Ускорение задач, связанных с ИИ и машинным обучением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Запуск нейросетей, задачи глубокого обучения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Квантовые вычисления, моделирование сложных молекулярных систем 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78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Скорость работы нейросетей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требуется дополнительное оборудование для ускорения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i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Средняя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справляется с простыми задачами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увеличивает скорость вычисления задач ИИ 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выполняет сложные вычисления, решает задачи глубокого обучения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Очень высокая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быстро выполняет сложные вычисления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176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Реализация в ДИТ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Основной процессор для всех информационных систем и сервисов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Закупается для нужд искусственного интеллекта, рендеринга видео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i="0" u="none" strike="noStrike" cap="none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  <a:ea typeface="+mn-ea"/>
                          <a:cs typeface="+mn-cs"/>
                          <a:sym typeface="Arial"/>
                        </a:rPr>
                        <a:t>Не используется в ДИТ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Закупается для нужд искусственного интеллекта, рендеринга видео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Тестируется в ДИТ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705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366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440163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 dirty="0">
                <a:latin typeface="Unbounded Medium"/>
                <a:ea typeface="Unbounded Medium"/>
                <a:cs typeface="Unbounded Medium"/>
                <a:sym typeface="Unbounded Medium"/>
              </a:rPr>
              <a:t>Рынок полупроводниковой электроники, почему в России и мире компании ищут альтернативные способы реализации вычислений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91F2129-6EDF-443D-9CB0-924AA6D96381}"/>
              </a:ext>
            </a:extLst>
          </p:cNvPr>
          <p:cNvSpPr/>
          <p:nvPr/>
        </p:nvSpPr>
        <p:spPr>
          <a:xfrm>
            <a:off x="456379" y="2799885"/>
            <a:ext cx="6431874" cy="3300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Количество транзисторов на площади кремниевой пластины увеличивается в 2 раза каждые 2 года (Закон Мура)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При уменьшении размеров транзистора и повышении тактовой частоты процессора, можно кратно повышать производительность (Эмпирический закон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)</a:t>
            </a:r>
            <a:b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7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Закон Мура определил текущие размеры микропроцессоров, а закон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 расширил его и объяснял в каком именно направлении нужно двигаться, чтобы развивать полупроводниковую индустрию</a:t>
            </a: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При этом с 2006 года тактовая частота массовых микропроцессоров</a:t>
            </a:r>
            <a:b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не растет выше 4 ГГц, что показывает некоторое нарушение закона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, производители перешли на многоядерные процессоры, чтобы увеличить производительность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E8E662-BE0E-46A8-B8D6-E3C911B63394}"/>
              </a:ext>
            </a:extLst>
          </p:cNvPr>
          <p:cNvSpPr txBox="1"/>
          <p:nvPr/>
        </p:nvSpPr>
        <p:spPr>
          <a:xfrm>
            <a:off x="7622980" y="1987615"/>
            <a:ext cx="7023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2020-2023 гг. на рынке наблюдался дефицит полупроводниковых чипов на фоне последствий пандемии </a:t>
            </a:r>
            <a: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COVID-19</a:t>
            </a:r>
            <a:endParaRPr lang="ru-RU" sz="1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59411F-4270-4585-BF25-778018427A04}"/>
              </a:ext>
            </a:extLst>
          </p:cNvPr>
          <p:cNvSpPr txBox="1"/>
          <p:nvPr/>
        </p:nvSpPr>
        <p:spPr>
          <a:xfrm>
            <a:off x="7744900" y="4609281"/>
            <a:ext cx="702393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Факторы, которые влияют на рынок: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5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Международная напряженность, которая может нарушать мировые цепочки поставок (более </a:t>
            </a:r>
            <a: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50%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рынка сосредоточено</a:t>
            </a:r>
            <a:b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странах Азии)</a:t>
            </a:r>
            <a:b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спроса на чипы, который определяется не только ростом спроса на высокопроизводительные вычислительные устройства, но и ростом спроса на потребительскую электронику (смартфоны, ПК и др.)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Высокая стоимость развития локального производства (выражается не только в капитальных затратах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на строительство, закупку оборудования и технологии,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но и в качестве подготовки кадров, задействованных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производстве)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D6F73C-9B1E-46C1-B9BD-699A2788D76F}"/>
              </a:ext>
            </a:extLst>
          </p:cNvPr>
          <p:cNvSpPr txBox="1"/>
          <p:nvPr/>
        </p:nvSpPr>
        <p:spPr>
          <a:xfrm>
            <a:off x="365125" y="2322895"/>
            <a:ext cx="626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Ретроспективно, развитие электроники определялось двумя наблюдениями: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1D8014-1A5E-45FE-8731-FFE482F55B2A}"/>
              </a:ext>
            </a:extLst>
          </p:cNvPr>
          <p:cNvSpPr txBox="1"/>
          <p:nvPr/>
        </p:nvSpPr>
        <p:spPr>
          <a:xfrm>
            <a:off x="456378" y="6376132"/>
            <a:ext cx="6698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Фундаментально существуют ограничения на минимально возможные линейные размеры канала транзистора порядка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1.5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нм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(при меньших размерах проявляются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квантовомеханические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эффекты, устройства становятся неработоспособными)</a:t>
            </a:r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DA01A682-6FC8-4D74-9810-EF01CEFCA8B1}"/>
              </a:ext>
            </a:extLst>
          </p:cNvPr>
          <p:cNvSpPr/>
          <p:nvPr/>
        </p:nvSpPr>
        <p:spPr>
          <a:xfrm rot="16200000">
            <a:off x="7261226" y="1267512"/>
            <a:ext cx="537409" cy="14329611"/>
          </a:xfrm>
          <a:prstGeom prst="leftBrace">
            <a:avLst>
              <a:gd name="adj1" fmla="val 120273"/>
              <a:gd name="adj2" fmla="val 50000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32CAC8-C911-49E0-93B4-F9672BE7367C}"/>
              </a:ext>
            </a:extLst>
          </p:cNvPr>
          <p:cNvSpPr txBox="1"/>
          <p:nvPr/>
        </p:nvSpPr>
        <p:spPr>
          <a:xfrm>
            <a:off x="365125" y="9470219"/>
            <a:ext cx="14249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HelveticaNeueCyr" panose="02000503040000020004" pitchFamily="2" charset="-52"/>
              </a:rPr>
              <a:t>Поиск новых технологий (например квантовые вычисления, оптические интегральные схемы, </a:t>
            </a:r>
            <a:r>
              <a:rPr lang="ru-RU" sz="1600" dirty="0" err="1">
                <a:latin typeface="HelveticaNeueCyr" panose="02000503040000020004" pitchFamily="2" charset="-52"/>
              </a:rPr>
              <a:t>спинтроника</a:t>
            </a:r>
            <a:r>
              <a:rPr lang="ru-RU" sz="1600" dirty="0">
                <a:latin typeface="HelveticaNeueCyr" panose="02000503040000020004" pitchFamily="2" charset="-52"/>
              </a:rPr>
              <a:t> и др.), и новых программно-определяемых решений для вычислений (виртуализация вычислительных мощностей, вычисления на конечных устройствах пользователей, </a:t>
            </a:r>
            <a:r>
              <a:rPr lang="ru-RU" sz="1600" dirty="0" err="1">
                <a:latin typeface="HelveticaNeueCyr" panose="02000503040000020004" pitchFamily="2" charset="-52"/>
              </a:rPr>
              <a:t>дезагрегация</a:t>
            </a:r>
            <a:r>
              <a:rPr lang="ru-RU" sz="1600" dirty="0">
                <a:latin typeface="HelveticaNeueCyr" panose="02000503040000020004" pitchFamily="2" charset="-52"/>
              </a:rPr>
              <a:t> памяти)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A0FF2B0-FE97-4BC5-97AA-D47BDEDA1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6167" y="2009656"/>
            <a:ext cx="5725324" cy="323895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C8F06F5-B464-4D38-8091-6CC9D4A83494}"/>
              </a:ext>
            </a:extLst>
          </p:cNvPr>
          <p:cNvSpPr txBox="1"/>
          <p:nvPr/>
        </p:nvSpPr>
        <p:spPr>
          <a:xfrm>
            <a:off x="7622979" y="2621831"/>
            <a:ext cx="702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 pitchFamily="2" charset="-52"/>
              </a:rPr>
              <a:t>Сроки поставок чипов 2017-2022 гг., недели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8EF907B-7858-4A4D-A696-59C73F19286F}"/>
              </a:ext>
            </a:extLst>
          </p:cNvPr>
          <p:cNvSpPr/>
          <p:nvPr/>
        </p:nvSpPr>
        <p:spPr>
          <a:xfrm>
            <a:off x="212725" y="1129177"/>
            <a:ext cx="7023936" cy="6999591"/>
          </a:xfrm>
          <a:prstGeom prst="roundRect">
            <a:avLst>
              <a:gd name="adj" fmla="val 560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06BA755A-57EE-4ADB-A137-B625DAD3A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887" y="2898589"/>
            <a:ext cx="5837399" cy="172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4363672-D52E-4707-9D6C-6814C29DA744}"/>
              </a:ext>
            </a:extLst>
          </p:cNvPr>
          <p:cNvSpPr/>
          <p:nvPr/>
        </p:nvSpPr>
        <p:spPr>
          <a:xfrm>
            <a:off x="7409618" y="1129177"/>
            <a:ext cx="7204739" cy="6999591"/>
          </a:xfrm>
          <a:prstGeom prst="roundRect">
            <a:avLst>
              <a:gd name="adj" fmla="val 516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983AA-882B-496C-8DB2-534C8E122625}"/>
              </a:ext>
            </a:extLst>
          </p:cNvPr>
          <p:cNvSpPr txBox="1"/>
          <p:nvPr/>
        </p:nvSpPr>
        <p:spPr>
          <a:xfrm>
            <a:off x="365125" y="1351932"/>
            <a:ext cx="5719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1. Технические ограничения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C1D3F5-452F-49AF-92B8-9199C179AACB}"/>
              </a:ext>
            </a:extLst>
          </p:cNvPr>
          <p:cNvSpPr txBox="1"/>
          <p:nvPr/>
        </p:nvSpPr>
        <p:spPr>
          <a:xfrm>
            <a:off x="7529930" y="1372553"/>
            <a:ext cx="5354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2. Рыночные ограничения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9F351316-01E4-4E6E-A42A-FC0FFC40F796}"/>
              </a:ext>
            </a:extLst>
          </p:cNvPr>
          <p:cNvSpPr/>
          <p:nvPr/>
        </p:nvSpPr>
        <p:spPr>
          <a:xfrm flipV="1">
            <a:off x="203208" y="8879970"/>
            <a:ext cx="14411149" cy="1346591"/>
          </a:xfrm>
          <a:prstGeom prst="roundRect">
            <a:avLst>
              <a:gd name="adj" fmla="val 2666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8EC98D-317A-4B36-8084-AAC43D676FFC}"/>
              </a:ext>
            </a:extLst>
          </p:cNvPr>
          <p:cNvSpPr txBox="1"/>
          <p:nvPr/>
        </p:nvSpPr>
        <p:spPr>
          <a:xfrm>
            <a:off x="365125" y="9067819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3. Следствие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462F29B-E3A7-4564-A976-33306ECE24D9}"/>
              </a:ext>
            </a:extLst>
          </p:cNvPr>
          <p:cNvSpPr/>
          <p:nvPr/>
        </p:nvSpPr>
        <p:spPr>
          <a:xfrm>
            <a:off x="7558087" y="3351906"/>
            <a:ext cx="7102793" cy="6870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График нужно перерисовать, оригинал на полях</a:t>
            </a:r>
          </a:p>
        </p:txBody>
      </p:sp>
    </p:spTree>
    <p:extLst>
      <p:ext uri="{BB962C8B-B14F-4D97-AF65-F5344CB8AC3E}">
        <p14:creationId xmlns:p14="http://schemas.microsoft.com/office/powerpoint/2010/main" val="421456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Центральный процессор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BB88A57-BEF0-47DB-9A7B-8EE282669915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электронный блок или интегральная схема, исполняющая машинные инструкции (код программ), главная часть аппаратного обеспечения компьютера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352715-4AFC-4C3A-8114-BCD41DB38F63}"/>
              </a:ext>
            </a:extLst>
          </p:cNvPr>
          <p:cNvSpPr/>
          <p:nvPr/>
        </p:nvSpPr>
        <p:spPr>
          <a:xfrm>
            <a:off x="443796" y="1890935"/>
            <a:ext cx="4835529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Универсальность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Последовательная обработка данных</a:t>
            </a:r>
          </a:p>
          <a:p>
            <a:endParaRPr lang="ru-RU" sz="1600" b="1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Повседневные вычислительные задачи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Разработка и компиляция ПО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Обработка графики и использование для игр</a:t>
            </a:r>
          </a:p>
          <a:p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Небольшие модели могут быть напрямую обучены или точно настроены на </a:t>
            </a:r>
            <a:r>
              <a:rPr lang="ru-RU" sz="1600" dirty="0">
                <a:latin typeface="HelveticaNeueCyr" panose="02000503040000020004" pitchFamily="2" charset="-52"/>
              </a:rPr>
              <a:t>ЦП (</a:t>
            </a:r>
            <a:r>
              <a:rPr lang="en-US" sz="1600" dirty="0">
                <a:latin typeface="HelveticaNeueCyr" panose="02000503040000020004" pitchFamily="2" charset="-52"/>
              </a:rPr>
              <a:t>CPU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ЦП (</a:t>
            </a:r>
            <a:r>
              <a:rPr lang="en-US" sz="1600" dirty="0">
                <a:latin typeface="HelveticaNeueCyr" panose="02000503040000020004" pitchFamily="2" charset="-52"/>
              </a:rPr>
              <a:t>CPU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необходим в более крупных моделях как средство координации обучения на ГП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</a:t>
            </a:r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GPU)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 или ТП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(TPU) </a:t>
            </a:r>
            <a:endParaRPr lang="ru-RU" sz="16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Иногда используются для генерации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или обработки данных обучения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B590C0C-84D6-46B6-8FDB-8D6186D1E846}"/>
              </a:ext>
            </a:extLst>
          </p:cNvPr>
          <p:cNvSpPr/>
          <p:nvPr/>
        </p:nvSpPr>
        <p:spPr>
          <a:xfrm>
            <a:off x="453668" y="6449197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6817EAD-B5C6-4855-83CB-303E0DB99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37" y="7213228"/>
            <a:ext cx="1269886" cy="45061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E36266E-DE38-43BE-8085-6DF2BD079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224" b="27953"/>
          <a:stretch/>
        </p:blipFill>
        <p:spPr>
          <a:xfrm>
            <a:off x="453667" y="7963276"/>
            <a:ext cx="1573839" cy="45061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59B0EEA-B3BC-481F-AA47-CBE0DD21D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819" y="7213228"/>
            <a:ext cx="1269887" cy="45061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1A67274-0BFD-470D-9BB0-B660EB4D0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933" y="7427888"/>
            <a:ext cx="655254" cy="761078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CFA170D-A356-4F57-A3CC-50D7DF735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9818" y="7988670"/>
            <a:ext cx="1269887" cy="33943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F059995-BE00-4A1F-B82F-F66953B68B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667" y="9508636"/>
            <a:ext cx="2032257" cy="555114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43DA0815-F646-4CE9-ADB2-C171958FA3C8}"/>
              </a:ext>
            </a:extLst>
          </p:cNvPr>
          <p:cNvSpPr/>
          <p:nvPr/>
        </p:nvSpPr>
        <p:spPr>
          <a:xfrm>
            <a:off x="443796" y="8743546"/>
            <a:ext cx="4835529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3C0F638-65A9-44E6-BBFE-7974E838D0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3864" y="9456220"/>
            <a:ext cx="1915461" cy="60753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5AEC6C-B462-4C9B-9615-8065AE036D14}"/>
              </a:ext>
            </a:extLst>
          </p:cNvPr>
          <p:cNvSpPr/>
          <p:nvPr/>
        </p:nvSpPr>
        <p:spPr>
          <a:xfrm>
            <a:off x="5941924" y="7670428"/>
            <a:ext cx="30288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Основной процессор для всех информационных систем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 сервисов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B97EA5F-8436-430D-82BD-BAC45108CD94}"/>
              </a:ext>
            </a:extLst>
          </p:cNvPr>
          <p:cNvSpPr/>
          <p:nvPr/>
        </p:nvSpPr>
        <p:spPr>
          <a:xfrm>
            <a:off x="5941924" y="6903631"/>
            <a:ext cx="3028834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9AF9DE-11EF-46BE-9169-27876DB17157}"/>
              </a:ext>
            </a:extLst>
          </p:cNvPr>
          <p:cNvSpPr txBox="1"/>
          <p:nvPr/>
        </p:nvSpPr>
        <p:spPr>
          <a:xfrm>
            <a:off x="5882641" y="2015630"/>
            <a:ext cx="878586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Традиционно рынок вычислений и обработки данных ориентирован на использование ЦП</a:t>
            </a:r>
            <a:r>
              <a:rPr lang="en-US" sz="1600" b="1" dirty="0">
                <a:latin typeface="HelveticaNeueCyr" panose="02000503040000020004" pitchFamily="2" charset="-52"/>
              </a:rPr>
              <a:t> (CPU)</a:t>
            </a:r>
            <a:r>
              <a:rPr lang="ru-RU" sz="1600" b="1" dirty="0">
                <a:latin typeface="HelveticaNeueCyr" panose="02000503040000020004" pitchFamily="2" charset="-52"/>
              </a:rPr>
              <a:t>, этот компонент был самым дорогим в серверах общего назначения</a:t>
            </a:r>
            <a:br>
              <a:rPr lang="ru-RU" dirty="0">
                <a:latin typeface="Unbounded Medium" pitchFamily="2" charset="-52"/>
              </a:rPr>
            </a:br>
            <a:r>
              <a:rPr lang="ru-RU" dirty="0">
                <a:latin typeface="HelveticaNeueCyr" panose="02000503040000020004" pitchFamily="2" charset="-52"/>
              </a:rPr>
              <a:t>Спрос на ЦП по прогнозам будет снижаться из-за конкуренции традиционных ЦП с альтернативными вычислительными устройствами (ГП (</a:t>
            </a:r>
            <a:r>
              <a:rPr lang="en-US" dirty="0">
                <a:latin typeface="HelveticaNeueCyr" panose="02000503040000020004" pitchFamily="2" charset="-52"/>
              </a:rPr>
              <a:t>GPU</a:t>
            </a:r>
            <a:r>
              <a:rPr lang="ru-RU" dirty="0">
                <a:latin typeface="HelveticaNeueCyr" panose="02000503040000020004" pitchFamily="2" charset="-52"/>
              </a:rPr>
              <a:t>), специализированными ускорителями и др.)</a:t>
            </a:r>
            <a:endParaRPr lang="ru-RU" dirty="0">
              <a:latin typeface="Unbounded Medium" pitchFamily="2" charset="-52"/>
            </a:endParaRP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38962B51-CF93-40D7-BB26-61C2C1E912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0806219"/>
              </p:ext>
            </p:extLst>
          </p:nvPr>
        </p:nvGraphicFramePr>
        <p:xfrm>
          <a:off x="6135887" y="3754283"/>
          <a:ext cx="6023092" cy="2941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86B397A-99C5-4286-89FB-E8A80F5017CD}"/>
              </a:ext>
            </a:extLst>
          </p:cNvPr>
          <p:cNvSpPr txBox="1"/>
          <p:nvPr/>
        </p:nvSpPr>
        <p:spPr>
          <a:xfrm>
            <a:off x="12204699" y="4592307"/>
            <a:ext cx="2228857" cy="1197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*Сопроцессоры – графические процессоры </a:t>
            </a:r>
            <a:r>
              <a:rPr lang="en-US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(GPU)</a:t>
            </a: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, тензорные процессоры (</a:t>
            </a:r>
            <a:r>
              <a:rPr lang="en-US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TPU</a:t>
            </a: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) и другие специализированные интегральные схемы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035837C-9C57-405E-9C4C-EAF3B9111301}"/>
              </a:ext>
            </a:extLst>
          </p:cNvPr>
          <p:cNvSpPr/>
          <p:nvPr/>
        </p:nvSpPr>
        <p:spPr>
          <a:xfrm>
            <a:off x="5941924" y="3441452"/>
            <a:ext cx="75565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latin typeface="Unbounded SemiBold" pitchFamily="2" charset="-52"/>
              </a:rPr>
              <a:t>Оценка доли серверов с сопроцессорами, прогноз роста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A53C8CB-A6A3-4184-B7D6-8CF8CC92C416}"/>
              </a:ext>
            </a:extLst>
          </p:cNvPr>
          <p:cNvSpPr/>
          <p:nvPr/>
        </p:nvSpPr>
        <p:spPr>
          <a:xfrm>
            <a:off x="9607899" y="6859936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Дефицит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B6DDCA-7147-4BB8-A722-C6C3A6C6C553}"/>
              </a:ext>
            </a:extLst>
          </p:cNvPr>
          <p:cNvSpPr/>
          <p:nvPr/>
        </p:nvSpPr>
        <p:spPr>
          <a:xfrm>
            <a:off x="9607899" y="7554307"/>
            <a:ext cx="482565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Добавление сопроцессоров позволяет избавиться от необходимости увеличивать количество ЦП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(CPU)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, следовательно снижается вероятность возникновения дефицита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14B63DB-F9C1-45E2-8B9C-AE9D8B456653}"/>
              </a:ext>
            </a:extLst>
          </p:cNvPr>
          <p:cNvSpPr/>
          <p:nvPr/>
        </p:nvSpPr>
        <p:spPr>
          <a:xfrm>
            <a:off x="5930588" y="8736636"/>
            <a:ext cx="33729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37 304 шт.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– количество физических ЦП</a:t>
            </a:r>
          </a:p>
          <a:p>
            <a:endParaRPr lang="ru-RU" sz="16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До 100%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нагрузки, так как используется виртуализация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65B1CCF-C5BB-4A4A-AAE6-F09CAE95B067}"/>
              </a:ext>
            </a:extLst>
          </p:cNvPr>
          <p:cNvSpPr/>
          <p:nvPr/>
        </p:nvSpPr>
        <p:spPr>
          <a:xfrm>
            <a:off x="5941924" y="6903631"/>
            <a:ext cx="3028834" cy="324090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8DB2B93-57DD-4B89-9934-3568D37F301F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2294995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Графический процессор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B346811-B021-46F2-96B4-C6E2BECA5D6E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специализированная электронная схема, которая может выполнять математические вычисления с высокой скоростью. Используется для таких задач как рендеринг графики, машинное обучение, редактирование видео и пр.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370C80-4B60-4861-9D95-515A6801E279}"/>
              </a:ext>
            </a:extLst>
          </p:cNvPr>
          <p:cNvSpPr/>
          <p:nvPr/>
        </p:nvSpPr>
        <p:spPr>
          <a:xfrm>
            <a:off x="447671" y="2015630"/>
            <a:ext cx="492676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Параллельная обработка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Высокая пропускная способность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Использование для графического рендеринга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Приложения с интенсивной графикой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Глубокое обучение, а также тренировка нейронных сетей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Анализ данных и научные вычисления</a:t>
            </a:r>
          </a:p>
          <a:p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Выполнение определенных математических операций, которые также распространены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в машинном обучении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Наиболее распространенный вариант ускорителя для обучения моделей ИИ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C8646F9-96D5-4085-AA50-A76B7B79CD9B}"/>
              </a:ext>
            </a:extLst>
          </p:cNvPr>
          <p:cNvSpPr/>
          <p:nvPr/>
        </p:nvSpPr>
        <p:spPr>
          <a:xfrm>
            <a:off x="453668" y="6449197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714EA39-B5A2-4236-8CEA-BE0587EBC8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224" b="27953"/>
          <a:stretch/>
        </p:blipFill>
        <p:spPr>
          <a:xfrm>
            <a:off x="3705486" y="7199796"/>
            <a:ext cx="1573839" cy="4506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E1BDC9-D695-431C-B7E2-1DDBE9208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671" y="7203151"/>
            <a:ext cx="1264079" cy="45061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9453F75-F7D1-474B-940C-3BAAB5614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672" y="8023366"/>
            <a:ext cx="1269887" cy="339435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0F0C86C-A40F-4270-BE6D-92FAD6C5E456}"/>
              </a:ext>
            </a:extLst>
          </p:cNvPr>
          <p:cNvSpPr/>
          <p:nvPr/>
        </p:nvSpPr>
        <p:spPr>
          <a:xfrm>
            <a:off x="443796" y="8743546"/>
            <a:ext cx="4835529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850C9A4-8798-438E-8910-D1F31EA59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668" y="7088940"/>
            <a:ext cx="1264078" cy="135067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A4DA3C4-7B02-4DEC-96D2-9736E39DA6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485" y="7764279"/>
            <a:ext cx="1573839" cy="857607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3C61156-BD3A-44F0-A6EF-00FBC23EC8F9}"/>
              </a:ext>
            </a:extLst>
          </p:cNvPr>
          <p:cNvSpPr/>
          <p:nvPr/>
        </p:nvSpPr>
        <p:spPr>
          <a:xfrm>
            <a:off x="453668" y="9606179"/>
            <a:ext cx="2778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b="1" dirty="0">
                <a:solidFill>
                  <a:schemeClr val="tx1"/>
                </a:solidFill>
                <a:latin typeface="HelveticaNeueCyr" panose="020B0604020202020204" charset="-52"/>
              </a:rPr>
              <a:t>Не производится в РФ</a:t>
            </a:r>
            <a:endParaRPr lang="ru-RU" sz="1800" b="1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69A73D7-08EA-45CE-A6C9-F6400F8BED58}"/>
              </a:ext>
            </a:extLst>
          </p:cNvPr>
          <p:cNvSpPr/>
          <p:nvPr/>
        </p:nvSpPr>
        <p:spPr>
          <a:xfrm>
            <a:off x="6048604" y="6446431"/>
            <a:ext cx="3028834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312295E-3996-425A-AA0C-DB74AAE202D7}"/>
              </a:ext>
            </a:extLst>
          </p:cNvPr>
          <p:cNvSpPr/>
          <p:nvPr/>
        </p:nvSpPr>
        <p:spPr>
          <a:xfrm>
            <a:off x="6043668" y="7120781"/>
            <a:ext cx="30288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Закупается для нужд искусственного интеллекта, рендеринга видео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32FD75-79A6-44F0-91F2-664144AEBDBC}"/>
              </a:ext>
            </a:extLst>
          </p:cNvPr>
          <p:cNvSpPr/>
          <p:nvPr/>
        </p:nvSpPr>
        <p:spPr>
          <a:xfrm>
            <a:off x="9846722" y="7081552"/>
            <a:ext cx="4825657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Unbounded SemiBold" pitchFamily="2" charset="-52"/>
              </a:rPr>
              <a:t>Причины: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Проблемы с глобальными цепочками поставок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Влияние криптовалюты, требующей ГП для майнинга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Рост спроса из-за развития и распространения генеративного ИИ, в частности, больших языковых моделей (LLM)</a:t>
            </a:r>
          </a:p>
          <a:p>
            <a:endParaRPr lang="ru-RU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chemeClr val="tx1"/>
                </a:solidFill>
                <a:latin typeface="Unbounded SemiBold" pitchFamily="2" charset="-52"/>
              </a:rPr>
              <a:t>Инициативы в мире по снижению дефицитности: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Выпуск чипов специально предназначенных</a:t>
            </a:r>
            <a:b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для приложений ИИ (например, </a:t>
            </a:r>
            <a:r>
              <a:rPr lang="en-US" dirty="0">
                <a:solidFill>
                  <a:schemeClr val="tx1"/>
                </a:solidFill>
                <a:latin typeface="HelveticaNeueCyr" panose="020B0604020202020204" charset="-52"/>
              </a:rPr>
              <a:t>NVIDIA</a:t>
            </a: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Регулирование майнинга криптовалют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A90032A-3A72-42CF-A78A-CE877F8CBC87}"/>
              </a:ext>
            </a:extLst>
          </p:cNvPr>
          <p:cNvSpPr/>
          <p:nvPr/>
        </p:nvSpPr>
        <p:spPr>
          <a:xfrm>
            <a:off x="9836851" y="6446431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Дефицит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2D3102-6571-4571-B1F4-899D6567FDF0}"/>
              </a:ext>
            </a:extLst>
          </p:cNvPr>
          <p:cNvSpPr txBox="1"/>
          <p:nvPr/>
        </p:nvSpPr>
        <p:spPr>
          <a:xfrm>
            <a:off x="5882641" y="2015630"/>
            <a:ext cx="8243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Unbounded Medium" pitchFamily="2" charset="-52"/>
              </a:rPr>
              <a:t>Прогнозируемый процентный рост спроса на ГП (</a:t>
            </a:r>
            <a:r>
              <a:rPr lang="en-US" dirty="0">
                <a:latin typeface="Unbounded Medium" pitchFamily="2" charset="-52"/>
              </a:rPr>
              <a:t>GPU</a:t>
            </a:r>
            <a:r>
              <a:rPr lang="ru-RU" dirty="0">
                <a:latin typeface="Unbounded Medium" pitchFamily="2" charset="-52"/>
              </a:rPr>
              <a:t>) к 2026 году в ЦОД, при сценариях быстрого внедрения ИИ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2C5F894-2539-462F-9A75-390D24C03346}"/>
              </a:ext>
            </a:extLst>
          </p:cNvPr>
          <p:cNvGrpSpPr/>
          <p:nvPr/>
        </p:nvGrpSpPr>
        <p:grpSpPr>
          <a:xfrm>
            <a:off x="5971883" y="2600325"/>
            <a:ext cx="4572000" cy="1061187"/>
            <a:chOff x="5971883" y="2600325"/>
            <a:chExt cx="4572000" cy="1061187"/>
          </a:xfrm>
        </p:grpSpPr>
        <p:graphicFrame>
          <p:nvGraphicFramePr>
            <p:cNvPr id="22" name="Диаграмма 21">
              <a:extLst>
                <a:ext uri="{FF2B5EF4-FFF2-40B4-BE49-F238E27FC236}">
                  <a16:creationId xmlns:a16="http://schemas.microsoft.com/office/drawing/2014/main" id="{0AC6DEE3-C35F-4B6E-B7E9-8E0DFE42355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97634224"/>
                </p:ext>
              </p:extLst>
            </p:nvPr>
          </p:nvGraphicFramePr>
          <p:xfrm>
            <a:off x="5971883" y="2600325"/>
            <a:ext cx="4572000" cy="106118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88060D2B-D3EA-475B-9B5B-685CD2B5B625}"/>
                </a:ext>
              </a:extLst>
            </p:cNvPr>
            <p:cNvSpPr/>
            <p:nvPr/>
          </p:nvSpPr>
          <p:spPr>
            <a:xfrm>
              <a:off x="9570634" y="2692726"/>
              <a:ext cx="86914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HelveticaNeueCyr" panose="020B0604020202020204" charset="-52"/>
                </a:rPr>
                <a:t>5%-10%</a:t>
              </a:r>
              <a:endParaRPr lang="ru-RU" dirty="0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8C3EE791-7B6C-4223-A419-DFFF8E986452}"/>
                </a:ext>
              </a:extLst>
            </p:cNvPr>
            <p:cNvSpPr/>
            <p:nvPr/>
          </p:nvSpPr>
          <p:spPr>
            <a:xfrm>
              <a:off x="7984969" y="3149580"/>
              <a:ext cx="7697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HelveticaNeueCyr" panose="020B0604020202020204" charset="-52"/>
                </a:rPr>
                <a:t>1%-5%</a:t>
              </a:r>
              <a:endParaRPr lang="ru-RU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8A0D965-B23F-47F6-A3A6-947839547E68}"/>
              </a:ext>
            </a:extLst>
          </p:cNvPr>
          <p:cNvSpPr txBox="1"/>
          <p:nvPr/>
        </p:nvSpPr>
        <p:spPr>
          <a:xfrm>
            <a:off x="5882640" y="3654206"/>
            <a:ext cx="46612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В мире: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Основной производитель интегральных микросхем </a:t>
            </a:r>
            <a:r>
              <a:rPr lang="en-US" sz="1600" dirty="0">
                <a:latin typeface="HelveticaNeueCyr" panose="02000503040000020004" pitchFamily="2" charset="-52"/>
              </a:rPr>
              <a:t>TSMC</a:t>
            </a:r>
            <a:r>
              <a:rPr lang="ru-RU" sz="1600" dirty="0">
                <a:latin typeface="HelveticaNeueCyr" panose="02000503040000020004" pitchFamily="2" charset="-52"/>
              </a:rPr>
              <a:t> (осуществляет производство </a:t>
            </a:r>
            <a:r>
              <a:rPr lang="en-US" sz="1600" dirty="0">
                <a:latin typeface="HelveticaNeueCyr" panose="02000503040000020004" pitchFamily="2" charset="-52"/>
              </a:rPr>
              <a:t>Nvidia A100 </a:t>
            </a:r>
            <a:r>
              <a:rPr lang="ru-RU" sz="1600" dirty="0">
                <a:latin typeface="HelveticaNeueCyr" panose="02000503040000020004" pitchFamily="2" charset="-52"/>
              </a:rPr>
              <a:t>и </a:t>
            </a:r>
            <a:r>
              <a:rPr lang="en-US" sz="1600" dirty="0">
                <a:latin typeface="HelveticaNeueCyr" panose="02000503040000020004" pitchFamily="2" charset="-52"/>
              </a:rPr>
              <a:t>H100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  <a:r>
              <a:rPr lang="ru-RU" sz="1600" dirty="0">
                <a:latin typeface="HelveticaNeueCyr" panose="02000503040000020004" pitchFamily="2" charset="-52"/>
              </a:rPr>
              <a:t>заявляет, что не может удовлетворить растущие потребности из-за ограниченных мощностей компании в части производства по технологии </a:t>
            </a:r>
            <a:r>
              <a:rPr lang="en-US" sz="1600" dirty="0" err="1">
                <a:latin typeface="HelveticaNeueCyr" panose="02000503040000020004" pitchFamily="2" charset="-52"/>
              </a:rPr>
              <a:t>CoWoS</a:t>
            </a:r>
            <a:r>
              <a:rPr lang="en-US" sz="1600" dirty="0">
                <a:latin typeface="HelveticaNeueCyr" panose="02000503040000020004" pitchFamily="2" charset="-52"/>
              </a:rPr>
              <a:t> (Chip-on-Wafer-on-Substrate)</a:t>
            </a:r>
            <a:r>
              <a:rPr lang="ru-RU" sz="1600" dirty="0">
                <a:latin typeface="HelveticaNeueCyr" panose="02000503040000020004" pitchFamily="2" charset="-52"/>
              </a:rPr>
              <a:t>, которая позволяет создавать высокопроизводительные вычислительные устройства</a:t>
            </a:r>
          </a:p>
          <a:p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C19DC-46D3-41F2-BD65-E911BE73227B}"/>
              </a:ext>
            </a:extLst>
          </p:cNvPr>
          <p:cNvSpPr txBox="1"/>
          <p:nvPr/>
        </p:nvSpPr>
        <p:spPr>
          <a:xfrm>
            <a:off x="10482837" y="3620115"/>
            <a:ext cx="466124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В РФ: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Поставки высокопроизводительных графических процессоров </a:t>
            </a:r>
            <a:r>
              <a:rPr lang="en-US" sz="1600" dirty="0">
                <a:latin typeface="HelveticaNeueCyr" panose="02000503040000020004" pitchFamily="2" charset="-52"/>
              </a:rPr>
              <a:t>Nvidia A100 </a:t>
            </a:r>
            <a:r>
              <a:rPr lang="ru-RU" sz="1600" dirty="0">
                <a:latin typeface="HelveticaNeueCyr" panose="02000503040000020004" pitchFamily="2" charset="-52"/>
              </a:rPr>
              <a:t>и </a:t>
            </a:r>
            <a:r>
              <a:rPr lang="en-US" sz="1600" dirty="0">
                <a:latin typeface="HelveticaNeueCyr" panose="02000503040000020004" pitchFamily="2" charset="-52"/>
              </a:rPr>
              <a:t>H100</a:t>
            </a:r>
            <a:r>
              <a:rPr lang="ru-RU" sz="1600" dirty="0">
                <a:latin typeface="HelveticaNeueCyr" panose="02000503040000020004" pitchFamily="2" charset="-52"/>
              </a:rPr>
              <a:t>, </a:t>
            </a:r>
            <a:r>
              <a:rPr lang="en-US" sz="1600" dirty="0">
                <a:latin typeface="HelveticaNeueCyr" panose="02000503040000020004" pitchFamily="2" charset="-52"/>
              </a:rPr>
              <a:t>AMD Instinct MI250</a:t>
            </a:r>
            <a:r>
              <a:rPr lang="ru-RU" sz="1600" dirty="0">
                <a:latin typeface="HelveticaNeueCyr" panose="02000503040000020004" pitchFamily="2" charset="-52"/>
              </a:rPr>
              <a:t> </a:t>
            </a:r>
            <a:r>
              <a:rPr lang="ru-RU" sz="1600">
                <a:latin typeface="HelveticaNeueCyr" panose="02000503040000020004" pitchFamily="2" charset="-52"/>
              </a:rPr>
              <a:t>под санкциями</a:t>
            </a:r>
            <a:endParaRPr lang="ru-RU" sz="1600" dirty="0">
              <a:latin typeface="HelveticaNeueCyr" panose="02000503040000020004" pitchFamily="2" charset="-52"/>
            </a:endParaRPr>
          </a:p>
          <a:p>
            <a:endParaRPr lang="ru-RU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74A1B78-0A1F-4EAD-AE65-E01375D729AE}"/>
              </a:ext>
            </a:extLst>
          </p:cNvPr>
          <p:cNvSpPr/>
          <p:nvPr/>
        </p:nvSpPr>
        <p:spPr>
          <a:xfrm>
            <a:off x="6032188" y="8050836"/>
            <a:ext cx="313029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4 032 ГБ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используется для рендеринга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3 200 ГБ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используется для рендеринга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До 100%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нагрузки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DB9F07EA-8009-41A7-AF85-5EDAECF5697C}"/>
              </a:ext>
            </a:extLst>
          </p:cNvPr>
          <p:cNvSpPr/>
          <p:nvPr/>
        </p:nvSpPr>
        <p:spPr>
          <a:xfrm>
            <a:off x="6043524" y="6446431"/>
            <a:ext cx="3028834" cy="352908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C02AB36-D9B7-481F-992F-2AF0A0F7DAF1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5561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29780" y="10222964"/>
            <a:ext cx="755650" cy="24622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Нейронный и тензорный процессор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BEFC215-3D1C-4D6B-A126-A03F3B18A846}"/>
              </a:ext>
            </a:extLst>
          </p:cNvPr>
          <p:cNvSpPr/>
          <p:nvPr/>
        </p:nvSpPr>
        <p:spPr>
          <a:xfrm>
            <a:off x="447672" y="908392"/>
            <a:ext cx="14158794" cy="1393781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Нейронные процессоры (НП) – специализированный класс микропроцессоров и сопроцессоров, используемый для аппаратного ускорения работы алгоритмов искусственных нейронных сетей, компьютерного зрения, распознавания по голосу, машинного обучения и других методов ИИ. Одним из видов НП является тензорный процессор (ТП), предназначенный для выполнения высокопроизводительных вычислений с пониженной точностью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0A05F0-141E-4D4B-BAA4-8832FB896CD6}"/>
              </a:ext>
            </a:extLst>
          </p:cNvPr>
          <p:cNvSpPr/>
          <p:nvPr/>
        </p:nvSpPr>
        <p:spPr>
          <a:xfrm>
            <a:off x="458663" y="2443990"/>
            <a:ext cx="523512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Параллельная обработка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Высокая пропускная способность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и эффективность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Низкая точность для снижения энергопотребления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Для использования необходимы специализированные навыки</a:t>
            </a:r>
          </a:p>
          <a:p>
            <a:endParaRPr lang="ru-RU" sz="1600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Применяются в различных сферах: интернет вещей, распознавание образов и др.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Глубокое обучение, тренировка нейронных сетей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Анализ данных и научные вычисления</a:t>
            </a:r>
          </a:p>
          <a:p>
            <a:endParaRPr lang="ru-RU" sz="1600" b="1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Разработан специально для применения в задачах машинного обучения и других задачах 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Обучение и поддержка работоспособности  моделей нейронных сетей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DFB645D-46E3-4B81-9965-B5D2C09C3704}"/>
              </a:ext>
            </a:extLst>
          </p:cNvPr>
          <p:cNvSpPr/>
          <p:nvPr/>
        </p:nvSpPr>
        <p:spPr>
          <a:xfrm>
            <a:off x="458662" y="7126405"/>
            <a:ext cx="523512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EF05364-CDC9-40C0-94B2-B4D4B2736215}"/>
              </a:ext>
            </a:extLst>
          </p:cNvPr>
          <p:cNvSpPr/>
          <p:nvPr/>
        </p:nvSpPr>
        <p:spPr>
          <a:xfrm>
            <a:off x="448790" y="8893933"/>
            <a:ext cx="523512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0909B0F-F672-47C2-9523-5C588F40A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178" y="8407910"/>
            <a:ext cx="1847910" cy="34225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5C6376F-8F45-44AE-BB91-BBC7B3C61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10" y="7796216"/>
            <a:ext cx="1055681" cy="37460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531EA21-6546-440F-BA3B-D66A65874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851" y="7790349"/>
            <a:ext cx="1141067" cy="3804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A5B9BC4-3E3A-4BC8-969F-0922AFC151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5396" y="8293296"/>
            <a:ext cx="406642" cy="47231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003ED4-EE8D-4DB5-AA77-A43647C00B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1178" y="7571234"/>
            <a:ext cx="1747658" cy="84121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F0A5394-1698-4EBB-80CA-0E6A6925B2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582" y="9189146"/>
            <a:ext cx="1744954" cy="11790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4E84CA5-5127-4591-8949-F1C53D3FA1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89294" y="9506252"/>
            <a:ext cx="1725426" cy="580372"/>
          </a:xfrm>
          <a:prstGeom prst="rect">
            <a:avLst/>
          </a:prstGeom>
        </p:spPr>
      </p:pic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5FF02A7F-96F9-4222-9225-803C1062E5A7}"/>
              </a:ext>
            </a:extLst>
          </p:cNvPr>
          <p:cNvSpPr/>
          <p:nvPr/>
        </p:nvSpPr>
        <p:spPr>
          <a:xfrm>
            <a:off x="6196009" y="6688416"/>
            <a:ext cx="3028834" cy="636666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425FDD1-0120-49AA-991B-D6FAD1982081}"/>
              </a:ext>
            </a:extLst>
          </p:cNvPr>
          <p:cNvSpPr/>
          <p:nvPr/>
        </p:nvSpPr>
        <p:spPr>
          <a:xfrm>
            <a:off x="9863784" y="2454174"/>
            <a:ext cx="480471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Разработка НП в РФ: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 июне 2024 года российские ученые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из МФТИ начали разрабатывать первый отечественный нейристор (искусственный нейрон, способный имитировать работу человеческого мозга), который станет основой для создания </a:t>
            </a:r>
            <a:r>
              <a:rPr lang="ru-RU" sz="1600" dirty="0" err="1">
                <a:latin typeface="HelveticaNeueCyr" panose="020B0604020202020204" charset="-52"/>
              </a:rPr>
              <a:t>нейроморфного</a:t>
            </a:r>
            <a:r>
              <a:rPr lang="ru-RU" sz="1600" dirty="0">
                <a:latin typeface="HelveticaNeueCyr" panose="020B0604020202020204" charset="-52"/>
              </a:rPr>
              <a:t> компьютера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Компания «Мотив </a:t>
            </a:r>
            <a:r>
              <a:rPr lang="ru-RU" sz="1600" dirty="0" err="1">
                <a:latin typeface="HelveticaNeueCyr" panose="020B0604020202020204" charset="-52"/>
              </a:rPr>
              <a:t>нейроморфные</a:t>
            </a:r>
            <a:r>
              <a:rPr lang="ru-RU" sz="1600" dirty="0">
                <a:latin typeface="HelveticaNeueCyr" panose="020B0604020202020204" charset="-52"/>
              </a:rPr>
              <a:t> технологии» («Мотив НТ») представила в 2019 году прототип </a:t>
            </a:r>
            <a:r>
              <a:rPr lang="ru-RU" sz="1600" dirty="0" err="1">
                <a:latin typeface="HelveticaNeueCyr" panose="020B0604020202020204" charset="-52"/>
              </a:rPr>
              <a:t>нейроморфного</a:t>
            </a:r>
            <a:r>
              <a:rPr lang="ru-RU" sz="1600" dirty="0">
                <a:latin typeface="HelveticaNeueCyr" panose="020B0604020202020204" charset="-52"/>
              </a:rPr>
              <a:t> процессора «Алтай», а в 2023 году процессор «Алтай 2.0». К 2025 году планируется реализация процессора «Алтай 3.0», ключевой особенностью которого будет обучение ИИ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5D3DF23-1090-4EC5-BFD1-87B912C53AA8}"/>
              </a:ext>
            </a:extLst>
          </p:cNvPr>
          <p:cNvSpPr/>
          <p:nvPr/>
        </p:nvSpPr>
        <p:spPr>
          <a:xfrm>
            <a:off x="6208710" y="2454174"/>
            <a:ext cx="3028833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Виды нейронных процессоров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617177-BA0D-4F1E-A173-72B63347F0A5}"/>
              </a:ext>
            </a:extLst>
          </p:cNvPr>
          <p:cNvSpPr/>
          <p:nvPr/>
        </p:nvSpPr>
        <p:spPr>
          <a:xfrm>
            <a:off x="6208709" y="3042729"/>
            <a:ext cx="302883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HelveticaNeueCyr" panose="020B0604020202020204" charset="-52"/>
              </a:rPr>
              <a:t>Нейроморфные</a:t>
            </a:r>
            <a:endParaRPr lang="ru-RU" sz="1600" dirty="0"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Тензорные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Процессоры машинного зрения </a:t>
            </a:r>
            <a:endParaRPr lang="ru-RU" sz="16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BFE98E2-C057-47E2-95ED-36FC5ABD3B8E}"/>
              </a:ext>
            </a:extLst>
          </p:cNvPr>
          <p:cNvSpPr/>
          <p:nvPr/>
        </p:nvSpPr>
        <p:spPr>
          <a:xfrm>
            <a:off x="6208709" y="7412425"/>
            <a:ext cx="30288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ТП закупаются для нужд искусственного интеллекта, рендеринга видео</a:t>
            </a:r>
          </a:p>
        </p:txBody>
      </p:sp>
      <p:pic>
        <p:nvPicPr>
          <p:cNvPr id="11" name="Рисунок 26">
            <a:extLst>
              <a:ext uri="{FF2B5EF4-FFF2-40B4-BE49-F238E27FC236}">
                <a16:creationId xmlns:a16="http://schemas.microsoft.com/office/drawing/2014/main" id="{3E4390E6-700F-4947-AA72-CA6E309DE3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255" y="8293296"/>
            <a:ext cx="1557609" cy="57148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FD55002-D4CE-4341-8CFB-7E0D0217C6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0478" y="9433783"/>
            <a:ext cx="1058751" cy="716651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A9EAFC4-1EBA-4EBB-BD07-F15387EC6710}"/>
              </a:ext>
            </a:extLst>
          </p:cNvPr>
          <p:cNvSpPr/>
          <p:nvPr/>
        </p:nvSpPr>
        <p:spPr>
          <a:xfrm>
            <a:off x="447671" y="10146001"/>
            <a:ext cx="5180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latin typeface="HelveticaNeueCyr" panose="02000503040000020004" pitchFamily="2" charset="-52"/>
              </a:rPr>
              <a:t>*IVA TPU</a:t>
            </a:r>
            <a:r>
              <a:rPr lang="ru-RU" sz="900" dirty="0">
                <a:latin typeface="HelveticaNeueCyr" panose="02000503040000020004" pitchFamily="2" charset="-52"/>
              </a:rPr>
              <a:t> – проект российской компании, презентация проведена в сентябре 2018 года </a:t>
            </a:r>
            <a:br>
              <a:rPr lang="ru-RU" sz="900" dirty="0">
                <a:latin typeface="HelveticaNeueCyr" panose="02000503040000020004" pitchFamily="2" charset="-52"/>
              </a:rPr>
            </a:br>
            <a:r>
              <a:rPr lang="ru-RU" sz="900" dirty="0">
                <a:latin typeface="HelveticaNeueCyr" panose="02000503040000020004" pitchFamily="2" charset="-52"/>
              </a:rPr>
              <a:t>На данный момент на сайте компании не представлена, с 2020 года нет публичных новостей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6202E0F-26ED-4456-9B2D-04E70F46E905}"/>
              </a:ext>
            </a:extLst>
          </p:cNvPr>
          <p:cNvSpPr/>
          <p:nvPr/>
        </p:nvSpPr>
        <p:spPr>
          <a:xfrm>
            <a:off x="5359905" y="9452637"/>
            <a:ext cx="2680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HelveticaNeueCyr" panose="02000503040000020004" pitchFamily="2" charset="-52"/>
              </a:rPr>
              <a:t>*</a:t>
            </a:r>
            <a:endParaRPr lang="ru-RU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C36D03-14FA-456A-BED1-EA877AA63AA2}"/>
              </a:ext>
            </a:extLst>
          </p:cNvPr>
          <p:cNvSpPr txBox="1"/>
          <p:nvPr/>
        </p:nvSpPr>
        <p:spPr>
          <a:xfrm>
            <a:off x="9863784" y="6274843"/>
            <a:ext cx="474268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Разработка НП и ТП в мире: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 настоящее время </a:t>
            </a:r>
            <a:r>
              <a:rPr lang="ru-RU" sz="1600" b="1" dirty="0">
                <a:solidFill>
                  <a:srgbClr val="0F24E7"/>
                </a:solidFill>
                <a:latin typeface="HelveticaNeueCyr" panose="02000503040000020004" pitchFamily="2" charset="-52"/>
              </a:rPr>
              <a:t>ТП производится и используется только компанией </a:t>
            </a:r>
            <a:r>
              <a:rPr lang="en-US" sz="1600" b="1" dirty="0">
                <a:solidFill>
                  <a:srgbClr val="0F24E7"/>
                </a:solidFill>
                <a:latin typeface="HelveticaNeueCyr" panose="02000503040000020004" pitchFamily="2" charset="-52"/>
              </a:rPr>
              <a:t>Google</a:t>
            </a:r>
            <a:r>
              <a:rPr lang="en-US" sz="1600" dirty="0">
                <a:latin typeface="HelveticaNeueCyr" panose="02000503040000020004" pitchFamily="2" charset="-52"/>
              </a:rPr>
              <a:t>. </a:t>
            </a:r>
            <a:r>
              <a:rPr lang="ru-RU" sz="1600" dirty="0">
                <a:latin typeface="HelveticaNeueCyr" panose="02000503040000020004" pitchFamily="2" charset="-52"/>
              </a:rPr>
              <a:t>Процессоры не продаются в формате физического вычислительного устройства. Использовать </a:t>
            </a:r>
            <a:r>
              <a:rPr lang="en-US" sz="1600" dirty="0">
                <a:latin typeface="HelveticaNeueCyr" panose="02000503040000020004" pitchFamily="2" charset="-52"/>
              </a:rPr>
              <a:t>Google Cloud TPU </a:t>
            </a:r>
            <a:r>
              <a:rPr lang="ru-RU" sz="1600" dirty="0">
                <a:latin typeface="HelveticaNeueCyr" panose="02000503040000020004" pitchFamily="2" charset="-52"/>
              </a:rPr>
              <a:t>возможно через аренду облачных вычислительных мощностей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 декабре 2023 года австралийские ученые анонсировали проект </a:t>
            </a:r>
            <a:r>
              <a:rPr lang="ru-RU" sz="1600" dirty="0" err="1">
                <a:latin typeface="HelveticaNeueCyr" panose="02000503040000020004" pitchFamily="2" charset="-52"/>
              </a:rPr>
              <a:t>нейроморфного</a:t>
            </a:r>
            <a:r>
              <a:rPr lang="ru-RU" sz="1600" dirty="0">
                <a:latin typeface="HelveticaNeueCyr" panose="02000503040000020004" pitchFamily="2" charset="-52"/>
              </a:rPr>
              <a:t> суперкомпьютера нового типа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00503040000020004" pitchFamily="2" charset="-52"/>
              </a:rPr>
              <a:t>DeepSouth</a:t>
            </a:r>
            <a:r>
              <a:rPr lang="ru-RU" sz="1600" dirty="0">
                <a:latin typeface="HelveticaNeueCyr" panose="02000503040000020004" pitchFamily="2" charset="-52"/>
              </a:rPr>
              <a:t>, который способен моделировать нейронные сети масштаба человеческого мозга и будет обрабатывать огромные объемы данных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с высокой скоростью, потребляя меньше энергии, чем обычные суперкомпьютеры</a:t>
            </a:r>
            <a:endParaRPr lang="ru-RU" sz="1600" b="1" dirty="0">
              <a:solidFill>
                <a:srgbClr val="0F24E7"/>
              </a:solidFill>
              <a:highlight>
                <a:srgbClr val="FFFF00"/>
              </a:highlight>
              <a:latin typeface="HelveticaNeueCyr" panose="02000503040000020004" pitchFamily="2" charset="-52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324FD6E-5FF3-4AF5-BADE-B4D40EF887B8}"/>
              </a:ext>
            </a:extLst>
          </p:cNvPr>
          <p:cNvSpPr/>
          <p:nvPr/>
        </p:nvSpPr>
        <p:spPr>
          <a:xfrm>
            <a:off x="6184588" y="8342936"/>
            <a:ext cx="3130291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4 видеокарты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с тензорными сопроцессорами используется для тестов 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2025 год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ожидаемый срок основной поставки мощностей в рамках создания кластера ИИ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4D5FA7A-D73C-456D-81E1-CA8E98E87677}"/>
              </a:ext>
            </a:extLst>
          </p:cNvPr>
          <p:cNvSpPr/>
          <p:nvPr/>
        </p:nvSpPr>
        <p:spPr>
          <a:xfrm>
            <a:off x="6195924" y="6675031"/>
            <a:ext cx="3028834" cy="3693138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EA672C0-1775-4B9C-9967-7A53A14790A4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084854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Квантовый компьютер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EFF3E60-4717-43A8-B9E2-5540B95713D0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устройство, которое выполняет вычисления, основываясь на законах квантовой механики</a:t>
            </a:r>
            <a:endParaRPr lang="ru-RU" sz="1800" kern="1200" dirty="0">
              <a:solidFill>
                <a:schemeClr val="tx1"/>
              </a:solidFill>
              <a:latin typeface="HelveticaNeueCyr" panose="020B0604020202020204" charset="-52"/>
              <a:cs typeface="Wix Madefor Display" panose="020B0503020203020203" pitchFamily="34" charset="-52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CB0B50F-7BA9-4B61-A6FB-F8BF0EF4501E}"/>
              </a:ext>
            </a:extLst>
          </p:cNvPr>
          <p:cNvSpPr/>
          <p:nvPr/>
        </p:nvSpPr>
        <p:spPr>
          <a:xfrm>
            <a:off x="453669" y="7082757"/>
            <a:ext cx="414378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772AA5D-EDC1-4139-AA1D-EA16E2C51BA5}"/>
              </a:ext>
            </a:extLst>
          </p:cNvPr>
          <p:cNvSpPr/>
          <p:nvPr/>
        </p:nvSpPr>
        <p:spPr>
          <a:xfrm>
            <a:off x="502441" y="8776862"/>
            <a:ext cx="4095015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7DABFDE-B079-4CA0-982A-179887B44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48" y="9016492"/>
            <a:ext cx="1722044" cy="116354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D3CDF88-7EE6-4CED-939E-AC05214A7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589" y="9289533"/>
            <a:ext cx="1628345" cy="80399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E0F0D40-4D4D-486B-B1F1-50CBD4186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3652" y="9260809"/>
            <a:ext cx="1163544" cy="1163544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7414608-543E-4B8C-B654-C1BF5EC1C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79" y="9837314"/>
            <a:ext cx="1521924" cy="674724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5889190-B890-49B4-AA07-AC53E940126F}"/>
              </a:ext>
            </a:extLst>
          </p:cNvPr>
          <p:cNvSpPr/>
          <p:nvPr/>
        </p:nvSpPr>
        <p:spPr>
          <a:xfrm>
            <a:off x="447671" y="1937651"/>
            <a:ext cx="4143788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Работа на основе принципов квантовой механики, основной элемент – квантовый бит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Параллельная обработка данных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с возможностью одновременного перебора всех вариантов ответов</a:t>
            </a:r>
          </a:p>
          <a:p>
            <a:endParaRPr lang="ru-RU" sz="700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Решение узкоспециализированных задач: молекулярное моделирование, разработка новых алгоритмов для криптографии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и безопасности, биоинформатика и др.</a:t>
            </a:r>
          </a:p>
          <a:p>
            <a:endParaRPr lang="ru-RU" sz="700" b="1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Обработка больших объемов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Обучение моделей для классификации и кластеризации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4AFE4E2-8CB5-42FA-9DB8-35C4417973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19" y="8241972"/>
            <a:ext cx="1434957" cy="508971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8FC9B0D-8D05-43B6-898D-13DC3F6F5E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7785864"/>
            <a:ext cx="998703" cy="35438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41F4DD5-408A-4300-9101-74717325A3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1850" y="7800587"/>
            <a:ext cx="995606" cy="35329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FC44E0-40EB-49CF-A55C-F390F9C0C9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1183" y="7871144"/>
            <a:ext cx="992109" cy="719279"/>
          </a:xfrm>
          <a:prstGeom prst="rect">
            <a:avLst/>
          </a:prstGeom>
        </p:spPr>
      </p:pic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9A48DB04-7AD2-4548-A8A7-22F45306F562}"/>
              </a:ext>
            </a:extLst>
          </p:cNvPr>
          <p:cNvSpPr/>
          <p:nvPr/>
        </p:nvSpPr>
        <p:spPr>
          <a:xfrm>
            <a:off x="5030198" y="8302215"/>
            <a:ext cx="4519430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6FD43F-AB97-4828-839F-C1985DE99A55}"/>
              </a:ext>
            </a:extLst>
          </p:cNvPr>
          <p:cNvSpPr/>
          <p:nvPr/>
        </p:nvSpPr>
        <p:spPr>
          <a:xfrm>
            <a:off x="9896054" y="1970351"/>
            <a:ext cx="47176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Развитие мирового рынка квантовых вычислений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HelveticaNeueCyr" panose="020B0604020202020204" charset="-52"/>
              </a:rPr>
              <a:t>Google</a:t>
            </a:r>
            <a:r>
              <a:rPr lang="ru-RU" sz="1600" dirty="0">
                <a:latin typeface="HelveticaNeueCyr" panose="020B0604020202020204" charset="-52"/>
              </a:rPr>
              <a:t> намерена показать устройство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на 1 000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r>
              <a:rPr lang="ru-RU" sz="1600" dirty="0">
                <a:latin typeface="HelveticaNeueCyr" panose="020B0604020202020204" charset="-52"/>
              </a:rPr>
              <a:t> после 2025 года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IBM в октябре 2024 года открыла свой первый квантовый центр обработки данных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в Европе, а также объявила о создании модульной системы, способной поддерживать до 16 632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endParaRPr lang="ru-RU" sz="1600" dirty="0">
              <a:latin typeface="HelveticaNeueCyr" panose="020B0604020202020204" charset="-52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9181CE-AACA-4F2A-B3E6-697E8508EAA3}"/>
              </a:ext>
            </a:extLst>
          </p:cNvPr>
          <p:cNvSpPr/>
          <p:nvPr/>
        </p:nvSpPr>
        <p:spPr>
          <a:xfrm>
            <a:off x="9936883" y="7347924"/>
            <a:ext cx="46151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Сумма инвестиций в квантовые разработки</a:t>
            </a:r>
            <a:b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</a:br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в мире, млн </a:t>
            </a:r>
            <a:r>
              <a:rPr lang="en-US" b="1" dirty="0">
                <a:solidFill>
                  <a:srgbClr val="0F24E7"/>
                </a:solidFill>
                <a:latin typeface="HelveticaNeueCyr" panose="020B0604020202020204" charset="-52"/>
              </a:rPr>
              <a:t>$</a:t>
            </a:r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endParaRPr lang="ru-RU" b="1" dirty="0">
              <a:solidFill>
                <a:srgbClr val="0F24E7"/>
              </a:solidFill>
            </a:endParaRPr>
          </a:p>
        </p:txBody>
      </p:sp>
      <p:graphicFrame>
        <p:nvGraphicFramePr>
          <p:cNvPr id="35" name="Диаграмма 34">
            <a:extLst>
              <a:ext uri="{FF2B5EF4-FFF2-40B4-BE49-F238E27FC236}">
                <a16:creationId xmlns:a16="http://schemas.microsoft.com/office/drawing/2014/main" id="{5C5E5E02-B05C-4ACF-8A5E-2B85D0816B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7731015"/>
              </p:ext>
            </p:extLst>
          </p:nvPr>
        </p:nvGraphicFramePr>
        <p:xfrm>
          <a:off x="9936883" y="7903784"/>
          <a:ext cx="4676851" cy="2105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7D8270D8-3F1C-48C5-AE80-B2A3812F8924}"/>
              </a:ext>
            </a:extLst>
          </p:cNvPr>
          <p:cNvSpPr/>
          <p:nvPr/>
        </p:nvSpPr>
        <p:spPr>
          <a:xfrm>
            <a:off x="9896054" y="6687302"/>
            <a:ext cx="4717680" cy="558704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Объем частных инвестиций в КТ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58168E8-EDC1-43D2-9B76-22A10BACFD96}"/>
              </a:ext>
            </a:extLst>
          </p:cNvPr>
          <p:cNvSpPr/>
          <p:nvPr/>
        </p:nvSpPr>
        <p:spPr>
          <a:xfrm>
            <a:off x="5003800" y="2751028"/>
            <a:ext cx="45400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Фокус на рост количества </a:t>
            </a:r>
            <a:r>
              <a:rPr lang="ru-RU" sz="1600" dirty="0" err="1">
                <a:solidFill>
                  <a:srgbClr val="222222"/>
                </a:solidFill>
                <a:latin typeface="HelveticaNeueCyr" panose="020B0604020202020204" charset="-52"/>
              </a:rPr>
              <a:t>кубитов</a:t>
            </a:r>
            <a:endParaRPr lang="ru-RU" sz="1600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Повышение точности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Квантовая коррекция ошибки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Потенциальное расширение фокуса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с роста количества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r>
              <a:rPr lang="ru-RU" sz="1600" dirty="0">
                <a:latin typeface="HelveticaNeueCyr" panose="020B0604020202020204" charset="-52"/>
              </a:rPr>
              <a:t> на другие направления: снижение шума с целью повышения точности, обеспечение возможности загрузки данных в квантовый компьютер и др.</a:t>
            </a:r>
            <a:endParaRPr lang="ru-RU" sz="1600" dirty="0">
              <a:highlight>
                <a:srgbClr val="FFFF00"/>
              </a:highlight>
              <a:latin typeface="HelveticaNeueCyr" panose="020B0604020202020204" charset="-52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C1C72FCA-C328-4F9B-806B-B2C0325B2E0B}"/>
              </a:ext>
            </a:extLst>
          </p:cNvPr>
          <p:cNvSpPr/>
          <p:nvPr/>
        </p:nvSpPr>
        <p:spPr>
          <a:xfrm>
            <a:off x="5035969" y="1937624"/>
            <a:ext cx="4513659" cy="748886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rgbClr val="222222"/>
                </a:solidFill>
                <a:latin typeface="Unbounded SemiBold" pitchFamily="2" charset="-52"/>
              </a:rPr>
              <a:t>Основные тренды на рынке квантовых вычислений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68771CCD-4157-4609-9275-FB03F9B30277}"/>
              </a:ext>
            </a:extLst>
          </p:cNvPr>
          <p:cNvSpPr/>
          <p:nvPr/>
        </p:nvSpPr>
        <p:spPr>
          <a:xfrm>
            <a:off x="5035970" y="5174459"/>
            <a:ext cx="4502116" cy="558704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Государственные инвестиции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8F3AFBD-4655-4BDE-B39A-74FEDAED818D}"/>
              </a:ext>
            </a:extLst>
          </p:cNvPr>
          <p:cNvSpPr/>
          <p:nvPr/>
        </p:nvSpPr>
        <p:spPr>
          <a:xfrm>
            <a:off x="5048669" y="5737649"/>
            <a:ext cx="411824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Китай</a:t>
            </a: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 является лидером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по госфинансированию квантовых</a:t>
            </a:r>
            <a:r>
              <a:rPr lang="en-US" sz="1600" dirty="0">
                <a:solidFill>
                  <a:srgbClr val="222222"/>
                </a:solidFill>
                <a:latin typeface="HelveticaNeueCyr" panose="020B0604020202020204" charset="-52"/>
              </a:rPr>
              <a:t> </a:t>
            </a: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технологий (КТ) с объемом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15,3 млрд $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, 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 err="1">
                <a:solidFill>
                  <a:schemeClr val="tx1"/>
                </a:solidFill>
                <a:latin typeface="HelveticaNeueCyr" panose="020B0604020202020204" charset="-52"/>
              </a:rPr>
              <a:t>обогоняя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 Евросоюз с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8,4 млрд $</a:t>
            </a:r>
            <a:b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 США с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3,7 млрд $</a:t>
            </a:r>
            <a:endParaRPr lang="ru-RU" sz="1600" b="1" dirty="0">
              <a:solidFill>
                <a:srgbClr val="0F24E7"/>
              </a:solidFill>
              <a:highlight>
                <a:srgbClr val="FFFF00"/>
              </a:highlight>
              <a:latin typeface="HelveticaNeueCyr" panose="020B0604020202020204" charset="-52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3D2D37B-5C3B-4D35-A99E-84B1244C1BAA}"/>
              </a:ext>
            </a:extLst>
          </p:cNvPr>
          <p:cNvSpPr/>
          <p:nvPr/>
        </p:nvSpPr>
        <p:spPr>
          <a:xfrm>
            <a:off x="9936883" y="4344414"/>
            <a:ext cx="48217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Проблемы рынка квантовых компьютеров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Высокая стоимость и техническая сложность создания и обслуживания компьютеров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Мало вариантов использования в реальных задачах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Сложность создания и поддержки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в стабильном состоянии (температура помещения, вибрации)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89993C67-FC84-4404-B01D-886D81EBAD87}"/>
              </a:ext>
            </a:extLst>
          </p:cNvPr>
          <p:cNvSpPr/>
          <p:nvPr/>
        </p:nvSpPr>
        <p:spPr>
          <a:xfrm>
            <a:off x="5016918" y="7198058"/>
            <a:ext cx="4507887" cy="870326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IBM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B0604020202020204" charset="-52"/>
              </a:rPr>
              <a:t>Quantum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B0604020202020204" charset="-52"/>
              </a:rPr>
              <a:t>Condor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– самый мощный квантовый компьютер на сегодняшний день, имеющий </a:t>
            </a:r>
            <a:r>
              <a:rPr lang="ru-RU" sz="1600" b="1" dirty="0">
                <a:solidFill>
                  <a:schemeClr val="tx1"/>
                </a:solidFill>
                <a:latin typeface="HelveticaNeueCyr" panose="020B0604020202020204" charset="-52"/>
              </a:rPr>
              <a:t>433 </a:t>
            </a:r>
            <a:r>
              <a:rPr lang="ru-RU" sz="1600" b="1" dirty="0" err="1">
                <a:solidFill>
                  <a:schemeClr val="tx1"/>
                </a:solidFill>
                <a:latin typeface="HelveticaNeueCyr" panose="020B0604020202020204" charset="-52"/>
              </a:rPr>
              <a:t>кубита</a:t>
            </a:r>
            <a:endParaRPr lang="ru-RU" sz="1600" b="1" dirty="0">
              <a:solidFill>
                <a:schemeClr val="tx1"/>
              </a:solidFill>
              <a:latin typeface="HelveticaNeueCyr" panose="020B0604020202020204" charset="-52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6331F69-AB47-40D9-BB4D-7F22CD43E781}"/>
              </a:ext>
            </a:extLst>
          </p:cNvPr>
          <p:cNvSpPr/>
          <p:nvPr/>
        </p:nvSpPr>
        <p:spPr>
          <a:xfrm>
            <a:off x="5108861" y="8956431"/>
            <a:ext cx="42597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2 </a:t>
            </a:r>
            <a:r>
              <a:rPr lang="ru-RU" sz="1600" dirty="0" err="1">
                <a:solidFill>
                  <a:srgbClr val="002060"/>
                </a:solidFill>
                <a:latin typeface="Unbounded SemiBold" pitchFamily="2" charset="-52"/>
              </a:rPr>
              <a:t>двухкубитовых</a:t>
            </a:r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 компьютера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 текущий момент тестируются в ДИТ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D42A0922-31C4-498F-8010-517ED65FE52A}"/>
              </a:ext>
            </a:extLst>
          </p:cNvPr>
          <p:cNvSpPr/>
          <p:nvPr/>
        </p:nvSpPr>
        <p:spPr>
          <a:xfrm>
            <a:off x="5041011" y="8302215"/>
            <a:ext cx="4483793" cy="1706863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57D1D4D-243C-4C65-8A8B-03FDD3CD69F6}"/>
              </a:ext>
            </a:extLst>
          </p:cNvPr>
          <p:cNvSpPr/>
          <p:nvPr/>
        </p:nvSpPr>
        <p:spPr>
          <a:xfrm>
            <a:off x="5236575" y="8888808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806030746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7092</TotalTime>
  <Words>3470</Words>
  <Application>Microsoft Office PowerPoint</Application>
  <PresentationFormat>Произвольный</PresentationFormat>
  <Paragraphs>460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3" baseType="lpstr">
      <vt:lpstr>Wix Madefor Display SemiBold</vt:lpstr>
      <vt:lpstr>Unbounded Light</vt:lpstr>
      <vt:lpstr>Wix Madefor Display ExtraBold</vt:lpstr>
      <vt:lpstr>HelveticaNeueCyr</vt:lpstr>
      <vt:lpstr>Wix Madefor Display</vt:lpstr>
      <vt:lpstr>Unbounded Medium</vt:lpstr>
      <vt:lpstr>Arial</vt:lpstr>
      <vt:lpstr>Unbounded SemiBold</vt:lpstr>
      <vt:lpstr>Calibri</vt:lpstr>
      <vt:lpstr>Unbounded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PptxGenJS</dc:creator>
  <cp:lastModifiedBy>Корчажинская Софья Александровна</cp:lastModifiedBy>
  <cp:revision>571</cp:revision>
  <cp:lastPrinted>2024-11-08T10:52:42Z</cp:lastPrinted>
  <dcterms:created xsi:type="dcterms:W3CDTF">2024-02-24T12:25:12Z</dcterms:created>
  <dcterms:modified xsi:type="dcterms:W3CDTF">2024-11-26T14:57:24Z</dcterms:modified>
</cp:coreProperties>
</file>