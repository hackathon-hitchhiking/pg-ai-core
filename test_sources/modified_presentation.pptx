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wdp" ContentType="image/vnd.ms-photo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charts/chart7.xml" ContentType="application/vnd.openxmlformats-officedocument.drawingml.chart+xml"/>
  <Override PartName="/ppt/charts/chart8.xml" ContentType="application/vnd.openxmlformats-officedocument.drawingml.chart+xml"/>
  <Override PartName="/ppt/charts/chart9.xml" ContentType="application/vnd.openxmlformats-officedocument.drawingml.chart+xml"/>
  <Override PartName="/ppt/charts/colors1.xml" ContentType="application/vnd.ms-office.chartcolorstyle+xml"/>
  <Override PartName="/ppt/charts/colors2.xml" ContentType="application/vnd.ms-office.chartcolorstyle+xml"/>
  <Override PartName="/ppt/charts/colors3.xml" ContentType="application/vnd.ms-office.chartcolorstyle+xml"/>
  <Override PartName="/ppt/charts/colors4.xml" ContentType="application/vnd.ms-office.chartcolorstyle+xml"/>
  <Override PartName="/ppt/charts/colors5.xml" ContentType="application/vnd.ms-office.chartcolorstyle+xml"/>
  <Override PartName="/ppt/charts/colors6.xml" ContentType="application/vnd.ms-office.chartcolorstyle+xml"/>
  <Override PartName="/ppt/charts/colors7.xml" ContentType="application/vnd.ms-office.chartcolorstyle+xml"/>
  <Override PartName="/ppt/charts/colors8.xml" ContentType="application/vnd.ms-office.chartcolorstyle+xml"/>
  <Override PartName="/ppt/charts/colors9.xml" ContentType="application/vnd.ms-office.chartcolorstyle+xml"/>
  <Override PartName="/ppt/charts/style1.xml" ContentType="application/vnd.ms-office.chartstyle+xml"/>
  <Override PartName="/ppt/charts/style2.xml" ContentType="application/vnd.ms-office.chartstyle+xml"/>
  <Override PartName="/ppt/charts/style3.xml" ContentType="application/vnd.ms-office.chartstyle+xml"/>
  <Override PartName="/ppt/charts/style4.xml" ContentType="application/vnd.ms-office.chartstyle+xml"/>
  <Override PartName="/ppt/charts/style5.xml" ContentType="application/vnd.ms-office.chartstyle+xml"/>
  <Override PartName="/ppt/charts/style6.xml" ContentType="application/vnd.ms-office.chartstyle+xml"/>
  <Override PartName="/ppt/charts/style7.xml" ContentType="application/vnd.ms-office.chartstyle+xml"/>
  <Override PartName="/ppt/charts/style8.xml" ContentType="application/vnd.ms-office.chartstyle+xml"/>
  <Override PartName="/ppt/charts/style9.xml" ContentType="application/vnd.ms-office.chartstyle+xml"/>
  <Override PartName="/ppt/commentAuthors.xml" ContentType="application/vnd.openxmlformats-officedocument.presentationml.commentAuthors+xml"/>
  <Override PartName="/ppt/diagrams/colors1.xml" ContentType="application/vnd.openxmlformats-officedocument.drawingml.diagramColors+xml"/>
  <Override PartName="/ppt/diagrams/colors2.xml" ContentType="application/vnd.openxmlformats-officedocument.drawingml.diagramColors+xml"/>
  <Override PartName="/ppt/diagrams/data1.xml" ContentType="application/vnd.openxmlformats-officedocument.drawingml.diagramData+xml"/>
  <Override PartName="/ppt/diagrams/data2.xml" ContentType="application/vnd.openxmlformats-officedocument.drawingml.diagramData+xml"/>
  <Override PartName="/ppt/diagrams/drawing1.xml" ContentType="application/vnd.ms-office.drawingml.diagramDrawing+xml"/>
  <Override PartName="/ppt/diagrams/drawing2.xml" ContentType="application/vnd.ms-office.drawingml.diagramDrawing+xml"/>
  <Override PartName="/ppt/diagrams/layout1.xml" ContentType="application/vnd.openxmlformats-officedocument.drawingml.diagramLayout+xml"/>
  <Override PartName="/ppt/diagrams/layout2.xml" ContentType="application/vnd.openxmlformats-officedocument.drawingml.diagramLayout+xml"/>
  <Override PartName="/ppt/diagrams/quickStyle1.xml" ContentType="application/vnd.openxmlformats-officedocument.drawingml.diagramStyle+xml"/>
  <Override PartName="/ppt/diagrams/quickStyle2.xml" ContentType="application/vnd.openxmlformats-officedocument.drawingml.diagramStyle+xml"/>
  <Override PartName="/ppt/handoutMasters/handoutMaster1.xml" ContentType="application/vnd.openxmlformats-officedocument.presentationml.handoutMaster+xml"/>
  <Override PartName="/ppt/media/image2.svg" ContentType="image/svg+xml"/>
  <Override PartName="/ppt/media/image4.svg" ContentType="image/svg+xml"/>
  <Override PartName="/ppt/media/image6.svg" ContentType="image/svg+xml"/>
  <Override PartName="/ppt/media/image8.svg" ContentType="image/svg+xml"/>
  <Override PartName="/ppt/metadata" ContentType="application/binary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14"/>
  </p:notesMasterIdLst>
  <p:handoutMasterIdLst>
    <p:handoutMasterId r:id="rId15"/>
  </p:handoutMasterIdLst>
  <p:sldIdLst>
    <p:sldId id="256" r:id="rId2"/>
    <p:sldId id="574" r:id="rId3"/>
    <p:sldId id="586" r:id="rId4"/>
    <p:sldId id="573" r:id="rId5"/>
    <p:sldId id="578" r:id="rId6"/>
    <p:sldId id="588" r:id="rId7"/>
    <p:sldId id="579" r:id="rId8"/>
    <p:sldId id="590" r:id="rId9"/>
    <p:sldId id="587" r:id="rId10"/>
    <p:sldId id="591" r:id="rId11"/>
    <p:sldId id="583" r:id="rId12"/>
    <p:sldId id="592" r:id="rId13"/>
  </p:sldIdLst>
  <p:sldSz cx="15116175" cy="10687050"/>
  <p:notesSz cx="6797675" cy="9926638"/>
  <p:embeddedFontLst>
    <p:embeddedFont>
      <p:font typeface="Calibri" panose="020F0502020204030204" pitchFamily="34" charset="0"/>
      <p:regular r:id="rId16"/>
      <p:bold r:id="rId17"/>
      <p:italic r:id="rId18"/>
      <p:boldItalic r:id="rId19"/>
    </p:embeddedFont>
    <p:embeddedFont>
      <p:font typeface="HelveticaNeueCyr" panose="02000503040000020004" pitchFamily="2" charset="-52"/>
      <p:regular r:id="rId20"/>
      <p:bold r:id="rId21"/>
      <p:italic r:id="rId22"/>
      <p:boldItalic r:id="rId23"/>
    </p:embeddedFont>
    <p:embeddedFont>
      <p:font typeface="Unbounded" pitchFamily="2" charset="-52"/>
      <p:regular r:id="rId24"/>
      <p:bold r:id="rId25"/>
    </p:embeddedFont>
    <p:embeddedFont>
      <p:font typeface="Unbounded Light" pitchFamily="2" charset="-52"/>
      <p:regular r:id="rId26"/>
    </p:embeddedFont>
    <p:embeddedFont>
      <p:font typeface="Unbounded Medium" pitchFamily="2" charset="-52"/>
      <p:regular r:id="rId27"/>
      <p:bold r:id="rId28"/>
    </p:embeddedFont>
    <p:embeddedFont>
      <p:font typeface="Unbounded SemiBold" pitchFamily="2" charset="-52"/>
      <p:bold r:id="rId29"/>
    </p:embeddedFont>
    <p:embeddedFont>
      <p:font typeface="Wix Madefor Display" panose="020B0503020203020203" pitchFamily="34" charset="-52"/>
      <p:regular r:id="rId30"/>
      <p:bold r:id="rId31"/>
    </p:embeddedFont>
    <p:embeddedFont>
      <p:font typeface="Wix Madefor Display ExtraBold" panose="020B0503020203020203" pitchFamily="34" charset="-52"/>
      <p:bold r:id="rId32"/>
    </p:embeddedFont>
    <p:embeddedFont>
      <p:font typeface="Wix Madefor Display SemiBold" panose="020B0503020203020203" pitchFamily="34" charset="-52"/>
      <p:bold r:id="rId33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91" userDrawn="1">
          <p15:clr>
            <a:srgbClr val="A4A3A4"/>
          </p15:clr>
        </p15:guide>
        <p15:guide id="2" pos="134" userDrawn="1">
          <p15:clr>
            <a:srgbClr val="A4A3A4"/>
          </p15:clr>
        </p15:guide>
        <p15:guide id="3" pos="815" userDrawn="1">
          <p15:clr>
            <a:srgbClr val="A4A3A4"/>
          </p15:clr>
        </p15:guide>
        <p15:guide id="4" orient="horz" pos="1348" userDrawn="1">
          <p15:clr>
            <a:srgbClr val="A4A3A4"/>
          </p15:clr>
        </p15:guide>
        <p15:guide id="5" orient="horz" pos="5203" userDrawn="1">
          <p15:clr>
            <a:srgbClr val="A4A3A4"/>
          </p15:clr>
        </p15:guide>
      </p15:sldGuideLst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96" roundtripDataSignature="AMtx7mgK7fn+KLoFlbeLqjeX6repJ7KMTA==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Жбанкова Елена Александровна" initials="ЖЕА" lastIdx="3" clrIdx="0">
    <p:extLst>
      <p:ext uri="{19B8F6BF-5375-455C-9EA6-DF929625EA0E}">
        <p15:presenceInfo xmlns:p15="http://schemas.microsoft.com/office/powerpoint/2012/main" userId="e88e9ec258894a2d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818CF7"/>
    <a:srgbClr val="0F24E7"/>
    <a:srgbClr val="EFF2FF"/>
    <a:srgbClr val="E7E9FD"/>
    <a:srgbClr val="A8B0FA"/>
    <a:srgbClr val="5C8EFE"/>
    <a:srgbClr val="E91B11"/>
    <a:srgbClr val="8FAADC"/>
    <a:srgbClr val="D8DFFF"/>
    <a:srgbClr val="5CFF8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3532" autoAdjust="0"/>
    <p:restoredTop sz="95033" autoAdjust="0"/>
  </p:normalViewPr>
  <p:slideViewPr>
    <p:cSldViewPr snapToGrid="0">
      <p:cViewPr varScale="1">
        <p:scale>
          <a:sx n="42" d="100"/>
          <a:sy n="42" d="100"/>
        </p:scale>
        <p:origin x="1204" y="32"/>
      </p:cViewPr>
      <p:guideLst>
        <p:guide orient="horz" pos="191"/>
        <p:guide pos="134"/>
        <p:guide pos="815"/>
        <p:guide orient="horz" pos="1348"/>
        <p:guide orient="horz" pos="5203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handoutMaster" Target="handoutMasters/handoutMaster1.xml"/><Relationship Id="rId16" Type="http://schemas.openxmlformats.org/officeDocument/2006/relationships/font" Target="fonts/font1.fntdata"/><Relationship Id="rId17" Type="http://schemas.openxmlformats.org/officeDocument/2006/relationships/font" Target="fonts/font2.fntdata"/><Relationship Id="rId18" Type="http://schemas.openxmlformats.org/officeDocument/2006/relationships/font" Target="fonts/font3.fntdata"/><Relationship Id="rId19" Type="http://schemas.openxmlformats.org/officeDocument/2006/relationships/font" Target="fonts/font4.fntdata"/><Relationship Id="rId20" Type="http://schemas.openxmlformats.org/officeDocument/2006/relationships/font" Target="fonts/font5.fntdata"/><Relationship Id="rId21" Type="http://schemas.openxmlformats.org/officeDocument/2006/relationships/font" Target="fonts/font6.fntdata"/><Relationship Id="rId22" Type="http://schemas.openxmlformats.org/officeDocument/2006/relationships/font" Target="fonts/font7.fntdata"/><Relationship Id="rId23" Type="http://schemas.openxmlformats.org/officeDocument/2006/relationships/font" Target="fonts/font8.fntdata"/><Relationship Id="rId24" Type="http://schemas.openxmlformats.org/officeDocument/2006/relationships/font" Target="fonts/font9.fntdata"/><Relationship Id="rId25" Type="http://schemas.openxmlformats.org/officeDocument/2006/relationships/font" Target="fonts/font10.fntdata"/><Relationship Id="rId26" Type="http://schemas.openxmlformats.org/officeDocument/2006/relationships/font" Target="fonts/font11.fntdata"/><Relationship Id="rId27" Type="http://schemas.openxmlformats.org/officeDocument/2006/relationships/font" Target="fonts/font12.fntdata"/><Relationship Id="rId28" Type="http://schemas.openxmlformats.org/officeDocument/2006/relationships/font" Target="fonts/font13.fntdata"/><Relationship Id="rId29" Type="http://schemas.openxmlformats.org/officeDocument/2006/relationships/font" Target="fonts/font14.fntdata"/><Relationship Id="rId30" Type="http://schemas.openxmlformats.org/officeDocument/2006/relationships/font" Target="fonts/font15.fntdata"/><Relationship Id="rId31" Type="http://schemas.openxmlformats.org/officeDocument/2006/relationships/font" Target="fonts/font16.fntdata"/><Relationship Id="rId32" Type="http://schemas.openxmlformats.org/officeDocument/2006/relationships/font" Target="fonts/font17.fntdata"/><Relationship Id="rId33" Type="http://schemas.openxmlformats.org/officeDocument/2006/relationships/font" Target="fonts/font18.fntdata"/><Relationship Id="rId96" Type="http://customschemas.google.com/relationships/presentationmetadata" Target="metadata"/><Relationship Id="rId97" Type="http://schemas.openxmlformats.org/officeDocument/2006/relationships/commentAuthors" Target="commentAuthors.xml"/><Relationship Id="rId98" Type="http://schemas.openxmlformats.org/officeDocument/2006/relationships/presProps" Target="presProps.xml"/><Relationship Id="rId99" Type="http://schemas.openxmlformats.org/officeDocument/2006/relationships/viewProps" Target="viewProps.xml"/><Relationship Id="rId100" Type="http://schemas.openxmlformats.org/officeDocument/2006/relationships/theme" Target="theme/theme1.xml"/><Relationship Id="rId101" Type="http://schemas.openxmlformats.org/officeDocument/2006/relationships/tableStyles" Target="tableStyles.xml"/></Relationships>
</file>

<file path=ppt/charts/_rels/chart1.xml.rels><?xml version='1.0' encoding='UTF-8' standalone='yes'?>
<Relationships xmlns="http://schemas.openxmlformats.org/package/2006/relationships"><Relationship Id="rId1" Type="http://schemas.microsoft.com/office/2011/relationships/chartStyle" Target="style1.xml"/><Relationship Id="rId2" Type="http://schemas.microsoft.com/office/2011/relationships/chartColorStyle" Target="colors1.xml"/><Relationship Id="rId3" Type="http://schemas.openxmlformats.org/officeDocument/2006/relationships/package" Target="../embeddings/Microsoft_Excel_Worksheet.xlsx"/></Relationships>
</file>

<file path=ppt/charts/_rels/chart2.xml.rels><?xml version='1.0' encoding='UTF-8' standalone='yes'?>
<Relationships xmlns="http://schemas.openxmlformats.org/package/2006/relationships"><Relationship Id="rId1" Type="http://schemas.microsoft.com/office/2011/relationships/chartStyle" Target="style2.xml"/><Relationship Id="rId2" Type="http://schemas.microsoft.com/office/2011/relationships/chartColorStyle" Target="colors2.xml"/><Relationship Id="rId3" Type="http://schemas.openxmlformats.org/officeDocument/2006/relationships/package" Target="../embeddings/Microsoft_Excel_Worksheet1.xlsx"/></Relationships>
</file>

<file path=ppt/charts/_rels/chart3.xml.rels><?xml version='1.0' encoding='UTF-8' standalone='yes'?>
<Relationships xmlns="http://schemas.openxmlformats.org/package/2006/relationships"><Relationship Id="rId1" Type="http://schemas.microsoft.com/office/2011/relationships/chartStyle" Target="style3.xml"/><Relationship Id="rId2" Type="http://schemas.microsoft.com/office/2011/relationships/chartColorStyle" Target="colors3.xml"/><Relationship Id="rId3" Type="http://schemas.openxmlformats.org/officeDocument/2006/relationships/package" Target="../embeddings/Microsoft_Excel_Worksheet2.xlsx"/></Relationships>
</file>

<file path=ppt/charts/_rels/chart4.xml.rels><?xml version='1.0' encoding='UTF-8' standalone='yes'?>
<Relationships xmlns="http://schemas.openxmlformats.org/package/2006/relationships"><Relationship Id="rId1" Type="http://schemas.microsoft.com/office/2011/relationships/chartStyle" Target="style4.xml"/><Relationship Id="rId2" Type="http://schemas.microsoft.com/office/2011/relationships/chartColorStyle" Target="colors4.xml"/><Relationship Id="rId3" Type="http://schemas.openxmlformats.org/officeDocument/2006/relationships/package" Target="../embeddings/Microsoft_Excel_Worksheet3.xlsx"/></Relationships>
</file>

<file path=ppt/charts/_rels/chart5.xml.rels><?xml version='1.0' encoding='UTF-8' standalone='yes'?>
<Relationships xmlns="http://schemas.openxmlformats.org/package/2006/relationships"><Relationship Id="rId1" Type="http://schemas.microsoft.com/office/2011/relationships/chartStyle" Target="style5.xml"/><Relationship Id="rId2" Type="http://schemas.microsoft.com/office/2011/relationships/chartColorStyle" Target="colors5.xml"/><Relationship Id="rId3" Type="http://schemas.openxmlformats.org/officeDocument/2006/relationships/package" Target="../embeddings/Microsoft_Excel_Worksheet4.xlsx"/></Relationships>
</file>

<file path=ppt/charts/_rels/chart6.xml.rels><?xml version='1.0' encoding='UTF-8' standalone='yes'?>
<Relationships xmlns="http://schemas.openxmlformats.org/package/2006/relationships"><Relationship Id="rId1" Type="http://schemas.microsoft.com/office/2011/relationships/chartStyle" Target="style6.xml"/><Relationship Id="rId2" Type="http://schemas.microsoft.com/office/2011/relationships/chartColorStyle" Target="colors6.xml"/><Relationship Id="rId3" Type="http://schemas.openxmlformats.org/officeDocument/2006/relationships/package" Target="../embeddings/Microsoft_Excel_Worksheet5.xlsx"/></Relationships>
</file>

<file path=ppt/charts/_rels/chart7.xml.rels><?xml version='1.0' encoding='UTF-8' standalone='yes'?>
<Relationships xmlns="http://schemas.openxmlformats.org/package/2006/relationships"><Relationship Id="rId1" Type="http://schemas.microsoft.com/office/2011/relationships/chartStyle" Target="style7.xml"/><Relationship Id="rId2" Type="http://schemas.microsoft.com/office/2011/relationships/chartColorStyle" Target="colors7.xml"/><Relationship Id="rId3" Type="http://schemas.openxmlformats.org/officeDocument/2006/relationships/package" Target="../embeddings/Microsoft_Excel_Worksheet6.xlsx"/></Relationships>
</file>

<file path=ppt/charts/_rels/chart8.xml.rels><?xml version='1.0' encoding='UTF-8' standalone='yes'?>
<Relationships xmlns="http://schemas.openxmlformats.org/package/2006/relationships"><Relationship Id="rId1" Type="http://schemas.microsoft.com/office/2011/relationships/chartStyle" Target="style8.xml"/><Relationship Id="rId2" Type="http://schemas.microsoft.com/office/2011/relationships/chartColorStyle" Target="colors8.xml"/><Relationship Id="rId3" Type="http://schemas.openxmlformats.org/officeDocument/2006/relationships/oleObject" Target="file:///C:\Users\zhbankovaea\Desktop\&#1050;&#1085;&#1080;&#1075;&#1072;1.xlsx" TargetMode="External"/></Relationships>
</file>

<file path=ppt/charts/_rels/chart9.xml.rels><?xml version='1.0' encoding='UTF-8' standalone='yes'?>
<Relationships xmlns="http://schemas.openxmlformats.org/package/2006/relationships"><Relationship Id="rId1" Type="http://schemas.microsoft.com/office/2011/relationships/chartStyle" Target="style9.xml"/><Relationship Id="rId2" Type="http://schemas.microsoft.com/office/2011/relationships/chartColorStyle" Target="colors9.xml"/><Relationship Id="rId3" Type="http://schemas.openxmlformats.org/officeDocument/2006/relationships/oleObject" Target="&#1050;&#1085;&#1080;&#1075;&#1072;1" TargetMode="Externa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2.4430867465429537E-2"/>
          <c:y val="3.845682691262152E-2"/>
          <c:w val="0.9511382650691409"/>
          <c:h val="0.69456792037779125"/>
        </c:manualLayout>
      </c:layout>
      <c:barChart>
        <c:barDir val="col"/>
        <c:grouping val="stacked"/>
        <c:varyColors val="0"/>
        <c:ser>
          <c:idx val="0"/>
          <c:order val="0"/>
          <c:tx>
            <c:strRef>
              <c:f>Лист1!$B$1</c:f>
              <c:strCache>
                <c:ptCount val="1"/>
                <c:pt idx="0">
                  <c:v>Мобильные телефоны</c:v>
                </c:pt>
              </c:strCache>
            </c:strRef>
          </c:tx>
          <c:spPr>
            <a:solidFill>
              <a:srgbClr val="002060"/>
            </a:solidFill>
            <a:ln>
              <a:noFill/>
            </a:ln>
            <a:effectLst/>
          </c:spPr>
          <c:invertIfNegative val="0"/>
          <c:cat>
            <c:strRef>
              <c:f>Лист1!$A$2:$A$12</c:f>
              <c:strCache>
                <c:ptCount val="11"/>
                <c:pt idx="0">
                  <c:v>2019</c:v>
                </c:pt>
                <c:pt idx="1">
                  <c:v>2020</c:v>
                </c:pt>
                <c:pt idx="2">
                  <c:v>2021</c:v>
                </c:pt>
                <c:pt idx="3">
                  <c:v>2022</c:v>
                </c:pt>
                <c:pt idx="4">
                  <c:v>2023</c:v>
                </c:pt>
                <c:pt idx="5">
                  <c:v>2024*</c:v>
                </c:pt>
                <c:pt idx="6">
                  <c:v>2025*</c:v>
                </c:pt>
                <c:pt idx="7">
                  <c:v>2026*</c:v>
                </c:pt>
                <c:pt idx="8">
                  <c:v>2027*</c:v>
                </c:pt>
                <c:pt idx="9">
                  <c:v>2028*</c:v>
                </c:pt>
                <c:pt idx="10">
                  <c:v>2029*</c:v>
                </c:pt>
              </c:strCache>
            </c:strRef>
          </c:cat>
          <c:val>
            <c:numRef>
              <c:f>Лист1!$B$2:$B$12</c:f>
              <c:numCache>
                <c:formatCode>#,##0.00</c:formatCode>
                <c:ptCount val="11"/>
                <c:pt idx="0">
                  <c:v>7.75</c:v>
                </c:pt>
                <c:pt idx="1">
                  <c:v>7.79</c:v>
                </c:pt>
                <c:pt idx="2">
                  <c:v>8.02</c:v>
                </c:pt>
                <c:pt idx="3">
                  <c:v>8.15</c:v>
                </c:pt>
                <c:pt idx="4">
                  <c:v>8.32</c:v>
                </c:pt>
                <c:pt idx="5">
                  <c:v>8.44</c:v>
                </c:pt>
                <c:pt idx="6">
                  <c:v>8.5399999999999991</c:v>
                </c:pt>
                <c:pt idx="7">
                  <c:v>8.64</c:v>
                </c:pt>
                <c:pt idx="8">
                  <c:v>8.73</c:v>
                </c:pt>
                <c:pt idx="9">
                  <c:v>8.83</c:v>
                </c:pt>
                <c:pt idx="10">
                  <c:v>8.91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30FD-456B-8512-9CBF275F857D}"/>
            </c:ext>
          </c:extLst>
        </c:ser>
        <c:ser>
          <c:idx val="1"/>
          <c:order val="1"/>
          <c:tx>
            <c:strRef>
              <c:f>Лист1!$C$1</c:f>
              <c:strCache>
                <c:ptCount val="1"/>
                <c:pt idx="0">
                  <c:v>IoT-ближнего действия</c:v>
                </c:pt>
              </c:strCache>
            </c:strRef>
          </c:tx>
          <c:spPr>
            <a:solidFill>
              <a:srgbClr val="0F24E7"/>
            </a:solidFill>
            <a:ln>
              <a:noFill/>
            </a:ln>
            <a:effectLst/>
          </c:spPr>
          <c:invertIfNegative val="0"/>
          <c:cat>
            <c:strRef>
              <c:f>Лист1!$A$2:$A$12</c:f>
              <c:strCache>
                <c:ptCount val="11"/>
                <c:pt idx="0">
                  <c:v>2019</c:v>
                </c:pt>
                <c:pt idx="1">
                  <c:v>2020</c:v>
                </c:pt>
                <c:pt idx="2">
                  <c:v>2021</c:v>
                </c:pt>
                <c:pt idx="3">
                  <c:v>2022</c:v>
                </c:pt>
                <c:pt idx="4">
                  <c:v>2023</c:v>
                </c:pt>
                <c:pt idx="5">
                  <c:v>2024*</c:v>
                </c:pt>
                <c:pt idx="6">
                  <c:v>2025*</c:v>
                </c:pt>
                <c:pt idx="7">
                  <c:v>2026*</c:v>
                </c:pt>
                <c:pt idx="8">
                  <c:v>2027*</c:v>
                </c:pt>
                <c:pt idx="9">
                  <c:v>2028*</c:v>
                </c:pt>
                <c:pt idx="10">
                  <c:v>2029*</c:v>
                </c:pt>
              </c:strCache>
            </c:strRef>
          </c:cat>
          <c:val>
            <c:numRef>
              <c:f>Лист1!$C$2:$C$12</c:f>
              <c:numCache>
                <c:formatCode>#,##0.00</c:formatCode>
                <c:ptCount val="11"/>
                <c:pt idx="0">
                  <c:v>5.56</c:v>
                </c:pt>
                <c:pt idx="1">
                  <c:v>7.01</c:v>
                </c:pt>
                <c:pt idx="2">
                  <c:v>8.5500000000000007</c:v>
                </c:pt>
                <c:pt idx="3">
                  <c:v>10.07</c:v>
                </c:pt>
                <c:pt idx="4">
                  <c:v>12.09</c:v>
                </c:pt>
                <c:pt idx="5">
                  <c:v>14.49</c:v>
                </c:pt>
                <c:pt idx="6">
                  <c:v>17.45</c:v>
                </c:pt>
                <c:pt idx="7">
                  <c:v>20.97</c:v>
                </c:pt>
                <c:pt idx="8">
                  <c:v>24.53</c:v>
                </c:pt>
                <c:pt idx="9">
                  <c:v>28.09</c:v>
                </c:pt>
                <c:pt idx="10">
                  <c:v>31.63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30FD-456B-8512-9CBF275F857D}"/>
            </c:ext>
          </c:extLst>
        </c:ser>
        <c:ser>
          <c:idx val="2"/>
          <c:order val="2"/>
          <c:tx>
            <c:strRef>
              <c:f>Лист1!$D$1</c:f>
              <c:strCache>
                <c:ptCount val="1"/>
                <c:pt idx="0">
                  <c:v>ПК/ноутбуки/планшеты</c:v>
                </c:pt>
              </c:strCache>
            </c:strRef>
          </c:tx>
          <c:spPr>
            <a:solidFill>
              <a:schemeClr val="accent3"/>
            </a:solidFill>
            <a:ln>
              <a:noFill/>
            </a:ln>
            <a:effectLst/>
          </c:spPr>
          <c:invertIfNegative val="0"/>
          <c:cat>
            <c:strRef>
              <c:f>Лист1!$A$2:$A$12</c:f>
              <c:strCache>
                <c:ptCount val="11"/>
                <c:pt idx="0">
                  <c:v>2019</c:v>
                </c:pt>
                <c:pt idx="1">
                  <c:v>2020</c:v>
                </c:pt>
                <c:pt idx="2">
                  <c:v>2021</c:v>
                </c:pt>
                <c:pt idx="3">
                  <c:v>2022</c:v>
                </c:pt>
                <c:pt idx="4">
                  <c:v>2023</c:v>
                </c:pt>
                <c:pt idx="5">
                  <c:v>2024*</c:v>
                </c:pt>
                <c:pt idx="6">
                  <c:v>2025*</c:v>
                </c:pt>
                <c:pt idx="7">
                  <c:v>2026*</c:v>
                </c:pt>
                <c:pt idx="8">
                  <c:v>2027*</c:v>
                </c:pt>
                <c:pt idx="9">
                  <c:v>2028*</c:v>
                </c:pt>
                <c:pt idx="10">
                  <c:v>2029*</c:v>
                </c:pt>
              </c:strCache>
            </c:strRef>
          </c:cat>
          <c:val>
            <c:numRef>
              <c:f>Лист1!$D$2:$D$12</c:f>
              <c:numCache>
                <c:formatCode>#,##0.00</c:formatCode>
                <c:ptCount val="11"/>
                <c:pt idx="0">
                  <c:v>1.57</c:v>
                </c:pt>
                <c:pt idx="1">
                  <c:v>1.57</c:v>
                </c:pt>
                <c:pt idx="2">
                  <c:v>1.6</c:v>
                </c:pt>
                <c:pt idx="3">
                  <c:v>1.64</c:v>
                </c:pt>
                <c:pt idx="4">
                  <c:v>1.67</c:v>
                </c:pt>
                <c:pt idx="5">
                  <c:v>1.7</c:v>
                </c:pt>
                <c:pt idx="6">
                  <c:v>1.73</c:v>
                </c:pt>
                <c:pt idx="7">
                  <c:v>1.77</c:v>
                </c:pt>
                <c:pt idx="8">
                  <c:v>1.8</c:v>
                </c:pt>
                <c:pt idx="9">
                  <c:v>1.83</c:v>
                </c:pt>
                <c:pt idx="10">
                  <c:v>1.87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30FD-456B-8512-9CBF275F857D}"/>
            </c:ext>
          </c:extLst>
        </c:ser>
        <c:ser>
          <c:idx val="3"/>
          <c:order val="3"/>
          <c:tx>
            <c:strRef>
              <c:f>Лист1!$E$1</c:f>
              <c:strCache>
                <c:ptCount val="1"/>
                <c:pt idx="0">
                  <c:v>Стационарные телефоны</c:v>
                </c:pt>
              </c:strCache>
            </c:strRef>
          </c:tx>
          <c:spPr>
            <a:solidFill>
              <a:srgbClr val="C5CAFB"/>
            </a:solidFill>
            <a:ln>
              <a:noFill/>
            </a:ln>
            <a:effectLst/>
          </c:spPr>
          <c:invertIfNegative val="0"/>
          <c:cat>
            <c:strRef>
              <c:f>Лист1!$A$2:$A$12</c:f>
              <c:strCache>
                <c:ptCount val="11"/>
                <c:pt idx="0">
                  <c:v>2019</c:v>
                </c:pt>
                <c:pt idx="1">
                  <c:v>2020</c:v>
                </c:pt>
                <c:pt idx="2">
                  <c:v>2021</c:v>
                </c:pt>
                <c:pt idx="3">
                  <c:v>2022</c:v>
                </c:pt>
                <c:pt idx="4">
                  <c:v>2023</c:v>
                </c:pt>
                <c:pt idx="5">
                  <c:v>2024*</c:v>
                </c:pt>
                <c:pt idx="6">
                  <c:v>2025*</c:v>
                </c:pt>
                <c:pt idx="7">
                  <c:v>2026*</c:v>
                </c:pt>
                <c:pt idx="8">
                  <c:v>2027*</c:v>
                </c:pt>
                <c:pt idx="9">
                  <c:v>2028*</c:v>
                </c:pt>
                <c:pt idx="10">
                  <c:v>2029*</c:v>
                </c:pt>
              </c:strCache>
            </c:strRef>
          </c:cat>
          <c:val>
            <c:numRef>
              <c:f>Лист1!$E$2:$E$12</c:f>
              <c:numCache>
                <c:formatCode>#,##0.00</c:formatCode>
                <c:ptCount val="11"/>
                <c:pt idx="0">
                  <c:v>0.89</c:v>
                </c:pt>
                <c:pt idx="1">
                  <c:v>0.87</c:v>
                </c:pt>
                <c:pt idx="2">
                  <c:v>0.85</c:v>
                </c:pt>
                <c:pt idx="3">
                  <c:v>0.82</c:v>
                </c:pt>
                <c:pt idx="4">
                  <c:v>0.8</c:v>
                </c:pt>
                <c:pt idx="5">
                  <c:v>0.79</c:v>
                </c:pt>
                <c:pt idx="6">
                  <c:v>0.77</c:v>
                </c:pt>
                <c:pt idx="7">
                  <c:v>0.75</c:v>
                </c:pt>
                <c:pt idx="8">
                  <c:v>0.74</c:v>
                </c:pt>
                <c:pt idx="9">
                  <c:v>0.72</c:v>
                </c:pt>
                <c:pt idx="10">
                  <c:v>0.71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30FD-456B-8512-9CBF275F857D}"/>
            </c:ext>
          </c:extLst>
        </c:ser>
        <c:ser>
          <c:idx val="4"/>
          <c:order val="4"/>
          <c:tx>
            <c:strRef>
              <c:f>Лист1!$F$1</c:f>
              <c:strCache>
                <c:ptCount val="1"/>
                <c:pt idx="0">
                  <c:v>IoT-дальнего действия</c:v>
                </c:pt>
              </c:strCache>
            </c:strRef>
          </c:tx>
          <c:spPr>
            <a:solidFill>
              <a:schemeClr val="accent5"/>
            </a:solidFill>
            <a:ln>
              <a:noFill/>
            </a:ln>
            <a:effectLst/>
          </c:spPr>
          <c:invertIfNegative val="0"/>
          <c:dLbls>
            <c:dLbl>
              <c:idx val="0"/>
              <c:layout>
                <c:manualLayout>
                  <c:x val="0"/>
                  <c:y val="-3.9658532782412097E-2"/>
                </c:manualLayout>
              </c:layout>
              <c:tx>
                <c:rich>
                  <a:bodyPr/>
                  <a:lstStyle/>
                  <a:p>
                    <a:r>
                      <a:rPr lang="en-US" dirty="0"/>
                      <a:t>17.4</a:t>
                    </a:r>
                  </a:p>
                </c:rich>
              </c:tx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30FD-456B-8512-9CBF275F857D}"/>
                </c:ext>
              </c:extLst>
            </c:dLbl>
            <c:dLbl>
              <c:idx val="1"/>
              <c:layout>
                <c:manualLayout>
                  <c:x val="0"/>
                  <c:y val="-4.8362568540318659E-2"/>
                </c:manualLayout>
              </c:layout>
              <c:tx>
                <c:rich>
                  <a:bodyPr/>
                  <a:lstStyle/>
                  <a:p>
                    <a:r>
                      <a:rPr lang="en-US" dirty="0"/>
                      <a:t>19.1</a:t>
                    </a:r>
                  </a:p>
                </c:rich>
              </c:tx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6-30FD-456B-8512-9CBF275F857D}"/>
                </c:ext>
              </c:extLst>
            </c:dLbl>
            <c:dLbl>
              <c:idx val="2"/>
              <c:layout>
                <c:manualLayout>
                  <c:x val="-3.8738760691500626E-17"/>
                  <c:y val="-4.4456744887087195E-2"/>
                </c:manualLayout>
              </c:layout>
              <c:tx>
                <c:rich>
                  <a:bodyPr/>
                  <a:lstStyle/>
                  <a:p>
                    <a:r>
                      <a:rPr lang="en-US" dirty="0"/>
                      <a:t>21.3</a:t>
                    </a:r>
                  </a:p>
                </c:rich>
              </c:tx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7-30FD-456B-8512-9CBF275F857D}"/>
                </c:ext>
              </c:extLst>
            </c:dLbl>
            <c:dLbl>
              <c:idx val="3"/>
              <c:layout>
                <c:manualLayout>
                  <c:x val="0"/>
                  <c:y val="-4.9409838621657438E-2"/>
                </c:manualLayout>
              </c:layout>
              <c:tx>
                <c:rich>
                  <a:bodyPr/>
                  <a:lstStyle/>
                  <a:p>
                    <a:r>
                      <a:rPr lang="en-US" dirty="0"/>
                      <a:t>23.7</a:t>
                    </a:r>
                  </a:p>
                </c:rich>
              </c:tx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8-30FD-456B-8512-9CBF275F857D}"/>
                </c:ext>
              </c:extLst>
            </c:dLbl>
            <c:dLbl>
              <c:idx val="4"/>
              <c:layout>
                <c:manualLayout>
                  <c:x val="4.620824586653759E-17"/>
                  <c:y val="-4.7580340264650356E-2"/>
                </c:manualLayout>
              </c:layout>
              <c:tx>
                <c:rich>
                  <a:bodyPr/>
                  <a:lstStyle/>
                  <a:p>
                    <a:r>
                      <a:rPr lang="en-US" dirty="0"/>
                      <a:t>26.5</a:t>
                    </a:r>
                  </a:p>
                </c:rich>
              </c:tx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9-30FD-456B-8512-9CBF275F857D}"/>
                </c:ext>
              </c:extLst>
            </c:dLbl>
            <c:dLbl>
              <c:idx val="5"/>
              <c:layout>
                <c:manualLayout>
                  <c:x val="0"/>
                  <c:y val="-5.6524518593591644E-2"/>
                </c:manualLayout>
              </c:layout>
              <c:tx>
                <c:rich>
                  <a:bodyPr/>
                  <a:lstStyle/>
                  <a:p>
                    <a:r>
                      <a:rPr lang="en-US" dirty="0"/>
                      <a:t>29.65</a:t>
                    </a:r>
                  </a:p>
                </c:rich>
              </c:tx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A-30FD-456B-8512-9CBF275F857D}"/>
                </c:ext>
              </c:extLst>
            </c:dLbl>
            <c:dLbl>
              <c:idx val="6"/>
              <c:layout>
                <c:manualLayout>
                  <c:x val="-1.2601750734908014E-3"/>
                  <c:y val="-6.2789688417660666E-2"/>
                </c:manualLayout>
              </c:layout>
              <c:tx>
                <c:rich>
                  <a:bodyPr/>
                  <a:lstStyle/>
                  <a:p>
                    <a:r>
                      <a:rPr lang="en-US" dirty="0"/>
                      <a:t>33.3</a:t>
                    </a:r>
                  </a:p>
                </c:rich>
              </c:tx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B-30FD-456B-8512-9CBF275F857D}"/>
                </c:ext>
              </c:extLst>
            </c:dLbl>
            <c:dLbl>
              <c:idx val="7"/>
              <c:layout>
                <c:manualLayout>
                  <c:x val="-1.2601750734908014E-3"/>
                  <c:y val="-7.4694784439073861E-2"/>
                </c:manualLayout>
              </c:layout>
              <c:tx>
                <c:rich>
                  <a:bodyPr/>
                  <a:lstStyle/>
                  <a:p>
                    <a:r>
                      <a:rPr lang="en-US" dirty="0"/>
                      <a:t>37.6</a:t>
                    </a:r>
                  </a:p>
                </c:rich>
              </c:tx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C-30FD-456B-8512-9CBF275F857D}"/>
                </c:ext>
              </c:extLst>
            </c:dLbl>
            <c:dLbl>
              <c:idx val="8"/>
              <c:layout>
                <c:manualLayout>
                  <c:x val="0"/>
                  <c:y val="-7.1565188014864473E-2"/>
                </c:manualLayout>
              </c:layout>
              <c:tx>
                <c:rich>
                  <a:bodyPr/>
                  <a:lstStyle/>
                  <a:p>
                    <a:r>
                      <a:rPr lang="en-US" dirty="0"/>
                      <a:t>41.8</a:t>
                    </a:r>
                  </a:p>
                </c:rich>
              </c:tx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D-30FD-456B-8512-9CBF275F857D}"/>
                </c:ext>
              </c:extLst>
            </c:dLbl>
            <c:dLbl>
              <c:idx val="9"/>
              <c:layout>
                <c:manualLayout>
                  <c:x val="-1.2601750734909565E-3"/>
                  <c:y val="-7.5138120111223727E-2"/>
                </c:manualLayout>
              </c:layout>
              <c:tx>
                <c:rich>
                  <a:bodyPr/>
                  <a:lstStyle/>
                  <a:p>
                    <a:r>
                      <a:rPr lang="en-US" dirty="0"/>
                      <a:t>46.0</a:t>
                    </a:r>
                  </a:p>
                </c:rich>
              </c:tx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E-30FD-456B-8512-9CBF275F857D}"/>
                </c:ext>
              </c:extLst>
            </c:dLbl>
            <c:dLbl>
              <c:idx val="10"/>
              <c:layout>
                <c:manualLayout>
                  <c:x val="0"/>
                  <c:y val="-9.2092721083131934E-2"/>
                </c:manualLayout>
              </c:layout>
              <c:tx>
                <c:rich>
                  <a:bodyPr/>
                  <a:lstStyle/>
                  <a:p>
                    <a:r>
                      <a:rPr lang="en-US" dirty="0"/>
                      <a:t>50.3</a:t>
                    </a:r>
                  </a:p>
                </c:rich>
              </c:tx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F-30FD-456B-8512-9CBF275F857D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400" b="1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HelveticaNeueCyr" panose="02000503040000020004" pitchFamily="2" charset="-52"/>
                    <a:ea typeface="+mn-ea"/>
                    <a:cs typeface="+mn-cs"/>
                  </a:defRPr>
                </a:pPr>
                <a:endParaRPr lang="ru-RU"/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Лист1!$A$2:$A$12</c:f>
              <c:strCache>
                <c:ptCount val="11"/>
                <c:pt idx="0">
                  <c:v>2019</c:v>
                </c:pt>
                <c:pt idx="1">
                  <c:v>2020</c:v>
                </c:pt>
                <c:pt idx="2">
                  <c:v>2021</c:v>
                </c:pt>
                <c:pt idx="3">
                  <c:v>2022</c:v>
                </c:pt>
                <c:pt idx="4">
                  <c:v>2023</c:v>
                </c:pt>
                <c:pt idx="5">
                  <c:v>2024*</c:v>
                </c:pt>
                <c:pt idx="6">
                  <c:v>2025*</c:v>
                </c:pt>
                <c:pt idx="7">
                  <c:v>2026*</c:v>
                </c:pt>
                <c:pt idx="8">
                  <c:v>2027*</c:v>
                </c:pt>
                <c:pt idx="9">
                  <c:v>2028*</c:v>
                </c:pt>
                <c:pt idx="10">
                  <c:v>2029*</c:v>
                </c:pt>
              </c:strCache>
            </c:strRef>
          </c:cat>
          <c:val>
            <c:numRef>
              <c:f>Лист1!$F$2:$F$12</c:f>
              <c:numCache>
                <c:formatCode>#,##0.00</c:formatCode>
                <c:ptCount val="11"/>
                <c:pt idx="0">
                  <c:v>1.64</c:v>
                </c:pt>
                <c:pt idx="1">
                  <c:v>1.87</c:v>
                </c:pt>
                <c:pt idx="2">
                  <c:v>2.3199999999999998</c:v>
                </c:pt>
                <c:pt idx="3">
                  <c:v>3.09</c:v>
                </c:pt>
                <c:pt idx="4">
                  <c:v>3.63</c:v>
                </c:pt>
                <c:pt idx="5">
                  <c:v>4.2300000000000004</c:v>
                </c:pt>
                <c:pt idx="6">
                  <c:v>4.8499999999999996</c:v>
                </c:pt>
                <c:pt idx="7">
                  <c:v>5.47</c:v>
                </c:pt>
                <c:pt idx="8">
                  <c:v>6.03</c:v>
                </c:pt>
                <c:pt idx="9">
                  <c:v>6.6</c:v>
                </c:pt>
                <c:pt idx="10">
                  <c:v>7.2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30FD-456B-8512-9CBF275F857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overlap val="100"/>
        <c:axId val="360072528"/>
        <c:axId val="776488432"/>
      </c:barChart>
      <c:catAx>
        <c:axId val="360072528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2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HelveticaNeueCyr" panose="02000503040000020004" pitchFamily="2" charset="-52"/>
                <a:ea typeface="+mn-ea"/>
                <a:cs typeface="+mn-cs"/>
              </a:defRPr>
            </a:pPr>
            <a:endParaRPr lang="ru-RU"/>
          </a:p>
        </c:txPr>
        <c:crossAx val="776488432"/>
        <c:crosses val="autoZero"/>
        <c:auto val="1"/>
        <c:lblAlgn val="ctr"/>
        <c:lblOffset val="100"/>
        <c:noMultiLvlLbl val="0"/>
      </c:catAx>
      <c:valAx>
        <c:axId val="776488432"/>
        <c:scaling>
          <c:orientation val="minMax"/>
          <c:max val="55"/>
          <c:min val="0"/>
        </c:scaling>
        <c:delete val="0"/>
        <c:axPos val="l"/>
        <c:majorGridlines>
          <c:spPr>
            <a:ln w="22225" cap="flat" cmpd="sng" algn="ctr">
              <a:solidFill>
                <a:schemeClr val="tx2"/>
              </a:solidFill>
              <a:prstDash val="sysDot"/>
              <a:round/>
            </a:ln>
            <a:effectLst/>
          </c:spPr>
        </c:majorGridlines>
        <c:numFmt formatCode="#,##0.00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0" b="0" i="0" u="none" strike="noStrike" kern="1200" baseline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pPr>
            <a:endParaRPr lang="ru-RU"/>
          </a:p>
        </c:txPr>
        <c:crossAx val="360072528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layout>
        <c:manualLayout>
          <c:xMode val="edge"/>
          <c:yMode val="edge"/>
          <c:x val="4.8800632849701271E-2"/>
          <c:y val="0.83011244172227794"/>
          <c:w val="0.91507545931758527"/>
          <c:h val="0.1375561369666771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HelveticaNeueCyr" panose="02000503040000020004" pitchFamily="2" charset="-52"/>
              <a:ea typeface="+mn-ea"/>
              <a:cs typeface="+mn-cs"/>
            </a:defRPr>
          </a:pPr>
          <a:endParaRPr lang="ru-RU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ru-RU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1.8091681646566646E-2"/>
          <c:y val="0.17707076219432966"/>
          <c:w val="0.9511382650691409"/>
          <c:h val="0.73648917647670276"/>
        </c:manualLayout>
      </c:layout>
      <c:barChart>
        <c:barDir val="col"/>
        <c:grouping val="stacked"/>
        <c:varyColors val="0"/>
        <c:ser>
          <c:idx val="0"/>
          <c:order val="0"/>
          <c:tx>
            <c:strRef>
              <c:f>Лист1!$B$1</c:f>
              <c:strCache>
                <c:ptCount val="1"/>
                <c:pt idx="0">
                  <c:v>Данные</c:v>
                </c:pt>
              </c:strCache>
            </c:strRef>
          </c:tx>
          <c:spPr>
            <a:solidFill>
              <a:srgbClr val="002060"/>
            </a:solidFill>
            <a:ln>
              <a:noFill/>
            </a:ln>
            <a:effectLst/>
          </c:spPr>
          <c:invertIfNegative val="0"/>
          <c:dLbls>
            <c:dLbl>
              <c:idx val="0"/>
              <c:layout>
                <c:manualLayout>
                  <c:x val="-9.6846901728751565E-18"/>
                  <c:y val="-0.10723915698656492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6-D1BC-4559-9534-C402012FCCEB}"/>
                </c:ext>
              </c:extLst>
            </c:dLbl>
            <c:dLbl>
              <c:idx val="1"/>
              <c:layout>
                <c:manualLayout>
                  <c:x val="0"/>
                  <c:y val="-0.14335490241937579"/>
                </c:manualLayout>
              </c:layout>
              <c:tx>
                <c:rich>
                  <a:bodyPr/>
                  <a:lstStyle/>
                  <a:p>
                    <a:r>
                      <a:rPr lang="en-US" dirty="0"/>
                      <a:t>64</a:t>
                    </a:r>
                  </a:p>
                </c:rich>
              </c:tx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5-D1BC-4559-9534-C402012FCCEB}"/>
                </c:ext>
              </c:extLst>
            </c:dLbl>
            <c:dLbl>
              <c:idx val="2"/>
              <c:layout>
                <c:manualLayout>
                  <c:x val="-2.1130477202710822E-3"/>
                  <c:y val="-0.18710662404823158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4-D1BC-4559-9534-C402012FCCEB}"/>
                </c:ext>
              </c:extLst>
            </c:dLbl>
            <c:dLbl>
              <c:idx val="3"/>
              <c:layout>
                <c:manualLayout>
                  <c:x val="0"/>
                  <c:y val="-0.20704737402874146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3-D1BC-4559-9534-C402012FCCEB}"/>
                </c:ext>
              </c:extLst>
            </c:dLbl>
            <c:dLbl>
              <c:idx val="4"/>
              <c:layout>
                <c:manualLayout>
                  <c:x val="-7.7477521383001252E-17"/>
                  <c:y val="-0.24939554585379803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2-D1BC-4559-9534-C402012FCCEB}"/>
                </c:ext>
              </c:extLst>
            </c:dLbl>
            <c:dLbl>
              <c:idx val="5"/>
              <c:layout>
                <c:manualLayout>
                  <c:x val="2.1130477202709274E-3"/>
                  <c:y val="-0.30900964112159246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1-D1BC-4559-9534-C402012FCCEB}"/>
                </c:ext>
              </c:extLst>
            </c:dLbl>
            <c:dLbl>
              <c:idx val="6"/>
              <c:layout>
                <c:manualLayout>
                  <c:x val="0"/>
                  <c:y val="-0.37491151477352458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0-D1BC-4559-9534-C402012FCCEB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0">
                <a:spAutoFit/>
              </a:bodyPr>
              <a:lstStyle/>
              <a:p>
                <a:pPr algn="ctr">
                  <a:defRPr lang="ru-RU" sz="1400" b="1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HelveticaNeueCyr" panose="02000503040000020004" pitchFamily="2" charset="-52"/>
                    <a:ea typeface="+mn-ea"/>
                    <a:cs typeface="+mn-cs"/>
                  </a:defRPr>
                </a:pPr>
                <a:endParaRPr lang="ru-RU"/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Лист1!$A$2:$A$8</c:f>
              <c:strCache>
                <c:ptCount val="7"/>
                <c:pt idx="0">
                  <c:v>2019</c:v>
                </c:pt>
                <c:pt idx="1">
                  <c:v>2020</c:v>
                </c:pt>
                <c:pt idx="2">
                  <c:v>2021</c:v>
                </c:pt>
                <c:pt idx="3">
                  <c:v>2022</c:v>
                </c:pt>
                <c:pt idx="4">
                  <c:v>2023</c:v>
                </c:pt>
                <c:pt idx="5">
                  <c:v>2024*</c:v>
                </c:pt>
                <c:pt idx="6">
                  <c:v>2025*</c:v>
                </c:pt>
              </c:strCache>
            </c:strRef>
          </c:cat>
          <c:val>
            <c:numRef>
              <c:f>Лист1!$B$2:$B$8</c:f>
              <c:numCache>
                <c:formatCode>#,##0.00</c:formatCode>
                <c:ptCount val="7"/>
                <c:pt idx="0" formatCode="#,##0">
                  <c:v>41</c:v>
                </c:pt>
                <c:pt idx="1">
                  <c:v>64.2</c:v>
                </c:pt>
                <c:pt idx="2" formatCode="#,##0">
                  <c:v>79</c:v>
                </c:pt>
                <c:pt idx="3" formatCode="#,##0">
                  <c:v>97</c:v>
                </c:pt>
                <c:pt idx="4" formatCode="#,##0">
                  <c:v>120</c:v>
                </c:pt>
                <c:pt idx="5" formatCode="#,##0">
                  <c:v>147</c:v>
                </c:pt>
                <c:pt idx="6" formatCode="#,##0">
                  <c:v>181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D1BC-4559-9534-C402012FCCEB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overlap val="100"/>
        <c:axId val="360072528"/>
        <c:axId val="776488432"/>
      </c:barChart>
      <c:catAx>
        <c:axId val="360072528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 algn="ctr">
              <a:defRPr lang="ru-RU" sz="12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HelveticaNeueCyr" panose="02000503040000020004" pitchFamily="2" charset="-52"/>
                <a:ea typeface="+mn-ea"/>
                <a:cs typeface="+mn-cs"/>
              </a:defRPr>
            </a:pPr>
            <a:endParaRPr lang="ru-RU"/>
          </a:p>
        </c:txPr>
        <c:crossAx val="776488432"/>
        <c:crosses val="autoZero"/>
        <c:auto val="1"/>
        <c:lblAlgn val="ctr"/>
        <c:lblOffset val="100"/>
        <c:noMultiLvlLbl val="0"/>
      </c:catAx>
      <c:valAx>
        <c:axId val="776488432"/>
        <c:scaling>
          <c:orientation val="minMax"/>
          <c:max val="200"/>
          <c:min val="0"/>
        </c:scaling>
        <c:delete val="0"/>
        <c:axPos val="l"/>
        <c:majorGridlines>
          <c:spPr>
            <a:ln w="22225" cap="flat" cmpd="sng" algn="ctr">
              <a:solidFill>
                <a:schemeClr val="tx2"/>
              </a:solidFill>
              <a:prstDash val="sysDot"/>
              <a:round/>
            </a:ln>
            <a:effectLst/>
          </c:spPr>
        </c:majorGridlines>
        <c:numFmt formatCode="#,##0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0" b="0" i="0" u="none" strike="noStrike" kern="1200" baseline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pPr>
            <a:endParaRPr lang="ru-RU"/>
          </a:p>
        </c:txPr>
        <c:crossAx val="360072528"/>
        <c:crosses val="autoZero"/>
        <c:crossBetween val="between"/>
        <c:majorUnit val="40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ru-RU"/>
    </a:p>
  </c:txPr>
  <c:externalData r:id="rId3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Лист1!$C$1</c:f>
              <c:strCache>
                <c:ptCount val="1"/>
                <c:pt idx="0">
                  <c:v>Потребление</c:v>
                </c:pt>
              </c:strCache>
            </c:strRef>
          </c:tx>
          <c:spPr>
            <a:solidFill>
              <a:srgbClr val="002060"/>
            </a:solidFill>
            <a:ln>
              <a:noFill/>
            </a:ln>
            <a:effectLst/>
          </c:spPr>
          <c:invertIfNegative val="0"/>
          <c:dLbls>
            <c:numFmt formatCode="#,##0_ ;\-#,##0\ 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400" b="1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HelveticaNeueCyr" panose="02000503040000020004" pitchFamily="2" charset="-52"/>
                    <a:ea typeface="+mn-ea"/>
                    <a:cs typeface="+mn-cs"/>
                  </a:defRPr>
                </a:pPr>
                <a:endParaRPr lang="ru-RU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numRef>
              <c:f>Лист1!$A$2:$A$5</c:f>
              <c:numCache>
                <c:formatCode>General</c:formatCode>
                <c:ptCount val="4"/>
                <c:pt idx="0">
                  <c:v>2021</c:v>
                </c:pt>
                <c:pt idx="1">
                  <c:v>2022</c:v>
                </c:pt>
                <c:pt idx="2">
                  <c:v>2023</c:v>
                </c:pt>
                <c:pt idx="3">
                  <c:v>2024</c:v>
                </c:pt>
              </c:numCache>
            </c:numRef>
          </c:cat>
          <c:val>
            <c:numRef>
              <c:f>Лист1!$C$2:$C$5</c:f>
              <c:numCache>
                <c:formatCode>General</c:formatCode>
                <c:ptCount val="4"/>
                <c:pt idx="0">
                  <c:v>79076</c:v>
                </c:pt>
                <c:pt idx="1">
                  <c:v>97697</c:v>
                </c:pt>
                <c:pt idx="2">
                  <c:v>114186</c:v>
                </c:pt>
                <c:pt idx="3">
                  <c:v>149216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F921-4419-B898-ABB00F36F34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469105744"/>
        <c:axId val="456062096"/>
      </c:barChart>
      <c:catAx>
        <c:axId val="469105744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4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HelveticaNeueCyr" panose="02000503040000020004" pitchFamily="2" charset="-52"/>
                <a:ea typeface="+mn-ea"/>
                <a:cs typeface="+mn-cs"/>
              </a:defRPr>
            </a:pPr>
            <a:endParaRPr lang="ru-RU"/>
          </a:p>
        </c:txPr>
        <c:crossAx val="456062096"/>
        <c:crosses val="autoZero"/>
        <c:auto val="1"/>
        <c:lblAlgn val="ctr"/>
        <c:lblOffset val="100"/>
        <c:noMultiLvlLbl val="0"/>
      </c:catAx>
      <c:valAx>
        <c:axId val="456062096"/>
        <c:scaling>
          <c:orientation val="minMax"/>
          <c:max val="170000"/>
          <c:min val="0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prstDash val="sysDot"/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0" b="0" i="0" u="none" strike="noStrike" kern="1200" baseline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pPr>
            <a:endParaRPr lang="ru-RU"/>
          </a:p>
        </c:txPr>
        <c:crossAx val="469105744"/>
        <c:crosses val="autoZero"/>
        <c:crossBetween val="between"/>
        <c:majorUnit val="40000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HelveticaNeueCyr" panose="02000503040000020004" pitchFamily="2" charset="-52"/>
              <a:ea typeface="+mn-ea"/>
              <a:cs typeface="+mn-cs"/>
            </a:defRPr>
          </a:pPr>
          <a:endParaRPr lang="ru-RU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ru-RU"/>
    </a:p>
  </c:txPr>
  <c:externalData r:id="rId3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Лист1!$C$1</c:f>
              <c:strCache>
                <c:ptCount val="1"/>
                <c:pt idx="0">
                  <c:v>Потребление</c:v>
                </c:pt>
              </c:strCache>
            </c:strRef>
          </c:tx>
          <c:spPr>
            <a:solidFill>
              <a:srgbClr val="002060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400" b="1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HelveticaNeueCyr" panose="02000503040000020004" pitchFamily="2" charset="-52"/>
                    <a:ea typeface="+mn-ea"/>
                    <a:cs typeface="+mn-cs"/>
                  </a:defRPr>
                </a:pPr>
                <a:endParaRPr lang="ru-RU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numRef>
              <c:f>Лист1!$A$2:$A$5</c:f>
              <c:numCache>
                <c:formatCode>General</c:formatCode>
                <c:ptCount val="4"/>
                <c:pt idx="0">
                  <c:v>2021</c:v>
                </c:pt>
                <c:pt idx="1">
                  <c:v>2022</c:v>
                </c:pt>
                <c:pt idx="2">
                  <c:v>2023</c:v>
                </c:pt>
                <c:pt idx="3">
                  <c:v>2024</c:v>
                </c:pt>
              </c:numCache>
            </c:numRef>
          </c:cat>
          <c:val>
            <c:numRef>
              <c:f>Лист1!$C$2:$C$5</c:f>
              <c:numCache>
                <c:formatCode>General</c:formatCode>
                <c:ptCount val="4"/>
                <c:pt idx="0">
                  <c:v>235</c:v>
                </c:pt>
                <c:pt idx="1">
                  <c:v>291</c:v>
                </c:pt>
                <c:pt idx="2">
                  <c:v>339</c:v>
                </c:pt>
                <c:pt idx="3">
                  <c:v>559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FA6B-4C5C-962A-F16AA7E39ED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469105744"/>
        <c:axId val="456062096"/>
      </c:barChart>
      <c:catAx>
        <c:axId val="469105744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4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HelveticaNeueCyr" panose="02000503040000020004" pitchFamily="2" charset="-52"/>
                <a:ea typeface="+mn-ea"/>
                <a:cs typeface="+mn-cs"/>
              </a:defRPr>
            </a:pPr>
            <a:endParaRPr lang="ru-RU"/>
          </a:p>
        </c:txPr>
        <c:crossAx val="456062096"/>
        <c:crosses val="autoZero"/>
        <c:auto val="1"/>
        <c:lblAlgn val="ctr"/>
        <c:lblOffset val="100"/>
        <c:noMultiLvlLbl val="0"/>
      </c:catAx>
      <c:valAx>
        <c:axId val="456062096"/>
        <c:scaling>
          <c:orientation val="minMax"/>
          <c:max val="650"/>
          <c:min val="0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prstDash val="sysDot"/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0" b="0" i="0" u="none" strike="noStrike" kern="1200" baseline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pPr>
            <a:endParaRPr lang="ru-RU"/>
          </a:p>
        </c:txPr>
        <c:crossAx val="469105744"/>
        <c:crosses val="autoZero"/>
        <c:crossBetween val="between"/>
        <c:majorUnit val="100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HelveticaNeueCyr" panose="02000503040000020004" pitchFamily="2" charset="-52"/>
              <a:ea typeface="+mn-ea"/>
              <a:cs typeface="+mn-cs"/>
            </a:defRPr>
          </a:pPr>
          <a:endParaRPr lang="ru-RU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ru-RU"/>
    </a:p>
  </c:txPr>
  <c:externalData r:id="rId3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1.8091681646566646E-2"/>
          <c:y val="0.17707076219432966"/>
          <c:w val="0.9511382650691409"/>
          <c:h val="0.73648917647670276"/>
        </c:manualLayout>
      </c:layout>
      <c:barChart>
        <c:barDir val="col"/>
        <c:grouping val="stacked"/>
        <c:varyColors val="0"/>
        <c:ser>
          <c:idx val="0"/>
          <c:order val="0"/>
          <c:tx>
            <c:strRef>
              <c:f>Лист1!$B$1</c:f>
              <c:strCache>
                <c:ptCount val="1"/>
                <c:pt idx="0">
                  <c:v>Данные</c:v>
                </c:pt>
              </c:strCache>
            </c:strRef>
          </c:tx>
          <c:spPr>
            <a:solidFill>
              <a:srgbClr val="002060"/>
            </a:solidFill>
            <a:ln>
              <a:noFill/>
            </a:ln>
            <a:effectLst/>
          </c:spPr>
          <c:invertIfNegative val="0"/>
          <c:dLbls>
            <c:dLbl>
              <c:idx val="0"/>
              <c:layout>
                <c:manualLayout>
                  <c:x val="6.5669739125668609E-3"/>
                  <c:y val="-8.6345160649491826E-2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0-14DA-44AB-99D7-DD6F814DB77F}"/>
                </c:ext>
              </c:extLst>
            </c:dLbl>
            <c:dLbl>
              <c:idx val="1"/>
              <c:layout>
                <c:manualLayout>
                  <c:x val="0"/>
                  <c:y val="-8.3683670774627128E-2"/>
                </c:manualLayout>
              </c:layout>
              <c:tx>
                <c:rich>
                  <a:bodyPr/>
                  <a:lstStyle/>
                  <a:p>
                    <a:r>
                      <a:rPr lang="en-US" dirty="0"/>
                      <a:t>136</a:t>
                    </a:r>
                  </a:p>
                </c:rich>
              </c:tx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6.4728472864867367E-2"/>
                      <c:h val="6.9343196049292496E-2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1-14DA-44AB-99D7-DD6F814DB77F}"/>
                </c:ext>
              </c:extLst>
            </c:dLbl>
            <c:dLbl>
              <c:idx val="2"/>
              <c:layout>
                <c:manualLayout>
                  <c:x val="4.4539940387044287E-3"/>
                  <c:y val="-0.10902593090946153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2-14DA-44AB-99D7-DD6F814DB77F}"/>
                </c:ext>
              </c:extLst>
            </c:dLbl>
            <c:dLbl>
              <c:idx val="3"/>
              <c:layout>
                <c:manualLayout>
                  <c:x val="2.1889913041889136E-3"/>
                  <c:y val="-0.12666340153909844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14DA-44AB-99D7-DD6F814DB77F}"/>
                </c:ext>
              </c:extLst>
            </c:dLbl>
            <c:dLbl>
              <c:idx val="4"/>
              <c:layout>
                <c:manualLayout>
                  <c:x val="2.1889913041889539E-3"/>
                  <c:y val="-0.15856453549925398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4-14DA-44AB-99D7-DD6F814DB77F}"/>
                </c:ext>
              </c:extLst>
            </c:dLbl>
            <c:dLbl>
              <c:idx val="5"/>
              <c:layout>
                <c:manualLayout>
                  <c:x val="-7.6011430326561306E-5"/>
                  <c:y val="-0.19215188817143533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14DA-44AB-99D7-DD6F814DB77F}"/>
                </c:ext>
              </c:extLst>
            </c:dLbl>
            <c:dLbl>
              <c:idx val="6"/>
              <c:layout>
                <c:manualLayout>
                  <c:x val="-1.6052417458489373E-16"/>
                  <c:y val="-0.23362235236666537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6-14DA-44AB-99D7-DD6F814DB77F}"/>
                </c:ext>
              </c:extLst>
            </c:dLbl>
            <c:dLbl>
              <c:idx val="7"/>
              <c:layout>
                <c:manualLayout>
                  <c:x val="-4.3779826083779078E-3"/>
                  <c:y val="-0.28026860968623962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8-14DA-44AB-99D7-DD6F814DB77F}"/>
                </c:ext>
              </c:extLst>
            </c:dLbl>
            <c:dLbl>
              <c:idx val="8"/>
              <c:layout>
                <c:manualLayout>
                  <c:x val="2.1889913041889539E-3"/>
                  <c:y val="-0.34412997424826358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9-14DA-44AB-99D7-DD6F814DB77F}"/>
                </c:ext>
              </c:extLst>
            </c:dLbl>
            <c:numFmt formatCode="#,##0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0">
                <a:spAutoFit/>
              </a:bodyPr>
              <a:lstStyle/>
              <a:p>
                <a:pPr algn="ctr">
                  <a:defRPr lang="ru-RU" sz="1400" b="1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HelveticaNeueCyr" panose="02000503040000020004" pitchFamily="2" charset="-52"/>
                    <a:ea typeface="+mn-ea"/>
                    <a:cs typeface="+mn-cs"/>
                  </a:defRPr>
                </a:pPr>
                <a:endParaRPr lang="ru-RU"/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Лист1!$A$2:$A$10</c:f>
              <c:strCache>
                <c:ptCount val="9"/>
                <c:pt idx="0">
                  <c:v>2022</c:v>
                </c:pt>
                <c:pt idx="1">
                  <c:v>2023</c:v>
                </c:pt>
                <c:pt idx="2">
                  <c:v>2024*</c:v>
                </c:pt>
                <c:pt idx="3">
                  <c:v>2025*</c:v>
                </c:pt>
                <c:pt idx="4">
                  <c:v>2026*</c:v>
                </c:pt>
                <c:pt idx="5">
                  <c:v>2027*</c:v>
                </c:pt>
                <c:pt idx="6">
                  <c:v>2028*</c:v>
                </c:pt>
                <c:pt idx="7">
                  <c:v>2029*</c:v>
                </c:pt>
                <c:pt idx="8">
                  <c:v>2030*</c:v>
                </c:pt>
              </c:strCache>
            </c:strRef>
          </c:cat>
          <c:val>
            <c:numRef>
              <c:f>Лист1!$B$2:$B$10</c:f>
              <c:numCache>
                <c:formatCode>#,##0.00</c:formatCode>
                <c:ptCount val="9"/>
                <c:pt idx="0">
                  <c:v>124.79</c:v>
                </c:pt>
                <c:pt idx="1">
                  <c:v>135.93</c:v>
                </c:pt>
                <c:pt idx="2">
                  <c:v>184.04</c:v>
                </c:pt>
                <c:pt idx="3">
                  <c:v>243.72</c:v>
                </c:pt>
                <c:pt idx="4">
                  <c:v>320.14</c:v>
                </c:pt>
                <c:pt idx="5">
                  <c:v>415.61</c:v>
                </c:pt>
                <c:pt idx="6">
                  <c:v>529.23</c:v>
                </c:pt>
                <c:pt idx="7">
                  <c:v>667.74</c:v>
                </c:pt>
                <c:pt idx="8">
                  <c:v>826.73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7-14DA-44AB-99D7-DD6F814DB77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overlap val="100"/>
        <c:axId val="360072528"/>
        <c:axId val="776488432"/>
      </c:barChart>
      <c:catAx>
        <c:axId val="360072528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 algn="ctr">
              <a:defRPr lang="ru-RU" sz="12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HelveticaNeueCyr" panose="02000503040000020004" pitchFamily="2" charset="-52"/>
                <a:ea typeface="+mn-ea"/>
                <a:cs typeface="+mn-cs"/>
              </a:defRPr>
            </a:pPr>
            <a:endParaRPr lang="ru-RU"/>
          </a:p>
        </c:txPr>
        <c:crossAx val="776488432"/>
        <c:crosses val="autoZero"/>
        <c:auto val="1"/>
        <c:lblAlgn val="ctr"/>
        <c:lblOffset val="100"/>
        <c:noMultiLvlLbl val="0"/>
      </c:catAx>
      <c:valAx>
        <c:axId val="776488432"/>
        <c:scaling>
          <c:orientation val="minMax"/>
          <c:max val="1000"/>
          <c:min val="0"/>
        </c:scaling>
        <c:delete val="0"/>
        <c:axPos val="l"/>
        <c:majorGridlines>
          <c:spPr>
            <a:ln w="22225" cap="flat" cmpd="sng" algn="ctr">
              <a:solidFill>
                <a:schemeClr val="tx2"/>
              </a:solidFill>
              <a:prstDash val="sysDot"/>
              <a:round/>
            </a:ln>
            <a:effectLst/>
          </c:spPr>
        </c:majorGridlines>
        <c:numFmt formatCode="#,##0.00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0" b="0" i="0" u="none" strike="noStrike" kern="1200" baseline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pPr>
            <a:endParaRPr lang="ru-RU"/>
          </a:p>
        </c:txPr>
        <c:crossAx val="360072528"/>
        <c:crosses val="autoZero"/>
        <c:crossBetween val="between"/>
        <c:majorUnit val="200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ru-RU"/>
    </a:p>
  </c:txPr>
  <c:externalData r:id="rId3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6.731802192022783E-2"/>
          <c:y val="8.1465102778976825E-2"/>
          <c:w val="0.93142173863427757"/>
          <c:h val="0.66009274462748779"/>
        </c:manualLayout>
      </c:layout>
      <c:lineChart>
        <c:grouping val="standard"/>
        <c:varyColors val="0"/>
        <c:ser>
          <c:idx val="0"/>
          <c:order val="0"/>
          <c:tx>
            <c:strRef>
              <c:f>Лист1!$B$1</c:f>
              <c:strCache>
                <c:ptCount val="1"/>
                <c:pt idx="0">
                  <c:v>GPU RAM, ГБ</c:v>
                </c:pt>
              </c:strCache>
            </c:strRef>
          </c:tx>
          <c:spPr>
            <a:ln w="38100" cap="rnd">
              <a:solidFill>
                <a:srgbClr val="0F24E7"/>
              </a:solidFill>
              <a:round/>
            </a:ln>
            <a:effectLst/>
          </c:spPr>
          <c:marker>
            <c:symbol val="none"/>
          </c:marker>
          <c:cat>
            <c:numRef>
              <c:f>Лист1!$A$2:$A$7</c:f>
              <c:numCache>
                <c:formatCode>m/d/yyyy</c:formatCode>
                <c:ptCount val="6"/>
                <c:pt idx="0">
                  <c:v>44562</c:v>
                </c:pt>
                <c:pt idx="1">
                  <c:v>44927</c:v>
                </c:pt>
                <c:pt idx="2">
                  <c:v>45474</c:v>
                </c:pt>
                <c:pt idx="3">
                  <c:v>45657</c:v>
                </c:pt>
                <c:pt idx="4">
                  <c:v>46022</c:v>
                </c:pt>
                <c:pt idx="5">
                  <c:v>46387</c:v>
                </c:pt>
              </c:numCache>
            </c:numRef>
          </c:cat>
          <c:val>
            <c:numRef>
              <c:f>Лист1!$B$2:$B$7</c:f>
              <c:numCache>
                <c:formatCode>#,##0</c:formatCode>
                <c:ptCount val="6"/>
                <c:pt idx="0" formatCode="General">
                  <c:v>640</c:v>
                </c:pt>
                <c:pt idx="1">
                  <c:v>2560</c:v>
                </c:pt>
                <c:pt idx="2">
                  <c:v>5920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E77C-4E4D-9576-42D6D1809748}"/>
            </c:ext>
          </c:extLst>
        </c:ser>
        <c:ser>
          <c:idx val="1"/>
          <c:order val="1"/>
          <c:tx>
            <c:strRef>
              <c:f>Лист1!$C$1</c:f>
              <c:strCache>
                <c:ptCount val="1"/>
                <c:pt idx="0">
                  <c:v>GPU RAM, ГБ прогноз</c:v>
                </c:pt>
              </c:strCache>
            </c:strRef>
          </c:tx>
          <c:spPr>
            <a:ln w="38100" cap="rnd">
              <a:solidFill>
                <a:srgbClr val="E91B11"/>
              </a:solidFill>
              <a:round/>
            </a:ln>
            <a:effectLst/>
          </c:spPr>
          <c:marker>
            <c:symbol val="none"/>
          </c:marker>
          <c:cat>
            <c:numRef>
              <c:f>Лист1!$A$2:$A$7</c:f>
              <c:numCache>
                <c:formatCode>m/d/yyyy</c:formatCode>
                <c:ptCount val="6"/>
                <c:pt idx="0">
                  <c:v>44562</c:v>
                </c:pt>
                <c:pt idx="1">
                  <c:v>44927</c:v>
                </c:pt>
                <c:pt idx="2">
                  <c:v>45474</c:v>
                </c:pt>
                <c:pt idx="3">
                  <c:v>45657</c:v>
                </c:pt>
                <c:pt idx="4">
                  <c:v>46022</c:v>
                </c:pt>
                <c:pt idx="5">
                  <c:v>46387</c:v>
                </c:pt>
              </c:numCache>
            </c:numRef>
          </c:cat>
          <c:val>
            <c:numRef>
              <c:f>Лист1!$C$2:$C$7</c:f>
              <c:numCache>
                <c:formatCode>General</c:formatCode>
                <c:ptCount val="6"/>
                <c:pt idx="2" formatCode="#,##0">
                  <c:v>5920</c:v>
                </c:pt>
                <c:pt idx="3" formatCode="#,##0">
                  <c:v>6000</c:v>
                </c:pt>
                <c:pt idx="4" formatCode="#,##0">
                  <c:v>7000</c:v>
                </c:pt>
                <c:pt idx="5" formatCode="#,##0">
                  <c:v>8512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E77C-4E4D-9576-42D6D180974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1808627280"/>
        <c:axId val="1488748144"/>
      </c:lineChart>
      <c:dateAx>
        <c:axId val="1808627280"/>
        <c:scaling>
          <c:orientation val="minMax"/>
        </c:scaling>
        <c:delete val="0"/>
        <c:axPos val="b"/>
        <c:numFmt formatCode="yyyy" sourceLinked="0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 algn="ctr">
              <a:defRPr lang="ru-RU" sz="11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HelveticaNeueCyr" panose="02000503040000020004" pitchFamily="2" charset="-52"/>
                <a:ea typeface="+mn-ea"/>
                <a:cs typeface="+mn-cs"/>
              </a:defRPr>
            </a:pPr>
            <a:endParaRPr lang="ru-RU"/>
          </a:p>
        </c:txPr>
        <c:crossAx val="1488748144"/>
        <c:crosses val="autoZero"/>
        <c:auto val="1"/>
        <c:lblOffset val="100"/>
        <c:baseTimeUnit val="months"/>
        <c:majorUnit val="4"/>
        <c:majorTimeUnit val="years"/>
        <c:minorUnit val="1"/>
        <c:minorTimeUnit val="years"/>
      </c:dateAx>
      <c:valAx>
        <c:axId val="1488748144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prstDash val="sysDot"/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 algn="ctr">
              <a:defRPr lang="ru-RU" sz="800" b="0" i="0" u="none" strike="noStrike" kern="1200" baseline="0">
                <a:solidFill>
                  <a:schemeClr val="bg1">
                    <a:lumMod val="50000"/>
                  </a:schemeClr>
                </a:solidFill>
                <a:latin typeface="Wix Madefor Display" panose="020B0503020203020203" pitchFamily="34" charset="0"/>
                <a:ea typeface="+mn-ea"/>
                <a:cs typeface="Wix Madefor Display" panose="020B0503020203020203" pitchFamily="34" charset="0"/>
              </a:defRPr>
            </a:pPr>
            <a:endParaRPr lang="ru-RU"/>
          </a:p>
        </c:txPr>
        <c:crossAx val="1808627280"/>
        <c:crosses val="autoZero"/>
        <c:crossBetween val="between"/>
        <c:majorUnit val="2000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lang="ru-RU" sz="11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HelveticaNeueCyr" panose="02000503040000020004" pitchFamily="2" charset="-52"/>
              <a:ea typeface="+mn-ea"/>
              <a:cs typeface="+mn-cs"/>
            </a:defRPr>
          </a:pPr>
          <a:endParaRPr lang="ru-RU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ru-RU"/>
    </a:p>
  </c:txPr>
  <c:externalData r:id="rId3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percentStacked"/>
        <c:varyColors val="0"/>
        <c:ser>
          <c:idx val="0"/>
          <c:order val="0"/>
          <c:tx>
            <c:strRef>
              <c:f>Лист1!$B$1</c:f>
              <c:strCache>
                <c:ptCount val="1"/>
                <c:pt idx="0">
                  <c:v>Серверы без сопроцессоров</c:v>
                </c:pt>
              </c:strCache>
            </c:strRef>
          </c:tx>
          <c:spPr>
            <a:solidFill>
              <a:srgbClr val="0F24E7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400" b="1" i="0" u="none" strike="noStrike" kern="1200" baseline="0">
                    <a:solidFill>
                      <a:schemeClr val="bg1"/>
                    </a:solidFill>
                    <a:latin typeface="HelveticaNeueCyr" panose="02000503040000020004" pitchFamily="2" charset="-52"/>
                    <a:ea typeface="+mn-ea"/>
                    <a:cs typeface="+mn-cs"/>
                  </a:defRPr>
                </a:pPr>
                <a:endParaRPr lang="ru-RU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numRef>
              <c:f>Лист1!$A$2:$A$3</c:f>
              <c:numCache>
                <c:formatCode>General</c:formatCode>
                <c:ptCount val="2"/>
                <c:pt idx="0">
                  <c:v>2020</c:v>
                </c:pt>
                <c:pt idx="1">
                  <c:v>2028</c:v>
                </c:pt>
              </c:numCache>
            </c:numRef>
          </c:cat>
          <c:val>
            <c:numRef>
              <c:f>Лист1!$B$2:$B$3</c:f>
              <c:numCache>
                <c:formatCode>0%</c:formatCode>
                <c:ptCount val="2"/>
                <c:pt idx="0">
                  <c:v>0.89</c:v>
                </c:pt>
                <c:pt idx="1">
                  <c:v>0.4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92F7-496B-854F-98EA153C8D83}"/>
            </c:ext>
          </c:extLst>
        </c:ser>
        <c:ser>
          <c:idx val="1"/>
          <c:order val="1"/>
          <c:tx>
            <c:strRef>
              <c:f>Лист1!$C$1</c:f>
              <c:strCache>
                <c:ptCount val="1"/>
                <c:pt idx="0">
                  <c:v>Серверы с сопроцессорами*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rgbClr val="E91B11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4-92F7-496B-854F-98EA153C8D83}"/>
              </c:ext>
            </c:extLst>
          </c:dPt>
          <c:dPt>
            <c:idx val="1"/>
            <c:invertIfNegative val="0"/>
            <c:bubble3D val="0"/>
            <c:spPr>
              <a:solidFill>
                <a:srgbClr val="E91B11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92F7-496B-854F-98EA153C8D83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400" b="1" i="0" u="none" strike="noStrike" kern="1200" baseline="0">
                    <a:solidFill>
                      <a:schemeClr val="bg1"/>
                    </a:solidFill>
                    <a:latin typeface="HelveticaNeueCyr" panose="02000503040000020004" pitchFamily="2" charset="-52"/>
                    <a:ea typeface="+mn-ea"/>
                    <a:cs typeface="+mn-cs"/>
                  </a:defRPr>
                </a:pPr>
                <a:endParaRPr lang="ru-RU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numRef>
              <c:f>Лист1!$A$2:$A$3</c:f>
              <c:numCache>
                <c:formatCode>General</c:formatCode>
                <c:ptCount val="2"/>
                <c:pt idx="0">
                  <c:v>2020</c:v>
                </c:pt>
                <c:pt idx="1">
                  <c:v>2028</c:v>
                </c:pt>
              </c:numCache>
            </c:numRef>
          </c:cat>
          <c:val>
            <c:numRef>
              <c:f>Лист1!$C$2:$C$3</c:f>
              <c:numCache>
                <c:formatCode>0%</c:formatCode>
                <c:ptCount val="2"/>
                <c:pt idx="0">
                  <c:v>0.11</c:v>
                </c:pt>
                <c:pt idx="1">
                  <c:v>0.6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92F7-496B-854F-98EA153C8D8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85"/>
        <c:overlap val="100"/>
        <c:axId val="1688824896"/>
        <c:axId val="2052737568"/>
      </c:barChart>
      <c:catAx>
        <c:axId val="1688824896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4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HelveticaNeueCyr" panose="02000503040000020004" pitchFamily="2" charset="-52"/>
                <a:ea typeface="+mn-ea"/>
                <a:cs typeface="+mn-cs"/>
              </a:defRPr>
            </a:pPr>
            <a:endParaRPr lang="ru-RU"/>
          </a:p>
        </c:txPr>
        <c:crossAx val="2052737568"/>
        <c:crosses val="autoZero"/>
        <c:auto val="1"/>
        <c:lblAlgn val="ctr"/>
        <c:lblOffset val="100"/>
        <c:noMultiLvlLbl val="0"/>
      </c:catAx>
      <c:valAx>
        <c:axId val="2052737568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  <a:alpha val="0"/>
                </a:schemeClr>
              </a:solidFill>
              <a:round/>
            </a:ln>
            <a:effectLst/>
          </c:spPr>
        </c:majorGridlines>
        <c:numFmt formatCode="0%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0" b="0" i="0" u="none" strike="noStrike" kern="1200" baseline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pPr>
            <a:endParaRPr lang="ru-RU"/>
          </a:p>
        </c:txPr>
        <c:crossAx val="1688824896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HelveticaNeueCyr" panose="02000503040000020004" pitchFamily="2" charset="-52"/>
              <a:ea typeface="+mn-ea"/>
              <a:cs typeface="+mn-cs"/>
            </a:defRPr>
          </a:pPr>
          <a:endParaRPr lang="ru-RU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ru-RU"/>
    </a:p>
  </c:txPr>
  <c:externalData r:id="rId3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9.965288713910761E-2"/>
          <c:y val="1.4235002878851705E-2"/>
          <c:w val="0.82307130358705161"/>
          <c:h val="0.8416746864975212"/>
        </c:manualLayout>
      </c:layout>
      <c:barChart>
        <c:barDir val="bar"/>
        <c:grouping val="stacked"/>
        <c:varyColors val="0"/>
        <c:ser>
          <c:idx val="0"/>
          <c:order val="0"/>
          <c:spPr>
            <a:solidFill>
              <a:srgbClr val="FF7C80"/>
            </a:solidFill>
            <a:ln>
              <a:noFill/>
            </a:ln>
            <a:effectLst/>
          </c:spPr>
          <c:invertIfNegative val="0"/>
          <c:dLbls>
            <c:delete val="1"/>
          </c:dLbls>
          <c:cat>
            <c:strRef>
              <c:f>Лист1!$A$4:$A$5</c:f>
              <c:strCache>
                <c:ptCount val="2"/>
                <c:pt idx="0">
                  <c:v>ЦП</c:v>
                </c:pt>
                <c:pt idx="1">
                  <c:v>ГП</c:v>
                </c:pt>
              </c:strCache>
            </c:strRef>
          </c:cat>
          <c:val>
            <c:numRef>
              <c:f>Лист1!$B$4:$B$5</c:f>
              <c:numCache>
                <c:formatCode>General</c:formatCode>
                <c:ptCount val="2"/>
                <c:pt idx="0">
                  <c:v>1</c:v>
                </c:pt>
                <c:pt idx="1">
                  <c:v>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4AB2-4E80-B245-0614EAAB04FA}"/>
            </c:ext>
          </c:extLst>
        </c:ser>
        <c:ser>
          <c:idx val="1"/>
          <c:order val="1"/>
          <c:spPr>
            <a:solidFill>
              <a:srgbClr val="CC0000"/>
            </a:solidFill>
            <a:ln>
              <a:noFill/>
            </a:ln>
            <a:effectLst/>
          </c:spPr>
          <c:invertIfNegative val="0"/>
          <c:dLbls>
            <c:delete val="1"/>
          </c:dLbls>
          <c:cat>
            <c:strRef>
              <c:f>Лист1!$A$4:$A$5</c:f>
              <c:strCache>
                <c:ptCount val="2"/>
                <c:pt idx="0">
                  <c:v>ЦП</c:v>
                </c:pt>
                <c:pt idx="1">
                  <c:v>ГП</c:v>
                </c:pt>
              </c:strCache>
            </c:strRef>
          </c:cat>
          <c:val>
            <c:numRef>
              <c:f>Лист1!$C$4:$C$5</c:f>
              <c:numCache>
                <c:formatCode>General</c:formatCode>
                <c:ptCount val="2"/>
                <c:pt idx="0">
                  <c:v>4</c:v>
                </c:pt>
                <c:pt idx="1">
                  <c:v>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4AB2-4E80-B245-0614EAAB04FA}"/>
            </c:ext>
          </c:extLst>
        </c:ser>
        <c:dLbls>
          <c:dLblPos val="ctr"/>
          <c:showLegendKey val="0"/>
          <c:showVal val="1"/>
          <c:showCatName val="0"/>
          <c:showSerName val="0"/>
          <c:showPercent val="0"/>
          <c:showBubbleSize val="0"/>
        </c:dLbls>
        <c:gapWidth val="150"/>
        <c:overlap val="100"/>
        <c:axId val="1227792319"/>
        <c:axId val="987251279"/>
      </c:barChart>
      <c:catAx>
        <c:axId val="1227792319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 algn="just">
              <a:defRPr sz="1200" b="0" i="0" u="none" strike="noStrike" kern="1200" baseline="0">
                <a:solidFill>
                  <a:schemeClr val="tx1"/>
                </a:solidFill>
                <a:latin typeface="Unbounded Medium" pitchFamily="2" charset="-52"/>
                <a:ea typeface="+mn-ea"/>
                <a:cs typeface="+mn-cs"/>
              </a:defRPr>
            </a:pPr>
            <a:endParaRPr lang="ru-RU"/>
          </a:p>
        </c:txPr>
        <c:crossAx val="987251279"/>
        <c:crosses val="autoZero"/>
        <c:auto val="1"/>
        <c:lblAlgn val="ctr"/>
        <c:lblOffset val="100"/>
        <c:noMultiLvlLbl val="0"/>
      </c:catAx>
      <c:valAx>
        <c:axId val="987251279"/>
        <c:scaling>
          <c:orientation val="minMax"/>
        </c:scaling>
        <c:delete val="1"/>
        <c:axPos val="b"/>
        <c:numFmt formatCode="General" sourceLinked="1"/>
        <c:majorTickMark val="none"/>
        <c:minorTickMark val="none"/>
        <c:tickLblPos val="nextTo"/>
        <c:crossAx val="1227792319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ru-RU"/>
    </a:p>
  </c:txPr>
  <c:externalData r:id="rId3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spPr>
            <a:solidFill>
              <a:srgbClr val="0F24E7"/>
            </a:solidFill>
            <a:ln>
              <a:noFill/>
            </a:ln>
            <a:effectLst/>
          </c:spPr>
          <c:invertIfNegative val="0"/>
          <c:cat>
            <c:numRef>
              <c:f>Лист1!$A$2:$A$13</c:f>
              <c:numCache>
                <c:formatCode>General</c:formatCode>
                <c:ptCount val="12"/>
                <c:pt idx="0">
                  <c:v>2012</c:v>
                </c:pt>
                <c:pt idx="1">
                  <c:v>2013</c:v>
                </c:pt>
                <c:pt idx="2">
                  <c:v>2014</c:v>
                </c:pt>
                <c:pt idx="3">
                  <c:v>2015</c:v>
                </c:pt>
                <c:pt idx="4">
                  <c:v>2016</c:v>
                </c:pt>
                <c:pt idx="5">
                  <c:v>2017</c:v>
                </c:pt>
                <c:pt idx="6">
                  <c:v>2018</c:v>
                </c:pt>
                <c:pt idx="7">
                  <c:v>2019</c:v>
                </c:pt>
                <c:pt idx="8">
                  <c:v>2020</c:v>
                </c:pt>
                <c:pt idx="9">
                  <c:v>2021</c:v>
                </c:pt>
                <c:pt idx="10">
                  <c:v>2022</c:v>
                </c:pt>
                <c:pt idx="11">
                  <c:v>2023</c:v>
                </c:pt>
              </c:numCache>
            </c:numRef>
          </c:cat>
          <c:val>
            <c:numRef>
              <c:f>Лист1!$B$2:$B$13</c:f>
              <c:numCache>
                <c:formatCode>General</c:formatCode>
                <c:ptCount val="12"/>
                <c:pt idx="0">
                  <c:v>60</c:v>
                </c:pt>
                <c:pt idx="1">
                  <c:v>20</c:v>
                </c:pt>
                <c:pt idx="2">
                  <c:v>100</c:v>
                </c:pt>
                <c:pt idx="3">
                  <c:v>180</c:v>
                </c:pt>
                <c:pt idx="4">
                  <c:v>200</c:v>
                </c:pt>
                <c:pt idx="5">
                  <c:v>480</c:v>
                </c:pt>
                <c:pt idx="6">
                  <c:v>400</c:v>
                </c:pt>
                <c:pt idx="7">
                  <c:v>800</c:v>
                </c:pt>
                <c:pt idx="8">
                  <c:v>700</c:v>
                </c:pt>
                <c:pt idx="9">
                  <c:v>2400</c:v>
                </c:pt>
                <c:pt idx="10">
                  <c:v>2370</c:v>
                </c:pt>
                <c:pt idx="11">
                  <c:v>1200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0CD4-4B4D-B0F9-076F688074D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98"/>
        <c:overlap val="-27"/>
        <c:axId val="129307696"/>
        <c:axId val="564723280"/>
      </c:barChart>
      <c:catAx>
        <c:axId val="129307696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00" b="0" i="0" u="none" strike="noStrike" kern="1200" baseline="0">
                <a:solidFill>
                  <a:schemeClr val="tx1"/>
                </a:solidFill>
                <a:latin typeface="HelveticaNeueCyr" panose="020B0604020202020204" charset="-52"/>
                <a:ea typeface="+mn-ea"/>
                <a:cs typeface="+mn-cs"/>
              </a:defRPr>
            </a:pPr>
            <a:endParaRPr lang="ru-RU"/>
          </a:p>
        </c:txPr>
        <c:crossAx val="564723280"/>
        <c:crosses val="autoZero"/>
        <c:auto val="1"/>
        <c:lblAlgn val="ctr"/>
        <c:lblOffset val="100"/>
        <c:noMultiLvlLbl val="0"/>
      </c:catAx>
      <c:valAx>
        <c:axId val="564723280"/>
        <c:scaling>
          <c:orientation val="minMax"/>
          <c:max val="2500"/>
          <c:min val="0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prstDash val="sysDot"/>
              <a:round/>
            </a:ln>
            <a:effectLst/>
          </c:spPr>
        </c:majorGridlines>
        <c:numFmt formatCode="General" sourceLinked="0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HelveticaNeueCyr" panose="020B0604020202020204" charset="-52"/>
                <a:ea typeface="+mn-ea"/>
                <a:cs typeface="+mn-cs"/>
              </a:defRPr>
            </a:pPr>
            <a:endParaRPr lang="ru-RU"/>
          </a:p>
        </c:txPr>
        <c:crossAx val="129307696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ru-RU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5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6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7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8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9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5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6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7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8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9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5">
  <dgm:title val=""/>
  <dgm:desc val=""/>
  <dgm:catLst>
    <dgm:cat type="accent1" pri="11500"/>
  </dgm:catLst>
  <dgm:styleLbl name="node0">
    <dgm:fillClrLst meth="cycle">
      <a:schemeClr val="accent1">
        <a:alpha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1">
        <a:alpha val="90000"/>
      </a:schemeClr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1">
        <a:alpha val="90000"/>
      </a:schemeClr>
      <a:schemeClr val="accent1">
        <a:alpha val="5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/>
    <dgm:txEffectClrLst/>
  </dgm:styleLbl>
  <dgm:styleLbl name="lnNode1">
    <dgm:fillClrLst>
      <a:schemeClr val="accent1">
        <a:shade val="90000"/>
      </a:schemeClr>
      <a:schemeClr val="accent1">
        <a:alpha val="50000"/>
        <a:tint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1">
        <a:shade val="80000"/>
        <a:alpha val="50000"/>
      </a:schemeClr>
      <a:schemeClr val="accent1">
        <a:alpha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1">
        <a:alpha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1">
        <a:alpha val="30000"/>
      </a:schemeClr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1">
        <a:tint val="50000"/>
        <a:alpha val="90000"/>
      </a:schemeClr>
      <a:schemeClr val="accent1">
        <a:tint val="20000"/>
        <a:alpha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1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1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1">
        <a:shade val="90000"/>
      </a:schemeClr>
      <a:schemeClr val="accent1">
        <a:tint val="50000"/>
      </a:schemeClr>
    </dgm:fillClrLst>
    <dgm:linClrLst>
      <a:schemeClr val="accent1">
        <a:shade val="90000"/>
      </a:schemeClr>
      <a:schemeClr val="accent1">
        <a:tint val="50000"/>
      </a:schemeClr>
    </dgm:linClrLst>
    <dgm:effectClrLst/>
    <dgm:txLinClrLst/>
    <dgm:txFillClrLst/>
    <dgm:txEffectClrLst/>
  </dgm:styleLbl>
  <dgm:styleLbl name="fgSibTrans2D1">
    <dgm:fillClrLst>
      <a:schemeClr val="accent1">
        <a:shade val="90000"/>
      </a:schemeClr>
      <a:schemeClr val="accent1">
        <a:tint val="50000"/>
      </a:schemeClr>
    </dgm:fillClrLst>
    <dgm:linClrLst>
      <a:schemeClr val="accent1">
        <a:shade val="90000"/>
      </a:schemeClr>
      <a:schemeClr val="accent1">
        <a:tint val="50000"/>
      </a:schemeClr>
    </dgm:linClrLst>
    <dgm:effectClrLst/>
    <dgm:txLinClrLst/>
    <dgm:txFillClrLst/>
    <dgm:txEffectClrLst/>
  </dgm:styleLbl>
  <dgm:styleLbl name="bgSibTrans2D1">
    <dgm:fillClrLst>
      <a:schemeClr val="accent1">
        <a:shade val="90000"/>
      </a:schemeClr>
      <a:schemeClr val="accent1">
        <a:tint val="50000"/>
      </a:schemeClr>
    </dgm:fillClrLst>
    <dgm:linClrLst>
      <a:schemeClr val="accent1">
        <a:shade val="90000"/>
      </a:schemeClr>
      <a:schemeClr val="accent1">
        <a:tint val="50000"/>
      </a:schemeClr>
    </dgm:linClrLst>
    <dgm:effectClrLst/>
    <dgm:txLinClrLst/>
    <dgm:txFillClrLst/>
    <dgm:txEffectClrLst/>
  </dgm:styleLbl>
  <dgm:styleLbl name="sibTrans1D1">
    <dgm:fillClrLst>
      <a:schemeClr val="accent1">
        <a:shade val="90000"/>
      </a:schemeClr>
      <a:schemeClr val="accent1">
        <a:tint val="50000"/>
      </a:schemeClr>
    </dgm:fillClrLst>
    <dgm:linClrLst>
      <a:schemeClr val="accent1">
        <a:shade val="90000"/>
      </a:schemeClr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1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1">
        <a:alpha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shade val="80000"/>
      </a:schemeClr>
    </dgm:fillClrLst>
    <dgm:linClrLst meth="repeat">
      <a:schemeClr val="accent1">
        <a:shade val="80000"/>
      </a:schemeClr>
    </dgm:linClrLst>
    <dgm:effectClrLst/>
    <dgm:txLinClrLst/>
    <dgm:txFillClrLst/>
    <dgm:txEffectClrLst/>
  </dgm:styleLbl>
  <dgm:styleLbl name="parChTrans2D2">
    <dgm:fillClrLst meth="repeat">
      <a:schemeClr val="accent1">
        <a:tint val="90000"/>
      </a:schemeClr>
    </dgm:fillClrLst>
    <dgm:linClrLst meth="repeat">
      <a:schemeClr val="accent1">
        <a:tint val="90000"/>
      </a:schemeClr>
    </dgm:linClrLst>
    <dgm:effectClrLst/>
    <dgm:txLinClrLst/>
    <dgm:txFillClrLst/>
    <dgm:txEffectClrLst/>
  </dgm:styleLbl>
  <dgm:styleLbl name="parChTrans2D3">
    <dgm:fillClrLst meth="repeat">
      <a:schemeClr val="accent1">
        <a:tint val="70000"/>
      </a:schemeClr>
    </dgm:fillClrLst>
    <dgm:linClrLst meth="repeat">
      <a:schemeClr val="accent1">
        <a:tint val="70000"/>
      </a:schemeClr>
    </dgm:linClrLst>
    <dgm:effectClrLst/>
    <dgm:txLinClrLst/>
    <dgm:txFillClrLst/>
    <dgm:txEffectClrLst/>
  </dgm:styleLbl>
  <dgm:styleLbl name="parChTrans2D4">
    <dgm:fillClrLst meth="repeat">
      <a:schemeClr val="accent1">
        <a:tint val="50000"/>
      </a:schemeClr>
    </dgm:fillClrLst>
    <dgm:linClrLst meth="repeat">
      <a:schemeClr val="accent1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parChTrans1D1">
    <dgm:fillClrLst meth="repeat">
      <a:schemeClr val="accent1">
        <a:shade val="8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>
        <a:tint val="90000"/>
      </a:schemeClr>
    </dgm:fillClrLst>
    <dgm:linClrLst meth="repeat">
      <a:schemeClr val="accent1">
        <a:tint val="9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>
        <a:tint val="70000"/>
      </a:schemeClr>
    </dgm:fillClrLst>
    <dgm:linClrLst meth="repeat">
      <a:schemeClr val="accent1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>
        <a:tint val="50000"/>
      </a:schemeClr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1">
        <a:alpha val="90000"/>
        <a:tint val="40000"/>
      </a:schemeClr>
      <a:schemeClr val="accent1">
        <a:alpha val="5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>
        <a:tint val="90000"/>
      </a:schemeClr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5">
  <dgm:title val=""/>
  <dgm:desc val=""/>
  <dgm:catLst>
    <dgm:cat type="accent1" pri="11500"/>
  </dgm:catLst>
  <dgm:styleLbl name="node0">
    <dgm:fillClrLst meth="cycle">
      <a:schemeClr val="accent1">
        <a:alpha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1">
        <a:alpha val="90000"/>
      </a:schemeClr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1">
        <a:alpha val="90000"/>
      </a:schemeClr>
      <a:schemeClr val="accent1">
        <a:alpha val="5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/>
    <dgm:txEffectClrLst/>
  </dgm:styleLbl>
  <dgm:styleLbl name="lnNode1">
    <dgm:fillClrLst>
      <a:schemeClr val="accent1">
        <a:shade val="90000"/>
      </a:schemeClr>
      <a:schemeClr val="accent1">
        <a:alpha val="50000"/>
        <a:tint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1">
        <a:shade val="80000"/>
        <a:alpha val="50000"/>
      </a:schemeClr>
      <a:schemeClr val="accent1">
        <a:alpha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1">
        <a:alpha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1">
        <a:alpha val="30000"/>
      </a:schemeClr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1">
        <a:tint val="50000"/>
        <a:alpha val="90000"/>
      </a:schemeClr>
      <a:schemeClr val="accent1">
        <a:tint val="20000"/>
        <a:alpha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1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1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1">
        <a:shade val="90000"/>
      </a:schemeClr>
      <a:schemeClr val="accent1">
        <a:tint val="50000"/>
      </a:schemeClr>
    </dgm:fillClrLst>
    <dgm:linClrLst>
      <a:schemeClr val="accent1">
        <a:shade val="90000"/>
      </a:schemeClr>
      <a:schemeClr val="accent1">
        <a:tint val="50000"/>
      </a:schemeClr>
    </dgm:linClrLst>
    <dgm:effectClrLst/>
    <dgm:txLinClrLst/>
    <dgm:txFillClrLst/>
    <dgm:txEffectClrLst/>
  </dgm:styleLbl>
  <dgm:styleLbl name="fgSibTrans2D1">
    <dgm:fillClrLst>
      <a:schemeClr val="accent1">
        <a:shade val="90000"/>
      </a:schemeClr>
      <a:schemeClr val="accent1">
        <a:tint val="50000"/>
      </a:schemeClr>
    </dgm:fillClrLst>
    <dgm:linClrLst>
      <a:schemeClr val="accent1">
        <a:shade val="90000"/>
      </a:schemeClr>
      <a:schemeClr val="accent1">
        <a:tint val="50000"/>
      </a:schemeClr>
    </dgm:linClrLst>
    <dgm:effectClrLst/>
    <dgm:txLinClrLst/>
    <dgm:txFillClrLst/>
    <dgm:txEffectClrLst/>
  </dgm:styleLbl>
  <dgm:styleLbl name="bgSibTrans2D1">
    <dgm:fillClrLst>
      <a:schemeClr val="accent1">
        <a:shade val="90000"/>
      </a:schemeClr>
      <a:schemeClr val="accent1">
        <a:tint val="50000"/>
      </a:schemeClr>
    </dgm:fillClrLst>
    <dgm:linClrLst>
      <a:schemeClr val="accent1">
        <a:shade val="90000"/>
      </a:schemeClr>
      <a:schemeClr val="accent1">
        <a:tint val="50000"/>
      </a:schemeClr>
    </dgm:linClrLst>
    <dgm:effectClrLst/>
    <dgm:txLinClrLst/>
    <dgm:txFillClrLst/>
    <dgm:txEffectClrLst/>
  </dgm:styleLbl>
  <dgm:styleLbl name="sibTrans1D1">
    <dgm:fillClrLst>
      <a:schemeClr val="accent1">
        <a:shade val="90000"/>
      </a:schemeClr>
      <a:schemeClr val="accent1">
        <a:tint val="50000"/>
      </a:schemeClr>
    </dgm:fillClrLst>
    <dgm:linClrLst>
      <a:schemeClr val="accent1">
        <a:shade val="90000"/>
      </a:schemeClr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1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1">
        <a:alpha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shade val="80000"/>
      </a:schemeClr>
    </dgm:fillClrLst>
    <dgm:linClrLst meth="repeat">
      <a:schemeClr val="accent1">
        <a:shade val="80000"/>
      </a:schemeClr>
    </dgm:linClrLst>
    <dgm:effectClrLst/>
    <dgm:txLinClrLst/>
    <dgm:txFillClrLst/>
    <dgm:txEffectClrLst/>
  </dgm:styleLbl>
  <dgm:styleLbl name="parChTrans2D2">
    <dgm:fillClrLst meth="repeat">
      <a:schemeClr val="accent1">
        <a:tint val="90000"/>
      </a:schemeClr>
    </dgm:fillClrLst>
    <dgm:linClrLst meth="repeat">
      <a:schemeClr val="accent1">
        <a:tint val="90000"/>
      </a:schemeClr>
    </dgm:linClrLst>
    <dgm:effectClrLst/>
    <dgm:txLinClrLst/>
    <dgm:txFillClrLst/>
    <dgm:txEffectClrLst/>
  </dgm:styleLbl>
  <dgm:styleLbl name="parChTrans2D3">
    <dgm:fillClrLst meth="repeat">
      <a:schemeClr val="accent1">
        <a:tint val="70000"/>
      </a:schemeClr>
    </dgm:fillClrLst>
    <dgm:linClrLst meth="repeat">
      <a:schemeClr val="accent1">
        <a:tint val="70000"/>
      </a:schemeClr>
    </dgm:linClrLst>
    <dgm:effectClrLst/>
    <dgm:txLinClrLst/>
    <dgm:txFillClrLst/>
    <dgm:txEffectClrLst/>
  </dgm:styleLbl>
  <dgm:styleLbl name="parChTrans2D4">
    <dgm:fillClrLst meth="repeat">
      <a:schemeClr val="accent1">
        <a:tint val="50000"/>
      </a:schemeClr>
    </dgm:fillClrLst>
    <dgm:linClrLst meth="repeat">
      <a:schemeClr val="accent1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parChTrans1D1">
    <dgm:fillClrLst meth="repeat">
      <a:schemeClr val="accent1">
        <a:shade val="8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>
        <a:tint val="90000"/>
      </a:schemeClr>
    </dgm:fillClrLst>
    <dgm:linClrLst meth="repeat">
      <a:schemeClr val="accent1">
        <a:tint val="9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>
        <a:tint val="70000"/>
      </a:schemeClr>
    </dgm:fillClrLst>
    <dgm:linClrLst meth="repeat">
      <a:schemeClr val="accent1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>
        <a:tint val="50000"/>
      </a:schemeClr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1">
        <a:alpha val="90000"/>
        <a:tint val="40000"/>
      </a:schemeClr>
      <a:schemeClr val="accent1">
        <a:alpha val="5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>
        <a:tint val="90000"/>
      </a:schemeClr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5D9BC9AF-E696-43D8-9E60-3627CB4A9F90}" type="doc">
      <dgm:prSet loTypeId="urn:microsoft.com/office/officeart/2005/8/layout/hProcess11" loCatId="process" qsTypeId="urn:microsoft.com/office/officeart/2005/8/quickstyle/simple1" qsCatId="simple" csTypeId="urn:microsoft.com/office/officeart/2005/8/colors/accent1_5" csCatId="accent1" phldr="1"/>
      <dgm:spPr/>
      <dgm:t>
        <a:bodyPr/>
        <a:lstStyle/>
        <a:p>
          <a:endParaRPr lang="ru-RU"/>
        </a:p>
      </dgm:t>
    </dgm:pt>
    <dgm:pt modelId="{1F0860FF-4FB4-4022-BDED-9962A2A76FF8}">
      <dgm:prSet phldrT="[Текст]" custT="1"/>
      <dgm:spPr/>
      <dgm:t>
        <a:bodyPr/>
        <a:lstStyle/>
        <a:p>
          <a:r>
            <a:rPr lang="ru-RU" sz="1400" dirty="0">
              <a:latin typeface="Unbounded Medium" pitchFamily="2" charset="-52"/>
              <a:cs typeface="Wix Madefor Display SemiBold" panose="020B0503020203020203" pitchFamily="34" charset="-52"/>
            </a:rPr>
            <a:t>20</a:t>
          </a:r>
          <a:r>
            <a:rPr lang="en-US" sz="1400" dirty="0">
              <a:latin typeface="Unbounded Medium" pitchFamily="2" charset="-52"/>
              <a:cs typeface="Wix Madefor Display SemiBold" panose="020B0503020203020203" pitchFamily="34" charset="-52"/>
            </a:rPr>
            <a:t>18</a:t>
          </a:r>
          <a:endParaRPr lang="ru-RU" sz="1400" dirty="0">
            <a:latin typeface="Unbounded Medium" pitchFamily="2" charset="-52"/>
            <a:cs typeface="Wix Madefor Display SemiBold" panose="020B0503020203020203" pitchFamily="34" charset="-52"/>
          </a:endParaRPr>
        </a:p>
      </dgm:t>
    </dgm:pt>
    <dgm:pt modelId="{01FB9C28-67CB-4327-BBF7-79D25BC66BD5}" type="sibTrans" cxnId="{350D7C5E-F771-4676-A038-E2121E8004EC}">
      <dgm:prSet/>
      <dgm:spPr/>
      <dgm:t>
        <a:bodyPr/>
        <a:lstStyle/>
        <a:p>
          <a:endParaRPr lang="ru-RU" sz="1100">
            <a:latin typeface="Unbounded Medium" pitchFamily="2" charset="-52"/>
          </a:endParaRPr>
        </a:p>
      </dgm:t>
    </dgm:pt>
    <dgm:pt modelId="{91163880-C1A4-4D32-8D5B-85A99B39D091}" type="parTrans" cxnId="{350D7C5E-F771-4676-A038-E2121E8004EC}">
      <dgm:prSet/>
      <dgm:spPr/>
      <dgm:t>
        <a:bodyPr/>
        <a:lstStyle/>
        <a:p>
          <a:endParaRPr lang="ru-RU" sz="1100">
            <a:latin typeface="Unbounded Medium" pitchFamily="2" charset="-52"/>
          </a:endParaRPr>
        </a:p>
      </dgm:t>
    </dgm:pt>
    <dgm:pt modelId="{C668E378-17DA-480A-88B4-77CF53BF79A8}">
      <dgm:prSet phldrT="[Текст]" custT="1"/>
      <dgm:spPr/>
      <dgm:t>
        <a:bodyPr/>
        <a:lstStyle/>
        <a:p>
          <a:r>
            <a:rPr lang="en-US" sz="1400" dirty="0">
              <a:latin typeface="Unbounded Medium" pitchFamily="2" charset="-52"/>
              <a:cs typeface="Wix Madefor Display SemiBold" panose="020B0503020203020203" pitchFamily="34" charset="-52"/>
            </a:rPr>
            <a:t>2020</a:t>
          </a:r>
          <a:endParaRPr lang="ru-RU" sz="1400" dirty="0">
            <a:latin typeface="Unbounded Medium" pitchFamily="2" charset="-52"/>
            <a:cs typeface="Wix Madefor Display SemiBold" panose="020B0503020203020203" pitchFamily="34" charset="-52"/>
          </a:endParaRPr>
        </a:p>
      </dgm:t>
    </dgm:pt>
    <dgm:pt modelId="{51D37406-DB1F-4B97-94BD-876F75966382}" type="parTrans" cxnId="{F82101F4-A47C-40E5-AB57-E837FD532585}">
      <dgm:prSet/>
      <dgm:spPr/>
      <dgm:t>
        <a:bodyPr/>
        <a:lstStyle/>
        <a:p>
          <a:endParaRPr lang="ru-RU" sz="1100">
            <a:latin typeface="Unbounded Medium" pitchFamily="2" charset="-52"/>
          </a:endParaRPr>
        </a:p>
      </dgm:t>
    </dgm:pt>
    <dgm:pt modelId="{812D3EA7-45C8-49B4-9275-2E42090C19BF}" type="sibTrans" cxnId="{F82101F4-A47C-40E5-AB57-E837FD532585}">
      <dgm:prSet/>
      <dgm:spPr/>
      <dgm:t>
        <a:bodyPr/>
        <a:lstStyle/>
        <a:p>
          <a:endParaRPr lang="ru-RU" sz="1100">
            <a:latin typeface="Unbounded Medium" pitchFamily="2" charset="-52"/>
          </a:endParaRPr>
        </a:p>
      </dgm:t>
    </dgm:pt>
    <dgm:pt modelId="{BFD661AD-3996-4CCF-83D1-C4A85893EC6C}">
      <dgm:prSet phldrT="[Текст]" custT="1"/>
      <dgm:spPr/>
      <dgm:t>
        <a:bodyPr/>
        <a:lstStyle/>
        <a:p>
          <a:r>
            <a:rPr lang="en-US" sz="1400" dirty="0">
              <a:latin typeface="Unbounded Medium" pitchFamily="2" charset="-52"/>
              <a:cs typeface="Wix Madefor Display SemiBold" panose="020B0503020203020203" pitchFamily="34" charset="-52"/>
            </a:rPr>
            <a:t>2021</a:t>
          </a:r>
          <a:endParaRPr lang="ru-RU" sz="1400" dirty="0">
            <a:latin typeface="Unbounded Medium" pitchFamily="2" charset="-52"/>
            <a:cs typeface="Wix Madefor Display SemiBold" panose="020B0503020203020203" pitchFamily="34" charset="-52"/>
          </a:endParaRPr>
        </a:p>
      </dgm:t>
    </dgm:pt>
    <dgm:pt modelId="{FF653D4E-B0B1-45D2-9947-0F1971349724}" type="parTrans" cxnId="{2B8C3719-7056-4591-B6E0-08F67CC3A04A}">
      <dgm:prSet/>
      <dgm:spPr/>
      <dgm:t>
        <a:bodyPr/>
        <a:lstStyle/>
        <a:p>
          <a:endParaRPr lang="ru-RU" sz="1100">
            <a:latin typeface="Unbounded Medium" pitchFamily="2" charset="-52"/>
          </a:endParaRPr>
        </a:p>
      </dgm:t>
    </dgm:pt>
    <dgm:pt modelId="{300D15C8-F99B-49F2-AC6F-A7ADE48D7D03}" type="sibTrans" cxnId="{2B8C3719-7056-4591-B6E0-08F67CC3A04A}">
      <dgm:prSet/>
      <dgm:spPr/>
      <dgm:t>
        <a:bodyPr/>
        <a:lstStyle/>
        <a:p>
          <a:endParaRPr lang="ru-RU" sz="1100">
            <a:latin typeface="Unbounded Medium" pitchFamily="2" charset="-52"/>
          </a:endParaRPr>
        </a:p>
      </dgm:t>
    </dgm:pt>
    <dgm:pt modelId="{2DDB093B-2E9B-473F-9A2C-C9E173FB119B}">
      <dgm:prSet phldrT="[Текст]" custT="1"/>
      <dgm:spPr/>
      <dgm:t>
        <a:bodyPr anchor="b"/>
        <a:lstStyle/>
        <a:p>
          <a:r>
            <a:rPr lang="en-US" sz="1400" dirty="0">
              <a:latin typeface="Unbounded Medium" pitchFamily="2" charset="-52"/>
              <a:cs typeface="Wix Madefor Display SemiBold" panose="020B0503020203020203" pitchFamily="34" charset="-52"/>
            </a:rPr>
            <a:t>2030</a:t>
          </a:r>
          <a:endParaRPr lang="ru-RU" sz="1400" dirty="0">
            <a:latin typeface="Unbounded Medium" pitchFamily="2" charset="-52"/>
            <a:cs typeface="Wix Madefor Display SemiBold" panose="020B0503020203020203" pitchFamily="34" charset="-52"/>
          </a:endParaRPr>
        </a:p>
      </dgm:t>
    </dgm:pt>
    <dgm:pt modelId="{B58C9FD5-D55C-4E8C-B06A-FDE9E7345377}" type="parTrans" cxnId="{6077E05C-8292-44E4-8591-0A73B4F4EBAB}">
      <dgm:prSet/>
      <dgm:spPr/>
      <dgm:t>
        <a:bodyPr/>
        <a:lstStyle/>
        <a:p>
          <a:endParaRPr lang="ru-RU" sz="1100">
            <a:latin typeface="Unbounded Medium" pitchFamily="2" charset="-52"/>
          </a:endParaRPr>
        </a:p>
      </dgm:t>
    </dgm:pt>
    <dgm:pt modelId="{0C83EB55-3DCF-4C3A-8281-42F1058EC5C4}" type="sibTrans" cxnId="{6077E05C-8292-44E4-8591-0A73B4F4EBAB}">
      <dgm:prSet/>
      <dgm:spPr/>
      <dgm:t>
        <a:bodyPr/>
        <a:lstStyle/>
        <a:p>
          <a:endParaRPr lang="ru-RU" sz="1100">
            <a:latin typeface="Unbounded Medium" pitchFamily="2" charset="-52"/>
          </a:endParaRPr>
        </a:p>
      </dgm:t>
    </dgm:pt>
    <dgm:pt modelId="{D20ED6B4-C641-41F3-A99D-E30E12FBE2B6}">
      <dgm:prSet phldrT="[Текст]" custT="1"/>
      <dgm:spPr/>
      <dgm:t>
        <a:bodyPr/>
        <a:lstStyle/>
        <a:p>
          <a:endParaRPr lang="ru-RU" sz="1400" dirty="0">
            <a:latin typeface="Unbounded Medium" pitchFamily="2" charset="-52"/>
            <a:cs typeface="Wix Madefor Display SemiBold" panose="020B0503020203020203" pitchFamily="34" charset="-52"/>
          </a:endParaRPr>
        </a:p>
      </dgm:t>
    </dgm:pt>
    <dgm:pt modelId="{B092BABC-AC4B-420C-B47C-319EBA110278}" type="parTrans" cxnId="{70403673-8A55-4BE6-9F71-558F0E47458A}">
      <dgm:prSet/>
      <dgm:spPr/>
      <dgm:t>
        <a:bodyPr/>
        <a:lstStyle/>
        <a:p>
          <a:endParaRPr lang="ru-RU" sz="1100">
            <a:latin typeface="Unbounded Medium" pitchFamily="2" charset="-52"/>
          </a:endParaRPr>
        </a:p>
      </dgm:t>
    </dgm:pt>
    <dgm:pt modelId="{BF120CE9-276E-4238-BF7F-1B7C3C5D7A79}" type="sibTrans" cxnId="{70403673-8A55-4BE6-9F71-558F0E47458A}">
      <dgm:prSet/>
      <dgm:spPr/>
      <dgm:t>
        <a:bodyPr/>
        <a:lstStyle/>
        <a:p>
          <a:endParaRPr lang="ru-RU" sz="1100">
            <a:latin typeface="Unbounded Medium" pitchFamily="2" charset="-52"/>
          </a:endParaRPr>
        </a:p>
      </dgm:t>
    </dgm:pt>
    <dgm:pt modelId="{F8597F2C-DFB0-4EEA-8E92-94A09C904D79}">
      <dgm:prSet phldrT="[Текст]" custT="1"/>
      <dgm:spPr/>
      <dgm:t>
        <a:bodyPr anchor="t"/>
        <a:lstStyle/>
        <a:p>
          <a:r>
            <a:rPr lang="en-US" sz="1400" dirty="0">
              <a:latin typeface="Unbounded Medium" pitchFamily="2" charset="-52"/>
              <a:cs typeface="Wix Madefor Display SemiBold" panose="020B0503020203020203" pitchFamily="34" charset="-52"/>
            </a:rPr>
            <a:t>202</a:t>
          </a:r>
          <a:r>
            <a:rPr lang="ru-RU" sz="1400" dirty="0">
              <a:latin typeface="Unbounded Medium" pitchFamily="2" charset="-52"/>
              <a:cs typeface="Wix Madefor Display SemiBold" panose="020B0503020203020203" pitchFamily="34" charset="-52"/>
            </a:rPr>
            <a:t>4</a:t>
          </a:r>
        </a:p>
      </dgm:t>
    </dgm:pt>
    <dgm:pt modelId="{16C5496B-8AB4-42CF-85BE-48CCEF63BD97}" type="parTrans" cxnId="{2CC57279-F030-42BC-94EA-D25F21AE13AB}">
      <dgm:prSet/>
      <dgm:spPr/>
      <dgm:t>
        <a:bodyPr/>
        <a:lstStyle/>
        <a:p>
          <a:endParaRPr lang="ru-RU" sz="1100">
            <a:latin typeface="Unbounded Medium" pitchFamily="2" charset="-52"/>
          </a:endParaRPr>
        </a:p>
      </dgm:t>
    </dgm:pt>
    <dgm:pt modelId="{BF64AEB3-7ABF-4EFA-89FF-8597CF26D773}" type="sibTrans" cxnId="{2CC57279-F030-42BC-94EA-D25F21AE13AB}">
      <dgm:prSet/>
      <dgm:spPr/>
      <dgm:t>
        <a:bodyPr/>
        <a:lstStyle/>
        <a:p>
          <a:endParaRPr lang="ru-RU" sz="1100">
            <a:latin typeface="Unbounded Medium" pitchFamily="2" charset="-52"/>
          </a:endParaRPr>
        </a:p>
      </dgm:t>
    </dgm:pt>
    <dgm:pt modelId="{0E74F700-3D6F-45EE-88D7-8BE1C41B4A12}">
      <dgm:prSet phldrT="[Текст]" custT="1"/>
      <dgm:spPr/>
      <dgm:t>
        <a:bodyPr/>
        <a:lstStyle/>
        <a:p>
          <a:endParaRPr lang="ru-RU" sz="1400" dirty="0">
            <a:latin typeface="Unbounded Medium" pitchFamily="2" charset="-52"/>
            <a:cs typeface="Wix Madefor Display SemiBold" panose="020B0503020203020203" pitchFamily="34" charset="-52"/>
          </a:endParaRPr>
        </a:p>
      </dgm:t>
    </dgm:pt>
    <dgm:pt modelId="{936D5318-7CEA-496B-88F3-62A3EB49856E}" type="parTrans" cxnId="{D9FDE2DE-BE99-4679-85BD-22553BD4F516}">
      <dgm:prSet/>
      <dgm:spPr/>
      <dgm:t>
        <a:bodyPr/>
        <a:lstStyle/>
        <a:p>
          <a:endParaRPr lang="ru-RU" sz="1100">
            <a:latin typeface="Unbounded Medium" pitchFamily="2" charset="-52"/>
          </a:endParaRPr>
        </a:p>
      </dgm:t>
    </dgm:pt>
    <dgm:pt modelId="{DFF9728C-451F-4C85-835F-7859F22FF8F3}" type="sibTrans" cxnId="{D9FDE2DE-BE99-4679-85BD-22553BD4F516}">
      <dgm:prSet/>
      <dgm:spPr/>
      <dgm:t>
        <a:bodyPr/>
        <a:lstStyle/>
        <a:p>
          <a:endParaRPr lang="ru-RU" sz="1100">
            <a:latin typeface="Unbounded Medium" pitchFamily="2" charset="-52"/>
          </a:endParaRPr>
        </a:p>
      </dgm:t>
    </dgm:pt>
    <dgm:pt modelId="{E2A85686-2DD6-4C5E-A94E-2826806706FE}">
      <dgm:prSet phldrT="[Текст]" custT="1"/>
      <dgm:spPr/>
      <dgm:t>
        <a:bodyPr/>
        <a:lstStyle/>
        <a:p>
          <a:endParaRPr lang="ru-RU" sz="1400" dirty="0">
            <a:latin typeface="Unbounded Medium" pitchFamily="2" charset="-52"/>
            <a:cs typeface="Wix Madefor Display SemiBold" panose="020B0503020203020203" pitchFamily="34" charset="-52"/>
          </a:endParaRPr>
        </a:p>
      </dgm:t>
    </dgm:pt>
    <dgm:pt modelId="{074A7167-E495-49D0-B8E8-4905A0CE2C5B}" type="parTrans" cxnId="{8889E6E8-D9CB-4CDA-AF4C-099370C6AB5E}">
      <dgm:prSet/>
      <dgm:spPr/>
      <dgm:t>
        <a:bodyPr/>
        <a:lstStyle/>
        <a:p>
          <a:endParaRPr lang="ru-RU"/>
        </a:p>
      </dgm:t>
    </dgm:pt>
    <dgm:pt modelId="{77471447-A646-4DD7-8633-0C3AD7CF7200}" type="sibTrans" cxnId="{8889E6E8-D9CB-4CDA-AF4C-099370C6AB5E}">
      <dgm:prSet/>
      <dgm:spPr/>
      <dgm:t>
        <a:bodyPr/>
        <a:lstStyle/>
        <a:p>
          <a:endParaRPr lang="ru-RU"/>
        </a:p>
      </dgm:t>
    </dgm:pt>
    <dgm:pt modelId="{D2A4328F-7466-4460-BC6C-D99B0B11EAE0}" type="pres">
      <dgm:prSet presAssocID="{5D9BC9AF-E696-43D8-9E60-3627CB4A9F90}" presName="Name0" presStyleCnt="0">
        <dgm:presLayoutVars>
          <dgm:dir/>
          <dgm:resizeHandles val="exact"/>
        </dgm:presLayoutVars>
      </dgm:prSet>
      <dgm:spPr/>
    </dgm:pt>
    <dgm:pt modelId="{D33221A1-79F6-4B9A-A116-6505E25D210B}" type="pres">
      <dgm:prSet presAssocID="{5D9BC9AF-E696-43D8-9E60-3627CB4A9F90}" presName="arrow" presStyleLbl="bgShp" presStyleIdx="0" presStyleCnt="1" custScaleY="66972"/>
      <dgm:spPr>
        <a:gradFill rotWithShape="0">
          <a:gsLst>
            <a:gs pos="3000">
              <a:srgbClr val="FCE8E8"/>
            </a:gs>
            <a:gs pos="74000">
              <a:srgbClr val="818CF7"/>
            </a:gs>
            <a:gs pos="83000">
              <a:srgbClr val="0F24E7"/>
            </a:gs>
            <a:gs pos="100000">
              <a:srgbClr val="0F24E7"/>
            </a:gs>
          </a:gsLst>
          <a:lin ang="21594000" scaled="0"/>
        </a:gradFill>
      </dgm:spPr>
    </dgm:pt>
    <dgm:pt modelId="{274DDA60-0D25-4037-898D-3D412116E35E}" type="pres">
      <dgm:prSet presAssocID="{5D9BC9AF-E696-43D8-9E60-3627CB4A9F90}" presName="points" presStyleCnt="0"/>
      <dgm:spPr/>
    </dgm:pt>
    <dgm:pt modelId="{B3448F0B-296F-478E-803C-4405495B3A4D}" type="pres">
      <dgm:prSet presAssocID="{1F0860FF-4FB4-4022-BDED-9962A2A76FF8}" presName="compositeA" presStyleCnt="0"/>
      <dgm:spPr/>
    </dgm:pt>
    <dgm:pt modelId="{FE56CBDF-F2C5-4808-A416-1BC6315153D5}" type="pres">
      <dgm:prSet presAssocID="{1F0860FF-4FB4-4022-BDED-9962A2A76FF8}" presName="textA" presStyleLbl="revTx" presStyleIdx="0" presStyleCnt="8" custLinFactNeighborY="-1253">
        <dgm:presLayoutVars>
          <dgm:bulletEnabled val="1"/>
        </dgm:presLayoutVars>
      </dgm:prSet>
      <dgm:spPr/>
    </dgm:pt>
    <dgm:pt modelId="{75AE5A0C-DC8B-45AF-95A9-E7C2CCAB5B90}" type="pres">
      <dgm:prSet presAssocID="{1F0860FF-4FB4-4022-BDED-9962A2A76FF8}" presName="circleA" presStyleLbl="node1" presStyleIdx="0" presStyleCnt="8" custLinFactNeighborX="37815"/>
      <dgm:spPr>
        <a:solidFill>
          <a:srgbClr val="7030A0">
            <a:alpha val="90000"/>
          </a:srgbClr>
        </a:solidFill>
      </dgm:spPr>
    </dgm:pt>
    <dgm:pt modelId="{61C323FF-DEA6-41A7-BFEC-D137AE1BE343}" type="pres">
      <dgm:prSet presAssocID="{1F0860FF-4FB4-4022-BDED-9962A2A76FF8}" presName="spaceA" presStyleCnt="0"/>
      <dgm:spPr/>
    </dgm:pt>
    <dgm:pt modelId="{A4524CA2-32D1-4613-B7C9-17ECB61189FA}" type="pres">
      <dgm:prSet presAssocID="{01FB9C28-67CB-4327-BBF7-79D25BC66BD5}" presName="space" presStyleCnt="0"/>
      <dgm:spPr/>
    </dgm:pt>
    <dgm:pt modelId="{5EC0F21C-6EE8-4D71-AE93-D95B48EEE23F}" type="pres">
      <dgm:prSet presAssocID="{C668E378-17DA-480A-88B4-77CF53BF79A8}" presName="compositeB" presStyleCnt="0"/>
      <dgm:spPr/>
    </dgm:pt>
    <dgm:pt modelId="{DD90B13C-8EAE-462D-8484-162E133A7583}" type="pres">
      <dgm:prSet presAssocID="{C668E378-17DA-480A-88B4-77CF53BF79A8}" presName="textB" presStyleLbl="revTx" presStyleIdx="1" presStyleCnt="8">
        <dgm:presLayoutVars>
          <dgm:bulletEnabled val="1"/>
        </dgm:presLayoutVars>
      </dgm:prSet>
      <dgm:spPr/>
    </dgm:pt>
    <dgm:pt modelId="{262B059D-5AE4-4F28-AE00-70369AA00314}" type="pres">
      <dgm:prSet presAssocID="{C668E378-17DA-480A-88B4-77CF53BF79A8}" presName="circleB" presStyleLbl="node1" presStyleIdx="1" presStyleCnt="8"/>
      <dgm:spPr/>
    </dgm:pt>
    <dgm:pt modelId="{F9BF097B-38D7-4909-AD1F-2A4DFBEE35B5}" type="pres">
      <dgm:prSet presAssocID="{C668E378-17DA-480A-88B4-77CF53BF79A8}" presName="spaceB" presStyleCnt="0"/>
      <dgm:spPr/>
    </dgm:pt>
    <dgm:pt modelId="{C704625A-C43D-4D1A-88C8-D78A5219D054}" type="pres">
      <dgm:prSet presAssocID="{812D3EA7-45C8-49B4-9275-2E42090C19BF}" presName="space" presStyleCnt="0"/>
      <dgm:spPr/>
    </dgm:pt>
    <dgm:pt modelId="{5AA94A6E-27B0-48C7-B4CA-BF8DD1F39EDE}" type="pres">
      <dgm:prSet presAssocID="{BFD661AD-3996-4CCF-83D1-C4A85893EC6C}" presName="compositeA" presStyleCnt="0"/>
      <dgm:spPr/>
    </dgm:pt>
    <dgm:pt modelId="{E8924F09-77E3-4F93-9CFC-C83189BE752E}" type="pres">
      <dgm:prSet presAssocID="{BFD661AD-3996-4CCF-83D1-C4A85893EC6C}" presName="textA" presStyleLbl="revTx" presStyleIdx="2" presStyleCnt="8">
        <dgm:presLayoutVars>
          <dgm:bulletEnabled val="1"/>
        </dgm:presLayoutVars>
      </dgm:prSet>
      <dgm:spPr/>
    </dgm:pt>
    <dgm:pt modelId="{14861258-B25B-44DB-9BF3-35337BB97F1E}" type="pres">
      <dgm:prSet presAssocID="{BFD661AD-3996-4CCF-83D1-C4A85893EC6C}" presName="circleA" presStyleLbl="node1" presStyleIdx="2" presStyleCnt="8"/>
      <dgm:spPr/>
    </dgm:pt>
    <dgm:pt modelId="{152450DA-199C-4A56-B52F-58C46C8895FE}" type="pres">
      <dgm:prSet presAssocID="{BFD661AD-3996-4CCF-83D1-C4A85893EC6C}" presName="spaceA" presStyleCnt="0"/>
      <dgm:spPr/>
    </dgm:pt>
    <dgm:pt modelId="{E57875CA-AC09-4EB9-9019-4FA21E8CD022}" type="pres">
      <dgm:prSet presAssocID="{300D15C8-F99B-49F2-AC6F-A7ADE48D7D03}" presName="space" presStyleCnt="0"/>
      <dgm:spPr/>
    </dgm:pt>
    <dgm:pt modelId="{A58794BC-B306-48AE-89CC-622A215F077E}" type="pres">
      <dgm:prSet presAssocID="{E2A85686-2DD6-4C5E-A94E-2826806706FE}" presName="compositeB" presStyleCnt="0"/>
      <dgm:spPr/>
    </dgm:pt>
    <dgm:pt modelId="{87EDBE43-1A8E-46A4-AC79-5C57FCFB0390}" type="pres">
      <dgm:prSet presAssocID="{E2A85686-2DD6-4C5E-A94E-2826806706FE}" presName="textB" presStyleLbl="revTx" presStyleIdx="3" presStyleCnt="8">
        <dgm:presLayoutVars>
          <dgm:bulletEnabled val="1"/>
        </dgm:presLayoutVars>
      </dgm:prSet>
      <dgm:spPr/>
    </dgm:pt>
    <dgm:pt modelId="{68F82039-05DF-4105-9F89-7CD890C618F4}" type="pres">
      <dgm:prSet presAssocID="{E2A85686-2DD6-4C5E-A94E-2826806706FE}" presName="circleB" presStyleLbl="node1" presStyleIdx="3" presStyleCnt="8"/>
      <dgm:spPr>
        <a:noFill/>
        <a:ln>
          <a:noFill/>
        </a:ln>
      </dgm:spPr>
    </dgm:pt>
    <dgm:pt modelId="{A075D48A-AB1F-4AF3-BDC1-FFEA20FAAD78}" type="pres">
      <dgm:prSet presAssocID="{E2A85686-2DD6-4C5E-A94E-2826806706FE}" presName="spaceB" presStyleCnt="0"/>
      <dgm:spPr/>
    </dgm:pt>
    <dgm:pt modelId="{5D7BC807-4222-4415-AEDC-F4357749F70B}" type="pres">
      <dgm:prSet presAssocID="{77471447-A646-4DD7-8633-0C3AD7CF7200}" presName="space" presStyleCnt="0"/>
      <dgm:spPr/>
    </dgm:pt>
    <dgm:pt modelId="{8AC95435-C51D-46A9-BB6D-DE237B448142}" type="pres">
      <dgm:prSet presAssocID="{F8597F2C-DFB0-4EEA-8E92-94A09C904D79}" presName="compositeA" presStyleCnt="0"/>
      <dgm:spPr/>
    </dgm:pt>
    <dgm:pt modelId="{F45E5754-3BDA-40B9-B76C-818CEA8DEA04}" type="pres">
      <dgm:prSet presAssocID="{F8597F2C-DFB0-4EEA-8E92-94A09C904D79}" presName="textA" presStyleLbl="revTx" presStyleIdx="4" presStyleCnt="8" custLinFactY="51796" custLinFactNeighborX="-2164" custLinFactNeighborY="100000">
        <dgm:presLayoutVars>
          <dgm:bulletEnabled val="1"/>
        </dgm:presLayoutVars>
      </dgm:prSet>
      <dgm:spPr/>
    </dgm:pt>
    <dgm:pt modelId="{12F6BDAE-7495-4BC3-84D3-22AA063CB94E}" type="pres">
      <dgm:prSet presAssocID="{F8597F2C-DFB0-4EEA-8E92-94A09C904D79}" presName="circleA" presStyleLbl="node1" presStyleIdx="4" presStyleCnt="8"/>
      <dgm:spPr/>
    </dgm:pt>
    <dgm:pt modelId="{F10BE51E-0CED-4672-B954-9950BD63E33F}" type="pres">
      <dgm:prSet presAssocID="{F8597F2C-DFB0-4EEA-8E92-94A09C904D79}" presName="spaceA" presStyleCnt="0"/>
      <dgm:spPr/>
    </dgm:pt>
    <dgm:pt modelId="{BDA8DAEF-D929-496A-891B-2A0F54615A6C}" type="pres">
      <dgm:prSet presAssocID="{BF64AEB3-7ABF-4EFA-89FF-8597CF26D773}" presName="space" presStyleCnt="0"/>
      <dgm:spPr/>
    </dgm:pt>
    <dgm:pt modelId="{4790DF73-67D1-4ED1-BE9F-A1FC66379E18}" type="pres">
      <dgm:prSet presAssocID="{0E74F700-3D6F-45EE-88D7-8BE1C41B4A12}" presName="compositeB" presStyleCnt="0"/>
      <dgm:spPr/>
    </dgm:pt>
    <dgm:pt modelId="{8BE185DB-E5A4-4F39-809D-DD0A9A1A6749}" type="pres">
      <dgm:prSet presAssocID="{0E74F700-3D6F-45EE-88D7-8BE1C41B4A12}" presName="textB" presStyleLbl="revTx" presStyleIdx="5" presStyleCnt="8">
        <dgm:presLayoutVars>
          <dgm:bulletEnabled val="1"/>
        </dgm:presLayoutVars>
      </dgm:prSet>
      <dgm:spPr/>
    </dgm:pt>
    <dgm:pt modelId="{232A4D32-E568-4D31-A413-A607EFA2754D}" type="pres">
      <dgm:prSet presAssocID="{0E74F700-3D6F-45EE-88D7-8BE1C41B4A12}" presName="circleB" presStyleLbl="node1" presStyleIdx="5" presStyleCnt="8"/>
      <dgm:spPr>
        <a:noFill/>
        <a:ln>
          <a:noFill/>
        </a:ln>
      </dgm:spPr>
    </dgm:pt>
    <dgm:pt modelId="{17A99B4B-C797-48F1-B84D-CC9E4BCBDE55}" type="pres">
      <dgm:prSet presAssocID="{0E74F700-3D6F-45EE-88D7-8BE1C41B4A12}" presName="spaceB" presStyleCnt="0"/>
      <dgm:spPr/>
    </dgm:pt>
    <dgm:pt modelId="{845E178C-DDE2-4A56-842E-504643243F09}" type="pres">
      <dgm:prSet presAssocID="{DFF9728C-451F-4C85-835F-7859F22FF8F3}" presName="space" presStyleCnt="0"/>
      <dgm:spPr/>
    </dgm:pt>
    <dgm:pt modelId="{F8EFF0C2-BBC3-42C6-BA93-39A5C7E89972}" type="pres">
      <dgm:prSet presAssocID="{D20ED6B4-C641-41F3-A99D-E30E12FBE2B6}" presName="compositeA" presStyleCnt="0"/>
      <dgm:spPr/>
    </dgm:pt>
    <dgm:pt modelId="{C8769335-1F8C-42AA-9205-ECFC5EDB86A2}" type="pres">
      <dgm:prSet presAssocID="{D20ED6B4-C641-41F3-A99D-E30E12FBE2B6}" presName="textA" presStyleLbl="revTx" presStyleIdx="6" presStyleCnt="8">
        <dgm:presLayoutVars>
          <dgm:bulletEnabled val="1"/>
        </dgm:presLayoutVars>
      </dgm:prSet>
      <dgm:spPr/>
    </dgm:pt>
    <dgm:pt modelId="{06CEDFC9-B1F3-4A20-B5CB-511DC701012D}" type="pres">
      <dgm:prSet presAssocID="{D20ED6B4-C641-41F3-A99D-E30E12FBE2B6}" presName="circleA" presStyleLbl="node1" presStyleIdx="6" presStyleCnt="8"/>
      <dgm:spPr>
        <a:noFill/>
        <a:ln>
          <a:noFill/>
        </a:ln>
      </dgm:spPr>
    </dgm:pt>
    <dgm:pt modelId="{CA6872C3-2AC5-4ECD-B288-8525B30D819C}" type="pres">
      <dgm:prSet presAssocID="{D20ED6B4-C641-41F3-A99D-E30E12FBE2B6}" presName="spaceA" presStyleCnt="0"/>
      <dgm:spPr/>
    </dgm:pt>
    <dgm:pt modelId="{EBCA0B6F-51C2-4299-AFF6-B9C60D2BCB39}" type="pres">
      <dgm:prSet presAssocID="{BF120CE9-276E-4238-BF7F-1B7C3C5D7A79}" presName="space" presStyleCnt="0"/>
      <dgm:spPr/>
    </dgm:pt>
    <dgm:pt modelId="{708FB9C8-194B-4E75-B6CB-BC9413CD85D3}" type="pres">
      <dgm:prSet presAssocID="{2DDB093B-2E9B-473F-9A2C-C9E173FB119B}" presName="compositeB" presStyleCnt="0"/>
      <dgm:spPr/>
    </dgm:pt>
    <dgm:pt modelId="{A4B7C786-82A5-4A8A-9E36-60E52675459D}" type="pres">
      <dgm:prSet presAssocID="{2DDB093B-2E9B-473F-9A2C-C9E173FB119B}" presName="textB" presStyleLbl="revTx" presStyleIdx="7" presStyleCnt="8" custLinFactY="-48662" custLinFactNeighborX="23806" custLinFactNeighborY="-100000">
        <dgm:presLayoutVars>
          <dgm:bulletEnabled val="1"/>
        </dgm:presLayoutVars>
      </dgm:prSet>
      <dgm:spPr/>
    </dgm:pt>
    <dgm:pt modelId="{1B1D0CA2-7024-475A-8311-0610CD8E21B6}" type="pres">
      <dgm:prSet presAssocID="{2DDB093B-2E9B-473F-9A2C-C9E173FB119B}" presName="circleB" presStyleLbl="node1" presStyleIdx="7" presStyleCnt="8" custLinFactX="66427" custLinFactNeighborX="100000"/>
      <dgm:spPr/>
    </dgm:pt>
    <dgm:pt modelId="{6FA8471C-F2D8-4738-B5A9-9E5DD0431317}" type="pres">
      <dgm:prSet presAssocID="{2DDB093B-2E9B-473F-9A2C-C9E173FB119B}" presName="spaceB" presStyleCnt="0"/>
      <dgm:spPr/>
    </dgm:pt>
  </dgm:ptLst>
  <dgm:cxnLst>
    <dgm:cxn modelId="{D8FE0608-1625-4D57-BE74-F6CFF7A11DCE}" type="presOf" srcId="{2DDB093B-2E9B-473F-9A2C-C9E173FB119B}" destId="{A4B7C786-82A5-4A8A-9E36-60E52675459D}" srcOrd="0" destOrd="0" presId="urn:microsoft.com/office/officeart/2005/8/layout/hProcess11"/>
    <dgm:cxn modelId="{933E5C0E-02F8-4364-950E-DBBB04D3D1BB}" type="presOf" srcId="{E2A85686-2DD6-4C5E-A94E-2826806706FE}" destId="{87EDBE43-1A8E-46A4-AC79-5C57FCFB0390}" srcOrd="0" destOrd="0" presId="urn:microsoft.com/office/officeart/2005/8/layout/hProcess11"/>
    <dgm:cxn modelId="{2B8C3719-7056-4591-B6E0-08F67CC3A04A}" srcId="{5D9BC9AF-E696-43D8-9E60-3627CB4A9F90}" destId="{BFD661AD-3996-4CCF-83D1-C4A85893EC6C}" srcOrd="2" destOrd="0" parTransId="{FF653D4E-B0B1-45D2-9947-0F1971349724}" sibTransId="{300D15C8-F99B-49F2-AC6F-A7ADE48D7D03}"/>
    <dgm:cxn modelId="{6077E05C-8292-44E4-8591-0A73B4F4EBAB}" srcId="{5D9BC9AF-E696-43D8-9E60-3627CB4A9F90}" destId="{2DDB093B-2E9B-473F-9A2C-C9E173FB119B}" srcOrd="7" destOrd="0" parTransId="{B58C9FD5-D55C-4E8C-B06A-FDE9E7345377}" sibTransId="{0C83EB55-3DCF-4C3A-8281-42F1058EC5C4}"/>
    <dgm:cxn modelId="{350D7C5E-F771-4676-A038-E2121E8004EC}" srcId="{5D9BC9AF-E696-43D8-9E60-3627CB4A9F90}" destId="{1F0860FF-4FB4-4022-BDED-9962A2A76FF8}" srcOrd="0" destOrd="0" parTransId="{91163880-C1A4-4D32-8D5B-85A99B39D091}" sibTransId="{01FB9C28-67CB-4327-BBF7-79D25BC66BD5}"/>
    <dgm:cxn modelId="{EB3B184F-005A-4D3E-A3B3-B5FCC50E16AB}" type="presOf" srcId="{1F0860FF-4FB4-4022-BDED-9962A2A76FF8}" destId="{FE56CBDF-F2C5-4808-A416-1BC6315153D5}" srcOrd="0" destOrd="0" presId="urn:microsoft.com/office/officeart/2005/8/layout/hProcess11"/>
    <dgm:cxn modelId="{70403673-8A55-4BE6-9F71-558F0E47458A}" srcId="{5D9BC9AF-E696-43D8-9E60-3627CB4A9F90}" destId="{D20ED6B4-C641-41F3-A99D-E30E12FBE2B6}" srcOrd="6" destOrd="0" parTransId="{B092BABC-AC4B-420C-B47C-319EBA110278}" sibTransId="{BF120CE9-276E-4238-BF7F-1B7C3C5D7A79}"/>
    <dgm:cxn modelId="{2CC57279-F030-42BC-94EA-D25F21AE13AB}" srcId="{5D9BC9AF-E696-43D8-9E60-3627CB4A9F90}" destId="{F8597F2C-DFB0-4EEA-8E92-94A09C904D79}" srcOrd="4" destOrd="0" parTransId="{16C5496B-8AB4-42CF-85BE-48CCEF63BD97}" sibTransId="{BF64AEB3-7ABF-4EFA-89FF-8597CF26D773}"/>
    <dgm:cxn modelId="{C2FB417E-7845-4A34-B6BD-A5B8CE3ABAA8}" type="presOf" srcId="{BFD661AD-3996-4CCF-83D1-C4A85893EC6C}" destId="{E8924F09-77E3-4F93-9CFC-C83189BE752E}" srcOrd="0" destOrd="0" presId="urn:microsoft.com/office/officeart/2005/8/layout/hProcess11"/>
    <dgm:cxn modelId="{C2AC437E-D925-43ED-99DA-6964F8229F6E}" type="presOf" srcId="{C668E378-17DA-480A-88B4-77CF53BF79A8}" destId="{DD90B13C-8EAE-462D-8484-162E133A7583}" srcOrd="0" destOrd="0" presId="urn:microsoft.com/office/officeart/2005/8/layout/hProcess11"/>
    <dgm:cxn modelId="{467B6E88-1BEC-4B6E-94BE-953C91C55B77}" type="presOf" srcId="{0E74F700-3D6F-45EE-88D7-8BE1C41B4A12}" destId="{8BE185DB-E5A4-4F39-809D-DD0A9A1A6749}" srcOrd="0" destOrd="0" presId="urn:microsoft.com/office/officeart/2005/8/layout/hProcess11"/>
    <dgm:cxn modelId="{B12C5C94-4BC0-4801-87D2-F8B74CB76D4E}" type="presOf" srcId="{F8597F2C-DFB0-4EEA-8E92-94A09C904D79}" destId="{F45E5754-3BDA-40B9-B76C-818CEA8DEA04}" srcOrd="0" destOrd="0" presId="urn:microsoft.com/office/officeart/2005/8/layout/hProcess11"/>
    <dgm:cxn modelId="{F24825BF-2AE5-47BC-9A2E-22296634C552}" type="presOf" srcId="{5D9BC9AF-E696-43D8-9E60-3627CB4A9F90}" destId="{D2A4328F-7466-4460-BC6C-D99B0B11EAE0}" srcOrd="0" destOrd="0" presId="urn:microsoft.com/office/officeart/2005/8/layout/hProcess11"/>
    <dgm:cxn modelId="{38A582D2-11D8-4F59-AE84-B70A3C2FA6F3}" type="presOf" srcId="{D20ED6B4-C641-41F3-A99D-E30E12FBE2B6}" destId="{C8769335-1F8C-42AA-9205-ECFC5EDB86A2}" srcOrd="0" destOrd="0" presId="urn:microsoft.com/office/officeart/2005/8/layout/hProcess11"/>
    <dgm:cxn modelId="{D9FDE2DE-BE99-4679-85BD-22553BD4F516}" srcId="{5D9BC9AF-E696-43D8-9E60-3627CB4A9F90}" destId="{0E74F700-3D6F-45EE-88D7-8BE1C41B4A12}" srcOrd="5" destOrd="0" parTransId="{936D5318-7CEA-496B-88F3-62A3EB49856E}" sibTransId="{DFF9728C-451F-4C85-835F-7859F22FF8F3}"/>
    <dgm:cxn modelId="{8889E6E8-D9CB-4CDA-AF4C-099370C6AB5E}" srcId="{5D9BC9AF-E696-43D8-9E60-3627CB4A9F90}" destId="{E2A85686-2DD6-4C5E-A94E-2826806706FE}" srcOrd="3" destOrd="0" parTransId="{074A7167-E495-49D0-B8E8-4905A0CE2C5B}" sibTransId="{77471447-A646-4DD7-8633-0C3AD7CF7200}"/>
    <dgm:cxn modelId="{F82101F4-A47C-40E5-AB57-E837FD532585}" srcId="{5D9BC9AF-E696-43D8-9E60-3627CB4A9F90}" destId="{C668E378-17DA-480A-88B4-77CF53BF79A8}" srcOrd="1" destOrd="0" parTransId="{51D37406-DB1F-4B97-94BD-876F75966382}" sibTransId="{812D3EA7-45C8-49B4-9275-2E42090C19BF}"/>
    <dgm:cxn modelId="{CA0D3870-85B1-4E6A-92B5-DA017D6227FC}" type="presParOf" srcId="{D2A4328F-7466-4460-BC6C-D99B0B11EAE0}" destId="{D33221A1-79F6-4B9A-A116-6505E25D210B}" srcOrd="0" destOrd="0" presId="urn:microsoft.com/office/officeart/2005/8/layout/hProcess11"/>
    <dgm:cxn modelId="{E3BBC772-E296-48AD-8956-D876F71D8DA6}" type="presParOf" srcId="{D2A4328F-7466-4460-BC6C-D99B0B11EAE0}" destId="{274DDA60-0D25-4037-898D-3D412116E35E}" srcOrd="1" destOrd="0" presId="urn:microsoft.com/office/officeart/2005/8/layout/hProcess11"/>
    <dgm:cxn modelId="{30F639EC-6E8E-4DC8-8240-1F7FEBCEBE22}" type="presParOf" srcId="{274DDA60-0D25-4037-898D-3D412116E35E}" destId="{B3448F0B-296F-478E-803C-4405495B3A4D}" srcOrd="0" destOrd="0" presId="urn:microsoft.com/office/officeart/2005/8/layout/hProcess11"/>
    <dgm:cxn modelId="{E4541187-45D3-4B2D-BE4E-46E52D4D23C3}" type="presParOf" srcId="{B3448F0B-296F-478E-803C-4405495B3A4D}" destId="{FE56CBDF-F2C5-4808-A416-1BC6315153D5}" srcOrd="0" destOrd="0" presId="urn:microsoft.com/office/officeart/2005/8/layout/hProcess11"/>
    <dgm:cxn modelId="{FF95B1A0-F902-4177-B775-8D30894C1308}" type="presParOf" srcId="{B3448F0B-296F-478E-803C-4405495B3A4D}" destId="{75AE5A0C-DC8B-45AF-95A9-E7C2CCAB5B90}" srcOrd="1" destOrd="0" presId="urn:microsoft.com/office/officeart/2005/8/layout/hProcess11"/>
    <dgm:cxn modelId="{E3A5CCE2-819A-48A9-971C-030722618142}" type="presParOf" srcId="{B3448F0B-296F-478E-803C-4405495B3A4D}" destId="{61C323FF-DEA6-41A7-BFEC-D137AE1BE343}" srcOrd="2" destOrd="0" presId="urn:microsoft.com/office/officeart/2005/8/layout/hProcess11"/>
    <dgm:cxn modelId="{E46D10F3-FF13-4333-B728-4E7FE60D01C5}" type="presParOf" srcId="{274DDA60-0D25-4037-898D-3D412116E35E}" destId="{A4524CA2-32D1-4613-B7C9-17ECB61189FA}" srcOrd="1" destOrd="0" presId="urn:microsoft.com/office/officeart/2005/8/layout/hProcess11"/>
    <dgm:cxn modelId="{D20F0FF7-F153-4BD5-8E8E-5DE2DE209CED}" type="presParOf" srcId="{274DDA60-0D25-4037-898D-3D412116E35E}" destId="{5EC0F21C-6EE8-4D71-AE93-D95B48EEE23F}" srcOrd="2" destOrd="0" presId="urn:microsoft.com/office/officeart/2005/8/layout/hProcess11"/>
    <dgm:cxn modelId="{CA3CD318-152E-42CE-BE65-37840AEF3AB5}" type="presParOf" srcId="{5EC0F21C-6EE8-4D71-AE93-D95B48EEE23F}" destId="{DD90B13C-8EAE-462D-8484-162E133A7583}" srcOrd="0" destOrd="0" presId="urn:microsoft.com/office/officeart/2005/8/layout/hProcess11"/>
    <dgm:cxn modelId="{F75DFA75-B512-4BB4-80B5-B876F8D32350}" type="presParOf" srcId="{5EC0F21C-6EE8-4D71-AE93-D95B48EEE23F}" destId="{262B059D-5AE4-4F28-AE00-70369AA00314}" srcOrd="1" destOrd="0" presId="urn:microsoft.com/office/officeart/2005/8/layout/hProcess11"/>
    <dgm:cxn modelId="{0F06E630-3E2F-4245-8FC5-94F8D4E87B62}" type="presParOf" srcId="{5EC0F21C-6EE8-4D71-AE93-D95B48EEE23F}" destId="{F9BF097B-38D7-4909-AD1F-2A4DFBEE35B5}" srcOrd="2" destOrd="0" presId="urn:microsoft.com/office/officeart/2005/8/layout/hProcess11"/>
    <dgm:cxn modelId="{C3A20930-8F50-43E2-9A8F-6ECABE2AE179}" type="presParOf" srcId="{274DDA60-0D25-4037-898D-3D412116E35E}" destId="{C704625A-C43D-4D1A-88C8-D78A5219D054}" srcOrd="3" destOrd="0" presId="urn:microsoft.com/office/officeart/2005/8/layout/hProcess11"/>
    <dgm:cxn modelId="{2B1ED4FF-A901-483C-A882-DC487ACFB919}" type="presParOf" srcId="{274DDA60-0D25-4037-898D-3D412116E35E}" destId="{5AA94A6E-27B0-48C7-B4CA-BF8DD1F39EDE}" srcOrd="4" destOrd="0" presId="urn:microsoft.com/office/officeart/2005/8/layout/hProcess11"/>
    <dgm:cxn modelId="{5358BEBF-40B0-4828-B99A-76B3D0E2DFA2}" type="presParOf" srcId="{5AA94A6E-27B0-48C7-B4CA-BF8DD1F39EDE}" destId="{E8924F09-77E3-4F93-9CFC-C83189BE752E}" srcOrd="0" destOrd="0" presId="urn:microsoft.com/office/officeart/2005/8/layout/hProcess11"/>
    <dgm:cxn modelId="{03B70E25-93BE-46BA-AD38-98039F54E132}" type="presParOf" srcId="{5AA94A6E-27B0-48C7-B4CA-BF8DD1F39EDE}" destId="{14861258-B25B-44DB-9BF3-35337BB97F1E}" srcOrd="1" destOrd="0" presId="urn:microsoft.com/office/officeart/2005/8/layout/hProcess11"/>
    <dgm:cxn modelId="{7F8663AB-6039-4195-A9E9-84D2D6AD9850}" type="presParOf" srcId="{5AA94A6E-27B0-48C7-B4CA-BF8DD1F39EDE}" destId="{152450DA-199C-4A56-B52F-58C46C8895FE}" srcOrd="2" destOrd="0" presId="urn:microsoft.com/office/officeart/2005/8/layout/hProcess11"/>
    <dgm:cxn modelId="{233AF4C6-979B-4BB3-9C05-1D2CDE201F9E}" type="presParOf" srcId="{274DDA60-0D25-4037-898D-3D412116E35E}" destId="{E57875CA-AC09-4EB9-9019-4FA21E8CD022}" srcOrd="5" destOrd="0" presId="urn:microsoft.com/office/officeart/2005/8/layout/hProcess11"/>
    <dgm:cxn modelId="{6211E767-04A7-4751-903B-3A2803E19EC0}" type="presParOf" srcId="{274DDA60-0D25-4037-898D-3D412116E35E}" destId="{A58794BC-B306-48AE-89CC-622A215F077E}" srcOrd="6" destOrd="0" presId="urn:microsoft.com/office/officeart/2005/8/layout/hProcess11"/>
    <dgm:cxn modelId="{D1903AF3-46CF-4675-B671-52C5BA5C47A7}" type="presParOf" srcId="{A58794BC-B306-48AE-89CC-622A215F077E}" destId="{87EDBE43-1A8E-46A4-AC79-5C57FCFB0390}" srcOrd="0" destOrd="0" presId="urn:microsoft.com/office/officeart/2005/8/layout/hProcess11"/>
    <dgm:cxn modelId="{56D638C7-026A-45F7-9EC5-DC0E3BE5D0A6}" type="presParOf" srcId="{A58794BC-B306-48AE-89CC-622A215F077E}" destId="{68F82039-05DF-4105-9F89-7CD890C618F4}" srcOrd="1" destOrd="0" presId="urn:microsoft.com/office/officeart/2005/8/layout/hProcess11"/>
    <dgm:cxn modelId="{D617AF99-54D3-4253-B62A-722CB5718B17}" type="presParOf" srcId="{A58794BC-B306-48AE-89CC-622A215F077E}" destId="{A075D48A-AB1F-4AF3-BDC1-FFEA20FAAD78}" srcOrd="2" destOrd="0" presId="urn:microsoft.com/office/officeart/2005/8/layout/hProcess11"/>
    <dgm:cxn modelId="{8BBD4B28-BB34-4B24-BF7C-9A0F7E2E9736}" type="presParOf" srcId="{274DDA60-0D25-4037-898D-3D412116E35E}" destId="{5D7BC807-4222-4415-AEDC-F4357749F70B}" srcOrd="7" destOrd="0" presId="urn:microsoft.com/office/officeart/2005/8/layout/hProcess11"/>
    <dgm:cxn modelId="{B73B5166-0179-4340-9CD5-F3E484369F0E}" type="presParOf" srcId="{274DDA60-0D25-4037-898D-3D412116E35E}" destId="{8AC95435-C51D-46A9-BB6D-DE237B448142}" srcOrd="8" destOrd="0" presId="urn:microsoft.com/office/officeart/2005/8/layout/hProcess11"/>
    <dgm:cxn modelId="{C6E01A62-69E7-4641-A802-2651F9B0D30A}" type="presParOf" srcId="{8AC95435-C51D-46A9-BB6D-DE237B448142}" destId="{F45E5754-3BDA-40B9-B76C-818CEA8DEA04}" srcOrd="0" destOrd="0" presId="urn:microsoft.com/office/officeart/2005/8/layout/hProcess11"/>
    <dgm:cxn modelId="{D2FFDE06-9BBF-4718-AFDE-C1967597AB7B}" type="presParOf" srcId="{8AC95435-C51D-46A9-BB6D-DE237B448142}" destId="{12F6BDAE-7495-4BC3-84D3-22AA063CB94E}" srcOrd="1" destOrd="0" presId="urn:microsoft.com/office/officeart/2005/8/layout/hProcess11"/>
    <dgm:cxn modelId="{F14447AA-2C38-48D5-8198-64F97BE9F455}" type="presParOf" srcId="{8AC95435-C51D-46A9-BB6D-DE237B448142}" destId="{F10BE51E-0CED-4672-B954-9950BD63E33F}" srcOrd="2" destOrd="0" presId="urn:microsoft.com/office/officeart/2005/8/layout/hProcess11"/>
    <dgm:cxn modelId="{7084AC0F-180D-406B-8B9B-FB2A6E2F38DA}" type="presParOf" srcId="{274DDA60-0D25-4037-898D-3D412116E35E}" destId="{BDA8DAEF-D929-496A-891B-2A0F54615A6C}" srcOrd="9" destOrd="0" presId="urn:microsoft.com/office/officeart/2005/8/layout/hProcess11"/>
    <dgm:cxn modelId="{FC66EC89-8331-483B-BC84-F5410F5A02A0}" type="presParOf" srcId="{274DDA60-0D25-4037-898D-3D412116E35E}" destId="{4790DF73-67D1-4ED1-BE9F-A1FC66379E18}" srcOrd="10" destOrd="0" presId="urn:microsoft.com/office/officeart/2005/8/layout/hProcess11"/>
    <dgm:cxn modelId="{85EE743D-4055-415B-99F1-96361BA09B14}" type="presParOf" srcId="{4790DF73-67D1-4ED1-BE9F-A1FC66379E18}" destId="{8BE185DB-E5A4-4F39-809D-DD0A9A1A6749}" srcOrd="0" destOrd="0" presId="urn:microsoft.com/office/officeart/2005/8/layout/hProcess11"/>
    <dgm:cxn modelId="{6C206465-89AF-46EC-B91E-A146ECEA5EAD}" type="presParOf" srcId="{4790DF73-67D1-4ED1-BE9F-A1FC66379E18}" destId="{232A4D32-E568-4D31-A413-A607EFA2754D}" srcOrd="1" destOrd="0" presId="urn:microsoft.com/office/officeart/2005/8/layout/hProcess11"/>
    <dgm:cxn modelId="{D16E4EAF-771D-4309-B8F7-518194A30BD0}" type="presParOf" srcId="{4790DF73-67D1-4ED1-BE9F-A1FC66379E18}" destId="{17A99B4B-C797-48F1-B84D-CC9E4BCBDE55}" srcOrd="2" destOrd="0" presId="urn:microsoft.com/office/officeart/2005/8/layout/hProcess11"/>
    <dgm:cxn modelId="{885B9ED4-4549-4F62-8FC8-97FF37CFC6A6}" type="presParOf" srcId="{274DDA60-0D25-4037-898D-3D412116E35E}" destId="{845E178C-DDE2-4A56-842E-504643243F09}" srcOrd="11" destOrd="0" presId="urn:microsoft.com/office/officeart/2005/8/layout/hProcess11"/>
    <dgm:cxn modelId="{53EA7E1F-2D09-49BD-B9EF-D61AFC8B804F}" type="presParOf" srcId="{274DDA60-0D25-4037-898D-3D412116E35E}" destId="{F8EFF0C2-BBC3-42C6-BA93-39A5C7E89972}" srcOrd="12" destOrd="0" presId="urn:microsoft.com/office/officeart/2005/8/layout/hProcess11"/>
    <dgm:cxn modelId="{FEC6C4CE-9B13-45D0-A64C-FC0797084C18}" type="presParOf" srcId="{F8EFF0C2-BBC3-42C6-BA93-39A5C7E89972}" destId="{C8769335-1F8C-42AA-9205-ECFC5EDB86A2}" srcOrd="0" destOrd="0" presId="urn:microsoft.com/office/officeart/2005/8/layout/hProcess11"/>
    <dgm:cxn modelId="{3BE057F6-684E-41BB-AC7A-A72045A7843D}" type="presParOf" srcId="{F8EFF0C2-BBC3-42C6-BA93-39A5C7E89972}" destId="{06CEDFC9-B1F3-4A20-B5CB-511DC701012D}" srcOrd="1" destOrd="0" presId="urn:microsoft.com/office/officeart/2005/8/layout/hProcess11"/>
    <dgm:cxn modelId="{2CF20C31-B61F-46E3-8149-D711D7048888}" type="presParOf" srcId="{F8EFF0C2-BBC3-42C6-BA93-39A5C7E89972}" destId="{CA6872C3-2AC5-4ECD-B288-8525B30D819C}" srcOrd="2" destOrd="0" presId="urn:microsoft.com/office/officeart/2005/8/layout/hProcess11"/>
    <dgm:cxn modelId="{462B5DD3-EC6D-4417-B0C1-8228279A7C38}" type="presParOf" srcId="{274DDA60-0D25-4037-898D-3D412116E35E}" destId="{EBCA0B6F-51C2-4299-AFF6-B9C60D2BCB39}" srcOrd="13" destOrd="0" presId="urn:microsoft.com/office/officeart/2005/8/layout/hProcess11"/>
    <dgm:cxn modelId="{EAE3A03F-3ACE-45DF-B3C1-0CF464F34439}" type="presParOf" srcId="{274DDA60-0D25-4037-898D-3D412116E35E}" destId="{708FB9C8-194B-4E75-B6CB-BC9413CD85D3}" srcOrd="14" destOrd="0" presId="urn:microsoft.com/office/officeart/2005/8/layout/hProcess11"/>
    <dgm:cxn modelId="{E9940A76-C8DE-4332-B1CD-CA7C8D4C5ED2}" type="presParOf" srcId="{708FB9C8-194B-4E75-B6CB-BC9413CD85D3}" destId="{A4B7C786-82A5-4A8A-9E36-60E52675459D}" srcOrd="0" destOrd="0" presId="urn:microsoft.com/office/officeart/2005/8/layout/hProcess11"/>
    <dgm:cxn modelId="{1E632432-F23D-47A5-AC0E-F4AF578E374E}" type="presParOf" srcId="{708FB9C8-194B-4E75-B6CB-BC9413CD85D3}" destId="{1B1D0CA2-7024-475A-8311-0610CD8E21B6}" srcOrd="1" destOrd="0" presId="urn:microsoft.com/office/officeart/2005/8/layout/hProcess11"/>
    <dgm:cxn modelId="{D6CB2C82-D9A9-470F-A8AA-42A81EF71EE0}" type="presParOf" srcId="{708FB9C8-194B-4E75-B6CB-BC9413CD85D3}" destId="{6FA8471C-F2D8-4738-B5A9-9E5DD0431317}" srcOrd="2" destOrd="0" presId="urn:microsoft.com/office/officeart/2005/8/layout/hProcess11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5D9BC9AF-E696-43D8-9E60-3627CB4A9F90}" type="doc">
      <dgm:prSet loTypeId="urn:microsoft.com/office/officeart/2005/8/layout/hProcess11" loCatId="process" qsTypeId="urn:microsoft.com/office/officeart/2005/8/quickstyle/simple1" qsCatId="simple" csTypeId="urn:microsoft.com/office/officeart/2005/8/colors/accent1_5" csCatId="accent1" phldr="1"/>
      <dgm:spPr/>
      <dgm:t>
        <a:bodyPr/>
        <a:lstStyle/>
        <a:p>
          <a:endParaRPr lang="ru-RU"/>
        </a:p>
      </dgm:t>
    </dgm:pt>
    <dgm:pt modelId="{1F0860FF-4FB4-4022-BDED-9962A2A76FF8}">
      <dgm:prSet phldrT="[Текст]" custT="1"/>
      <dgm:spPr/>
      <dgm:t>
        <a:bodyPr/>
        <a:lstStyle/>
        <a:p>
          <a:r>
            <a:rPr lang="ru-RU" sz="1600" b="1" dirty="0">
              <a:latin typeface="Unbounded Medium" pitchFamily="2" charset="-52"/>
              <a:cs typeface="Wix Madefor Display SemiBold" panose="020B0503020203020203" pitchFamily="34" charset="-52"/>
            </a:rPr>
            <a:t>2024</a:t>
          </a:r>
        </a:p>
      </dgm:t>
    </dgm:pt>
    <dgm:pt modelId="{01FB9C28-67CB-4327-BBF7-79D25BC66BD5}" type="sibTrans" cxnId="{350D7C5E-F771-4676-A038-E2121E8004EC}">
      <dgm:prSet/>
      <dgm:spPr/>
      <dgm:t>
        <a:bodyPr/>
        <a:lstStyle/>
        <a:p>
          <a:endParaRPr lang="ru-RU" sz="1100">
            <a:latin typeface="Unbounded Medium" pitchFamily="2" charset="-52"/>
          </a:endParaRPr>
        </a:p>
      </dgm:t>
    </dgm:pt>
    <dgm:pt modelId="{91163880-C1A4-4D32-8D5B-85A99B39D091}" type="parTrans" cxnId="{350D7C5E-F771-4676-A038-E2121E8004EC}">
      <dgm:prSet/>
      <dgm:spPr/>
      <dgm:t>
        <a:bodyPr/>
        <a:lstStyle/>
        <a:p>
          <a:endParaRPr lang="ru-RU" sz="1100">
            <a:latin typeface="Unbounded Medium" pitchFamily="2" charset="-52"/>
          </a:endParaRPr>
        </a:p>
      </dgm:t>
    </dgm:pt>
    <dgm:pt modelId="{C668E378-17DA-480A-88B4-77CF53BF79A8}">
      <dgm:prSet phldrT="[Текст]" custT="1"/>
      <dgm:spPr/>
      <dgm:t>
        <a:bodyPr/>
        <a:lstStyle/>
        <a:p>
          <a:endParaRPr lang="ru-RU" sz="1400" dirty="0">
            <a:latin typeface="Unbounded Medium" pitchFamily="2" charset="-52"/>
            <a:cs typeface="Wix Madefor Display SemiBold" panose="020B0503020203020203" pitchFamily="34" charset="-52"/>
          </a:endParaRPr>
        </a:p>
      </dgm:t>
    </dgm:pt>
    <dgm:pt modelId="{51D37406-DB1F-4B97-94BD-876F75966382}" type="parTrans" cxnId="{F82101F4-A47C-40E5-AB57-E837FD532585}">
      <dgm:prSet/>
      <dgm:spPr/>
      <dgm:t>
        <a:bodyPr/>
        <a:lstStyle/>
        <a:p>
          <a:endParaRPr lang="ru-RU" sz="1100">
            <a:latin typeface="Unbounded Medium" pitchFamily="2" charset="-52"/>
          </a:endParaRPr>
        </a:p>
      </dgm:t>
    </dgm:pt>
    <dgm:pt modelId="{812D3EA7-45C8-49B4-9275-2E42090C19BF}" type="sibTrans" cxnId="{F82101F4-A47C-40E5-AB57-E837FD532585}">
      <dgm:prSet/>
      <dgm:spPr/>
      <dgm:t>
        <a:bodyPr/>
        <a:lstStyle/>
        <a:p>
          <a:endParaRPr lang="ru-RU" sz="1100">
            <a:latin typeface="Unbounded Medium" pitchFamily="2" charset="-52"/>
          </a:endParaRPr>
        </a:p>
      </dgm:t>
    </dgm:pt>
    <dgm:pt modelId="{BFD661AD-3996-4CCF-83D1-C4A85893EC6C}">
      <dgm:prSet phldrT="[Текст]" custT="1"/>
      <dgm:spPr/>
      <dgm:t>
        <a:bodyPr/>
        <a:lstStyle/>
        <a:p>
          <a:endParaRPr lang="ru-RU" sz="1400" dirty="0">
            <a:latin typeface="Unbounded Medium" pitchFamily="2" charset="-52"/>
            <a:cs typeface="Wix Madefor Display SemiBold" panose="020B0503020203020203" pitchFamily="34" charset="-52"/>
          </a:endParaRPr>
        </a:p>
      </dgm:t>
    </dgm:pt>
    <dgm:pt modelId="{FF653D4E-B0B1-45D2-9947-0F1971349724}" type="parTrans" cxnId="{2B8C3719-7056-4591-B6E0-08F67CC3A04A}">
      <dgm:prSet/>
      <dgm:spPr/>
      <dgm:t>
        <a:bodyPr/>
        <a:lstStyle/>
        <a:p>
          <a:endParaRPr lang="ru-RU" sz="1100">
            <a:latin typeface="Unbounded Medium" pitchFamily="2" charset="-52"/>
          </a:endParaRPr>
        </a:p>
      </dgm:t>
    </dgm:pt>
    <dgm:pt modelId="{300D15C8-F99B-49F2-AC6F-A7ADE48D7D03}" type="sibTrans" cxnId="{2B8C3719-7056-4591-B6E0-08F67CC3A04A}">
      <dgm:prSet/>
      <dgm:spPr/>
      <dgm:t>
        <a:bodyPr/>
        <a:lstStyle/>
        <a:p>
          <a:endParaRPr lang="ru-RU" sz="1100">
            <a:latin typeface="Unbounded Medium" pitchFamily="2" charset="-52"/>
          </a:endParaRPr>
        </a:p>
      </dgm:t>
    </dgm:pt>
    <dgm:pt modelId="{2DDB093B-2E9B-473F-9A2C-C9E173FB119B}">
      <dgm:prSet phldrT="[Текст]" custT="1"/>
      <dgm:spPr/>
      <dgm:t>
        <a:bodyPr anchor="b"/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1" kern="1200" dirty="0">
              <a:solidFill>
                <a:srgbClr val="000000">
                  <a:hueOff val="0"/>
                  <a:satOff val="0"/>
                  <a:lumOff val="0"/>
                  <a:alphaOff val="0"/>
                </a:srgbClr>
              </a:solidFill>
              <a:latin typeface="Unbounded Medium" pitchFamily="2" charset="-52"/>
              <a:ea typeface="+mn-ea"/>
              <a:cs typeface="Wix Madefor Display SemiBold" panose="020B0503020203020203" pitchFamily="34" charset="-52"/>
            </a:rPr>
            <a:t>2030</a:t>
          </a:r>
          <a:endParaRPr lang="ru-RU" sz="1600" b="1" kern="1200" dirty="0">
            <a:solidFill>
              <a:srgbClr val="000000">
                <a:hueOff val="0"/>
                <a:satOff val="0"/>
                <a:lumOff val="0"/>
                <a:alphaOff val="0"/>
              </a:srgbClr>
            </a:solidFill>
            <a:latin typeface="Unbounded Medium" pitchFamily="2" charset="-52"/>
            <a:ea typeface="+mn-ea"/>
            <a:cs typeface="Wix Madefor Display SemiBold" panose="020B0503020203020203" pitchFamily="34" charset="-52"/>
          </a:endParaRPr>
        </a:p>
      </dgm:t>
    </dgm:pt>
    <dgm:pt modelId="{B58C9FD5-D55C-4E8C-B06A-FDE9E7345377}" type="parTrans" cxnId="{6077E05C-8292-44E4-8591-0A73B4F4EBAB}">
      <dgm:prSet/>
      <dgm:spPr/>
      <dgm:t>
        <a:bodyPr/>
        <a:lstStyle/>
        <a:p>
          <a:endParaRPr lang="ru-RU" sz="1100">
            <a:latin typeface="Unbounded Medium" pitchFamily="2" charset="-52"/>
          </a:endParaRPr>
        </a:p>
      </dgm:t>
    </dgm:pt>
    <dgm:pt modelId="{0C83EB55-3DCF-4C3A-8281-42F1058EC5C4}" type="sibTrans" cxnId="{6077E05C-8292-44E4-8591-0A73B4F4EBAB}">
      <dgm:prSet/>
      <dgm:spPr/>
      <dgm:t>
        <a:bodyPr/>
        <a:lstStyle/>
        <a:p>
          <a:endParaRPr lang="ru-RU" sz="1100">
            <a:latin typeface="Unbounded Medium" pitchFamily="2" charset="-52"/>
          </a:endParaRPr>
        </a:p>
      </dgm:t>
    </dgm:pt>
    <dgm:pt modelId="{D20ED6B4-C641-41F3-A99D-E30E12FBE2B6}">
      <dgm:prSet phldrT="[Текст]" custT="1"/>
      <dgm:spPr/>
      <dgm:t>
        <a:bodyPr/>
        <a:lstStyle/>
        <a:p>
          <a:endParaRPr lang="ru-RU" sz="1400" dirty="0">
            <a:latin typeface="Unbounded Medium" pitchFamily="2" charset="-52"/>
            <a:cs typeface="Wix Madefor Display SemiBold" panose="020B0503020203020203" pitchFamily="34" charset="-52"/>
          </a:endParaRPr>
        </a:p>
      </dgm:t>
    </dgm:pt>
    <dgm:pt modelId="{B092BABC-AC4B-420C-B47C-319EBA110278}" type="parTrans" cxnId="{70403673-8A55-4BE6-9F71-558F0E47458A}">
      <dgm:prSet/>
      <dgm:spPr/>
      <dgm:t>
        <a:bodyPr/>
        <a:lstStyle/>
        <a:p>
          <a:endParaRPr lang="ru-RU" sz="1100">
            <a:latin typeface="Unbounded Medium" pitchFamily="2" charset="-52"/>
          </a:endParaRPr>
        </a:p>
      </dgm:t>
    </dgm:pt>
    <dgm:pt modelId="{BF120CE9-276E-4238-BF7F-1B7C3C5D7A79}" type="sibTrans" cxnId="{70403673-8A55-4BE6-9F71-558F0E47458A}">
      <dgm:prSet/>
      <dgm:spPr/>
      <dgm:t>
        <a:bodyPr/>
        <a:lstStyle/>
        <a:p>
          <a:endParaRPr lang="ru-RU" sz="1100">
            <a:latin typeface="Unbounded Medium" pitchFamily="2" charset="-52"/>
          </a:endParaRPr>
        </a:p>
      </dgm:t>
    </dgm:pt>
    <dgm:pt modelId="{0E74F700-3D6F-45EE-88D7-8BE1C41B4A12}">
      <dgm:prSet phldrT="[Текст]" custT="1"/>
      <dgm:spPr/>
      <dgm:t>
        <a:bodyPr/>
        <a:lstStyle/>
        <a:p>
          <a:endParaRPr lang="ru-RU" sz="1400" dirty="0">
            <a:latin typeface="Unbounded Medium" pitchFamily="2" charset="-52"/>
            <a:cs typeface="Wix Madefor Display SemiBold" panose="020B0503020203020203" pitchFamily="34" charset="-52"/>
          </a:endParaRPr>
        </a:p>
      </dgm:t>
    </dgm:pt>
    <dgm:pt modelId="{936D5318-7CEA-496B-88F3-62A3EB49856E}" type="parTrans" cxnId="{D9FDE2DE-BE99-4679-85BD-22553BD4F516}">
      <dgm:prSet/>
      <dgm:spPr/>
      <dgm:t>
        <a:bodyPr/>
        <a:lstStyle/>
        <a:p>
          <a:endParaRPr lang="ru-RU" sz="1100">
            <a:latin typeface="Unbounded Medium" pitchFamily="2" charset="-52"/>
          </a:endParaRPr>
        </a:p>
      </dgm:t>
    </dgm:pt>
    <dgm:pt modelId="{DFF9728C-451F-4C85-835F-7859F22FF8F3}" type="sibTrans" cxnId="{D9FDE2DE-BE99-4679-85BD-22553BD4F516}">
      <dgm:prSet/>
      <dgm:spPr/>
      <dgm:t>
        <a:bodyPr/>
        <a:lstStyle/>
        <a:p>
          <a:endParaRPr lang="ru-RU" sz="1100">
            <a:latin typeface="Unbounded Medium" pitchFamily="2" charset="-52"/>
          </a:endParaRPr>
        </a:p>
      </dgm:t>
    </dgm:pt>
    <dgm:pt modelId="{E2A85686-2DD6-4C5E-A94E-2826806706FE}">
      <dgm:prSet phldrT="[Текст]" custT="1"/>
      <dgm:spPr/>
      <dgm:t>
        <a:bodyPr/>
        <a:lstStyle/>
        <a:p>
          <a:endParaRPr lang="ru-RU" sz="1400" dirty="0">
            <a:latin typeface="Unbounded Medium" pitchFamily="2" charset="-52"/>
            <a:cs typeface="Wix Madefor Display SemiBold" panose="020B0503020203020203" pitchFamily="34" charset="-52"/>
          </a:endParaRPr>
        </a:p>
      </dgm:t>
    </dgm:pt>
    <dgm:pt modelId="{074A7167-E495-49D0-B8E8-4905A0CE2C5B}" type="parTrans" cxnId="{8889E6E8-D9CB-4CDA-AF4C-099370C6AB5E}">
      <dgm:prSet/>
      <dgm:spPr/>
      <dgm:t>
        <a:bodyPr/>
        <a:lstStyle/>
        <a:p>
          <a:endParaRPr lang="ru-RU"/>
        </a:p>
      </dgm:t>
    </dgm:pt>
    <dgm:pt modelId="{77471447-A646-4DD7-8633-0C3AD7CF7200}" type="sibTrans" cxnId="{8889E6E8-D9CB-4CDA-AF4C-099370C6AB5E}">
      <dgm:prSet/>
      <dgm:spPr/>
      <dgm:t>
        <a:bodyPr/>
        <a:lstStyle/>
        <a:p>
          <a:endParaRPr lang="ru-RU"/>
        </a:p>
      </dgm:t>
    </dgm:pt>
    <dgm:pt modelId="{D2A4328F-7466-4460-BC6C-D99B0B11EAE0}" type="pres">
      <dgm:prSet presAssocID="{5D9BC9AF-E696-43D8-9E60-3627CB4A9F90}" presName="Name0" presStyleCnt="0">
        <dgm:presLayoutVars>
          <dgm:dir/>
          <dgm:resizeHandles val="exact"/>
        </dgm:presLayoutVars>
      </dgm:prSet>
      <dgm:spPr/>
    </dgm:pt>
    <dgm:pt modelId="{D33221A1-79F6-4B9A-A116-6505E25D210B}" type="pres">
      <dgm:prSet presAssocID="{5D9BC9AF-E696-43D8-9E60-3627CB4A9F90}" presName="arrow" presStyleLbl="bgShp" presStyleIdx="0" presStyleCnt="1" custScaleY="66972"/>
      <dgm:spPr>
        <a:gradFill rotWithShape="0">
          <a:gsLst>
            <a:gs pos="3000">
              <a:srgbClr val="FCE8E8"/>
            </a:gs>
            <a:gs pos="74000">
              <a:srgbClr val="818CF7"/>
            </a:gs>
            <a:gs pos="83000">
              <a:srgbClr val="0F24E7"/>
            </a:gs>
            <a:gs pos="100000">
              <a:srgbClr val="0F24E7"/>
            </a:gs>
          </a:gsLst>
          <a:lin ang="21594000" scaled="0"/>
        </a:gradFill>
      </dgm:spPr>
    </dgm:pt>
    <dgm:pt modelId="{274DDA60-0D25-4037-898D-3D412116E35E}" type="pres">
      <dgm:prSet presAssocID="{5D9BC9AF-E696-43D8-9E60-3627CB4A9F90}" presName="points" presStyleCnt="0"/>
      <dgm:spPr/>
    </dgm:pt>
    <dgm:pt modelId="{B3448F0B-296F-478E-803C-4405495B3A4D}" type="pres">
      <dgm:prSet presAssocID="{1F0860FF-4FB4-4022-BDED-9962A2A76FF8}" presName="compositeA" presStyleCnt="0"/>
      <dgm:spPr/>
    </dgm:pt>
    <dgm:pt modelId="{FE56CBDF-F2C5-4808-A416-1BC6315153D5}" type="pres">
      <dgm:prSet presAssocID="{1F0860FF-4FB4-4022-BDED-9962A2A76FF8}" presName="textA" presStyleLbl="revTx" presStyleIdx="0" presStyleCnt="7" custLinFactNeighborX="2449">
        <dgm:presLayoutVars>
          <dgm:bulletEnabled val="1"/>
        </dgm:presLayoutVars>
      </dgm:prSet>
      <dgm:spPr/>
    </dgm:pt>
    <dgm:pt modelId="{75AE5A0C-DC8B-45AF-95A9-E7C2CCAB5B90}" type="pres">
      <dgm:prSet presAssocID="{1F0860FF-4FB4-4022-BDED-9962A2A76FF8}" presName="circleA" presStyleLbl="node1" presStyleIdx="0" presStyleCnt="7" custLinFactNeighborX="12296"/>
      <dgm:spPr>
        <a:solidFill>
          <a:srgbClr val="7030A0">
            <a:alpha val="90000"/>
          </a:srgbClr>
        </a:solidFill>
      </dgm:spPr>
    </dgm:pt>
    <dgm:pt modelId="{61C323FF-DEA6-41A7-BFEC-D137AE1BE343}" type="pres">
      <dgm:prSet presAssocID="{1F0860FF-4FB4-4022-BDED-9962A2A76FF8}" presName="spaceA" presStyleCnt="0"/>
      <dgm:spPr/>
    </dgm:pt>
    <dgm:pt modelId="{A4524CA2-32D1-4613-B7C9-17ECB61189FA}" type="pres">
      <dgm:prSet presAssocID="{01FB9C28-67CB-4327-BBF7-79D25BC66BD5}" presName="space" presStyleCnt="0"/>
      <dgm:spPr/>
    </dgm:pt>
    <dgm:pt modelId="{5EC0F21C-6EE8-4D71-AE93-D95B48EEE23F}" type="pres">
      <dgm:prSet presAssocID="{C668E378-17DA-480A-88B4-77CF53BF79A8}" presName="compositeB" presStyleCnt="0"/>
      <dgm:spPr/>
    </dgm:pt>
    <dgm:pt modelId="{DD90B13C-8EAE-462D-8484-162E133A7583}" type="pres">
      <dgm:prSet presAssocID="{C668E378-17DA-480A-88B4-77CF53BF79A8}" presName="textB" presStyleLbl="revTx" presStyleIdx="1" presStyleCnt="7">
        <dgm:presLayoutVars>
          <dgm:bulletEnabled val="1"/>
        </dgm:presLayoutVars>
      </dgm:prSet>
      <dgm:spPr/>
    </dgm:pt>
    <dgm:pt modelId="{262B059D-5AE4-4F28-AE00-70369AA00314}" type="pres">
      <dgm:prSet presAssocID="{C668E378-17DA-480A-88B4-77CF53BF79A8}" presName="circleB" presStyleLbl="node1" presStyleIdx="1" presStyleCnt="7"/>
      <dgm:spPr>
        <a:noFill/>
        <a:ln>
          <a:noFill/>
        </a:ln>
      </dgm:spPr>
    </dgm:pt>
    <dgm:pt modelId="{F9BF097B-38D7-4909-AD1F-2A4DFBEE35B5}" type="pres">
      <dgm:prSet presAssocID="{C668E378-17DA-480A-88B4-77CF53BF79A8}" presName="spaceB" presStyleCnt="0"/>
      <dgm:spPr/>
    </dgm:pt>
    <dgm:pt modelId="{C704625A-C43D-4D1A-88C8-D78A5219D054}" type="pres">
      <dgm:prSet presAssocID="{812D3EA7-45C8-49B4-9275-2E42090C19BF}" presName="space" presStyleCnt="0"/>
      <dgm:spPr/>
    </dgm:pt>
    <dgm:pt modelId="{5AA94A6E-27B0-48C7-B4CA-BF8DD1F39EDE}" type="pres">
      <dgm:prSet presAssocID="{BFD661AD-3996-4CCF-83D1-C4A85893EC6C}" presName="compositeA" presStyleCnt="0"/>
      <dgm:spPr/>
    </dgm:pt>
    <dgm:pt modelId="{E8924F09-77E3-4F93-9CFC-C83189BE752E}" type="pres">
      <dgm:prSet presAssocID="{BFD661AD-3996-4CCF-83D1-C4A85893EC6C}" presName="textA" presStyleLbl="revTx" presStyleIdx="2" presStyleCnt="7">
        <dgm:presLayoutVars>
          <dgm:bulletEnabled val="1"/>
        </dgm:presLayoutVars>
      </dgm:prSet>
      <dgm:spPr/>
    </dgm:pt>
    <dgm:pt modelId="{14861258-B25B-44DB-9BF3-35337BB97F1E}" type="pres">
      <dgm:prSet presAssocID="{BFD661AD-3996-4CCF-83D1-C4A85893EC6C}" presName="circleA" presStyleLbl="node1" presStyleIdx="2" presStyleCnt="7"/>
      <dgm:spPr>
        <a:noFill/>
        <a:ln>
          <a:noFill/>
        </a:ln>
      </dgm:spPr>
    </dgm:pt>
    <dgm:pt modelId="{152450DA-199C-4A56-B52F-58C46C8895FE}" type="pres">
      <dgm:prSet presAssocID="{BFD661AD-3996-4CCF-83D1-C4A85893EC6C}" presName="spaceA" presStyleCnt="0"/>
      <dgm:spPr/>
    </dgm:pt>
    <dgm:pt modelId="{E57875CA-AC09-4EB9-9019-4FA21E8CD022}" type="pres">
      <dgm:prSet presAssocID="{300D15C8-F99B-49F2-AC6F-A7ADE48D7D03}" presName="space" presStyleCnt="0"/>
      <dgm:spPr/>
    </dgm:pt>
    <dgm:pt modelId="{A58794BC-B306-48AE-89CC-622A215F077E}" type="pres">
      <dgm:prSet presAssocID="{E2A85686-2DD6-4C5E-A94E-2826806706FE}" presName="compositeB" presStyleCnt="0"/>
      <dgm:spPr/>
    </dgm:pt>
    <dgm:pt modelId="{87EDBE43-1A8E-46A4-AC79-5C57FCFB0390}" type="pres">
      <dgm:prSet presAssocID="{E2A85686-2DD6-4C5E-A94E-2826806706FE}" presName="textB" presStyleLbl="revTx" presStyleIdx="3" presStyleCnt="7">
        <dgm:presLayoutVars>
          <dgm:bulletEnabled val="1"/>
        </dgm:presLayoutVars>
      </dgm:prSet>
      <dgm:spPr/>
    </dgm:pt>
    <dgm:pt modelId="{68F82039-05DF-4105-9F89-7CD890C618F4}" type="pres">
      <dgm:prSet presAssocID="{E2A85686-2DD6-4C5E-A94E-2826806706FE}" presName="circleB" presStyleLbl="node1" presStyleIdx="3" presStyleCnt="7"/>
      <dgm:spPr>
        <a:noFill/>
        <a:ln>
          <a:noFill/>
        </a:ln>
      </dgm:spPr>
    </dgm:pt>
    <dgm:pt modelId="{A075D48A-AB1F-4AF3-BDC1-FFEA20FAAD78}" type="pres">
      <dgm:prSet presAssocID="{E2A85686-2DD6-4C5E-A94E-2826806706FE}" presName="spaceB" presStyleCnt="0"/>
      <dgm:spPr/>
    </dgm:pt>
    <dgm:pt modelId="{5D7BC807-4222-4415-AEDC-F4357749F70B}" type="pres">
      <dgm:prSet presAssocID="{77471447-A646-4DD7-8633-0C3AD7CF7200}" presName="space" presStyleCnt="0"/>
      <dgm:spPr/>
    </dgm:pt>
    <dgm:pt modelId="{F3014C0A-D571-4BA1-9016-E984C51D7E77}" type="pres">
      <dgm:prSet presAssocID="{0E74F700-3D6F-45EE-88D7-8BE1C41B4A12}" presName="compositeA" presStyleCnt="0"/>
      <dgm:spPr/>
    </dgm:pt>
    <dgm:pt modelId="{93183C24-E580-42E5-AAEB-9858E9DBAAB7}" type="pres">
      <dgm:prSet presAssocID="{0E74F700-3D6F-45EE-88D7-8BE1C41B4A12}" presName="textA" presStyleLbl="revTx" presStyleIdx="4" presStyleCnt="7">
        <dgm:presLayoutVars>
          <dgm:bulletEnabled val="1"/>
        </dgm:presLayoutVars>
      </dgm:prSet>
      <dgm:spPr/>
    </dgm:pt>
    <dgm:pt modelId="{F7182513-2A9C-4734-B895-09536018C630}" type="pres">
      <dgm:prSet presAssocID="{0E74F700-3D6F-45EE-88D7-8BE1C41B4A12}" presName="circleA" presStyleLbl="node1" presStyleIdx="4" presStyleCnt="7"/>
      <dgm:spPr>
        <a:noFill/>
        <a:ln>
          <a:noFill/>
        </a:ln>
      </dgm:spPr>
    </dgm:pt>
    <dgm:pt modelId="{ABD578DB-86EC-4B48-B9A9-8DAEA32C9711}" type="pres">
      <dgm:prSet presAssocID="{0E74F700-3D6F-45EE-88D7-8BE1C41B4A12}" presName="spaceA" presStyleCnt="0"/>
      <dgm:spPr/>
    </dgm:pt>
    <dgm:pt modelId="{845E178C-DDE2-4A56-842E-504643243F09}" type="pres">
      <dgm:prSet presAssocID="{DFF9728C-451F-4C85-835F-7859F22FF8F3}" presName="space" presStyleCnt="0"/>
      <dgm:spPr/>
    </dgm:pt>
    <dgm:pt modelId="{3A461237-3E3B-43B4-BDB8-0A14C043211C}" type="pres">
      <dgm:prSet presAssocID="{D20ED6B4-C641-41F3-A99D-E30E12FBE2B6}" presName="compositeB" presStyleCnt="0"/>
      <dgm:spPr/>
    </dgm:pt>
    <dgm:pt modelId="{070F8EAE-07ED-43F9-AA0F-1E49BB9F3327}" type="pres">
      <dgm:prSet presAssocID="{D20ED6B4-C641-41F3-A99D-E30E12FBE2B6}" presName="textB" presStyleLbl="revTx" presStyleIdx="5" presStyleCnt="7">
        <dgm:presLayoutVars>
          <dgm:bulletEnabled val="1"/>
        </dgm:presLayoutVars>
      </dgm:prSet>
      <dgm:spPr/>
    </dgm:pt>
    <dgm:pt modelId="{EE592F79-D54C-4AD3-BFBE-A9D493D3797A}" type="pres">
      <dgm:prSet presAssocID="{D20ED6B4-C641-41F3-A99D-E30E12FBE2B6}" presName="circleB" presStyleLbl="node1" presStyleIdx="5" presStyleCnt="7"/>
      <dgm:spPr>
        <a:noFill/>
        <a:ln>
          <a:noFill/>
        </a:ln>
      </dgm:spPr>
    </dgm:pt>
    <dgm:pt modelId="{66C8F2AA-8BE2-41A1-8878-0976A69E6F67}" type="pres">
      <dgm:prSet presAssocID="{D20ED6B4-C641-41F3-A99D-E30E12FBE2B6}" presName="spaceB" presStyleCnt="0"/>
      <dgm:spPr/>
    </dgm:pt>
    <dgm:pt modelId="{EBCA0B6F-51C2-4299-AFF6-B9C60D2BCB39}" type="pres">
      <dgm:prSet presAssocID="{BF120CE9-276E-4238-BF7F-1B7C3C5D7A79}" presName="space" presStyleCnt="0"/>
      <dgm:spPr/>
    </dgm:pt>
    <dgm:pt modelId="{F1845B5F-80A8-4511-B6DB-20F79D9837C9}" type="pres">
      <dgm:prSet presAssocID="{2DDB093B-2E9B-473F-9A2C-C9E173FB119B}" presName="compositeA" presStyleCnt="0"/>
      <dgm:spPr/>
    </dgm:pt>
    <dgm:pt modelId="{B917A7A3-B923-4C0A-B478-5A2EE5CD6081}" type="pres">
      <dgm:prSet presAssocID="{2DDB093B-2E9B-473F-9A2C-C9E173FB119B}" presName="textA" presStyleLbl="revTx" presStyleIdx="6" presStyleCnt="7">
        <dgm:presLayoutVars>
          <dgm:bulletEnabled val="1"/>
        </dgm:presLayoutVars>
      </dgm:prSet>
      <dgm:spPr/>
    </dgm:pt>
    <dgm:pt modelId="{1BBD324A-DB21-48BA-BFFD-9F0130395B3C}" type="pres">
      <dgm:prSet presAssocID="{2DDB093B-2E9B-473F-9A2C-C9E173FB119B}" presName="circleA" presStyleLbl="node1" presStyleIdx="6" presStyleCnt="7"/>
      <dgm:spPr/>
    </dgm:pt>
    <dgm:pt modelId="{885E982D-237A-4FEC-8A55-24EE16FE8C11}" type="pres">
      <dgm:prSet presAssocID="{2DDB093B-2E9B-473F-9A2C-C9E173FB119B}" presName="spaceA" presStyleCnt="0"/>
      <dgm:spPr/>
    </dgm:pt>
  </dgm:ptLst>
  <dgm:cxnLst>
    <dgm:cxn modelId="{933E5C0E-02F8-4364-950E-DBBB04D3D1BB}" type="presOf" srcId="{E2A85686-2DD6-4C5E-A94E-2826806706FE}" destId="{87EDBE43-1A8E-46A4-AC79-5C57FCFB0390}" srcOrd="0" destOrd="0" presId="urn:microsoft.com/office/officeart/2005/8/layout/hProcess11"/>
    <dgm:cxn modelId="{2B8C3719-7056-4591-B6E0-08F67CC3A04A}" srcId="{5D9BC9AF-E696-43D8-9E60-3627CB4A9F90}" destId="{BFD661AD-3996-4CCF-83D1-C4A85893EC6C}" srcOrd="2" destOrd="0" parTransId="{FF653D4E-B0B1-45D2-9947-0F1971349724}" sibTransId="{300D15C8-F99B-49F2-AC6F-A7ADE48D7D03}"/>
    <dgm:cxn modelId="{91BF7E2E-8792-4612-B8F6-23ED05F4580C}" type="presOf" srcId="{D20ED6B4-C641-41F3-A99D-E30E12FBE2B6}" destId="{070F8EAE-07ED-43F9-AA0F-1E49BB9F3327}" srcOrd="0" destOrd="0" presId="urn:microsoft.com/office/officeart/2005/8/layout/hProcess11"/>
    <dgm:cxn modelId="{6077E05C-8292-44E4-8591-0A73B4F4EBAB}" srcId="{5D9BC9AF-E696-43D8-9E60-3627CB4A9F90}" destId="{2DDB093B-2E9B-473F-9A2C-C9E173FB119B}" srcOrd="6" destOrd="0" parTransId="{B58C9FD5-D55C-4E8C-B06A-FDE9E7345377}" sibTransId="{0C83EB55-3DCF-4C3A-8281-42F1058EC5C4}"/>
    <dgm:cxn modelId="{350D7C5E-F771-4676-A038-E2121E8004EC}" srcId="{5D9BC9AF-E696-43D8-9E60-3627CB4A9F90}" destId="{1F0860FF-4FB4-4022-BDED-9962A2A76FF8}" srcOrd="0" destOrd="0" parTransId="{91163880-C1A4-4D32-8D5B-85A99B39D091}" sibTransId="{01FB9C28-67CB-4327-BBF7-79D25BC66BD5}"/>
    <dgm:cxn modelId="{EB3B184F-005A-4D3E-A3B3-B5FCC50E16AB}" type="presOf" srcId="{1F0860FF-4FB4-4022-BDED-9962A2A76FF8}" destId="{FE56CBDF-F2C5-4808-A416-1BC6315153D5}" srcOrd="0" destOrd="0" presId="urn:microsoft.com/office/officeart/2005/8/layout/hProcess11"/>
    <dgm:cxn modelId="{70403673-8A55-4BE6-9F71-558F0E47458A}" srcId="{5D9BC9AF-E696-43D8-9E60-3627CB4A9F90}" destId="{D20ED6B4-C641-41F3-A99D-E30E12FBE2B6}" srcOrd="5" destOrd="0" parTransId="{B092BABC-AC4B-420C-B47C-319EBA110278}" sibTransId="{BF120CE9-276E-4238-BF7F-1B7C3C5D7A79}"/>
    <dgm:cxn modelId="{C2FB417E-7845-4A34-B6BD-A5B8CE3ABAA8}" type="presOf" srcId="{BFD661AD-3996-4CCF-83D1-C4A85893EC6C}" destId="{E8924F09-77E3-4F93-9CFC-C83189BE752E}" srcOrd="0" destOrd="0" presId="urn:microsoft.com/office/officeart/2005/8/layout/hProcess11"/>
    <dgm:cxn modelId="{C2AC437E-D925-43ED-99DA-6964F8229F6E}" type="presOf" srcId="{C668E378-17DA-480A-88B4-77CF53BF79A8}" destId="{DD90B13C-8EAE-462D-8484-162E133A7583}" srcOrd="0" destOrd="0" presId="urn:microsoft.com/office/officeart/2005/8/layout/hProcess11"/>
    <dgm:cxn modelId="{2DB0AD90-AFD8-4FF3-9339-83DA9B1ED699}" type="presOf" srcId="{2DDB093B-2E9B-473F-9A2C-C9E173FB119B}" destId="{B917A7A3-B923-4C0A-B478-5A2EE5CD6081}" srcOrd="0" destOrd="0" presId="urn:microsoft.com/office/officeart/2005/8/layout/hProcess11"/>
    <dgm:cxn modelId="{F24825BF-2AE5-47BC-9A2E-22296634C552}" type="presOf" srcId="{5D9BC9AF-E696-43D8-9E60-3627CB4A9F90}" destId="{D2A4328F-7466-4460-BC6C-D99B0B11EAE0}" srcOrd="0" destOrd="0" presId="urn:microsoft.com/office/officeart/2005/8/layout/hProcess11"/>
    <dgm:cxn modelId="{D9FDE2DE-BE99-4679-85BD-22553BD4F516}" srcId="{5D9BC9AF-E696-43D8-9E60-3627CB4A9F90}" destId="{0E74F700-3D6F-45EE-88D7-8BE1C41B4A12}" srcOrd="4" destOrd="0" parTransId="{936D5318-7CEA-496B-88F3-62A3EB49856E}" sibTransId="{DFF9728C-451F-4C85-835F-7859F22FF8F3}"/>
    <dgm:cxn modelId="{8889E6E8-D9CB-4CDA-AF4C-099370C6AB5E}" srcId="{5D9BC9AF-E696-43D8-9E60-3627CB4A9F90}" destId="{E2A85686-2DD6-4C5E-A94E-2826806706FE}" srcOrd="3" destOrd="0" parTransId="{074A7167-E495-49D0-B8E8-4905A0CE2C5B}" sibTransId="{77471447-A646-4DD7-8633-0C3AD7CF7200}"/>
    <dgm:cxn modelId="{F82101F4-A47C-40E5-AB57-E837FD532585}" srcId="{5D9BC9AF-E696-43D8-9E60-3627CB4A9F90}" destId="{C668E378-17DA-480A-88B4-77CF53BF79A8}" srcOrd="1" destOrd="0" parTransId="{51D37406-DB1F-4B97-94BD-876F75966382}" sibTransId="{812D3EA7-45C8-49B4-9275-2E42090C19BF}"/>
    <dgm:cxn modelId="{ED550DFF-87BC-429C-9562-A93DEC4E9A8A}" type="presOf" srcId="{0E74F700-3D6F-45EE-88D7-8BE1C41B4A12}" destId="{93183C24-E580-42E5-AAEB-9858E9DBAAB7}" srcOrd="0" destOrd="0" presId="urn:microsoft.com/office/officeart/2005/8/layout/hProcess11"/>
    <dgm:cxn modelId="{CA0D3870-85B1-4E6A-92B5-DA017D6227FC}" type="presParOf" srcId="{D2A4328F-7466-4460-BC6C-D99B0B11EAE0}" destId="{D33221A1-79F6-4B9A-A116-6505E25D210B}" srcOrd="0" destOrd="0" presId="urn:microsoft.com/office/officeart/2005/8/layout/hProcess11"/>
    <dgm:cxn modelId="{E3BBC772-E296-48AD-8956-D876F71D8DA6}" type="presParOf" srcId="{D2A4328F-7466-4460-BC6C-D99B0B11EAE0}" destId="{274DDA60-0D25-4037-898D-3D412116E35E}" srcOrd="1" destOrd="0" presId="urn:microsoft.com/office/officeart/2005/8/layout/hProcess11"/>
    <dgm:cxn modelId="{30F639EC-6E8E-4DC8-8240-1F7FEBCEBE22}" type="presParOf" srcId="{274DDA60-0D25-4037-898D-3D412116E35E}" destId="{B3448F0B-296F-478E-803C-4405495B3A4D}" srcOrd="0" destOrd="0" presId="urn:microsoft.com/office/officeart/2005/8/layout/hProcess11"/>
    <dgm:cxn modelId="{E4541187-45D3-4B2D-BE4E-46E52D4D23C3}" type="presParOf" srcId="{B3448F0B-296F-478E-803C-4405495B3A4D}" destId="{FE56CBDF-F2C5-4808-A416-1BC6315153D5}" srcOrd="0" destOrd="0" presId="urn:microsoft.com/office/officeart/2005/8/layout/hProcess11"/>
    <dgm:cxn modelId="{FF95B1A0-F902-4177-B775-8D30894C1308}" type="presParOf" srcId="{B3448F0B-296F-478E-803C-4405495B3A4D}" destId="{75AE5A0C-DC8B-45AF-95A9-E7C2CCAB5B90}" srcOrd="1" destOrd="0" presId="urn:microsoft.com/office/officeart/2005/8/layout/hProcess11"/>
    <dgm:cxn modelId="{E3A5CCE2-819A-48A9-971C-030722618142}" type="presParOf" srcId="{B3448F0B-296F-478E-803C-4405495B3A4D}" destId="{61C323FF-DEA6-41A7-BFEC-D137AE1BE343}" srcOrd="2" destOrd="0" presId="urn:microsoft.com/office/officeart/2005/8/layout/hProcess11"/>
    <dgm:cxn modelId="{E46D10F3-FF13-4333-B728-4E7FE60D01C5}" type="presParOf" srcId="{274DDA60-0D25-4037-898D-3D412116E35E}" destId="{A4524CA2-32D1-4613-B7C9-17ECB61189FA}" srcOrd="1" destOrd="0" presId="urn:microsoft.com/office/officeart/2005/8/layout/hProcess11"/>
    <dgm:cxn modelId="{D20F0FF7-F153-4BD5-8E8E-5DE2DE209CED}" type="presParOf" srcId="{274DDA60-0D25-4037-898D-3D412116E35E}" destId="{5EC0F21C-6EE8-4D71-AE93-D95B48EEE23F}" srcOrd="2" destOrd="0" presId="urn:microsoft.com/office/officeart/2005/8/layout/hProcess11"/>
    <dgm:cxn modelId="{CA3CD318-152E-42CE-BE65-37840AEF3AB5}" type="presParOf" srcId="{5EC0F21C-6EE8-4D71-AE93-D95B48EEE23F}" destId="{DD90B13C-8EAE-462D-8484-162E133A7583}" srcOrd="0" destOrd="0" presId="urn:microsoft.com/office/officeart/2005/8/layout/hProcess11"/>
    <dgm:cxn modelId="{F75DFA75-B512-4BB4-80B5-B876F8D32350}" type="presParOf" srcId="{5EC0F21C-6EE8-4D71-AE93-D95B48EEE23F}" destId="{262B059D-5AE4-4F28-AE00-70369AA00314}" srcOrd="1" destOrd="0" presId="urn:microsoft.com/office/officeart/2005/8/layout/hProcess11"/>
    <dgm:cxn modelId="{0F06E630-3E2F-4245-8FC5-94F8D4E87B62}" type="presParOf" srcId="{5EC0F21C-6EE8-4D71-AE93-D95B48EEE23F}" destId="{F9BF097B-38D7-4909-AD1F-2A4DFBEE35B5}" srcOrd="2" destOrd="0" presId="urn:microsoft.com/office/officeart/2005/8/layout/hProcess11"/>
    <dgm:cxn modelId="{C3A20930-8F50-43E2-9A8F-6ECABE2AE179}" type="presParOf" srcId="{274DDA60-0D25-4037-898D-3D412116E35E}" destId="{C704625A-C43D-4D1A-88C8-D78A5219D054}" srcOrd="3" destOrd="0" presId="urn:microsoft.com/office/officeart/2005/8/layout/hProcess11"/>
    <dgm:cxn modelId="{2B1ED4FF-A901-483C-A882-DC487ACFB919}" type="presParOf" srcId="{274DDA60-0D25-4037-898D-3D412116E35E}" destId="{5AA94A6E-27B0-48C7-B4CA-BF8DD1F39EDE}" srcOrd="4" destOrd="0" presId="urn:microsoft.com/office/officeart/2005/8/layout/hProcess11"/>
    <dgm:cxn modelId="{5358BEBF-40B0-4828-B99A-76B3D0E2DFA2}" type="presParOf" srcId="{5AA94A6E-27B0-48C7-B4CA-BF8DD1F39EDE}" destId="{E8924F09-77E3-4F93-9CFC-C83189BE752E}" srcOrd="0" destOrd="0" presId="urn:microsoft.com/office/officeart/2005/8/layout/hProcess11"/>
    <dgm:cxn modelId="{03B70E25-93BE-46BA-AD38-98039F54E132}" type="presParOf" srcId="{5AA94A6E-27B0-48C7-B4CA-BF8DD1F39EDE}" destId="{14861258-B25B-44DB-9BF3-35337BB97F1E}" srcOrd="1" destOrd="0" presId="urn:microsoft.com/office/officeart/2005/8/layout/hProcess11"/>
    <dgm:cxn modelId="{7F8663AB-6039-4195-A9E9-84D2D6AD9850}" type="presParOf" srcId="{5AA94A6E-27B0-48C7-B4CA-BF8DD1F39EDE}" destId="{152450DA-199C-4A56-B52F-58C46C8895FE}" srcOrd="2" destOrd="0" presId="urn:microsoft.com/office/officeart/2005/8/layout/hProcess11"/>
    <dgm:cxn modelId="{233AF4C6-979B-4BB3-9C05-1D2CDE201F9E}" type="presParOf" srcId="{274DDA60-0D25-4037-898D-3D412116E35E}" destId="{E57875CA-AC09-4EB9-9019-4FA21E8CD022}" srcOrd="5" destOrd="0" presId="urn:microsoft.com/office/officeart/2005/8/layout/hProcess11"/>
    <dgm:cxn modelId="{6211E767-04A7-4751-903B-3A2803E19EC0}" type="presParOf" srcId="{274DDA60-0D25-4037-898D-3D412116E35E}" destId="{A58794BC-B306-48AE-89CC-622A215F077E}" srcOrd="6" destOrd="0" presId="urn:microsoft.com/office/officeart/2005/8/layout/hProcess11"/>
    <dgm:cxn modelId="{D1903AF3-46CF-4675-B671-52C5BA5C47A7}" type="presParOf" srcId="{A58794BC-B306-48AE-89CC-622A215F077E}" destId="{87EDBE43-1A8E-46A4-AC79-5C57FCFB0390}" srcOrd="0" destOrd="0" presId="urn:microsoft.com/office/officeart/2005/8/layout/hProcess11"/>
    <dgm:cxn modelId="{56D638C7-026A-45F7-9EC5-DC0E3BE5D0A6}" type="presParOf" srcId="{A58794BC-B306-48AE-89CC-622A215F077E}" destId="{68F82039-05DF-4105-9F89-7CD890C618F4}" srcOrd="1" destOrd="0" presId="urn:microsoft.com/office/officeart/2005/8/layout/hProcess11"/>
    <dgm:cxn modelId="{D617AF99-54D3-4253-B62A-722CB5718B17}" type="presParOf" srcId="{A58794BC-B306-48AE-89CC-622A215F077E}" destId="{A075D48A-AB1F-4AF3-BDC1-FFEA20FAAD78}" srcOrd="2" destOrd="0" presId="urn:microsoft.com/office/officeart/2005/8/layout/hProcess11"/>
    <dgm:cxn modelId="{8BBD4B28-BB34-4B24-BF7C-9A0F7E2E9736}" type="presParOf" srcId="{274DDA60-0D25-4037-898D-3D412116E35E}" destId="{5D7BC807-4222-4415-AEDC-F4357749F70B}" srcOrd="7" destOrd="0" presId="urn:microsoft.com/office/officeart/2005/8/layout/hProcess11"/>
    <dgm:cxn modelId="{C70B763A-92DA-403B-ACBE-16D0440103DC}" type="presParOf" srcId="{274DDA60-0D25-4037-898D-3D412116E35E}" destId="{F3014C0A-D571-4BA1-9016-E984C51D7E77}" srcOrd="8" destOrd="0" presId="urn:microsoft.com/office/officeart/2005/8/layout/hProcess11"/>
    <dgm:cxn modelId="{FBB72C77-E1FE-44ED-8DCE-39BEED2E63F2}" type="presParOf" srcId="{F3014C0A-D571-4BA1-9016-E984C51D7E77}" destId="{93183C24-E580-42E5-AAEB-9858E9DBAAB7}" srcOrd="0" destOrd="0" presId="urn:microsoft.com/office/officeart/2005/8/layout/hProcess11"/>
    <dgm:cxn modelId="{263792AB-78BC-4EF2-A73B-AA23536D6BC6}" type="presParOf" srcId="{F3014C0A-D571-4BA1-9016-E984C51D7E77}" destId="{F7182513-2A9C-4734-B895-09536018C630}" srcOrd="1" destOrd="0" presId="urn:microsoft.com/office/officeart/2005/8/layout/hProcess11"/>
    <dgm:cxn modelId="{10865AAF-6643-4CD6-B3A7-47291F26D368}" type="presParOf" srcId="{F3014C0A-D571-4BA1-9016-E984C51D7E77}" destId="{ABD578DB-86EC-4B48-B9A9-8DAEA32C9711}" srcOrd="2" destOrd="0" presId="urn:microsoft.com/office/officeart/2005/8/layout/hProcess11"/>
    <dgm:cxn modelId="{885B9ED4-4549-4F62-8FC8-97FF37CFC6A6}" type="presParOf" srcId="{274DDA60-0D25-4037-898D-3D412116E35E}" destId="{845E178C-DDE2-4A56-842E-504643243F09}" srcOrd="9" destOrd="0" presId="urn:microsoft.com/office/officeart/2005/8/layout/hProcess11"/>
    <dgm:cxn modelId="{C99A3645-9EE5-46A8-898E-9E7C83F42481}" type="presParOf" srcId="{274DDA60-0D25-4037-898D-3D412116E35E}" destId="{3A461237-3E3B-43B4-BDB8-0A14C043211C}" srcOrd="10" destOrd="0" presId="urn:microsoft.com/office/officeart/2005/8/layout/hProcess11"/>
    <dgm:cxn modelId="{5B44B717-1226-495D-97B5-49AF8FCBFA71}" type="presParOf" srcId="{3A461237-3E3B-43B4-BDB8-0A14C043211C}" destId="{070F8EAE-07ED-43F9-AA0F-1E49BB9F3327}" srcOrd="0" destOrd="0" presId="urn:microsoft.com/office/officeart/2005/8/layout/hProcess11"/>
    <dgm:cxn modelId="{B539B33A-B6BA-442C-BB29-1F33CA04FC84}" type="presParOf" srcId="{3A461237-3E3B-43B4-BDB8-0A14C043211C}" destId="{EE592F79-D54C-4AD3-BFBE-A9D493D3797A}" srcOrd="1" destOrd="0" presId="urn:microsoft.com/office/officeart/2005/8/layout/hProcess11"/>
    <dgm:cxn modelId="{A4216133-698A-4B07-B035-8D857FE6255E}" type="presParOf" srcId="{3A461237-3E3B-43B4-BDB8-0A14C043211C}" destId="{66C8F2AA-8BE2-41A1-8878-0976A69E6F67}" srcOrd="2" destOrd="0" presId="urn:microsoft.com/office/officeart/2005/8/layout/hProcess11"/>
    <dgm:cxn modelId="{462B5DD3-EC6D-4417-B0C1-8228279A7C38}" type="presParOf" srcId="{274DDA60-0D25-4037-898D-3D412116E35E}" destId="{EBCA0B6F-51C2-4299-AFF6-B9C60D2BCB39}" srcOrd="11" destOrd="0" presId="urn:microsoft.com/office/officeart/2005/8/layout/hProcess11"/>
    <dgm:cxn modelId="{D8CC9FCF-F25B-450D-A726-62D1DB3D30F7}" type="presParOf" srcId="{274DDA60-0D25-4037-898D-3D412116E35E}" destId="{F1845B5F-80A8-4511-B6DB-20F79D9837C9}" srcOrd="12" destOrd="0" presId="urn:microsoft.com/office/officeart/2005/8/layout/hProcess11"/>
    <dgm:cxn modelId="{9DA7B686-7EBA-435D-B489-E361B639D51F}" type="presParOf" srcId="{F1845B5F-80A8-4511-B6DB-20F79D9837C9}" destId="{B917A7A3-B923-4C0A-B478-5A2EE5CD6081}" srcOrd="0" destOrd="0" presId="urn:microsoft.com/office/officeart/2005/8/layout/hProcess11"/>
    <dgm:cxn modelId="{7DF77258-4AA9-467C-A83D-F48966148E3B}" type="presParOf" srcId="{F1845B5F-80A8-4511-B6DB-20F79D9837C9}" destId="{1BBD324A-DB21-48BA-BFFD-9F0130395B3C}" srcOrd="1" destOrd="0" presId="urn:microsoft.com/office/officeart/2005/8/layout/hProcess11"/>
    <dgm:cxn modelId="{AD901331-B901-4014-AF8A-9F5157DA2575}" type="presParOf" srcId="{F1845B5F-80A8-4511-B6DB-20F79D9837C9}" destId="{885E982D-237A-4FEC-8A55-24EE16FE8C11}" srcOrd="2" destOrd="0" presId="urn:microsoft.com/office/officeart/2005/8/layout/hProcess1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33221A1-79F6-4B9A-A116-6505E25D210B}">
      <dsp:nvSpPr>
        <dsp:cNvPr id="0" name=""/>
        <dsp:cNvSpPr/>
      </dsp:nvSpPr>
      <dsp:spPr>
        <a:xfrm>
          <a:off x="0" y="776404"/>
          <a:ext cx="13704037" cy="568190"/>
        </a:xfrm>
        <a:prstGeom prst="notchedRightArrow">
          <a:avLst/>
        </a:prstGeom>
        <a:gradFill rotWithShape="0">
          <a:gsLst>
            <a:gs pos="3000">
              <a:srgbClr val="FCE8E8"/>
            </a:gs>
            <a:gs pos="74000">
              <a:srgbClr val="818CF7"/>
            </a:gs>
            <a:gs pos="83000">
              <a:srgbClr val="0F24E7"/>
            </a:gs>
            <a:gs pos="100000">
              <a:srgbClr val="0F24E7"/>
            </a:gs>
          </a:gsLst>
          <a:lin ang="21594000" scaled="0"/>
        </a:gra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E56CBDF-F2C5-4808-A416-1BC6315153D5}">
      <dsp:nvSpPr>
        <dsp:cNvPr id="0" name=""/>
        <dsp:cNvSpPr/>
      </dsp:nvSpPr>
      <dsp:spPr>
        <a:xfrm>
          <a:off x="489" y="0"/>
          <a:ext cx="1476964" cy="84839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9568" tIns="99568" rIns="99568" bIns="99568" numCol="1" spcCol="1270" anchor="b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400" kern="1200" dirty="0">
              <a:latin typeface="Unbounded Medium" pitchFamily="2" charset="-52"/>
              <a:cs typeface="Wix Madefor Display SemiBold" panose="020B0503020203020203" pitchFamily="34" charset="-52"/>
            </a:rPr>
            <a:t>20</a:t>
          </a:r>
          <a:r>
            <a:rPr lang="en-US" sz="1400" kern="1200" dirty="0">
              <a:latin typeface="Unbounded Medium" pitchFamily="2" charset="-52"/>
              <a:cs typeface="Wix Madefor Display SemiBold" panose="020B0503020203020203" pitchFamily="34" charset="-52"/>
            </a:rPr>
            <a:t>18</a:t>
          </a:r>
          <a:endParaRPr lang="ru-RU" sz="1400" kern="1200" dirty="0">
            <a:latin typeface="Unbounded Medium" pitchFamily="2" charset="-52"/>
            <a:cs typeface="Wix Madefor Display SemiBold" panose="020B0503020203020203" pitchFamily="34" charset="-52"/>
          </a:endParaRPr>
        </a:p>
      </dsp:txBody>
      <dsp:txXfrm>
        <a:off x="489" y="0"/>
        <a:ext cx="1476964" cy="848399"/>
      </dsp:txXfrm>
    </dsp:sp>
    <dsp:sp modelId="{75AE5A0C-DC8B-45AF-95A9-E7C2CCAB5B90}">
      <dsp:nvSpPr>
        <dsp:cNvPr id="0" name=""/>
        <dsp:cNvSpPr/>
      </dsp:nvSpPr>
      <dsp:spPr>
        <a:xfrm>
          <a:off x="713127" y="954449"/>
          <a:ext cx="212099" cy="212099"/>
        </a:xfrm>
        <a:prstGeom prst="ellipse">
          <a:avLst/>
        </a:prstGeom>
        <a:solidFill>
          <a:srgbClr val="7030A0">
            <a:alpha val="90000"/>
          </a:srgb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D90B13C-8EAE-462D-8484-162E133A7583}">
      <dsp:nvSpPr>
        <dsp:cNvPr id="0" name=""/>
        <dsp:cNvSpPr/>
      </dsp:nvSpPr>
      <dsp:spPr>
        <a:xfrm>
          <a:off x="1551302" y="1272599"/>
          <a:ext cx="1476964" cy="84839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9568" tIns="99568" rIns="99568" bIns="99568" numCol="1" spcCol="1270" anchor="t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>
              <a:latin typeface="Unbounded Medium" pitchFamily="2" charset="-52"/>
              <a:cs typeface="Wix Madefor Display SemiBold" panose="020B0503020203020203" pitchFamily="34" charset="-52"/>
            </a:rPr>
            <a:t>2020</a:t>
          </a:r>
          <a:endParaRPr lang="ru-RU" sz="1400" kern="1200" dirty="0">
            <a:latin typeface="Unbounded Medium" pitchFamily="2" charset="-52"/>
            <a:cs typeface="Wix Madefor Display SemiBold" panose="020B0503020203020203" pitchFamily="34" charset="-52"/>
          </a:endParaRPr>
        </a:p>
      </dsp:txBody>
      <dsp:txXfrm>
        <a:off x="1551302" y="1272599"/>
        <a:ext cx="1476964" cy="848399"/>
      </dsp:txXfrm>
    </dsp:sp>
    <dsp:sp modelId="{262B059D-5AE4-4F28-AE00-70369AA00314}">
      <dsp:nvSpPr>
        <dsp:cNvPr id="0" name=""/>
        <dsp:cNvSpPr/>
      </dsp:nvSpPr>
      <dsp:spPr>
        <a:xfrm>
          <a:off x="2183734" y="954449"/>
          <a:ext cx="212099" cy="212099"/>
        </a:xfrm>
        <a:prstGeom prst="ellipse">
          <a:avLst/>
        </a:prstGeom>
        <a:solidFill>
          <a:schemeClr val="accent1">
            <a:alpha val="90000"/>
            <a:hueOff val="0"/>
            <a:satOff val="0"/>
            <a:lumOff val="0"/>
            <a:alphaOff val="-5714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8924F09-77E3-4F93-9CFC-C83189BE752E}">
      <dsp:nvSpPr>
        <dsp:cNvPr id="0" name=""/>
        <dsp:cNvSpPr/>
      </dsp:nvSpPr>
      <dsp:spPr>
        <a:xfrm>
          <a:off x="3102115" y="0"/>
          <a:ext cx="1476964" cy="84839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9568" tIns="99568" rIns="99568" bIns="99568" numCol="1" spcCol="1270" anchor="b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>
              <a:latin typeface="Unbounded Medium" pitchFamily="2" charset="-52"/>
              <a:cs typeface="Wix Madefor Display SemiBold" panose="020B0503020203020203" pitchFamily="34" charset="-52"/>
            </a:rPr>
            <a:t>2021</a:t>
          </a:r>
          <a:endParaRPr lang="ru-RU" sz="1400" kern="1200" dirty="0">
            <a:latin typeface="Unbounded Medium" pitchFamily="2" charset="-52"/>
            <a:cs typeface="Wix Madefor Display SemiBold" panose="020B0503020203020203" pitchFamily="34" charset="-52"/>
          </a:endParaRPr>
        </a:p>
      </dsp:txBody>
      <dsp:txXfrm>
        <a:off x="3102115" y="0"/>
        <a:ext cx="1476964" cy="848399"/>
      </dsp:txXfrm>
    </dsp:sp>
    <dsp:sp modelId="{14861258-B25B-44DB-9BF3-35337BB97F1E}">
      <dsp:nvSpPr>
        <dsp:cNvPr id="0" name=""/>
        <dsp:cNvSpPr/>
      </dsp:nvSpPr>
      <dsp:spPr>
        <a:xfrm>
          <a:off x="3734547" y="954449"/>
          <a:ext cx="212099" cy="212099"/>
        </a:xfrm>
        <a:prstGeom prst="ellipse">
          <a:avLst/>
        </a:prstGeom>
        <a:solidFill>
          <a:schemeClr val="accent1">
            <a:alpha val="90000"/>
            <a:hueOff val="0"/>
            <a:satOff val="0"/>
            <a:lumOff val="0"/>
            <a:alphaOff val="-11429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7EDBE43-1A8E-46A4-AC79-5C57FCFB0390}">
      <dsp:nvSpPr>
        <dsp:cNvPr id="0" name=""/>
        <dsp:cNvSpPr/>
      </dsp:nvSpPr>
      <dsp:spPr>
        <a:xfrm>
          <a:off x="4652927" y="1272599"/>
          <a:ext cx="1476964" cy="84839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9568" tIns="99568" rIns="99568" bIns="99568" numCol="1" spcCol="1270" anchor="t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ru-RU" sz="1400" kern="1200" dirty="0">
            <a:latin typeface="Unbounded Medium" pitchFamily="2" charset="-52"/>
            <a:cs typeface="Wix Madefor Display SemiBold" panose="020B0503020203020203" pitchFamily="34" charset="-52"/>
          </a:endParaRPr>
        </a:p>
      </dsp:txBody>
      <dsp:txXfrm>
        <a:off x="4652927" y="1272599"/>
        <a:ext cx="1476964" cy="848399"/>
      </dsp:txXfrm>
    </dsp:sp>
    <dsp:sp modelId="{68F82039-05DF-4105-9F89-7CD890C618F4}">
      <dsp:nvSpPr>
        <dsp:cNvPr id="0" name=""/>
        <dsp:cNvSpPr/>
      </dsp:nvSpPr>
      <dsp:spPr>
        <a:xfrm>
          <a:off x="5285360" y="954449"/>
          <a:ext cx="212099" cy="212099"/>
        </a:xfrm>
        <a:prstGeom prst="ellipse">
          <a:avLst/>
        </a:prstGeom>
        <a:noFill/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45E5754-3BDA-40B9-B76C-818CEA8DEA04}">
      <dsp:nvSpPr>
        <dsp:cNvPr id="0" name=""/>
        <dsp:cNvSpPr/>
      </dsp:nvSpPr>
      <dsp:spPr>
        <a:xfrm>
          <a:off x="6171779" y="1272599"/>
          <a:ext cx="1476964" cy="84839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9568" tIns="99568" rIns="99568" bIns="99568" numCol="1" spcCol="1270" anchor="t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>
              <a:latin typeface="Unbounded Medium" pitchFamily="2" charset="-52"/>
              <a:cs typeface="Wix Madefor Display SemiBold" panose="020B0503020203020203" pitchFamily="34" charset="-52"/>
            </a:rPr>
            <a:t>202</a:t>
          </a:r>
          <a:r>
            <a:rPr lang="ru-RU" sz="1400" kern="1200" dirty="0">
              <a:latin typeface="Unbounded Medium" pitchFamily="2" charset="-52"/>
              <a:cs typeface="Wix Madefor Display SemiBold" panose="020B0503020203020203" pitchFamily="34" charset="-52"/>
            </a:rPr>
            <a:t>4</a:t>
          </a:r>
        </a:p>
      </dsp:txBody>
      <dsp:txXfrm>
        <a:off x="6171779" y="1272599"/>
        <a:ext cx="1476964" cy="848399"/>
      </dsp:txXfrm>
    </dsp:sp>
    <dsp:sp modelId="{12F6BDAE-7495-4BC3-84D3-22AA063CB94E}">
      <dsp:nvSpPr>
        <dsp:cNvPr id="0" name=""/>
        <dsp:cNvSpPr/>
      </dsp:nvSpPr>
      <dsp:spPr>
        <a:xfrm>
          <a:off x="6836173" y="954449"/>
          <a:ext cx="212099" cy="212099"/>
        </a:xfrm>
        <a:prstGeom prst="ellipse">
          <a:avLst/>
        </a:prstGeom>
        <a:solidFill>
          <a:schemeClr val="accent1">
            <a:alpha val="90000"/>
            <a:hueOff val="0"/>
            <a:satOff val="0"/>
            <a:lumOff val="0"/>
            <a:alphaOff val="-22857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BE185DB-E5A4-4F39-809D-DD0A9A1A6749}">
      <dsp:nvSpPr>
        <dsp:cNvPr id="0" name=""/>
        <dsp:cNvSpPr/>
      </dsp:nvSpPr>
      <dsp:spPr>
        <a:xfrm>
          <a:off x="7754553" y="1272599"/>
          <a:ext cx="1476964" cy="84839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9568" tIns="99568" rIns="99568" bIns="99568" numCol="1" spcCol="1270" anchor="t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ru-RU" sz="1400" kern="1200" dirty="0">
            <a:latin typeface="Unbounded Medium" pitchFamily="2" charset="-52"/>
            <a:cs typeface="Wix Madefor Display SemiBold" panose="020B0503020203020203" pitchFamily="34" charset="-52"/>
          </a:endParaRPr>
        </a:p>
      </dsp:txBody>
      <dsp:txXfrm>
        <a:off x="7754553" y="1272599"/>
        <a:ext cx="1476964" cy="848399"/>
      </dsp:txXfrm>
    </dsp:sp>
    <dsp:sp modelId="{232A4D32-E568-4D31-A413-A607EFA2754D}">
      <dsp:nvSpPr>
        <dsp:cNvPr id="0" name=""/>
        <dsp:cNvSpPr/>
      </dsp:nvSpPr>
      <dsp:spPr>
        <a:xfrm>
          <a:off x="8386985" y="954449"/>
          <a:ext cx="212099" cy="212099"/>
        </a:xfrm>
        <a:prstGeom prst="ellipse">
          <a:avLst/>
        </a:prstGeom>
        <a:noFill/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8769335-1F8C-42AA-9205-ECFC5EDB86A2}">
      <dsp:nvSpPr>
        <dsp:cNvPr id="0" name=""/>
        <dsp:cNvSpPr/>
      </dsp:nvSpPr>
      <dsp:spPr>
        <a:xfrm>
          <a:off x="9305366" y="0"/>
          <a:ext cx="1476964" cy="84839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9568" tIns="99568" rIns="99568" bIns="99568" numCol="1" spcCol="1270" anchor="b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ru-RU" sz="1400" kern="1200" dirty="0">
            <a:latin typeface="Unbounded Medium" pitchFamily="2" charset="-52"/>
            <a:cs typeface="Wix Madefor Display SemiBold" panose="020B0503020203020203" pitchFamily="34" charset="-52"/>
          </a:endParaRPr>
        </a:p>
      </dsp:txBody>
      <dsp:txXfrm>
        <a:off x="9305366" y="0"/>
        <a:ext cx="1476964" cy="848399"/>
      </dsp:txXfrm>
    </dsp:sp>
    <dsp:sp modelId="{06CEDFC9-B1F3-4A20-B5CB-511DC701012D}">
      <dsp:nvSpPr>
        <dsp:cNvPr id="0" name=""/>
        <dsp:cNvSpPr/>
      </dsp:nvSpPr>
      <dsp:spPr>
        <a:xfrm>
          <a:off x="9937798" y="954449"/>
          <a:ext cx="212099" cy="212099"/>
        </a:xfrm>
        <a:prstGeom prst="ellipse">
          <a:avLst/>
        </a:prstGeom>
        <a:noFill/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4B7C786-82A5-4A8A-9E36-60E52675459D}">
      <dsp:nvSpPr>
        <dsp:cNvPr id="0" name=""/>
        <dsp:cNvSpPr/>
      </dsp:nvSpPr>
      <dsp:spPr>
        <a:xfrm>
          <a:off x="11207785" y="11351"/>
          <a:ext cx="1476964" cy="84839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9568" tIns="99568" rIns="99568" bIns="99568" numCol="1" spcCol="1270" anchor="b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>
              <a:latin typeface="Unbounded Medium" pitchFamily="2" charset="-52"/>
              <a:cs typeface="Wix Madefor Display SemiBold" panose="020B0503020203020203" pitchFamily="34" charset="-52"/>
            </a:rPr>
            <a:t>2030</a:t>
          </a:r>
          <a:endParaRPr lang="ru-RU" sz="1400" kern="1200" dirty="0">
            <a:latin typeface="Unbounded Medium" pitchFamily="2" charset="-52"/>
            <a:cs typeface="Wix Madefor Display SemiBold" panose="020B0503020203020203" pitchFamily="34" charset="-52"/>
          </a:endParaRPr>
        </a:p>
      </dsp:txBody>
      <dsp:txXfrm>
        <a:off x="11207785" y="11351"/>
        <a:ext cx="1476964" cy="848399"/>
      </dsp:txXfrm>
    </dsp:sp>
    <dsp:sp modelId="{1B1D0CA2-7024-475A-8311-0610CD8E21B6}">
      <dsp:nvSpPr>
        <dsp:cNvPr id="0" name=""/>
        <dsp:cNvSpPr/>
      </dsp:nvSpPr>
      <dsp:spPr>
        <a:xfrm>
          <a:off x="11841603" y="954449"/>
          <a:ext cx="212099" cy="212099"/>
        </a:xfrm>
        <a:prstGeom prst="ellipse">
          <a:avLst/>
        </a:prstGeom>
        <a:solidFill>
          <a:schemeClr val="accent1">
            <a:alpha val="90000"/>
            <a:hueOff val="0"/>
            <a:satOff val="0"/>
            <a:lumOff val="0"/>
            <a:alphaOff val="-4000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33221A1-79F6-4B9A-A116-6505E25D210B}">
      <dsp:nvSpPr>
        <dsp:cNvPr id="0" name=""/>
        <dsp:cNvSpPr/>
      </dsp:nvSpPr>
      <dsp:spPr>
        <a:xfrm>
          <a:off x="0" y="776404"/>
          <a:ext cx="13704037" cy="568190"/>
        </a:xfrm>
        <a:prstGeom prst="notchedRightArrow">
          <a:avLst/>
        </a:prstGeom>
        <a:gradFill rotWithShape="0">
          <a:gsLst>
            <a:gs pos="3000">
              <a:srgbClr val="FCE8E8"/>
            </a:gs>
            <a:gs pos="74000">
              <a:srgbClr val="818CF7"/>
            </a:gs>
            <a:gs pos="83000">
              <a:srgbClr val="0F24E7"/>
            </a:gs>
            <a:gs pos="100000">
              <a:srgbClr val="0F24E7"/>
            </a:gs>
          </a:gsLst>
          <a:lin ang="21594000" scaled="0"/>
        </a:gra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E56CBDF-F2C5-4808-A416-1BC6315153D5}">
      <dsp:nvSpPr>
        <dsp:cNvPr id="0" name=""/>
        <dsp:cNvSpPr/>
      </dsp:nvSpPr>
      <dsp:spPr>
        <a:xfrm>
          <a:off x="42423" y="0"/>
          <a:ext cx="1689250" cy="84839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3792" tIns="113792" rIns="113792" bIns="113792" numCol="1" spcCol="1270" anchor="b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600" b="1" kern="1200" dirty="0">
              <a:latin typeface="Unbounded Medium" pitchFamily="2" charset="-52"/>
              <a:cs typeface="Wix Madefor Display SemiBold" panose="020B0503020203020203" pitchFamily="34" charset="-52"/>
            </a:rPr>
            <a:t>2024</a:t>
          </a:r>
        </a:p>
      </dsp:txBody>
      <dsp:txXfrm>
        <a:off x="42423" y="0"/>
        <a:ext cx="1689250" cy="848399"/>
      </dsp:txXfrm>
    </dsp:sp>
    <dsp:sp modelId="{75AE5A0C-DC8B-45AF-95A9-E7C2CCAB5B90}">
      <dsp:nvSpPr>
        <dsp:cNvPr id="0" name=""/>
        <dsp:cNvSpPr/>
      </dsp:nvSpPr>
      <dsp:spPr>
        <a:xfrm>
          <a:off x="765708" y="954449"/>
          <a:ext cx="212099" cy="212099"/>
        </a:xfrm>
        <a:prstGeom prst="ellipse">
          <a:avLst/>
        </a:prstGeom>
        <a:solidFill>
          <a:srgbClr val="7030A0">
            <a:alpha val="90000"/>
          </a:srgb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D90B13C-8EAE-462D-8484-162E133A7583}">
      <dsp:nvSpPr>
        <dsp:cNvPr id="0" name=""/>
        <dsp:cNvSpPr/>
      </dsp:nvSpPr>
      <dsp:spPr>
        <a:xfrm>
          <a:off x="1774766" y="1272599"/>
          <a:ext cx="1689250" cy="84839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9568" tIns="99568" rIns="99568" bIns="99568" numCol="1" spcCol="1270" anchor="t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ru-RU" sz="1400" kern="1200" dirty="0">
            <a:latin typeface="Unbounded Medium" pitchFamily="2" charset="-52"/>
            <a:cs typeface="Wix Madefor Display SemiBold" panose="020B0503020203020203" pitchFamily="34" charset="-52"/>
          </a:endParaRPr>
        </a:p>
      </dsp:txBody>
      <dsp:txXfrm>
        <a:off x="1774766" y="1272599"/>
        <a:ext cx="1689250" cy="848399"/>
      </dsp:txXfrm>
    </dsp:sp>
    <dsp:sp modelId="{262B059D-5AE4-4F28-AE00-70369AA00314}">
      <dsp:nvSpPr>
        <dsp:cNvPr id="0" name=""/>
        <dsp:cNvSpPr/>
      </dsp:nvSpPr>
      <dsp:spPr>
        <a:xfrm>
          <a:off x="2513341" y="954449"/>
          <a:ext cx="212099" cy="212099"/>
        </a:xfrm>
        <a:prstGeom prst="ellipse">
          <a:avLst/>
        </a:prstGeom>
        <a:noFill/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8924F09-77E3-4F93-9CFC-C83189BE752E}">
      <dsp:nvSpPr>
        <dsp:cNvPr id="0" name=""/>
        <dsp:cNvSpPr/>
      </dsp:nvSpPr>
      <dsp:spPr>
        <a:xfrm>
          <a:off x="3548479" y="0"/>
          <a:ext cx="1689250" cy="84839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9568" tIns="99568" rIns="99568" bIns="99568" numCol="1" spcCol="1270" anchor="b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ru-RU" sz="1400" kern="1200" dirty="0">
            <a:latin typeface="Unbounded Medium" pitchFamily="2" charset="-52"/>
            <a:cs typeface="Wix Madefor Display SemiBold" panose="020B0503020203020203" pitchFamily="34" charset="-52"/>
          </a:endParaRPr>
        </a:p>
      </dsp:txBody>
      <dsp:txXfrm>
        <a:off x="3548479" y="0"/>
        <a:ext cx="1689250" cy="848399"/>
      </dsp:txXfrm>
    </dsp:sp>
    <dsp:sp modelId="{14861258-B25B-44DB-9BF3-35337BB97F1E}">
      <dsp:nvSpPr>
        <dsp:cNvPr id="0" name=""/>
        <dsp:cNvSpPr/>
      </dsp:nvSpPr>
      <dsp:spPr>
        <a:xfrm>
          <a:off x="4287054" y="954449"/>
          <a:ext cx="212099" cy="212099"/>
        </a:xfrm>
        <a:prstGeom prst="ellipse">
          <a:avLst/>
        </a:prstGeom>
        <a:noFill/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7EDBE43-1A8E-46A4-AC79-5C57FCFB0390}">
      <dsp:nvSpPr>
        <dsp:cNvPr id="0" name=""/>
        <dsp:cNvSpPr/>
      </dsp:nvSpPr>
      <dsp:spPr>
        <a:xfrm>
          <a:off x="5322191" y="1272599"/>
          <a:ext cx="1689250" cy="84839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9568" tIns="99568" rIns="99568" bIns="99568" numCol="1" spcCol="1270" anchor="t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ru-RU" sz="1400" kern="1200" dirty="0">
            <a:latin typeface="Unbounded Medium" pitchFamily="2" charset="-52"/>
            <a:cs typeface="Wix Madefor Display SemiBold" panose="020B0503020203020203" pitchFamily="34" charset="-52"/>
          </a:endParaRPr>
        </a:p>
      </dsp:txBody>
      <dsp:txXfrm>
        <a:off x="5322191" y="1272599"/>
        <a:ext cx="1689250" cy="848399"/>
      </dsp:txXfrm>
    </dsp:sp>
    <dsp:sp modelId="{68F82039-05DF-4105-9F89-7CD890C618F4}">
      <dsp:nvSpPr>
        <dsp:cNvPr id="0" name=""/>
        <dsp:cNvSpPr/>
      </dsp:nvSpPr>
      <dsp:spPr>
        <a:xfrm>
          <a:off x="6060766" y="954449"/>
          <a:ext cx="212099" cy="212099"/>
        </a:xfrm>
        <a:prstGeom prst="ellipse">
          <a:avLst/>
        </a:prstGeom>
        <a:noFill/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3183C24-E580-42E5-AAEB-9858E9DBAAB7}">
      <dsp:nvSpPr>
        <dsp:cNvPr id="0" name=""/>
        <dsp:cNvSpPr/>
      </dsp:nvSpPr>
      <dsp:spPr>
        <a:xfrm>
          <a:off x="7095904" y="0"/>
          <a:ext cx="1689250" cy="84839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9568" tIns="99568" rIns="99568" bIns="99568" numCol="1" spcCol="1270" anchor="b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ru-RU" sz="1400" kern="1200" dirty="0">
            <a:latin typeface="Unbounded Medium" pitchFamily="2" charset="-52"/>
            <a:cs typeface="Wix Madefor Display SemiBold" panose="020B0503020203020203" pitchFamily="34" charset="-52"/>
          </a:endParaRPr>
        </a:p>
      </dsp:txBody>
      <dsp:txXfrm>
        <a:off x="7095904" y="0"/>
        <a:ext cx="1689250" cy="848399"/>
      </dsp:txXfrm>
    </dsp:sp>
    <dsp:sp modelId="{F7182513-2A9C-4734-B895-09536018C630}">
      <dsp:nvSpPr>
        <dsp:cNvPr id="0" name=""/>
        <dsp:cNvSpPr/>
      </dsp:nvSpPr>
      <dsp:spPr>
        <a:xfrm>
          <a:off x="7834479" y="954449"/>
          <a:ext cx="212099" cy="212099"/>
        </a:xfrm>
        <a:prstGeom prst="ellipse">
          <a:avLst/>
        </a:prstGeom>
        <a:noFill/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70F8EAE-07ED-43F9-AA0F-1E49BB9F3327}">
      <dsp:nvSpPr>
        <dsp:cNvPr id="0" name=""/>
        <dsp:cNvSpPr/>
      </dsp:nvSpPr>
      <dsp:spPr>
        <a:xfrm>
          <a:off x="8869616" y="1272599"/>
          <a:ext cx="1689250" cy="84839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9568" tIns="99568" rIns="99568" bIns="99568" numCol="1" spcCol="1270" anchor="t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ru-RU" sz="1400" kern="1200" dirty="0">
            <a:latin typeface="Unbounded Medium" pitchFamily="2" charset="-52"/>
            <a:cs typeface="Wix Madefor Display SemiBold" panose="020B0503020203020203" pitchFamily="34" charset="-52"/>
          </a:endParaRPr>
        </a:p>
      </dsp:txBody>
      <dsp:txXfrm>
        <a:off x="8869616" y="1272599"/>
        <a:ext cx="1689250" cy="848399"/>
      </dsp:txXfrm>
    </dsp:sp>
    <dsp:sp modelId="{EE592F79-D54C-4AD3-BFBE-A9D493D3797A}">
      <dsp:nvSpPr>
        <dsp:cNvPr id="0" name=""/>
        <dsp:cNvSpPr/>
      </dsp:nvSpPr>
      <dsp:spPr>
        <a:xfrm>
          <a:off x="9608191" y="954449"/>
          <a:ext cx="212099" cy="212099"/>
        </a:xfrm>
        <a:prstGeom prst="ellipse">
          <a:avLst/>
        </a:prstGeom>
        <a:noFill/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917A7A3-B923-4C0A-B478-5A2EE5CD6081}">
      <dsp:nvSpPr>
        <dsp:cNvPr id="0" name=""/>
        <dsp:cNvSpPr/>
      </dsp:nvSpPr>
      <dsp:spPr>
        <a:xfrm>
          <a:off x="10643329" y="0"/>
          <a:ext cx="1689250" cy="84839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3792" tIns="113792" rIns="113792" bIns="113792" numCol="1" spcCol="1270" anchor="b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1" kern="1200" dirty="0">
              <a:solidFill>
                <a:srgbClr val="000000">
                  <a:hueOff val="0"/>
                  <a:satOff val="0"/>
                  <a:lumOff val="0"/>
                  <a:alphaOff val="0"/>
                </a:srgbClr>
              </a:solidFill>
              <a:latin typeface="Unbounded Medium" pitchFamily="2" charset="-52"/>
              <a:ea typeface="+mn-ea"/>
              <a:cs typeface="Wix Madefor Display SemiBold" panose="020B0503020203020203" pitchFamily="34" charset="-52"/>
            </a:rPr>
            <a:t>2030</a:t>
          </a:r>
          <a:endParaRPr lang="ru-RU" sz="1600" b="1" kern="1200" dirty="0">
            <a:solidFill>
              <a:srgbClr val="000000">
                <a:hueOff val="0"/>
                <a:satOff val="0"/>
                <a:lumOff val="0"/>
                <a:alphaOff val="0"/>
              </a:srgbClr>
            </a:solidFill>
            <a:latin typeface="Unbounded Medium" pitchFamily="2" charset="-52"/>
            <a:ea typeface="+mn-ea"/>
            <a:cs typeface="Wix Madefor Display SemiBold" panose="020B0503020203020203" pitchFamily="34" charset="-52"/>
          </a:endParaRPr>
        </a:p>
      </dsp:txBody>
      <dsp:txXfrm>
        <a:off x="10643329" y="0"/>
        <a:ext cx="1689250" cy="848399"/>
      </dsp:txXfrm>
    </dsp:sp>
    <dsp:sp modelId="{1BBD324A-DB21-48BA-BFFD-9F0130395B3C}">
      <dsp:nvSpPr>
        <dsp:cNvPr id="0" name=""/>
        <dsp:cNvSpPr/>
      </dsp:nvSpPr>
      <dsp:spPr>
        <a:xfrm>
          <a:off x="11381904" y="954449"/>
          <a:ext cx="212099" cy="212099"/>
        </a:xfrm>
        <a:prstGeom prst="ellipse">
          <a:avLst/>
        </a:prstGeom>
        <a:solidFill>
          <a:schemeClr val="accent1">
            <a:alpha val="90000"/>
            <a:hueOff val="0"/>
            <a:satOff val="0"/>
            <a:lumOff val="0"/>
            <a:alphaOff val="-4000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Process11">
  <dgm:title val=""/>
  <dgm:desc val=""/>
  <dgm:catLst>
    <dgm:cat type="process" pri="8000"/>
    <dgm:cat type="convert" pri="14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alg type="composite"/>
    <dgm:shape xmlns:r="http://schemas.openxmlformats.org/officeDocument/2006/relationships" r:blip="">
      <dgm:adjLst/>
    </dgm:shape>
    <dgm:presOf/>
    <dgm:choose name="Name1">
      <dgm:if name="Name2" func="var" arg="dir" op="equ" val="norm">
        <dgm:constrLst>
          <dgm:constr type="w" for="ch" forName="arrow" refType="w"/>
          <dgm:constr type="h" for="ch" forName="arrow" refType="h" fact="0.4"/>
          <dgm:constr type="ctrY" for="ch" forName="arrow" refType="h" fact="0.5"/>
          <dgm:constr type="l" for="ch" forName="arrow"/>
          <dgm:constr type="w" for="ch" forName="points" refType="w" fact="0.9"/>
          <dgm:constr type="h" for="ch" forName="points" refType="h"/>
          <dgm:constr type="t" for="ch" forName="points"/>
          <dgm:constr type="l" for="ch" forName="points"/>
        </dgm:constrLst>
      </dgm:if>
      <dgm:else name="Name3">
        <dgm:constrLst>
          <dgm:constr type="w" for="ch" forName="arrow" refType="w"/>
          <dgm:constr type="h" for="ch" forName="arrow" refType="h" fact="0.4"/>
          <dgm:constr type="ctrY" for="ch" forName="arrow" refType="h" fact="0.5"/>
          <dgm:constr type="r" for="ch" forName="arrow" refType="w"/>
          <dgm:constr type="w" for="ch" forName="points" refType="w" fact="0.9"/>
          <dgm:constr type="h" for="ch" forName="points" refType="h"/>
          <dgm:constr type="t" for="ch" forName="points"/>
          <dgm:constr type="r" for="ch" forName="points" refType="w"/>
        </dgm:constrLst>
      </dgm:else>
    </dgm:choose>
    <dgm:ruleLst/>
    <dgm:layoutNode name="arrow" styleLbl="bgShp">
      <dgm:alg type="sp"/>
      <dgm:choose name="Name4">
        <dgm:if name="Name5" func="var" arg="dir" op="equ" val="norm">
          <dgm:shape xmlns:r="http://schemas.openxmlformats.org/officeDocument/2006/relationships" type="notchedRightArrow" r:blip="">
            <dgm:adjLst/>
          </dgm:shape>
        </dgm:if>
        <dgm:else name="Name6">
          <dgm:shape xmlns:r="http://schemas.openxmlformats.org/officeDocument/2006/relationships" rot="180" type="notchedRightArrow" r:blip="">
            <dgm:adjLst/>
          </dgm:shape>
        </dgm:else>
      </dgm:choose>
      <dgm:presOf/>
      <dgm:constrLst/>
      <dgm:ruleLst/>
    </dgm:layoutNode>
    <dgm:layoutNode name="points">
      <dgm:choose name="Name7">
        <dgm:if name="Name8" func="var" arg="dir" op="equ" val="norm">
          <dgm:alg type="lin">
            <dgm:param type="linDir" val="fromL"/>
          </dgm:alg>
        </dgm:if>
        <dgm:else name="Name9">
          <dgm:alg type="lin">
            <dgm:param type="linDir" val="from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w" for="ch" forName="compositeA" refType="w"/>
        <dgm:constr type="h" for="ch" forName="compositeA" refType="h"/>
        <dgm:constr type="w" for="ch" forName="compositeB" refType="w" refFor="ch" refForName="compositeA" op="equ"/>
        <dgm:constr type="h" for="ch" forName="compositeB" refType="h" refFor="ch" refForName="compositeA" op="equ"/>
        <dgm:constr type="primFontSz" for="des" ptType="node" op="equ" val="65"/>
        <dgm:constr type="w" for="ch" forName="space" refType="w" refFor="ch" refForName="compositeA" op="equ" fact="0.05"/>
      </dgm:constrLst>
      <dgm:ruleLst/>
      <dgm:forEach name="Name10" axis="ch" ptType="node">
        <dgm:choose name="Name11">
          <dgm:if name="Name12" axis="self" ptType="node" func="posOdd" op="equ" val="1">
            <dgm:layoutNode name="compositeA">
              <dgm:alg type="composite"/>
              <dgm:shape xmlns:r="http://schemas.openxmlformats.org/officeDocument/2006/relationships" r:blip="">
                <dgm:adjLst/>
              </dgm:shape>
              <dgm:presOf/>
              <dgm:constrLst>
                <dgm:constr type="w" for="ch" forName="textA" refType="w"/>
                <dgm:constr type="h" for="ch" forName="textA" refType="h" fact="0.4"/>
                <dgm:constr type="t" for="ch" forName="textA"/>
                <dgm:constr type="l" for="ch" forName="textA"/>
                <dgm:constr type="h" for="ch" forName="circleA" refType="h" fact="0.1"/>
                <dgm:constr type="h" for="ch" forName="circleA" refType="w" op="lte"/>
                <dgm:constr type="w" for="ch" forName="circleA" refType="h" refFor="ch" refForName="circleA" op="equ"/>
                <dgm:constr type="ctrY" for="ch" forName="circleA" refType="h" fact="0.5"/>
                <dgm:constr type="ctrX" for="ch" forName="circleA" refType="w" refFor="ch" refForName="textA" fact="0.5"/>
                <dgm:constr type="w" for="ch" forName="spaceA" refType="w"/>
                <dgm:constr type="h" for="ch" forName="spaceA" refType="h" fact="0.4"/>
                <dgm:constr type="b" for="ch" forName="spaceA" refType="h"/>
                <dgm:constr type="l" for="ch" forName="spaceA"/>
              </dgm:constrLst>
              <dgm:ruleLst/>
              <dgm:layoutNode name="textA" styleLbl="revTx">
                <dgm:varLst>
                  <dgm:bulletEnabled val="1"/>
                </dgm:varLst>
                <dgm:alg type="tx">
                  <dgm:param type="txAnchorVert" val="b"/>
                  <dgm:param type="txAnchorVertCh" val="b"/>
                  <dgm:param type="txAnchorHorzCh" val="ctr"/>
                </dgm:alg>
                <dgm:shape xmlns:r="http://schemas.openxmlformats.org/officeDocument/2006/relationships" type="rect" r:blip="">
                  <dgm:adjLst/>
                </dgm:shape>
                <dgm:presOf axis="desOrSelf" ptType="node"/>
                <dgm:constrLst/>
                <dgm:ruleLst>
                  <dgm:rule type="primFontSz" val="5" fact="NaN" max="NaN"/>
                </dgm:ruleLst>
              </dgm:layoutNode>
              <dgm:layoutNode name="circleA">
                <dgm:alg type="sp"/>
                <dgm:shape xmlns:r="http://schemas.openxmlformats.org/officeDocument/2006/relationships" type="ellipse" r:blip="">
                  <dgm:adjLst/>
                </dgm:shape>
                <dgm:presOf/>
                <dgm:constrLst/>
                <dgm:ruleLst/>
              </dgm:layoutNode>
              <dgm:layoutNode name="spaceA">
                <dgm:alg type="sp"/>
                <dgm:shape xmlns:r="http://schemas.openxmlformats.org/officeDocument/2006/relationships" r:blip="">
                  <dgm:adjLst/>
                </dgm:shape>
                <dgm:presOf/>
                <dgm:constrLst/>
                <dgm:ruleLst/>
              </dgm:layoutNode>
            </dgm:layoutNode>
          </dgm:if>
          <dgm:else name="Name13">
            <dgm:layoutNode name="compositeB">
              <dgm:alg type="composite"/>
              <dgm:shape xmlns:r="http://schemas.openxmlformats.org/officeDocument/2006/relationships" r:blip="">
                <dgm:adjLst/>
              </dgm:shape>
              <dgm:presOf/>
              <dgm:constrLst>
                <dgm:constr type="w" for="ch" forName="textB" refType="w"/>
                <dgm:constr type="h" for="ch" forName="textB" refType="h" fact="0.4"/>
                <dgm:constr type="b" for="ch" forName="textB" refType="h"/>
                <dgm:constr type="l" for="ch" forName="textB"/>
                <dgm:constr type="h" for="ch" forName="circleB" refType="h" fact="0.1"/>
                <dgm:constr type="w" for="ch" forName="circleB" refType="h" refFor="ch" refForName="circleB" op="equ"/>
                <dgm:constr type="h" for="ch" forName="circleB" refType="w" op="lte"/>
                <dgm:constr type="ctrY" for="ch" forName="circleB" refType="h" fact="0.5"/>
                <dgm:constr type="ctrX" for="ch" forName="circleB" refType="w" refFor="ch" refForName="textB" fact="0.5"/>
                <dgm:constr type="w" for="ch" forName="spaceB" refType="w"/>
                <dgm:constr type="h" for="ch" forName="spaceB" refType="h" fact="0.4"/>
                <dgm:constr type="t" for="ch" forName="spaceB"/>
                <dgm:constr type="l" for="ch" forName="spaceB"/>
              </dgm:constrLst>
              <dgm:ruleLst/>
              <dgm:layoutNode name="textB" styleLbl="revTx">
                <dgm:varLst>
                  <dgm:bulletEnabled val="1"/>
                </dgm:varLst>
                <dgm:alg type="tx">
                  <dgm:param type="txAnchorVert" val="t"/>
                  <dgm:param type="txAnchorVertCh" val="t"/>
                  <dgm:param type="txAnchorHorzCh" val="ctr"/>
                </dgm:alg>
                <dgm:shape xmlns:r="http://schemas.openxmlformats.org/officeDocument/2006/relationships" type="rect" r:blip="">
                  <dgm:adjLst/>
                </dgm:shape>
                <dgm:presOf axis="desOrSelf" ptType="node"/>
                <dgm:constrLst/>
                <dgm:ruleLst>
                  <dgm:rule type="primFontSz" val="5" fact="NaN" max="NaN"/>
                </dgm:ruleLst>
              </dgm:layoutNode>
              <dgm:layoutNode name="circleB">
                <dgm:alg type="sp"/>
                <dgm:shape xmlns:r="http://schemas.openxmlformats.org/officeDocument/2006/relationships" type="ellipse" r:blip="">
                  <dgm:adjLst/>
                </dgm:shape>
                <dgm:presOf/>
                <dgm:constrLst/>
                <dgm:ruleLst/>
              </dgm:layoutNode>
              <dgm:layoutNode name="spaceB">
                <dgm:alg type="sp"/>
                <dgm:shape xmlns:r="http://schemas.openxmlformats.org/officeDocument/2006/relationships" r:blip="">
                  <dgm:adjLst/>
                </dgm:shape>
                <dgm:presOf/>
                <dgm:constrLst/>
                <dgm:ruleLst/>
              </dgm:layoutNode>
            </dgm:layoutNode>
          </dgm:else>
        </dgm:choose>
        <dgm:forEach name="Name14" axis="followSib" ptType="sibTrans" cnt="1">
          <dgm:layoutNode name="space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forEach>
      </dgm:forEach>
    </dgm:layoutNode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hProcess11">
  <dgm:title val=""/>
  <dgm:desc val=""/>
  <dgm:catLst>
    <dgm:cat type="process" pri="8000"/>
    <dgm:cat type="convert" pri="14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alg type="composite"/>
    <dgm:shape xmlns:r="http://schemas.openxmlformats.org/officeDocument/2006/relationships" r:blip="">
      <dgm:adjLst/>
    </dgm:shape>
    <dgm:presOf/>
    <dgm:choose name="Name1">
      <dgm:if name="Name2" func="var" arg="dir" op="equ" val="norm">
        <dgm:constrLst>
          <dgm:constr type="w" for="ch" forName="arrow" refType="w"/>
          <dgm:constr type="h" for="ch" forName="arrow" refType="h" fact="0.4"/>
          <dgm:constr type="ctrY" for="ch" forName="arrow" refType="h" fact="0.5"/>
          <dgm:constr type="l" for="ch" forName="arrow"/>
          <dgm:constr type="w" for="ch" forName="points" refType="w" fact="0.9"/>
          <dgm:constr type="h" for="ch" forName="points" refType="h"/>
          <dgm:constr type="t" for="ch" forName="points"/>
          <dgm:constr type="l" for="ch" forName="points"/>
        </dgm:constrLst>
      </dgm:if>
      <dgm:else name="Name3">
        <dgm:constrLst>
          <dgm:constr type="w" for="ch" forName="arrow" refType="w"/>
          <dgm:constr type="h" for="ch" forName="arrow" refType="h" fact="0.4"/>
          <dgm:constr type="ctrY" for="ch" forName="arrow" refType="h" fact="0.5"/>
          <dgm:constr type="r" for="ch" forName="arrow" refType="w"/>
          <dgm:constr type="w" for="ch" forName="points" refType="w" fact="0.9"/>
          <dgm:constr type="h" for="ch" forName="points" refType="h"/>
          <dgm:constr type="t" for="ch" forName="points"/>
          <dgm:constr type="r" for="ch" forName="points" refType="w"/>
        </dgm:constrLst>
      </dgm:else>
    </dgm:choose>
    <dgm:ruleLst/>
    <dgm:layoutNode name="arrow" styleLbl="bgShp">
      <dgm:alg type="sp"/>
      <dgm:choose name="Name4">
        <dgm:if name="Name5" func="var" arg="dir" op="equ" val="norm">
          <dgm:shape xmlns:r="http://schemas.openxmlformats.org/officeDocument/2006/relationships" type="notchedRightArrow" r:blip="">
            <dgm:adjLst/>
          </dgm:shape>
        </dgm:if>
        <dgm:else name="Name6">
          <dgm:shape xmlns:r="http://schemas.openxmlformats.org/officeDocument/2006/relationships" rot="180" type="notchedRightArrow" r:blip="">
            <dgm:adjLst/>
          </dgm:shape>
        </dgm:else>
      </dgm:choose>
      <dgm:presOf/>
      <dgm:constrLst/>
      <dgm:ruleLst/>
    </dgm:layoutNode>
    <dgm:layoutNode name="points">
      <dgm:choose name="Name7">
        <dgm:if name="Name8" func="var" arg="dir" op="equ" val="norm">
          <dgm:alg type="lin">
            <dgm:param type="linDir" val="fromL"/>
          </dgm:alg>
        </dgm:if>
        <dgm:else name="Name9">
          <dgm:alg type="lin">
            <dgm:param type="linDir" val="from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w" for="ch" forName="compositeA" refType="w"/>
        <dgm:constr type="h" for="ch" forName="compositeA" refType="h"/>
        <dgm:constr type="w" for="ch" forName="compositeB" refType="w" refFor="ch" refForName="compositeA" op="equ"/>
        <dgm:constr type="h" for="ch" forName="compositeB" refType="h" refFor="ch" refForName="compositeA" op="equ"/>
        <dgm:constr type="primFontSz" for="des" ptType="node" op="equ" val="65"/>
        <dgm:constr type="w" for="ch" forName="space" refType="w" refFor="ch" refForName="compositeA" op="equ" fact="0.05"/>
      </dgm:constrLst>
      <dgm:ruleLst/>
      <dgm:forEach name="Name10" axis="ch" ptType="node">
        <dgm:choose name="Name11">
          <dgm:if name="Name12" axis="self" ptType="node" func="posOdd" op="equ" val="1">
            <dgm:layoutNode name="compositeA">
              <dgm:alg type="composite"/>
              <dgm:shape xmlns:r="http://schemas.openxmlformats.org/officeDocument/2006/relationships" r:blip="">
                <dgm:adjLst/>
              </dgm:shape>
              <dgm:presOf/>
              <dgm:constrLst>
                <dgm:constr type="w" for="ch" forName="textA" refType="w"/>
                <dgm:constr type="h" for="ch" forName="textA" refType="h" fact="0.4"/>
                <dgm:constr type="t" for="ch" forName="textA"/>
                <dgm:constr type="l" for="ch" forName="textA"/>
                <dgm:constr type="h" for="ch" forName="circleA" refType="h" fact="0.1"/>
                <dgm:constr type="h" for="ch" forName="circleA" refType="w" op="lte"/>
                <dgm:constr type="w" for="ch" forName="circleA" refType="h" refFor="ch" refForName="circleA" op="equ"/>
                <dgm:constr type="ctrY" for="ch" forName="circleA" refType="h" fact="0.5"/>
                <dgm:constr type="ctrX" for="ch" forName="circleA" refType="w" refFor="ch" refForName="textA" fact="0.5"/>
                <dgm:constr type="w" for="ch" forName="spaceA" refType="w"/>
                <dgm:constr type="h" for="ch" forName="spaceA" refType="h" fact="0.4"/>
                <dgm:constr type="b" for="ch" forName="spaceA" refType="h"/>
                <dgm:constr type="l" for="ch" forName="spaceA"/>
              </dgm:constrLst>
              <dgm:ruleLst/>
              <dgm:layoutNode name="textA" styleLbl="revTx">
                <dgm:varLst>
                  <dgm:bulletEnabled val="1"/>
                </dgm:varLst>
                <dgm:alg type="tx">
                  <dgm:param type="txAnchorVert" val="b"/>
                  <dgm:param type="txAnchorVertCh" val="b"/>
                  <dgm:param type="txAnchorHorzCh" val="ctr"/>
                </dgm:alg>
                <dgm:shape xmlns:r="http://schemas.openxmlformats.org/officeDocument/2006/relationships" type="rect" r:blip="">
                  <dgm:adjLst/>
                </dgm:shape>
                <dgm:presOf axis="desOrSelf" ptType="node"/>
                <dgm:constrLst/>
                <dgm:ruleLst>
                  <dgm:rule type="primFontSz" val="5" fact="NaN" max="NaN"/>
                </dgm:ruleLst>
              </dgm:layoutNode>
              <dgm:layoutNode name="circleA">
                <dgm:alg type="sp"/>
                <dgm:shape xmlns:r="http://schemas.openxmlformats.org/officeDocument/2006/relationships" type="ellipse" r:blip="">
                  <dgm:adjLst/>
                </dgm:shape>
                <dgm:presOf/>
                <dgm:constrLst/>
                <dgm:ruleLst/>
              </dgm:layoutNode>
              <dgm:layoutNode name="spaceA">
                <dgm:alg type="sp"/>
                <dgm:shape xmlns:r="http://schemas.openxmlformats.org/officeDocument/2006/relationships" r:blip="">
                  <dgm:adjLst/>
                </dgm:shape>
                <dgm:presOf/>
                <dgm:constrLst/>
                <dgm:ruleLst/>
              </dgm:layoutNode>
            </dgm:layoutNode>
          </dgm:if>
          <dgm:else name="Name13">
            <dgm:layoutNode name="compositeB">
              <dgm:alg type="composite"/>
              <dgm:shape xmlns:r="http://schemas.openxmlformats.org/officeDocument/2006/relationships" r:blip="">
                <dgm:adjLst/>
              </dgm:shape>
              <dgm:presOf/>
              <dgm:constrLst>
                <dgm:constr type="w" for="ch" forName="textB" refType="w"/>
                <dgm:constr type="h" for="ch" forName="textB" refType="h" fact="0.4"/>
                <dgm:constr type="b" for="ch" forName="textB" refType="h"/>
                <dgm:constr type="l" for="ch" forName="textB"/>
                <dgm:constr type="h" for="ch" forName="circleB" refType="h" fact="0.1"/>
                <dgm:constr type="w" for="ch" forName="circleB" refType="h" refFor="ch" refForName="circleB" op="equ"/>
                <dgm:constr type="h" for="ch" forName="circleB" refType="w" op="lte"/>
                <dgm:constr type="ctrY" for="ch" forName="circleB" refType="h" fact="0.5"/>
                <dgm:constr type="ctrX" for="ch" forName="circleB" refType="w" refFor="ch" refForName="textB" fact="0.5"/>
                <dgm:constr type="w" for="ch" forName="spaceB" refType="w"/>
                <dgm:constr type="h" for="ch" forName="spaceB" refType="h" fact="0.4"/>
                <dgm:constr type="t" for="ch" forName="spaceB"/>
                <dgm:constr type="l" for="ch" forName="spaceB"/>
              </dgm:constrLst>
              <dgm:ruleLst/>
              <dgm:layoutNode name="textB" styleLbl="revTx">
                <dgm:varLst>
                  <dgm:bulletEnabled val="1"/>
                </dgm:varLst>
                <dgm:alg type="tx">
                  <dgm:param type="txAnchorVert" val="t"/>
                  <dgm:param type="txAnchorVertCh" val="t"/>
                  <dgm:param type="txAnchorHorzCh" val="ctr"/>
                </dgm:alg>
                <dgm:shape xmlns:r="http://schemas.openxmlformats.org/officeDocument/2006/relationships" type="rect" r:blip="">
                  <dgm:adjLst/>
                </dgm:shape>
                <dgm:presOf axis="desOrSelf" ptType="node"/>
                <dgm:constrLst/>
                <dgm:ruleLst>
                  <dgm:rule type="primFontSz" val="5" fact="NaN" max="NaN"/>
                </dgm:ruleLst>
              </dgm:layoutNode>
              <dgm:layoutNode name="circleB">
                <dgm:alg type="sp"/>
                <dgm:shape xmlns:r="http://schemas.openxmlformats.org/officeDocument/2006/relationships" type="ellipse" r:blip="">
                  <dgm:adjLst/>
                </dgm:shape>
                <dgm:presOf/>
                <dgm:constrLst/>
                <dgm:ruleLst/>
              </dgm:layoutNode>
              <dgm:layoutNode name="spaceB">
                <dgm:alg type="sp"/>
                <dgm:shape xmlns:r="http://schemas.openxmlformats.org/officeDocument/2006/relationships" r:blip="">
                  <dgm:adjLst/>
                </dgm:shape>
                <dgm:presOf/>
                <dgm:constrLst/>
                <dgm:ruleLst/>
              </dgm:layoutNode>
            </dgm:layoutNode>
          </dgm:else>
        </dgm:choose>
        <dgm:forEach name="Name14" axis="followSib" ptType="sibTrans" cnt="1">
          <dgm:layoutNode name="space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forEach>
      </dgm:forEach>
    </dgm:layoutNod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>
            <a:extLst>
              <a:ext uri="{FF2B5EF4-FFF2-40B4-BE49-F238E27FC236}">
                <a16:creationId xmlns:a16="http://schemas.microsoft.com/office/drawing/2014/main" id="{BAA38FD0-1C7E-4B14-B500-0FA967FD3E4E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6400" cy="4968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C32047A3-7BFC-4694-9DD2-5DBB4F031DAB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49688" y="0"/>
            <a:ext cx="2946400" cy="4968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779A1FF-5275-47A2-8965-91FBA58C80C1}" type="datetimeFigureOut">
              <a:rPr lang="ru-RU" smtClean="0"/>
              <a:t>26.11.2024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54416034-E22B-4114-B215-41658F5880E7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9429750"/>
            <a:ext cx="2946400" cy="49688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ru-RU"/>
              <a:t>111111111</a:t>
            </a:r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03534A03-F7B1-4AB0-852E-400D3B459EEC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49688" y="9429750"/>
            <a:ext cx="2946400" cy="49688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2500478-2519-4E5A-BFBB-3F0217F1188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92565047"/>
      </p:ext>
    </p:extLst>
  </p:cSld>
  <p:clrMap bg1="lt1" tx1="dk1" bg2="lt2" tx2="dk2" accent1="accent1" accent2="accent2" accent3="accent3" accent4="accent4" accent5="accent5" accent6="accent6" hlink="hlink" folHlink="folHlink"/>
  <p:hf sldNum="0" hdr="0" dt="0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33150" y="744475"/>
            <a:ext cx="4532000" cy="37224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79750" y="4715125"/>
            <a:ext cx="5438125" cy="44669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hf sldNum="0" hdr="0" dt="0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-620713" y="0"/>
            <a:ext cx="4241801" cy="30003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1" name="Google Shape;11;p1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9225" tIns="29600" rIns="59225" bIns="296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768350" y="744538"/>
            <a:ext cx="5262563" cy="3722687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 lIns="59248" tIns="29624" rIns="59248" bIns="29624"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5009274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768350" y="744538"/>
            <a:ext cx="5262563" cy="3722687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 lIns="59248" tIns="29624" rIns="59248" bIns="29624"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758853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768350" y="744538"/>
            <a:ext cx="5262563" cy="3722687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 lIns="59248" tIns="29624" rIns="59248" bIns="29624"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5468171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768350" y="744538"/>
            <a:ext cx="5262563" cy="3722687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 lIns="59248" tIns="29624" rIns="59248" bIns="29624"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2918331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768350" y="744538"/>
            <a:ext cx="5262563" cy="3722687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 lIns="59248" tIns="29624" rIns="59248" bIns="29624"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4625502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768350" y="744538"/>
            <a:ext cx="5262563" cy="3722687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 lIns="59248" tIns="29624" rIns="59248" bIns="29624"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4927414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768350" y="744538"/>
            <a:ext cx="5262563" cy="3722687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 lIns="59248" tIns="29624" rIns="59248" bIns="29624"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4134008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768350" y="744538"/>
            <a:ext cx="5262563" cy="3722687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 lIns="59248" tIns="29624" rIns="59248" bIns="29624"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3325022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768350" y="744538"/>
            <a:ext cx="5262563" cy="3722687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 lIns="59248" tIns="29624" rIns="59248" bIns="29624"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8056793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768350" y="744538"/>
            <a:ext cx="5262563" cy="3722687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 lIns="59248" tIns="29624" rIns="59248" bIns="29624"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3241874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768350" y="744538"/>
            <a:ext cx="5262563" cy="3722687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 lIns="59248" tIns="29624" rIns="59248" bIns="29624"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0470952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EFAULT">
  <p:cSld name="DEFAULT">
    <p:bg>
      <p:bgPr>
        <a:solidFill>
          <a:schemeClr val="lt1"/>
        </a:solidFill>
        <a:effectLst/>
      </p:bgPr>
    </p:bg>
    <p:spTree>
      <p:nvGrpSpPr>
        <p:cNvPr id="1" name="Shape 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Номер слайда 3">
            <a:extLst>
              <a:ext uri="{FF2B5EF4-FFF2-40B4-BE49-F238E27FC236}">
                <a16:creationId xmlns:a16="http://schemas.microsoft.com/office/drawing/2014/main" id="{94A8B559-1BA2-4571-96D5-5743683B7B2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3677906" y="10226562"/>
            <a:ext cx="755650" cy="24622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>
            <a:lvl1pPr>
              <a:defRPr kumimoji="0" lang="ru-RU" sz="1600" kern="1200" spc="0" normalizeH="0" baseline="0" smtClean="0">
                <a:ln>
                  <a:noFill/>
                </a:ln>
                <a:solidFill>
                  <a:schemeClr val="bg1">
                    <a:lumMod val="75000"/>
                  </a:schemeClr>
                </a:solidFill>
                <a:effectLst/>
                <a:uLnTx/>
                <a:uFillTx/>
                <a:latin typeface="Unbounded Light" pitchFamily="2" charset="-52"/>
                <a:ea typeface="Unbounded Light" pitchFamily="2" charset="-52"/>
                <a:cs typeface="Unbounded Light" pitchFamily="2" charset="-52"/>
              </a:defRPr>
            </a:lvl1pPr>
          </a:lstStyle>
          <a:p>
            <a:pPr algn="r">
              <a:buClrTx/>
              <a:buFontTx/>
              <a:buNone/>
            </a:pPr>
            <a:fld id="{39FD2042-F21C-415A-9EA3-4A549B5658B7}" type="slidenum">
              <a:rPr lang="ru-RU" smtClean="0"/>
              <a:pPr algn="r">
                <a:buClrTx/>
                <a:buFontTx/>
                <a:buNone/>
              </a:pPr>
              <a:t>‹#›</a:t>
            </a:fld>
            <a:endParaRPr lang="ru-RU" dirty="0"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366" userDrawn="1">
          <p15:clr>
            <a:srgbClr val="FBAE40"/>
          </p15:clr>
        </p15:guide>
        <p15:guide id="2" pos="4761" userDrawn="1">
          <p15:clr>
            <a:srgbClr val="FBAE40"/>
          </p15:clr>
        </p15:guide>
      </p15:sldGuideLst>
    </p:ext>
  </p:extLst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71D18CF5-FB04-464E-A6B6-FC26E41968BA}"/>
              </a:ext>
            </a:extLst>
          </p:cNvPr>
          <p:cNvSpPr txBox="1"/>
          <p:nvPr userDrawn="1"/>
        </p:nvSpPr>
        <p:spPr>
          <a:xfrm>
            <a:off x="14442918" y="10226562"/>
            <a:ext cx="424021" cy="24622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algn="r">
              <a:buClrTx/>
              <a:buFontTx/>
              <a:buNone/>
              <a:defRPr kumimoji="0" sz="1600" kern="1200" spc="0" normalizeH="0" baseline="0">
                <a:ln>
                  <a:noFill/>
                </a:ln>
                <a:solidFill>
                  <a:schemeClr val="bg1">
                    <a:lumMod val="75000"/>
                  </a:schemeClr>
                </a:solidFill>
                <a:effectLst/>
                <a:uLnTx/>
                <a:uFillTx/>
                <a:latin typeface="Unbounded Light" pitchFamily="2" charset="-52"/>
                <a:ea typeface="Unbounded Light" pitchFamily="2" charset="-52"/>
                <a:cs typeface="Unbounded Light" pitchFamily="2" charset="-52"/>
              </a:defRPr>
            </a:lvl1pPr>
          </a:lstStyle>
          <a:p>
            <a:pPr lvl="0"/>
            <a:r>
              <a:rPr lang="ru-RU" dirty="0"/>
              <a:t>/39</a:t>
            </a: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7F1E1EF8-FB99-41BD-9BE3-F2C0F7D1305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3677906" y="10226562"/>
            <a:ext cx="755650" cy="24622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>
            <a:lvl1pPr>
              <a:defRPr kumimoji="0" lang="ru-RU" sz="1600" kern="1200" spc="0" normalizeH="0" baseline="0" smtClean="0">
                <a:ln>
                  <a:noFill/>
                </a:ln>
                <a:solidFill>
                  <a:schemeClr val="bg1">
                    <a:lumMod val="75000"/>
                  </a:schemeClr>
                </a:solidFill>
                <a:effectLst/>
                <a:uLnTx/>
                <a:uFillTx/>
                <a:latin typeface="Unbounded Light" pitchFamily="2" charset="-52"/>
                <a:ea typeface="Unbounded Light" pitchFamily="2" charset="-52"/>
                <a:cs typeface="Unbounded Light" pitchFamily="2" charset="-52"/>
              </a:defRPr>
            </a:lvl1pPr>
          </a:lstStyle>
          <a:p>
            <a:pPr algn="r">
              <a:buClrTx/>
              <a:buFontTx/>
              <a:buNone/>
            </a:pPr>
            <a:fld id="{39FD2042-F21C-415A-9EA3-4A549B5658B7}" type="slidenum">
              <a:rPr lang="ru-RU" smtClean="0"/>
              <a:pPr algn="r">
                <a:buClrTx/>
                <a:buFontTx/>
                <a:buNone/>
              </a:pPr>
              <a:t>‹#›</a:t>
            </a:fld>
            <a:endParaRPr lang="ru-RU" dirty="0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Relationship Id="rId4" Type="http://schemas.openxmlformats.org/officeDocument/2006/relationships/image" Target="../media/image2.sv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3.png"/><Relationship Id="rId4" Type="http://schemas.openxmlformats.org/officeDocument/2006/relationships/image" Target="../media/image4.svg"/><Relationship Id="rId5" Type="http://schemas.openxmlformats.org/officeDocument/2006/relationships/image" Target="../media/image5.png"/><Relationship Id="rId6" Type="http://schemas.openxmlformats.org/officeDocument/2006/relationships/image" Target="../media/image6.svg"/><Relationship Id="rId7" Type="http://schemas.openxmlformats.org/officeDocument/2006/relationships/image" Target="../media/image7.png"/><Relationship Id="rId8" Type="http://schemas.openxmlformats.org/officeDocument/2006/relationships/image" Target="../media/image8.sv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chart" Target="../charts/chart1.xml"/><Relationship Id="rId4" Type="http://schemas.openxmlformats.org/officeDocument/2006/relationships/hyperlink" Target="https://www.statista.com/statistics/871513/worldwide-data-created/" TargetMode="External"/><Relationship Id="rId5" Type="http://schemas.openxmlformats.org/officeDocument/2006/relationships/chart" Target="../charts/char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chart" Target="../charts/chart3.xml"/><Relationship Id="rId4" Type="http://schemas.openxmlformats.org/officeDocument/2006/relationships/chart" Target="../charts/chart4.xml"/><Relationship Id="rId5" Type="http://schemas.openxmlformats.org/officeDocument/2006/relationships/hyperlink" Target="https://cloudscene.com/region/datacenters-in-europe#russia" TargetMode="External"/><Relationship Id="rId6" Type="http://schemas.openxmlformats.org/officeDocument/2006/relationships/hyperlink" Target="https://datareportal.com/reports/digital-2024-russian-federation" TargetMode="Externa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chart" Target="../charts/chart5.xml"/><Relationship Id="rId4" Type="http://schemas.openxmlformats.org/officeDocument/2006/relationships/diagramData" Target="../diagrams/data1.xml"/><Relationship Id="rId5" Type="http://schemas.openxmlformats.org/officeDocument/2006/relationships/diagramLayout" Target="../diagrams/layout1.xml"/><Relationship Id="rId6" Type="http://schemas.openxmlformats.org/officeDocument/2006/relationships/diagramQuickStyle" Target="../diagrams/quickStyle1.xml"/><Relationship Id="rId7" Type="http://schemas.openxmlformats.org/officeDocument/2006/relationships/diagramColors" Target="../diagrams/colors1.xml"/><Relationship Id="rId8" Type="http://schemas.microsoft.com/office/2007/relationships/diagramDrawing" Target="../diagrams/drawing1.xml"/><Relationship Id="rId9" Type="http://schemas.openxmlformats.org/officeDocument/2006/relationships/hyperlink" Target="https://www-file.huawei.com/-/media/corp2020/pdf/giv/intelligent_world_2030_en.pdf" TargetMode="External"/><Relationship Id="rId10" Type="http://schemas.openxmlformats.org/officeDocument/2006/relationships/hyperlink" Target="https://www.statista.com/forecasts/1474143/global-ai-market-size" TargetMode="Externa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diagramData" Target="../diagrams/data2.xml"/><Relationship Id="rId4" Type="http://schemas.openxmlformats.org/officeDocument/2006/relationships/diagramLayout" Target="../diagrams/layout2.xml"/><Relationship Id="rId5" Type="http://schemas.openxmlformats.org/officeDocument/2006/relationships/diagramQuickStyle" Target="../diagrams/quickStyle2.xml"/><Relationship Id="rId6" Type="http://schemas.openxmlformats.org/officeDocument/2006/relationships/diagramColors" Target="../diagrams/colors2.xml"/><Relationship Id="rId7" Type="http://schemas.microsoft.com/office/2007/relationships/diagramDrawing" Target="../diagrams/drawing2.xml"/><Relationship Id="rId8" Type="http://schemas.openxmlformats.org/officeDocument/2006/relationships/chart" Target="../charts/chart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9.png"/><Relationship Id="rId4" Type="http://schemas.openxmlformats.org/officeDocument/2006/relationships/image" Target="../media/image10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1.png"/><Relationship Id="rId4" Type="http://schemas.openxmlformats.org/officeDocument/2006/relationships/image" Target="../media/image12.jpg"/><Relationship Id="rId5" Type="http://schemas.openxmlformats.org/officeDocument/2006/relationships/image" Target="../media/image13.png"/><Relationship Id="rId6" Type="http://schemas.openxmlformats.org/officeDocument/2006/relationships/image" Target="../media/image14.png"/><Relationship Id="rId7" Type="http://schemas.openxmlformats.org/officeDocument/2006/relationships/image" Target="../media/image15.png"/><Relationship Id="rId8" Type="http://schemas.openxmlformats.org/officeDocument/2006/relationships/image" Target="../media/image16.png"/><Relationship Id="rId9" Type="http://schemas.openxmlformats.org/officeDocument/2006/relationships/image" Target="../media/image17.png"/><Relationship Id="rId10" Type="http://schemas.openxmlformats.org/officeDocument/2006/relationships/chart" Target="../charts/char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2.jpg"/><Relationship Id="rId4" Type="http://schemas.openxmlformats.org/officeDocument/2006/relationships/image" Target="../media/image13.png"/><Relationship Id="rId5" Type="http://schemas.openxmlformats.org/officeDocument/2006/relationships/image" Target="../media/image15.png"/><Relationship Id="rId6" Type="http://schemas.openxmlformats.org/officeDocument/2006/relationships/image" Target="../media/image18.png"/><Relationship Id="rId7" Type="http://schemas.openxmlformats.org/officeDocument/2006/relationships/image" Target="../media/image19.png"/><Relationship Id="rId8" Type="http://schemas.openxmlformats.org/officeDocument/2006/relationships/chart" Target="../charts/chart8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20.png"/><Relationship Id="rId4" Type="http://schemas.openxmlformats.org/officeDocument/2006/relationships/image" Target="../media/image11.png"/><Relationship Id="rId5" Type="http://schemas.openxmlformats.org/officeDocument/2006/relationships/image" Target="../media/image13.png"/><Relationship Id="rId6" Type="http://schemas.openxmlformats.org/officeDocument/2006/relationships/image" Target="../media/image14.png"/><Relationship Id="rId7" Type="http://schemas.openxmlformats.org/officeDocument/2006/relationships/image" Target="../media/image21.png"/><Relationship Id="rId8" Type="http://schemas.openxmlformats.org/officeDocument/2006/relationships/image" Target="../media/image22.png"/><Relationship Id="rId9" Type="http://schemas.openxmlformats.org/officeDocument/2006/relationships/image" Target="../media/image23.png"/><Relationship Id="rId10" Type="http://schemas.microsoft.com/office/2007/relationships/hdphoto" Target="../media/hdphoto1.wdp"/><Relationship Id="rId11" Type="http://schemas.openxmlformats.org/officeDocument/2006/relationships/image" Target="../media/image24.jpg"/><Relationship Id="rId12" Type="http://schemas.openxmlformats.org/officeDocument/2006/relationships/image" Target="../media/image25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22.png"/><Relationship Id="rId4" Type="http://schemas.openxmlformats.org/officeDocument/2006/relationships/image" Target="../media/image26.png"/><Relationship Id="rId5" Type="http://schemas.openxmlformats.org/officeDocument/2006/relationships/image" Target="../media/image27.png"/><Relationship Id="rId6" Type="http://schemas.openxmlformats.org/officeDocument/2006/relationships/image" Target="../media/image28.jpg"/><Relationship Id="rId7" Type="http://schemas.openxmlformats.org/officeDocument/2006/relationships/image" Target="../media/image24.jpg"/><Relationship Id="rId8" Type="http://schemas.openxmlformats.org/officeDocument/2006/relationships/image" Target="../media/image11.png"/><Relationship Id="rId9" Type="http://schemas.openxmlformats.org/officeDocument/2006/relationships/image" Target="../media/image13.png"/><Relationship Id="rId10" Type="http://schemas.openxmlformats.org/officeDocument/2006/relationships/image" Target="../media/image29.png"/><Relationship Id="rId11" Type="http://schemas.openxmlformats.org/officeDocument/2006/relationships/chart" Target="../charts/chart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8453C"/>
        </a:solidFill>
        <a:effectLst/>
      </p:bgPr>
    </p:bg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Прямоугольник: скругленные углы 9">
            <a:extLst>
              <a:ext uri="{FF2B5EF4-FFF2-40B4-BE49-F238E27FC236}">
                <a16:creationId xmlns:a16="http://schemas.microsoft.com/office/drawing/2014/main" id="{80DC9D5C-23E7-4D7E-9307-ADA4CFA986F3}"/>
              </a:ext>
            </a:extLst>
          </p:cNvPr>
          <p:cNvSpPr/>
          <p:nvPr/>
        </p:nvSpPr>
        <p:spPr>
          <a:xfrm>
            <a:off x="0" y="0"/>
            <a:ext cx="15116175" cy="10687050"/>
          </a:xfrm>
          <a:prstGeom prst="roundRect">
            <a:avLst>
              <a:gd name="adj" fmla="val 0"/>
            </a:avLst>
          </a:prstGeom>
          <a:solidFill>
            <a:srgbClr val="0F24E7"/>
          </a:solidFill>
          <a:ln w="762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2" name="Прямоугольник: скругленные углы 1">
            <a:extLst>
              <a:ext uri="{FF2B5EF4-FFF2-40B4-BE49-F238E27FC236}">
                <a16:creationId xmlns:a16="http://schemas.microsoft.com/office/drawing/2014/main" id="{3A3B924F-212D-4543-9050-48D44D3995F9}"/>
              </a:ext>
            </a:extLst>
          </p:cNvPr>
          <p:cNvSpPr/>
          <p:nvPr/>
        </p:nvSpPr>
        <p:spPr>
          <a:xfrm>
            <a:off x="249238" y="424516"/>
            <a:ext cx="4281714" cy="9791700"/>
          </a:xfrm>
          <a:prstGeom prst="roundRect">
            <a:avLst/>
          </a:prstGeom>
          <a:solidFill>
            <a:srgbClr val="818CF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6" name="Прямоугольник: скругленные углы 5">
            <a:extLst>
              <a:ext uri="{FF2B5EF4-FFF2-40B4-BE49-F238E27FC236}">
                <a16:creationId xmlns:a16="http://schemas.microsoft.com/office/drawing/2014/main" id="{509D7981-2CCE-4685-9CDA-508813E05E7F}"/>
              </a:ext>
            </a:extLst>
          </p:cNvPr>
          <p:cNvSpPr/>
          <p:nvPr/>
        </p:nvSpPr>
        <p:spPr>
          <a:xfrm>
            <a:off x="1870299" y="424516"/>
            <a:ext cx="4281714" cy="9791700"/>
          </a:xfrm>
          <a:prstGeom prst="roundRect">
            <a:avLst/>
          </a:prstGeom>
          <a:solidFill>
            <a:srgbClr val="D8DFFF"/>
          </a:solidFill>
          <a:ln w="76200">
            <a:solidFill>
              <a:srgbClr val="0F24E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7" name="Прямоугольник: скругленные углы 6">
            <a:extLst>
              <a:ext uri="{FF2B5EF4-FFF2-40B4-BE49-F238E27FC236}">
                <a16:creationId xmlns:a16="http://schemas.microsoft.com/office/drawing/2014/main" id="{DDEDFE77-4463-4E62-AF8C-D852B3CB19D3}"/>
              </a:ext>
            </a:extLst>
          </p:cNvPr>
          <p:cNvSpPr/>
          <p:nvPr/>
        </p:nvSpPr>
        <p:spPr>
          <a:xfrm>
            <a:off x="3586622" y="424516"/>
            <a:ext cx="4281714" cy="9791700"/>
          </a:xfrm>
          <a:prstGeom prst="roundRect">
            <a:avLst/>
          </a:prstGeom>
          <a:solidFill>
            <a:srgbClr val="FFFFFF"/>
          </a:solidFill>
          <a:ln w="76200">
            <a:solidFill>
              <a:srgbClr val="0F24E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8" name="Прямоугольник: скругленные углы 7">
            <a:extLst>
              <a:ext uri="{FF2B5EF4-FFF2-40B4-BE49-F238E27FC236}">
                <a16:creationId xmlns:a16="http://schemas.microsoft.com/office/drawing/2014/main" id="{56DC617F-2C5A-4E0F-BACE-526F53318DCC}"/>
              </a:ext>
            </a:extLst>
          </p:cNvPr>
          <p:cNvSpPr/>
          <p:nvPr/>
        </p:nvSpPr>
        <p:spPr>
          <a:xfrm>
            <a:off x="5221002" y="470834"/>
            <a:ext cx="9659255" cy="9705853"/>
          </a:xfrm>
          <a:prstGeom prst="roundRect">
            <a:avLst>
              <a:gd name="adj" fmla="val 5991"/>
            </a:avLst>
          </a:prstGeom>
          <a:solidFill>
            <a:srgbClr val="0F24E7"/>
          </a:solidFill>
          <a:ln w="762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5" name="Google Shape;15;p1"/>
          <p:cNvSpPr/>
          <p:nvPr/>
        </p:nvSpPr>
        <p:spPr>
          <a:xfrm>
            <a:off x="6210300" y="1353963"/>
            <a:ext cx="8643317" cy="47705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6200" b="0" i="0" u="none" strike="noStrike" cap="none" dirty="0">
                <a:solidFill>
                  <a:srgbClr val="FFFFFF"/>
                </a:solidFill>
                <a:latin typeface="Unbounded Light"/>
                <a:ea typeface="Unbounded Light"/>
                <a:cs typeface="Unbounded Light"/>
                <a:sym typeface="Unbounded"/>
              </a:rPr>
              <a:t>Вычислительные мощности</a:t>
            </a: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ru-RU" sz="6200" dirty="0">
              <a:solidFill>
                <a:srgbClr val="FFFFFF"/>
              </a:solidFill>
              <a:latin typeface="Unbounded Light"/>
              <a:ea typeface="Calibri"/>
              <a:cs typeface="Calibri"/>
              <a:sym typeface="Unbounded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6200" dirty="0">
                <a:solidFill>
                  <a:srgbClr val="FFFFFF"/>
                </a:solidFill>
                <a:latin typeface="Unbounded Light"/>
                <a:ea typeface="Calibri"/>
                <a:cs typeface="Calibri"/>
                <a:sym typeface="Unbounded"/>
              </a:rPr>
              <a:t>Мировой опыт </a:t>
            </a:r>
            <a:br>
              <a:rPr lang="ru-RU" sz="6200" dirty="0">
                <a:solidFill>
                  <a:srgbClr val="FFFFFF"/>
                </a:solidFill>
                <a:latin typeface="Unbounded Light"/>
                <a:ea typeface="Calibri"/>
                <a:cs typeface="Calibri"/>
                <a:sym typeface="Unbounded"/>
              </a:rPr>
            </a:br>
            <a:r>
              <a:rPr lang="ru-RU" sz="6200" dirty="0">
                <a:solidFill>
                  <a:srgbClr val="FFFFFF"/>
                </a:solidFill>
                <a:latin typeface="Unbounded Light"/>
                <a:ea typeface="Calibri"/>
                <a:cs typeface="Calibri"/>
                <a:sym typeface="Unbounded"/>
              </a:rPr>
              <a:t>и опыт ДИТ</a:t>
            </a:r>
            <a:endParaRPr sz="62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" name="Google Shape;16;p1"/>
          <p:cNvSpPr/>
          <p:nvPr/>
        </p:nvSpPr>
        <p:spPr>
          <a:xfrm>
            <a:off x="7686177" y="7583121"/>
            <a:ext cx="6065148" cy="16619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dirty="0" err="1">
                <a:solidFill>
                  <a:srgbClr val="FFFFFF"/>
                </a:solidFill>
                <a:latin typeface="Wix Madefor Display"/>
                <a:ea typeface="Wix Madefor Display"/>
                <a:cs typeface="Wix Madefor Display"/>
                <a:sym typeface="Wix Madefor Display"/>
              </a:rPr>
              <a:t>Департамент</a:t>
            </a:r>
            <a:r>
              <a:rPr lang="en-US" sz="3600" dirty="0">
                <a:solidFill>
                  <a:srgbClr val="FFFFFF"/>
                </a:solidFill>
                <a:latin typeface="Wix Madefor Display"/>
                <a:ea typeface="Wix Madefor Display"/>
                <a:cs typeface="Wix Madefor Display"/>
                <a:sym typeface="Wix Madefor Display"/>
              </a:rPr>
              <a:t> </a:t>
            </a:r>
            <a:r>
              <a:rPr lang="en-US" sz="3600" dirty="0" err="1">
                <a:solidFill>
                  <a:srgbClr val="FFFFFF"/>
                </a:solidFill>
                <a:latin typeface="Wix Madefor Display"/>
                <a:ea typeface="Wix Madefor Display"/>
                <a:cs typeface="Wix Madefor Display"/>
                <a:sym typeface="Wix Madefor Display"/>
              </a:rPr>
              <a:t>информационных</a:t>
            </a:r>
            <a:r>
              <a:rPr lang="en-US" sz="3600" dirty="0">
                <a:solidFill>
                  <a:srgbClr val="FFFFFF"/>
                </a:solidFill>
                <a:latin typeface="Wix Madefor Display"/>
                <a:ea typeface="Wix Madefor Display"/>
                <a:cs typeface="Wix Madefor Display"/>
                <a:sym typeface="Wix Madefor Display"/>
              </a:rPr>
              <a:t> технологий</a:t>
            </a:r>
            <a:endParaRPr sz="36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" name="Прямоугольник: скругленные углы 8">
            <a:extLst>
              <a:ext uri="{FF2B5EF4-FFF2-40B4-BE49-F238E27FC236}">
                <a16:creationId xmlns:a16="http://schemas.microsoft.com/office/drawing/2014/main" id="{2A790AED-B9D9-4E8A-9772-17D0F603C25C}"/>
              </a:ext>
            </a:extLst>
          </p:cNvPr>
          <p:cNvSpPr/>
          <p:nvPr/>
        </p:nvSpPr>
        <p:spPr>
          <a:xfrm>
            <a:off x="5221002" y="470834"/>
            <a:ext cx="9632615" cy="9705853"/>
          </a:xfrm>
          <a:prstGeom prst="roundRect">
            <a:avLst>
              <a:gd name="adj" fmla="val 6115"/>
            </a:avLst>
          </a:prstGeom>
          <a:noFill/>
          <a:ln w="57150"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3DADACA1-4A73-75FB-C527-9D9A9340FA9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247275" y="7719060"/>
            <a:ext cx="813411" cy="1420373"/>
          </a:xfrm>
          <a:prstGeom prst="rect">
            <a:avLst/>
          </a:prstGeom>
        </p:spPr>
      </p:pic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E220AA6B-91E7-4837-ACA0-C882BD39B49A}"/>
              </a:ext>
            </a:extLst>
          </p:cNvPr>
          <p:cNvSpPr/>
          <p:nvPr/>
        </p:nvSpPr>
        <p:spPr>
          <a:xfrm>
            <a:off x="7558087" y="3611880"/>
            <a:ext cx="7102793" cy="1731644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>
                <a:solidFill>
                  <a:schemeClr val="tx1"/>
                </a:solidFill>
              </a:rPr>
              <a:t>Оформление в красном стиле</a:t>
            </a:r>
            <a:br>
              <a:rPr lang="ru-RU" dirty="0">
                <a:solidFill>
                  <a:schemeClr val="tx1"/>
                </a:solidFill>
              </a:rPr>
            </a:br>
            <a:br>
              <a:rPr lang="ru-RU" dirty="0">
                <a:solidFill>
                  <a:schemeClr val="tx1"/>
                </a:solidFill>
              </a:rPr>
            </a:br>
            <a:r>
              <a:rPr lang="ru-RU" dirty="0">
                <a:solidFill>
                  <a:schemeClr val="tx1"/>
                </a:solidFill>
              </a:rPr>
              <a:t>Все графики и диаграммы нам нужны в редактируемых форматах, не изображениями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Овал 8">
            <a:extLst>
              <a:ext uri="{FF2B5EF4-FFF2-40B4-BE49-F238E27FC236}">
                <a16:creationId xmlns:a16="http://schemas.microsoft.com/office/drawing/2014/main" id="{6D31DF59-B187-4C50-B30A-BE4E3BFDEC4F}"/>
              </a:ext>
            </a:extLst>
          </p:cNvPr>
          <p:cNvSpPr/>
          <p:nvPr/>
        </p:nvSpPr>
        <p:spPr>
          <a:xfrm>
            <a:off x="1945101" y="4364962"/>
            <a:ext cx="3753856" cy="3463589"/>
          </a:xfrm>
          <a:prstGeom prst="ellipse">
            <a:avLst/>
          </a:prstGeom>
          <a:noFill/>
          <a:ln w="19050">
            <a:solidFill>
              <a:srgbClr val="0F24E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24" name="Прямоугольник: скругленные углы 23">
            <a:extLst>
              <a:ext uri="{FF2B5EF4-FFF2-40B4-BE49-F238E27FC236}">
                <a16:creationId xmlns:a16="http://schemas.microsoft.com/office/drawing/2014/main" id="{41ACE53E-6A03-433B-AD2D-AC41793739DA}"/>
              </a:ext>
            </a:extLst>
          </p:cNvPr>
          <p:cNvSpPr/>
          <p:nvPr/>
        </p:nvSpPr>
        <p:spPr>
          <a:xfrm>
            <a:off x="7340669" y="4364962"/>
            <a:ext cx="2845766" cy="3463589"/>
          </a:xfrm>
          <a:prstGeom prst="roundRect">
            <a:avLst/>
          </a:prstGeom>
          <a:solidFill>
            <a:srgbClr val="E7E9F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id="{CADC82BF-0C89-400C-98F4-578F57BE9F4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9FD2042-F21C-415A-9EA3-4A549B5658B7}" type="slidenum">
              <a:rPr kumimoji="0" lang="ru-RU" sz="1600" b="0" i="0" u="none" strike="noStrike" kern="1200" cap="none" spc="0" normalizeH="0" baseline="0" noProof="0" smtClean="0">
                <a:ln>
                  <a:noFill/>
                </a:ln>
                <a:solidFill>
                  <a:srgbClr val="FFFFFF">
                    <a:lumMod val="75000"/>
                  </a:srgbClr>
                </a:solidFill>
                <a:effectLst/>
                <a:uLnTx/>
                <a:uFillTx/>
                <a:latin typeface="Unbounded Light" pitchFamily="2" charset="-52"/>
                <a:sym typeface="Arial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ru-RU" sz="1600" b="0" i="0" u="none" strike="noStrike" kern="1200" cap="none" spc="0" normalizeH="0" baseline="0" noProof="0" dirty="0">
              <a:ln>
                <a:noFill/>
              </a:ln>
              <a:solidFill>
                <a:srgbClr val="FFFFFF">
                  <a:lumMod val="75000"/>
                </a:srgbClr>
              </a:solidFill>
              <a:effectLst/>
              <a:uLnTx/>
              <a:uFillTx/>
              <a:latin typeface="Unbounded Light" pitchFamily="2" charset="-52"/>
              <a:sym typeface="Arial"/>
            </a:endParaRPr>
          </a:p>
        </p:txBody>
      </p:sp>
      <p:sp>
        <p:nvSpPr>
          <p:cNvPr id="7" name="Google Shape;1046;p21">
            <a:extLst>
              <a:ext uri="{FF2B5EF4-FFF2-40B4-BE49-F238E27FC236}">
                <a16:creationId xmlns:a16="http://schemas.microsoft.com/office/drawing/2014/main" id="{BF704CA4-FC90-0D7F-95E2-B0F309C793A4}"/>
              </a:ext>
            </a:extLst>
          </p:cNvPr>
          <p:cNvSpPr/>
          <p:nvPr/>
        </p:nvSpPr>
        <p:spPr>
          <a:xfrm>
            <a:off x="212724" y="266700"/>
            <a:ext cx="11991975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2300"/>
              <a:buFont typeface="Arial"/>
              <a:buNone/>
              <a:tabLst/>
              <a:defRPr/>
            </a:pPr>
            <a:r>
              <a:rPr kumimoji="0" lang="ru-RU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Unbounded Medium"/>
                <a:ea typeface="Unbounded Medium"/>
                <a:cs typeface="Unbounded Medium"/>
                <a:sym typeface="Unbounded Medium"/>
              </a:rPr>
              <a:t>Что такое «вычислительные мощности» и зачем они нужны</a:t>
            </a:r>
          </a:p>
        </p:txBody>
      </p:sp>
      <p:sp>
        <p:nvSpPr>
          <p:cNvPr id="5" name="Прямоугольник: скругленные углы 4">
            <a:extLst>
              <a:ext uri="{FF2B5EF4-FFF2-40B4-BE49-F238E27FC236}">
                <a16:creationId xmlns:a16="http://schemas.microsoft.com/office/drawing/2014/main" id="{999C5B8F-37A4-42DF-BF7D-897637058C03}"/>
              </a:ext>
            </a:extLst>
          </p:cNvPr>
          <p:cNvSpPr/>
          <p:nvPr/>
        </p:nvSpPr>
        <p:spPr>
          <a:xfrm>
            <a:off x="212724" y="816544"/>
            <a:ext cx="14388806" cy="1573729"/>
          </a:xfrm>
          <a:prstGeom prst="roundRect">
            <a:avLst>
              <a:gd name="adj" fmla="val 9260"/>
            </a:avLst>
          </a:prstGeom>
          <a:solidFill>
            <a:srgbClr val="D8DFFF">
              <a:alpha val="4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19604C3-9074-41DB-A70A-81E23E782872}"/>
              </a:ext>
            </a:extLst>
          </p:cNvPr>
          <p:cNvSpPr txBox="1"/>
          <p:nvPr/>
        </p:nvSpPr>
        <p:spPr>
          <a:xfrm>
            <a:off x="467831" y="934545"/>
            <a:ext cx="1368410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600" b="1" i="1" dirty="0">
                <a:latin typeface="HelveticaNeueCyr" panose="02000503040000020004" pitchFamily="2" charset="-52"/>
              </a:rPr>
              <a:t>«Вычислительные мощности» </a:t>
            </a:r>
            <a:r>
              <a:rPr lang="ru-RU" sz="1600" i="1" dirty="0">
                <a:latin typeface="HelveticaNeueCyr" panose="02000503040000020004" pitchFamily="2" charset="-52"/>
              </a:rPr>
              <a:t>– оборудование (серверы, процессоры и др.), которое используется для обработки, хранения информации, проведения вычислений</a:t>
            </a:r>
          </a:p>
        </p:txBody>
      </p:sp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EC4B865E-B2C4-4968-A4B1-81570D3D3E19}"/>
              </a:ext>
            </a:extLst>
          </p:cNvPr>
          <p:cNvSpPr/>
          <p:nvPr/>
        </p:nvSpPr>
        <p:spPr>
          <a:xfrm>
            <a:off x="467831" y="1656349"/>
            <a:ext cx="13376506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1600" b="1" i="1" dirty="0">
                <a:latin typeface="HelveticaNeueCyr" panose="02000503040000020004" pitchFamily="2" charset="-52"/>
              </a:rPr>
              <a:t>Производительность </a:t>
            </a:r>
            <a:r>
              <a:rPr lang="ru-RU" sz="1600" i="1" dirty="0">
                <a:latin typeface="HelveticaNeueCyr" panose="02000503040000020004" pitchFamily="2" charset="-52"/>
              </a:rPr>
              <a:t>– характеристика скорости выполнения операций на вычислительном оборудовании, измеряемая во </a:t>
            </a:r>
            <a:r>
              <a:rPr lang="ru-RU" sz="1600" i="1" dirty="0" err="1">
                <a:latin typeface="HelveticaNeueCyr" panose="02000503040000020004" pitchFamily="2" charset="-52"/>
              </a:rPr>
              <a:t>флопсах</a:t>
            </a:r>
            <a:r>
              <a:rPr lang="ru-RU" sz="1600" i="1" dirty="0">
                <a:latin typeface="HelveticaNeueCyr" panose="02000503040000020004" pitchFamily="2" charset="-52"/>
              </a:rPr>
              <a:t> (</a:t>
            </a:r>
            <a:r>
              <a:rPr lang="en-US" sz="1600" b="1" i="1" dirty="0">
                <a:latin typeface="HelveticaNeueCyr" panose="02000503040000020004" pitchFamily="2" charset="-52"/>
              </a:rPr>
              <a:t>FLOPS</a:t>
            </a:r>
            <a:r>
              <a:rPr lang="ru-RU" sz="1600" i="1" dirty="0">
                <a:latin typeface="HelveticaNeueCyr" panose="02000503040000020004" pitchFamily="2" charset="-52"/>
              </a:rPr>
              <a:t> - </a:t>
            </a:r>
            <a:r>
              <a:rPr lang="en-US" sz="1600" b="1" i="1" dirty="0" err="1">
                <a:latin typeface="HelveticaNeueCyr" panose="02000503040000020004" pitchFamily="2" charset="-52"/>
              </a:rPr>
              <a:t>FL</a:t>
            </a:r>
            <a:r>
              <a:rPr lang="en-US" sz="1600" i="1" dirty="0" err="1">
                <a:latin typeface="HelveticaNeueCyr" panose="02000503040000020004" pitchFamily="2" charset="-52"/>
              </a:rPr>
              <a:t>oating-point</a:t>
            </a:r>
            <a:r>
              <a:rPr lang="en-US" sz="1600" i="1" dirty="0">
                <a:latin typeface="HelveticaNeueCyr" panose="02000503040000020004" pitchFamily="2" charset="-52"/>
              </a:rPr>
              <a:t> </a:t>
            </a:r>
            <a:r>
              <a:rPr lang="en-US" sz="1600" b="1" i="1" dirty="0" err="1">
                <a:latin typeface="HelveticaNeueCyr" panose="02000503040000020004" pitchFamily="2" charset="-52"/>
              </a:rPr>
              <a:t>OP</a:t>
            </a:r>
            <a:r>
              <a:rPr lang="en-US" sz="1600" i="1" dirty="0" err="1">
                <a:latin typeface="HelveticaNeueCyr" panose="02000503040000020004" pitchFamily="2" charset="-52"/>
              </a:rPr>
              <a:t>erations</a:t>
            </a:r>
            <a:r>
              <a:rPr lang="en-US" sz="1600" i="1" dirty="0">
                <a:latin typeface="HelveticaNeueCyr" panose="02000503040000020004" pitchFamily="2" charset="-52"/>
              </a:rPr>
              <a:t> per </a:t>
            </a:r>
            <a:r>
              <a:rPr lang="en-US" sz="1600" b="1" i="1" dirty="0">
                <a:latin typeface="HelveticaNeueCyr" panose="02000503040000020004" pitchFamily="2" charset="-52"/>
              </a:rPr>
              <a:t>S</a:t>
            </a:r>
            <a:r>
              <a:rPr lang="en-US" sz="1600" i="1" dirty="0">
                <a:latin typeface="HelveticaNeueCyr" panose="02000503040000020004" pitchFamily="2" charset="-52"/>
              </a:rPr>
              <a:t>econd</a:t>
            </a:r>
            <a:r>
              <a:rPr lang="ru-RU" sz="1600" i="1" dirty="0">
                <a:latin typeface="HelveticaNeueCyr" panose="02000503040000020004" pitchFamily="2" charset="-52"/>
              </a:rPr>
              <a:t>)</a:t>
            </a:r>
          </a:p>
        </p:txBody>
      </p:sp>
      <p:sp>
        <p:nvSpPr>
          <p:cNvPr id="11" name="Прямоугольник 10">
            <a:extLst>
              <a:ext uri="{FF2B5EF4-FFF2-40B4-BE49-F238E27FC236}">
                <a16:creationId xmlns:a16="http://schemas.microsoft.com/office/drawing/2014/main" id="{4DFD4213-17EB-4CAA-89FD-17F259E870C8}"/>
              </a:ext>
            </a:extLst>
          </p:cNvPr>
          <p:cNvSpPr/>
          <p:nvPr/>
        </p:nvSpPr>
        <p:spPr>
          <a:xfrm>
            <a:off x="2086432" y="5845026"/>
            <a:ext cx="3455152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sz="1600" b="1" dirty="0">
                <a:solidFill>
                  <a:srgbClr val="222222"/>
                </a:solidFill>
                <a:latin typeface="Unbounded SemiBold"/>
              </a:rPr>
              <a:t>Центр обработки данных</a:t>
            </a:r>
            <a:endParaRPr lang="ru-RU" sz="1600" dirty="0"/>
          </a:p>
        </p:txBody>
      </p:sp>
      <p:sp>
        <p:nvSpPr>
          <p:cNvPr id="12" name="Прямоугольник 11">
            <a:extLst>
              <a:ext uri="{FF2B5EF4-FFF2-40B4-BE49-F238E27FC236}">
                <a16:creationId xmlns:a16="http://schemas.microsoft.com/office/drawing/2014/main" id="{15806F0B-D39B-43A4-B6EE-5FC14C4418B6}"/>
              </a:ext>
            </a:extLst>
          </p:cNvPr>
          <p:cNvSpPr/>
          <p:nvPr/>
        </p:nvSpPr>
        <p:spPr>
          <a:xfrm>
            <a:off x="2550369" y="3668720"/>
            <a:ext cx="2527278" cy="126188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b="1" dirty="0">
                <a:solidFill>
                  <a:srgbClr val="222222"/>
                </a:solidFill>
                <a:highlight>
                  <a:srgbClr val="FFFFFF"/>
                </a:highlight>
                <a:latin typeface="Unbounded SemiBold"/>
              </a:rPr>
              <a:t>Сетевое оборудование</a:t>
            </a:r>
            <a:br>
              <a:rPr lang="ru-RU" sz="1600" b="1" dirty="0">
                <a:solidFill>
                  <a:srgbClr val="222222"/>
                </a:solidFill>
                <a:highlight>
                  <a:srgbClr val="FFFFFF"/>
                </a:highlight>
                <a:latin typeface="Unbounded SemiBold"/>
              </a:rPr>
            </a:br>
            <a:r>
              <a:rPr lang="ru-RU" sz="1200" dirty="0">
                <a:solidFill>
                  <a:srgbClr val="222222"/>
                </a:solidFill>
                <a:highlight>
                  <a:srgbClr val="FFFFFF"/>
                </a:highlight>
                <a:latin typeface="HelveticaNeueCyr" panose="02000503040000020004" pitchFamily="2" charset="-52"/>
              </a:rPr>
              <a:t>маршрутизаторы, коммутаторы, и др. обеспечивает передачу данных между устройствами</a:t>
            </a:r>
            <a:br>
              <a:rPr lang="ru-RU" sz="1200" dirty="0">
                <a:solidFill>
                  <a:srgbClr val="222222"/>
                </a:solidFill>
                <a:highlight>
                  <a:srgbClr val="FFFFFF"/>
                </a:highlight>
                <a:latin typeface="HelveticaNeueCyr" panose="02000503040000020004" pitchFamily="2" charset="-52"/>
              </a:rPr>
            </a:br>
            <a:r>
              <a:rPr lang="ru-RU" sz="1200" dirty="0">
                <a:solidFill>
                  <a:srgbClr val="222222"/>
                </a:solidFill>
                <a:highlight>
                  <a:srgbClr val="FFFFFF"/>
                </a:highlight>
                <a:latin typeface="HelveticaNeueCyr" panose="02000503040000020004" pitchFamily="2" charset="-52"/>
              </a:rPr>
              <a:t>в </a:t>
            </a:r>
            <a:r>
              <a:rPr lang="ru-RU" sz="1200" dirty="0" err="1">
                <a:solidFill>
                  <a:srgbClr val="222222"/>
                </a:solidFill>
                <a:highlight>
                  <a:srgbClr val="FFFFFF"/>
                </a:highlight>
                <a:latin typeface="HelveticaNeueCyr" panose="02000503040000020004" pitchFamily="2" charset="-52"/>
              </a:rPr>
              <a:t>ЦОДе</a:t>
            </a:r>
            <a:endParaRPr lang="ru-RU" sz="1600" dirty="0">
              <a:highlight>
                <a:srgbClr val="FFFFFF"/>
              </a:highlight>
            </a:endParaRPr>
          </a:p>
        </p:txBody>
      </p:sp>
      <p:sp>
        <p:nvSpPr>
          <p:cNvPr id="13" name="Прямоугольник 12">
            <a:extLst>
              <a:ext uri="{FF2B5EF4-FFF2-40B4-BE49-F238E27FC236}">
                <a16:creationId xmlns:a16="http://schemas.microsoft.com/office/drawing/2014/main" id="{F5FB559B-EF31-4E31-94F9-9531B4889084}"/>
              </a:ext>
            </a:extLst>
          </p:cNvPr>
          <p:cNvSpPr/>
          <p:nvPr/>
        </p:nvSpPr>
        <p:spPr>
          <a:xfrm>
            <a:off x="2583735" y="7544547"/>
            <a:ext cx="2493912" cy="144655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b="1" dirty="0">
                <a:solidFill>
                  <a:schemeClr val="tx1"/>
                </a:solidFill>
                <a:highlight>
                  <a:srgbClr val="FFFFFF"/>
                </a:highlight>
                <a:latin typeface="Unbounded SemiBold"/>
              </a:rPr>
              <a:t>Инженерное оборудование</a:t>
            </a:r>
            <a:br>
              <a:rPr lang="ru-RU" sz="1600" b="1" dirty="0">
                <a:solidFill>
                  <a:srgbClr val="222222"/>
                </a:solidFill>
                <a:highlight>
                  <a:srgbClr val="FFFFFF"/>
                </a:highlight>
                <a:latin typeface="Unbounded SemiBold"/>
              </a:rPr>
            </a:br>
            <a:r>
              <a:rPr lang="ru-RU" sz="1200" dirty="0">
                <a:solidFill>
                  <a:srgbClr val="222222"/>
                </a:solidFill>
                <a:highlight>
                  <a:srgbClr val="FFFFFF"/>
                </a:highlight>
                <a:latin typeface="HelveticaNeueCyr" panose="02000503040000020004" pitchFamily="2" charset="-52"/>
              </a:rPr>
              <a:t>системы электропитания, охлаждения обеспечивают бесперебойную работу</a:t>
            </a:r>
            <a:br>
              <a:rPr lang="ru-RU" sz="1200" dirty="0">
                <a:solidFill>
                  <a:srgbClr val="222222"/>
                </a:solidFill>
                <a:highlight>
                  <a:srgbClr val="FFFFFF"/>
                </a:highlight>
                <a:latin typeface="HelveticaNeueCyr" panose="02000503040000020004" pitchFamily="2" charset="-52"/>
              </a:rPr>
            </a:br>
            <a:r>
              <a:rPr lang="ru-RU" sz="1200" dirty="0">
                <a:solidFill>
                  <a:srgbClr val="222222"/>
                </a:solidFill>
                <a:highlight>
                  <a:srgbClr val="FFFFFF"/>
                </a:highlight>
                <a:latin typeface="HelveticaNeueCyr" panose="02000503040000020004" pitchFamily="2" charset="-52"/>
              </a:rPr>
              <a:t>и поддерживают рабочую температуру</a:t>
            </a:r>
            <a:endParaRPr lang="ru-RU" sz="1600" dirty="0">
              <a:highlight>
                <a:srgbClr val="FFFFFF"/>
              </a:highlight>
            </a:endParaRPr>
          </a:p>
        </p:txBody>
      </p:sp>
      <p:sp>
        <p:nvSpPr>
          <p:cNvPr id="14" name="Прямоугольник 13">
            <a:extLst>
              <a:ext uri="{FF2B5EF4-FFF2-40B4-BE49-F238E27FC236}">
                <a16:creationId xmlns:a16="http://schemas.microsoft.com/office/drawing/2014/main" id="{637F4D9F-1591-4AFA-B479-88762D3E6A9D}"/>
              </a:ext>
            </a:extLst>
          </p:cNvPr>
          <p:cNvSpPr/>
          <p:nvPr/>
        </p:nvSpPr>
        <p:spPr>
          <a:xfrm>
            <a:off x="370772" y="5698545"/>
            <a:ext cx="2149476" cy="126188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b="1" dirty="0">
                <a:solidFill>
                  <a:srgbClr val="222222"/>
                </a:solidFill>
                <a:highlight>
                  <a:srgbClr val="FFFFFF"/>
                </a:highlight>
                <a:latin typeface="Unbounded SemiBold"/>
              </a:rPr>
              <a:t>Системы безопасности</a:t>
            </a:r>
            <a:br>
              <a:rPr lang="ru-RU" sz="1600" b="1" dirty="0">
                <a:solidFill>
                  <a:srgbClr val="222222"/>
                </a:solidFill>
                <a:highlight>
                  <a:srgbClr val="FFFFFF"/>
                </a:highlight>
                <a:latin typeface="Unbounded SemiBold"/>
              </a:rPr>
            </a:br>
            <a:r>
              <a:rPr lang="ru-RU" sz="1200" dirty="0">
                <a:solidFill>
                  <a:srgbClr val="222222"/>
                </a:solidFill>
                <a:highlight>
                  <a:srgbClr val="FFFFFF"/>
                </a:highlight>
                <a:latin typeface="HelveticaNeueCyr" panose="02000503040000020004" pitchFamily="2" charset="-52"/>
              </a:rPr>
              <a:t>СКУД, видеонаблюдение, пожарная сигнализация для защиты данных и оборудования</a:t>
            </a:r>
            <a:endParaRPr lang="ru-RU" sz="1600" dirty="0">
              <a:highlight>
                <a:srgbClr val="FFFFFF"/>
              </a:highlight>
            </a:endParaRPr>
          </a:p>
        </p:txBody>
      </p:sp>
      <p:sp>
        <p:nvSpPr>
          <p:cNvPr id="15" name="Прямоугольник 14">
            <a:extLst>
              <a:ext uri="{FF2B5EF4-FFF2-40B4-BE49-F238E27FC236}">
                <a16:creationId xmlns:a16="http://schemas.microsoft.com/office/drawing/2014/main" id="{2DE7F312-D4AA-4A24-B3DD-EEE543C974A7}"/>
              </a:ext>
            </a:extLst>
          </p:cNvPr>
          <p:cNvSpPr/>
          <p:nvPr/>
        </p:nvSpPr>
        <p:spPr>
          <a:xfrm>
            <a:off x="5175023" y="5765220"/>
            <a:ext cx="2483473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b="1" dirty="0">
                <a:solidFill>
                  <a:srgbClr val="222222"/>
                </a:solidFill>
                <a:highlight>
                  <a:srgbClr val="FFFFFF"/>
                </a:highlight>
                <a:latin typeface="Unbounded SemiBold"/>
              </a:rPr>
              <a:t>Вычислительное оборудование</a:t>
            </a:r>
          </a:p>
        </p:txBody>
      </p:sp>
      <p:pic>
        <p:nvPicPr>
          <p:cNvPr id="4" name="Рисунок 3" descr="Сервер">
            <a:extLst>
              <a:ext uri="{FF2B5EF4-FFF2-40B4-BE49-F238E27FC236}">
                <a16:creationId xmlns:a16="http://schemas.microsoft.com/office/drawing/2014/main" id="{18778A66-C3F3-4E6D-920D-FD627A5CE41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461835" y="4715432"/>
            <a:ext cx="743255" cy="743255"/>
          </a:xfrm>
          <a:prstGeom prst="rect">
            <a:avLst/>
          </a:prstGeom>
        </p:spPr>
      </p:pic>
      <p:sp>
        <p:nvSpPr>
          <p:cNvPr id="16" name="Прямоугольник 15">
            <a:extLst>
              <a:ext uri="{FF2B5EF4-FFF2-40B4-BE49-F238E27FC236}">
                <a16:creationId xmlns:a16="http://schemas.microsoft.com/office/drawing/2014/main" id="{A25C5201-171D-43AC-B695-756AA1ADADF0}"/>
              </a:ext>
            </a:extLst>
          </p:cNvPr>
          <p:cNvSpPr/>
          <p:nvPr/>
        </p:nvSpPr>
        <p:spPr>
          <a:xfrm>
            <a:off x="8202057" y="4918989"/>
            <a:ext cx="2483473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b="1" dirty="0">
                <a:solidFill>
                  <a:srgbClr val="222222"/>
                </a:solidFill>
                <a:latin typeface="Unbounded SemiBold"/>
              </a:rPr>
              <a:t>Серверы</a:t>
            </a:r>
          </a:p>
        </p:txBody>
      </p:sp>
      <p:pic>
        <p:nvPicPr>
          <p:cNvPr id="18" name="Рисунок 17" descr="Процессор">
            <a:extLst>
              <a:ext uri="{FF2B5EF4-FFF2-40B4-BE49-F238E27FC236}">
                <a16:creationId xmlns:a16="http://schemas.microsoft.com/office/drawing/2014/main" id="{B101C4DA-B163-4948-A0F1-CE12EDDE5378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464090" y="5641378"/>
            <a:ext cx="743255" cy="743255"/>
          </a:xfrm>
          <a:prstGeom prst="rect">
            <a:avLst/>
          </a:prstGeom>
        </p:spPr>
      </p:pic>
      <p:sp>
        <p:nvSpPr>
          <p:cNvPr id="19" name="Прямоугольник 18">
            <a:extLst>
              <a:ext uri="{FF2B5EF4-FFF2-40B4-BE49-F238E27FC236}">
                <a16:creationId xmlns:a16="http://schemas.microsoft.com/office/drawing/2014/main" id="{94E4F5DA-EABE-4BC0-9113-DBA2F86F5A69}"/>
              </a:ext>
            </a:extLst>
          </p:cNvPr>
          <p:cNvSpPr/>
          <p:nvPr/>
        </p:nvSpPr>
        <p:spPr>
          <a:xfrm>
            <a:off x="8202056" y="5825173"/>
            <a:ext cx="2483473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b="1" dirty="0">
                <a:solidFill>
                  <a:srgbClr val="222222"/>
                </a:solidFill>
                <a:latin typeface="Unbounded SemiBold"/>
              </a:rPr>
              <a:t>Процессоры,</a:t>
            </a:r>
            <a:br>
              <a:rPr lang="ru-RU" b="1" dirty="0">
                <a:solidFill>
                  <a:srgbClr val="222222"/>
                </a:solidFill>
                <a:latin typeface="Unbounded SemiBold"/>
              </a:rPr>
            </a:br>
            <a:r>
              <a:rPr lang="ru-RU" b="1" dirty="0">
                <a:solidFill>
                  <a:srgbClr val="222222"/>
                </a:solidFill>
                <a:latin typeface="Unbounded SemiBold"/>
              </a:rPr>
              <a:t>видеокарты </a:t>
            </a:r>
          </a:p>
        </p:txBody>
      </p:sp>
      <p:sp>
        <p:nvSpPr>
          <p:cNvPr id="21" name="Прямоугольник 20">
            <a:extLst>
              <a:ext uri="{FF2B5EF4-FFF2-40B4-BE49-F238E27FC236}">
                <a16:creationId xmlns:a16="http://schemas.microsoft.com/office/drawing/2014/main" id="{BE3C96D4-85FC-46B8-8DE2-F11D78B6A0E3}"/>
              </a:ext>
            </a:extLst>
          </p:cNvPr>
          <p:cNvSpPr/>
          <p:nvPr/>
        </p:nvSpPr>
        <p:spPr>
          <a:xfrm>
            <a:off x="8132191" y="6919906"/>
            <a:ext cx="2483473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b="1" dirty="0">
                <a:solidFill>
                  <a:srgbClr val="222222"/>
                </a:solidFill>
                <a:latin typeface="Unbounded SemiBold"/>
              </a:rPr>
              <a:t>Жесткие диски (</a:t>
            </a:r>
            <a:r>
              <a:rPr lang="en-US" b="1" dirty="0">
                <a:solidFill>
                  <a:srgbClr val="222222"/>
                </a:solidFill>
                <a:latin typeface="Unbounded SemiBold"/>
              </a:rPr>
              <a:t>SSD</a:t>
            </a:r>
            <a:r>
              <a:rPr lang="ru-RU" b="1" dirty="0">
                <a:solidFill>
                  <a:srgbClr val="222222"/>
                </a:solidFill>
                <a:latin typeface="Unbounded SemiBold"/>
              </a:rPr>
              <a:t>)</a:t>
            </a:r>
          </a:p>
        </p:txBody>
      </p:sp>
      <p:pic>
        <p:nvPicPr>
          <p:cNvPr id="23" name="Рисунок 22" descr="База данных">
            <a:extLst>
              <a:ext uri="{FF2B5EF4-FFF2-40B4-BE49-F238E27FC236}">
                <a16:creationId xmlns:a16="http://schemas.microsoft.com/office/drawing/2014/main" id="{4CD213BB-A8ED-4BE4-BBCC-142E13CD4EB6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7433874" y="6730921"/>
            <a:ext cx="743256" cy="743256"/>
          </a:xfrm>
          <a:prstGeom prst="rect">
            <a:avLst/>
          </a:prstGeom>
        </p:spPr>
      </p:pic>
      <p:sp>
        <p:nvSpPr>
          <p:cNvPr id="25" name="Прямоугольник: скругленные углы 24">
            <a:extLst>
              <a:ext uri="{FF2B5EF4-FFF2-40B4-BE49-F238E27FC236}">
                <a16:creationId xmlns:a16="http://schemas.microsoft.com/office/drawing/2014/main" id="{C8021B0C-8050-4215-AE2B-387273627D2F}"/>
              </a:ext>
            </a:extLst>
          </p:cNvPr>
          <p:cNvSpPr/>
          <p:nvPr/>
        </p:nvSpPr>
        <p:spPr>
          <a:xfrm>
            <a:off x="10735284" y="2650048"/>
            <a:ext cx="3786036" cy="7220458"/>
          </a:xfrm>
          <a:prstGeom prst="roundRect">
            <a:avLst>
              <a:gd name="adj" fmla="val 8616"/>
            </a:avLst>
          </a:prstGeom>
          <a:solidFill>
            <a:srgbClr val="F7CDD2">
              <a:alpha val="5019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6" name="Прямоугольник 25">
            <a:extLst>
              <a:ext uri="{FF2B5EF4-FFF2-40B4-BE49-F238E27FC236}">
                <a16:creationId xmlns:a16="http://schemas.microsoft.com/office/drawing/2014/main" id="{B0E04B16-3B0C-4097-854C-838721501553}"/>
              </a:ext>
            </a:extLst>
          </p:cNvPr>
          <p:cNvSpPr/>
          <p:nvPr/>
        </p:nvSpPr>
        <p:spPr>
          <a:xfrm>
            <a:off x="10787917" y="2786228"/>
            <a:ext cx="3645639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b="1" dirty="0">
                <a:solidFill>
                  <a:schemeClr val="tx1">
                    <a:lumMod val="50000"/>
                    <a:lumOff val="50000"/>
                  </a:schemeClr>
                </a:solidFill>
                <a:latin typeface="Unbounded SemiBold"/>
              </a:rPr>
              <a:t>Источники данных и вычислений</a:t>
            </a:r>
          </a:p>
        </p:txBody>
      </p:sp>
      <p:sp>
        <p:nvSpPr>
          <p:cNvPr id="27" name="Прямоугольник 26">
            <a:extLst>
              <a:ext uri="{FF2B5EF4-FFF2-40B4-BE49-F238E27FC236}">
                <a16:creationId xmlns:a16="http://schemas.microsoft.com/office/drawing/2014/main" id="{BBFF7935-C375-450F-8224-89F779B9AFD3}"/>
              </a:ext>
            </a:extLst>
          </p:cNvPr>
          <p:cNvSpPr/>
          <p:nvPr/>
        </p:nvSpPr>
        <p:spPr>
          <a:xfrm>
            <a:off x="10787917" y="3454895"/>
            <a:ext cx="3364016" cy="73866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b="1" dirty="0">
                <a:solidFill>
                  <a:srgbClr val="222222"/>
                </a:solidFill>
                <a:latin typeface="Unbounded SemiBold"/>
              </a:rPr>
              <a:t>Видеонаблюдение</a:t>
            </a:r>
          </a:p>
          <a:p>
            <a:pPr algn="r"/>
            <a:r>
              <a:rPr lang="en-US" b="1" dirty="0">
                <a:solidFill>
                  <a:schemeClr val="tx1">
                    <a:lumMod val="50000"/>
                    <a:lumOff val="50000"/>
                  </a:schemeClr>
                </a:solidFill>
                <a:latin typeface="Unbounded SemiBold"/>
              </a:rPr>
              <a:t>&gt;</a:t>
            </a:r>
            <a:r>
              <a:rPr lang="ru-RU" b="1" dirty="0">
                <a:solidFill>
                  <a:schemeClr val="tx1">
                    <a:lumMod val="50000"/>
                    <a:lumOff val="50000"/>
                  </a:schemeClr>
                </a:solidFill>
                <a:latin typeface="Unbounded SemiBold"/>
              </a:rPr>
              <a:t>247 тыс. камер</a:t>
            </a:r>
            <a:endParaRPr lang="en-US" b="1" dirty="0">
              <a:solidFill>
                <a:schemeClr val="tx1">
                  <a:lumMod val="50000"/>
                  <a:lumOff val="50000"/>
                </a:schemeClr>
              </a:solidFill>
              <a:latin typeface="Unbounded SemiBold"/>
            </a:endParaRPr>
          </a:p>
          <a:p>
            <a:pPr algn="r"/>
            <a:r>
              <a:rPr lang="en-US" b="1" dirty="0">
                <a:solidFill>
                  <a:schemeClr val="tx1">
                    <a:lumMod val="50000"/>
                    <a:lumOff val="50000"/>
                  </a:schemeClr>
                </a:solidFill>
                <a:latin typeface="Unbounded SemiBold"/>
              </a:rPr>
              <a:t>&gt;</a:t>
            </a:r>
            <a:r>
              <a:rPr lang="ru-RU" b="1" dirty="0">
                <a:solidFill>
                  <a:schemeClr val="tx1">
                    <a:lumMod val="50000"/>
                    <a:lumOff val="50000"/>
                  </a:schemeClr>
                </a:solidFill>
                <a:latin typeface="Unbounded SemiBold"/>
              </a:rPr>
              <a:t>2.1</a:t>
            </a:r>
            <a:r>
              <a:rPr lang="en-US" b="1" dirty="0">
                <a:solidFill>
                  <a:schemeClr val="tx1">
                    <a:lumMod val="50000"/>
                    <a:lumOff val="50000"/>
                  </a:schemeClr>
                </a:solidFill>
                <a:latin typeface="Unbounded SemiBold"/>
              </a:rPr>
              <a:t> </a:t>
            </a:r>
            <a:r>
              <a:rPr lang="ru-RU" b="1" dirty="0">
                <a:solidFill>
                  <a:schemeClr val="tx1">
                    <a:lumMod val="50000"/>
                    <a:lumOff val="50000"/>
                  </a:schemeClr>
                </a:solidFill>
                <a:latin typeface="Unbounded SemiBold"/>
              </a:rPr>
              <a:t>млрд ч видео/год</a:t>
            </a:r>
          </a:p>
        </p:txBody>
      </p:sp>
      <p:sp>
        <p:nvSpPr>
          <p:cNvPr id="30" name="Прямоугольник 29">
            <a:extLst>
              <a:ext uri="{FF2B5EF4-FFF2-40B4-BE49-F238E27FC236}">
                <a16:creationId xmlns:a16="http://schemas.microsoft.com/office/drawing/2014/main" id="{2990187D-6FE7-466D-947E-4D63B23B598A}"/>
              </a:ext>
            </a:extLst>
          </p:cNvPr>
          <p:cNvSpPr/>
          <p:nvPr/>
        </p:nvSpPr>
        <p:spPr>
          <a:xfrm>
            <a:off x="10787917" y="5390417"/>
            <a:ext cx="3364016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b="1" dirty="0">
                <a:solidFill>
                  <a:srgbClr val="222222"/>
                </a:solidFill>
                <a:latin typeface="Unbounded SemiBold"/>
              </a:rPr>
              <a:t>Обращения </a:t>
            </a:r>
            <a:r>
              <a:rPr lang="en-US" b="1" dirty="0">
                <a:solidFill>
                  <a:srgbClr val="222222"/>
                </a:solidFill>
                <a:latin typeface="Unbounded SemiBold"/>
              </a:rPr>
              <a:t>mos.ru</a:t>
            </a:r>
            <a:endParaRPr lang="ru-RU" b="1" dirty="0">
              <a:solidFill>
                <a:srgbClr val="222222"/>
              </a:solidFill>
              <a:latin typeface="Unbounded SemiBold"/>
            </a:endParaRPr>
          </a:p>
          <a:p>
            <a:pPr algn="r"/>
            <a:r>
              <a:rPr lang="en-US" b="1" dirty="0">
                <a:solidFill>
                  <a:schemeClr val="tx1">
                    <a:lumMod val="50000"/>
                    <a:lumOff val="50000"/>
                  </a:schemeClr>
                </a:solidFill>
                <a:latin typeface="Unbounded SemiBold"/>
              </a:rPr>
              <a:t>&gt;</a:t>
            </a:r>
            <a:r>
              <a:rPr lang="ru-RU" b="1" dirty="0">
                <a:solidFill>
                  <a:schemeClr val="tx1">
                    <a:lumMod val="50000"/>
                    <a:lumOff val="50000"/>
                  </a:schemeClr>
                </a:solidFill>
                <a:latin typeface="Unbounded SemiBold"/>
              </a:rPr>
              <a:t>763 млн </a:t>
            </a:r>
          </a:p>
        </p:txBody>
      </p:sp>
      <p:sp>
        <p:nvSpPr>
          <p:cNvPr id="31" name="Прямоугольник 30">
            <a:extLst>
              <a:ext uri="{FF2B5EF4-FFF2-40B4-BE49-F238E27FC236}">
                <a16:creationId xmlns:a16="http://schemas.microsoft.com/office/drawing/2014/main" id="{246D9EC9-D741-4A4B-BB2F-A5A0259BF00F}"/>
              </a:ext>
            </a:extLst>
          </p:cNvPr>
          <p:cNvSpPr/>
          <p:nvPr/>
        </p:nvSpPr>
        <p:spPr>
          <a:xfrm>
            <a:off x="10805150" y="4530861"/>
            <a:ext cx="3364016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b="1" dirty="0">
                <a:solidFill>
                  <a:srgbClr val="222222"/>
                </a:solidFill>
                <a:latin typeface="Unbounded SemiBold"/>
              </a:rPr>
              <a:t>Пользователи </a:t>
            </a:r>
            <a:r>
              <a:rPr lang="en-US" b="1" dirty="0">
                <a:solidFill>
                  <a:srgbClr val="222222"/>
                </a:solidFill>
                <a:latin typeface="Unbounded SemiBold"/>
              </a:rPr>
              <a:t>mos.ru</a:t>
            </a:r>
            <a:endParaRPr lang="ru-RU" b="1" dirty="0">
              <a:solidFill>
                <a:srgbClr val="222222"/>
              </a:solidFill>
              <a:latin typeface="Unbounded SemiBold"/>
            </a:endParaRPr>
          </a:p>
          <a:p>
            <a:pPr algn="r"/>
            <a:r>
              <a:rPr lang="en-US" b="1" dirty="0">
                <a:solidFill>
                  <a:schemeClr val="tx1">
                    <a:lumMod val="50000"/>
                    <a:lumOff val="50000"/>
                  </a:schemeClr>
                </a:solidFill>
                <a:latin typeface="Unbounded SemiBold"/>
              </a:rPr>
              <a:t>&gt;</a:t>
            </a:r>
            <a:r>
              <a:rPr lang="ru-RU" b="1" dirty="0">
                <a:solidFill>
                  <a:schemeClr val="tx1">
                    <a:lumMod val="50000"/>
                    <a:lumOff val="50000"/>
                  </a:schemeClr>
                </a:solidFill>
                <a:latin typeface="Unbounded SemiBold"/>
              </a:rPr>
              <a:t>15.9 млн</a:t>
            </a:r>
          </a:p>
        </p:txBody>
      </p:sp>
      <p:sp>
        <p:nvSpPr>
          <p:cNvPr id="32" name="Прямоугольник 31">
            <a:extLst>
              <a:ext uri="{FF2B5EF4-FFF2-40B4-BE49-F238E27FC236}">
                <a16:creationId xmlns:a16="http://schemas.microsoft.com/office/drawing/2014/main" id="{4FEF9571-B20D-4266-ACB2-1736AAAFE310}"/>
              </a:ext>
            </a:extLst>
          </p:cNvPr>
          <p:cNvSpPr/>
          <p:nvPr/>
        </p:nvSpPr>
        <p:spPr>
          <a:xfrm>
            <a:off x="10874416" y="6365140"/>
            <a:ext cx="3364016" cy="73866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b="1" dirty="0">
                <a:solidFill>
                  <a:srgbClr val="222222"/>
                </a:solidFill>
                <a:latin typeface="Unbounded SemiBold"/>
              </a:rPr>
              <a:t>Пользователи ИС в контуре Правительства</a:t>
            </a:r>
          </a:p>
          <a:p>
            <a:pPr lvl="3" algn="r"/>
            <a:r>
              <a:rPr lang="ru-RU" b="1" dirty="0">
                <a:solidFill>
                  <a:schemeClr val="tx1">
                    <a:lumMod val="50000"/>
                    <a:lumOff val="50000"/>
                  </a:schemeClr>
                </a:solidFill>
                <a:latin typeface="Unbounded SemiBold"/>
              </a:rPr>
              <a:t>~500 тыс. чел</a:t>
            </a:r>
          </a:p>
        </p:txBody>
      </p:sp>
      <p:sp>
        <p:nvSpPr>
          <p:cNvPr id="33" name="Прямоугольник 32">
            <a:extLst>
              <a:ext uri="{FF2B5EF4-FFF2-40B4-BE49-F238E27FC236}">
                <a16:creationId xmlns:a16="http://schemas.microsoft.com/office/drawing/2014/main" id="{4C7C1519-C3B2-4C0D-8979-EE56A78D3A74}"/>
              </a:ext>
            </a:extLst>
          </p:cNvPr>
          <p:cNvSpPr/>
          <p:nvPr/>
        </p:nvSpPr>
        <p:spPr>
          <a:xfrm>
            <a:off x="10898478" y="7603502"/>
            <a:ext cx="3364016" cy="73866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b="1" dirty="0">
                <a:solidFill>
                  <a:srgbClr val="222222"/>
                </a:solidFill>
                <a:latin typeface="Unbounded SemiBold"/>
              </a:rPr>
              <a:t>Количество устройств (ПК и др.)</a:t>
            </a:r>
          </a:p>
          <a:p>
            <a:pPr lvl="3" algn="r"/>
            <a:r>
              <a:rPr lang="ru-RU" b="1" dirty="0">
                <a:solidFill>
                  <a:schemeClr val="tx1">
                    <a:lumMod val="50000"/>
                    <a:lumOff val="50000"/>
                  </a:schemeClr>
                </a:solidFill>
                <a:latin typeface="Unbounded SemiBold"/>
              </a:rPr>
              <a:t>~500 тыс.</a:t>
            </a:r>
          </a:p>
        </p:txBody>
      </p:sp>
      <p:sp>
        <p:nvSpPr>
          <p:cNvPr id="3" name="Левая фигурная скобка 2">
            <a:extLst>
              <a:ext uri="{FF2B5EF4-FFF2-40B4-BE49-F238E27FC236}">
                <a16:creationId xmlns:a16="http://schemas.microsoft.com/office/drawing/2014/main" id="{8B00A9D6-2C28-458A-A7B9-1A5D1F8C5060}"/>
              </a:ext>
            </a:extLst>
          </p:cNvPr>
          <p:cNvSpPr/>
          <p:nvPr/>
        </p:nvSpPr>
        <p:spPr>
          <a:xfrm>
            <a:off x="10277909" y="2786228"/>
            <a:ext cx="419977" cy="7084278"/>
          </a:xfrm>
          <a:prstGeom prst="leftBrace">
            <a:avLst>
              <a:gd name="adj1" fmla="val 89721"/>
              <a:gd name="adj2" fmla="val 47283"/>
            </a:avLst>
          </a:prstGeom>
          <a:ln w="28575">
            <a:solidFill>
              <a:srgbClr val="0F24E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ru-RU" b="1" dirty="0"/>
          </a:p>
        </p:txBody>
      </p:sp>
      <p:sp>
        <p:nvSpPr>
          <p:cNvPr id="35" name="Прямоугольник 34">
            <a:extLst>
              <a:ext uri="{FF2B5EF4-FFF2-40B4-BE49-F238E27FC236}">
                <a16:creationId xmlns:a16="http://schemas.microsoft.com/office/drawing/2014/main" id="{20A7082E-0278-42B3-9B1E-A55A4F41931A}"/>
              </a:ext>
            </a:extLst>
          </p:cNvPr>
          <p:cNvSpPr/>
          <p:nvPr/>
        </p:nvSpPr>
        <p:spPr>
          <a:xfrm>
            <a:off x="10872115" y="8629285"/>
            <a:ext cx="3364016" cy="116955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b="1" dirty="0">
                <a:solidFill>
                  <a:srgbClr val="222222"/>
                </a:solidFill>
                <a:latin typeface="Unbounded SemiBold"/>
              </a:rPr>
              <a:t>Количество электронных запросов в рамках межведомственного взаимодействия</a:t>
            </a:r>
          </a:p>
          <a:p>
            <a:pPr lvl="3" algn="r"/>
            <a:r>
              <a:rPr lang="en-US" b="1" dirty="0">
                <a:solidFill>
                  <a:schemeClr val="tx1">
                    <a:lumMod val="50000"/>
                    <a:lumOff val="50000"/>
                  </a:schemeClr>
                </a:solidFill>
                <a:latin typeface="Unbounded SemiBold"/>
              </a:rPr>
              <a:t>&gt;</a:t>
            </a:r>
            <a:r>
              <a:rPr lang="ru-RU" b="1" dirty="0">
                <a:solidFill>
                  <a:schemeClr val="tx1">
                    <a:lumMod val="50000"/>
                    <a:lumOff val="50000"/>
                  </a:schemeClr>
                </a:solidFill>
                <a:latin typeface="Unbounded SemiBold"/>
              </a:rPr>
              <a:t>200</a:t>
            </a:r>
            <a:r>
              <a:rPr lang="en-US" b="1" dirty="0">
                <a:solidFill>
                  <a:schemeClr val="tx1">
                    <a:lumMod val="50000"/>
                    <a:lumOff val="50000"/>
                  </a:schemeClr>
                </a:solidFill>
                <a:latin typeface="Unbounded SemiBold"/>
              </a:rPr>
              <a:t> </a:t>
            </a:r>
            <a:r>
              <a:rPr lang="ru-RU" b="1" dirty="0">
                <a:solidFill>
                  <a:schemeClr val="tx1">
                    <a:lumMod val="50000"/>
                    <a:lumOff val="50000"/>
                  </a:schemeClr>
                </a:solidFill>
                <a:latin typeface="Unbounded SemiBold"/>
              </a:rPr>
              <a:t>млн</a:t>
            </a:r>
          </a:p>
        </p:txBody>
      </p:sp>
    </p:spTree>
    <p:extLst>
      <p:ext uri="{BB962C8B-B14F-4D97-AF65-F5344CB8AC3E}">
        <p14:creationId xmlns:p14="http://schemas.microsoft.com/office/powerpoint/2010/main" val="28315402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id="{CADC82BF-0C89-400C-98F4-578F57BE9F4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9FD2042-F21C-415A-9EA3-4A549B5658B7}" type="slidenum">
              <a:rPr kumimoji="0" lang="ru-RU" sz="1600" b="0" i="0" u="none" strike="noStrike" kern="1200" cap="none" spc="0" normalizeH="0" baseline="0" noProof="0" smtClean="0">
                <a:ln>
                  <a:noFill/>
                </a:ln>
                <a:solidFill>
                  <a:srgbClr val="FFFFFF">
                    <a:lumMod val="75000"/>
                  </a:srgbClr>
                </a:solidFill>
                <a:effectLst/>
                <a:uLnTx/>
                <a:uFillTx/>
                <a:latin typeface="Unbounded Light" pitchFamily="2" charset="-52"/>
                <a:sym typeface="Arial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ru-RU" sz="1600" b="0" i="0" u="none" strike="noStrike" kern="1200" cap="none" spc="0" normalizeH="0" baseline="0" noProof="0" dirty="0">
              <a:ln>
                <a:noFill/>
              </a:ln>
              <a:solidFill>
                <a:srgbClr val="FFFFFF">
                  <a:lumMod val="75000"/>
                </a:srgbClr>
              </a:solidFill>
              <a:effectLst/>
              <a:uLnTx/>
              <a:uFillTx/>
              <a:latin typeface="Unbounded Light" pitchFamily="2" charset="-52"/>
              <a:sym typeface="Arial"/>
            </a:endParaRPr>
          </a:p>
        </p:txBody>
      </p:sp>
      <p:sp>
        <p:nvSpPr>
          <p:cNvPr id="7" name="Google Shape;1046;p21">
            <a:extLst>
              <a:ext uri="{FF2B5EF4-FFF2-40B4-BE49-F238E27FC236}">
                <a16:creationId xmlns:a16="http://schemas.microsoft.com/office/drawing/2014/main" id="{BF704CA4-FC90-0D7F-95E2-B0F309C793A4}"/>
              </a:ext>
            </a:extLst>
          </p:cNvPr>
          <p:cNvSpPr/>
          <p:nvPr/>
        </p:nvSpPr>
        <p:spPr>
          <a:xfrm>
            <a:off x="212724" y="266700"/>
            <a:ext cx="11991975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2300"/>
              <a:buFont typeface="Arial"/>
              <a:buNone/>
              <a:tabLst/>
              <a:defRPr/>
            </a:pPr>
            <a:r>
              <a:rPr kumimoji="0" lang="ru-RU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Unbounded Medium"/>
                <a:ea typeface="Unbounded Medium"/>
                <a:cs typeface="Unbounded Medium"/>
                <a:sym typeface="Unbounded Medium"/>
              </a:rPr>
              <a:t>Как растут данные в м</a:t>
            </a:r>
            <a:r>
              <a:rPr lang="ru-RU" sz="2400" dirty="0" err="1">
                <a:latin typeface="Unbounded Medium"/>
                <a:ea typeface="Unbounded Medium"/>
                <a:cs typeface="Unbounded Medium"/>
                <a:sym typeface="Unbounded Medium"/>
              </a:rPr>
              <a:t>ире</a:t>
            </a:r>
            <a:endParaRPr kumimoji="0" lang="ru-RU" sz="2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Unbounded Medium"/>
              <a:ea typeface="Unbounded Medium"/>
              <a:cs typeface="Unbounded Medium"/>
              <a:sym typeface="Unbounded Medium"/>
            </a:endParaRPr>
          </a:p>
        </p:txBody>
      </p:sp>
      <p:graphicFrame>
        <p:nvGraphicFramePr>
          <p:cNvPr id="16" name="Диаграмма 15">
            <a:extLst>
              <a:ext uri="{FF2B5EF4-FFF2-40B4-BE49-F238E27FC236}">
                <a16:creationId xmlns:a16="http://schemas.microsoft.com/office/drawing/2014/main" id="{4F81533A-864E-4C74-8122-B18DD44FE8D7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238598952"/>
              </p:ext>
            </p:extLst>
          </p:nvPr>
        </p:nvGraphicFramePr>
        <p:xfrm>
          <a:off x="212724" y="1208024"/>
          <a:ext cx="5847834" cy="432090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8" name="Google Shape;470;p10">
            <a:extLst>
              <a:ext uri="{FF2B5EF4-FFF2-40B4-BE49-F238E27FC236}">
                <a16:creationId xmlns:a16="http://schemas.microsoft.com/office/drawing/2014/main" id="{82067238-D579-459B-96A8-DE529DC168AF}"/>
              </a:ext>
            </a:extLst>
          </p:cNvPr>
          <p:cNvSpPr/>
          <p:nvPr/>
        </p:nvSpPr>
        <p:spPr>
          <a:xfrm rot="2434">
            <a:off x="339867" y="992300"/>
            <a:ext cx="4460918" cy="48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12500"/>
              </a:lnSpc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600"/>
              <a:buFont typeface="Unbounded SemiBold"/>
              <a:buNone/>
              <a:tabLst/>
              <a:defRPr/>
            </a:pPr>
            <a:r>
              <a:rPr lang="ru-RU" b="1" dirty="0">
                <a:solidFill>
                  <a:srgbClr val="222222"/>
                </a:solidFill>
                <a:latin typeface="Unbounded SemiBold"/>
                <a:ea typeface="Unbounded SemiBold"/>
                <a:cs typeface="Unbounded SemiBold"/>
                <a:sym typeface="Unbounded SemiBold"/>
              </a:rPr>
              <a:t>Количество подключённых устройств во всем мире, млрд шт.</a:t>
            </a:r>
            <a:endParaRPr kumimoji="0" lang="ru-RU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Unbounded SemiBold"/>
              <a:ea typeface="Unbounded SemiBold"/>
              <a:cs typeface="Unbounded SemiBold"/>
              <a:sym typeface="Unbounded SemiBold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6084AAE6-EF2D-4B6F-B98F-FE08F0C21ABE}"/>
              </a:ext>
            </a:extLst>
          </p:cNvPr>
          <p:cNvSpPr txBox="1"/>
          <p:nvPr/>
        </p:nvSpPr>
        <p:spPr>
          <a:xfrm>
            <a:off x="311526" y="9939943"/>
            <a:ext cx="10122195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000" dirty="0">
                <a:latin typeface="HelveticaNeueCyr" panose="02000503040000020004" pitchFamily="2" charset="-52"/>
              </a:rPr>
              <a:t>*Прогноз</a:t>
            </a:r>
          </a:p>
          <a:p>
            <a:r>
              <a:rPr lang="ru-RU" sz="1000" dirty="0">
                <a:latin typeface="HelveticaNeueCyr" panose="02000503040000020004" pitchFamily="2" charset="-52"/>
              </a:rPr>
              <a:t>Подключенные устройства, </a:t>
            </a:r>
            <a:r>
              <a:rPr lang="en-US" sz="1000" dirty="0">
                <a:latin typeface="HelveticaNeueCyr" panose="02000503040000020004" pitchFamily="2" charset="-52"/>
              </a:rPr>
              <a:t>Ericsson Mobility Visualizer</a:t>
            </a:r>
            <a:r>
              <a:rPr lang="ru-RU" sz="1000" dirty="0">
                <a:latin typeface="HelveticaNeueCyr" panose="02000503040000020004" pitchFamily="2" charset="-52"/>
              </a:rPr>
              <a:t>, 2024</a:t>
            </a:r>
            <a:br>
              <a:rPr lang="ru-RU" sz="1000" dirty="0">
                <a:latin typeface="HelveticaNeueCyr" panose="02000503040000020004" pitchFamily="2" charset="-52"/>
              </a:rPr>
            </a:br>
            <a:r>
              <a:rPr lang="en-US" sz="1000" dirty="0">
                <a:latin typeface="HelveticaNeueCyr" panose="02000503040000020004" pitchFamily="2" charset="-52"/>
                <a:hlinkClick r:id="rId4"/>
              </a:rPr>
              <a:t>https://www.statista.com/statistics/871513/worldwide-data-created/</a:t>
            </a:r>
            <a:r>
              <a:rPr lang="ru-RU" sz="1000" dirty="0">
                <a:latin typeface="HelveticaNeueCyr" panose="02000503040000020004" pitchFamily="2" charset="-52"/>
              </a:rPr>
              <a:t>  </a:t>
            </a:r>
            <a:endParaRPr lang="en-US" sz="1000" dirty="0">
              <a:latin typeface="HelveticaNeueCyr" panose="02000503040000020004" pitchFamily="2" charset="-52"/>
            </a:endParaRPr>
          </a:p>
          <a:p>
            <a:endParaRPr lang="ru-RU" sz="1200" dirty="0">
              <a:latin typeface="HelveticaNeueCyr" panose="02000503040000020004" pitchFamily="2" charset="-52"/>
            </a:endParaRPr>
          </a:p>
        </p:txBody>
      </p:sp>
      <p:graphicFrame>
        <p:nvGraphicFramePr>
          <p:cNvPr id="22" name="Диаграмма 21">
            <a:extLst>
              <a:ext uri="{FF2B5EF4-FFF2-40B4-BE49-F238E27FC236}">
                <a16:creationId xmlns:a16="http://schemas.microsoft.com/office/drawing/2014/main" id="{C335A513-D63C-4734-9466-E55122FE1167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007720993"/>
              </p:ext>
            </p:extLst>
          </p:nvPr>
        </p:nvGraphicFramePr>
        <p:xfrm>
          <a:off x="343859" y="5815916"/>
          <a:ext cx="5960688" cy="373155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sp>
        <p:nvSpPr>
          <p:cNvPr id="24" name="Google Shape;470;p10">
            <a:extLst>
              <a:ext uri="{FF2B5EF4-FFF2-40B4-BE49-F238E27FC236}">
                <a16:creationId xmlns:a16="http://schemas.microsoft.com/office/drawing/2014/main" id="{F3B9EEED-DFBA-4EE0-B1EC-018FC5EACA15}"/>
              </a:ext>
            </a:extLst>
          </p:cNvPr>
          <p:cNvSpPr/>
          <p:nvPr/>
        </p:nvSpPr>
        <p:spPr>
          <a:xfrm rot="2434">
            <a:off x="510621" y="6133510"/>
            <a:ext cx="4886983" cy="7303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12500"/>
              </a:lnSpc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600"/>
              <a:buFont typeface="Unbounded SemiBold"/>
              <a:buNone/>
              <a:tabLst/>
              <a:defRPr/>
            </a:pPr>
            <a:r>
              <a:rPr kumimoji="0" lang="ru-RU" b="1" i="0" u="none" strike="noStrike" kern="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Unbounded SemiBold"/>
                <a:ea typeface="Unbounded SemiBold"/>
                <a:cs typeface="Unbounded SemiBold"/>
                <a:sym typeface="Unbounded SemiBold"/>
              </a:rPr>
              <a:t>Объем данных,</a:t>
            </a:r>
            <a:r>
              <a:rPr lang="ru-RU" b="1" dirty="0">
                <a:solidFill>
                  <a:srgbClr val="222222"/>
                </a:solidFill>
                <a:latin typeface="Unbounded SemiBold"/>
                <a:ea typeface="Unbounded SemiBold"/>
                <a:cs typeface="Unbounded SemiBold"/>
                <a:sym typeface="Unbounded SemiBold"/>
              </a:rPr>
              <a:t> созданных, скопированных и потребленных в мире, зеттабайты </a:t>
            </a:r>
            <a:endParaRPr kumimoji="0" lang="ru-RU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Unbounded SemiBold"/>
              <a:ea typeface="Unbounded SemiBold"/>
              <a:cs typeface="Unbounded SemiBold"/>
              <a:sym typeface="Unbounded SemiBold"/>
            </a:endParaRPr>
          </a:p>
        </p:txBody>
      </p:sp>
      <p:sp>
        <p:nvSpPr>
          <p:cNvPr id="25" name="Прямоугольник: скругленные углы 24">
            <a:extLst>
              <a:ext uri="{FF2B5EF4-FFF2-40B4-BE49-F238E27FC236}">
                <a16:creationId xmlns:a16="http://schemas.microsoft.com/office/drawing/2014/main" id="{44DE2741-FA04-46EC-9A21-8B1397857363}"/>
              </a:ext>
            </a:extLst>
          </p:cNvPr>
          <p:cNvSpPr/>
          <p:nvPr/>
        </p:nvSpPr>
        <p:spPr>
          <a:xfrm>
            <a:off x="6553901" y="6131780"/>
            <a:ext cx="7879655" cy="3415691"/>
          </a:xfrm>
          <a:prstGeom prst="roundRect">
            <a:avLst>
              <a:gd name="adj" fmla="val 8453"/>
            </a:avLst>
          </a:prstGeom>
          <a:solidFill>
            <a:srgbClr val="E7E9F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26" name="Прямоугольник 25">
            <a:extLst>
              <a:ext uri="{FF2B5EF4-FFF2-40B4-BE49-F238E27FC236}">
                <a16:creationId xmlns:a16="http://schemas.microsoft.com/office/drawing/2014/main" id="{82ABDB37-7121-44E8-A1E7-F71247334229}"/>
              </a:ext>
            </a:extLst>
          </p:cNvPr>
          <p:cNvSpPr/>
          <p:nvPr/>
        </p:nvSpPr>
        <p:spPr>
          <a:xfrm>
            <a:off x="6616994" y="6328121"/>
            <a:ext cx="6457322" cy="218521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400" dirty="0">
                <a:solidFill>
                  <a:srgbClr val="002060"/>
                </a:solidFill>
                <a:latin typeface="Unbounded SemiBold" pitchFamily="2" charset="-52"/>
              </a:rPr>
              <a:t>1 зеттабайт (ЗБ)</a:t>
            </a:r>
            <a:r>
              <a:rPr lang="ru-RU" sz="1800" dirty="0">
                <a:solidFill>
                  <a:srgbClr val="002060"/>
                </a:solidFill>
                <a:latin typeface="Unbounded SemiBold" pitchFamily="2" charset="-52"/>
              </a:rPr>
              <a:t>=</a:t>
            </a:r>
          </a:p>
          <a:p>
            <a:endParaRPr lang="ru-RU" sz="1200" dirty="0">
              <a:latin typeface="Unbounded SemiBold" pitchFamily="2" charset="-52"/>
            </a:endParaRPr>
          </a:p>
          <a:p>
            <a:r>
              <a:rPr lang="ru-RU" sz="2000" dirty="0">
                <a:solidFill>
                  <a:schemeClr val="tx2">
                    <a:lumMod val="50000"/>
                  </a:schemeClr>
                </a:solidFill>
                <a:latin typeface="Unbounded SemiBold" pitchFamily="2" charset="-52"/>
              </a:rPr>
              <a:t>1 000 000 000 000 гигабайт (Гб)</a:t>
            </a:r>
          </a:p>
          <a:p>
            <a:endParaRPr lang="ru-RU" sz="2000" dirty="0">
              <a:solidFill>
                <a:schemeClr val="tx2">
                  <a:lumMod val="50000"/>
                </a:schemeClr>
              </a:solidFill>
              <a:latin typeface="Unbounded SemiBold" pitchFamily="2" charset="-52"/>
            </a:endParaRPr>
          </a:p>
          <a:p>
            <a:r>
              <a:rPr lang="ru-RU" sz="2000" dirty="0">
                <a:solidFill>
                  <a:schemeClr val="tx2">
                    <a:lumMod val="50000"/>
                  </a:schemeClr>
                </a:solidFill>
                <a:latin typeface="HelveticaNeueCyr" panose="02000503040000020004" pitchFamily="2" charset="-52"/>
              </a:rPr>
              <a:t>с одного жесткого диска объемом 1 ЗБ</a:t>
            </a:r>
            <a:br>
              <a:rPr lang="ru-RU" sz="2000" dirty="0">
                <a:solidFill>
                  <a:schemeClr val="tx2">
                    <a:lumMod val="50000"/>
                  </a:schemeClr>
                </a:solidFill>
                <a:latin typeface="HelveticaNeueCyr" panose="02000503040000020004" pitchFamily="2" charset="-52"/>
              </a:rPr>
            </a:br>
            <a:r>
              <a:rPr lang="ru-RU" sz="2000" dirty="0">
                <a:solidFill>
                  <a:schemeClr val="tx2">
                    <a:lumMod val="50000"/>
                  </a:schemeClr>
                </a:solidFill>
                <a:latin typeface="HelveticaNeueCyr" panose="02000503040000020004" pitchFamily="2" charset="-52"/>
              </a:rPr>
              <a:t>можно 63 миллиона лет смотреть видео</a:t>
            </a:r>
            <a:br>
              <a:rPr lang="ru-RU" sz="2000" dirty="0">
                <a:solidFill>
                  <a:schemeClr val="tx2">
                    <a:lumMod val="50000"/>
                  </a:schemeClr>
                </a:solidFill>
                <a:latin typeface="HelveticaNeueCyr" panose="02000503040000020004" pitchFamily="2" charset="-52"/>
              </a:rPr>
            </a:br>
            <a:r>
              <a:rPr lang="ru-RU" sz="2000" dirty="0">
                <a:solidFill>
                  <a:schemeClr val="tx2">
                    <a:lumMod val="50000"/>
                  </a:schemeClr>
                </a:solidFill>
                <a:latin typeface="HelveticaNeueCyr" panose="02000503040000020004" pitchFamily="2" charset="-52"/>
              </a:rPr>
              <a:t>с разрешением 4К 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AE813B14-BBCE-424E-86E4-528278B43609}"/>
              </a:ext>
            </a:extLst>
          </p:cNvPr>
          <p:cNvSpPr txBox="1"/>
          <p:nvPr/>
        </p:nvSpPr>
        <p:spPr>
          <a:xfrm>
            <a:off x="6553901" y="937902"/>
            <a:ext cx="7556500" cy="10611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ru-RU" sz="1800" b="1" dirty="0">
                <a:solidFill>
                  <a:srgbClr val="222222"/>
                </a:solidFill>
                <a:latin typeface="Unbounded SemiBold"/>
              </a:rPr>
              <a:t>До 2030 года прогнозируется экспоненциальный рост количества подключенных устройств, а следовательно:</a:t>
            </a:r>
          </a:p>
        </p:txBody>
      </p:sp>
      <p:sp>
        <p:nvSpPr>
          <p:cNvPr id="31" name="Прямоугольник 30">
            <a:extLst>
              <a:ext uri="{FF2B5EF4-FFF2-40B4-BE49-F238E27FC236}">
                <a16:creationId xmlns:a16="http://schemas.microsoft.com/office/drawing/2014/main" id="{4815288D-2CE3-46EB-9747-06E4E27A859E}"/>
              </a:ext>
            </a:extLst>
          </p:cNvPr>
          <p:cNvSpPr/>
          <p:nvPr/>
        </p:nvSpPr>
        <p:spPr>
          <a:xfrm>
            <a:off x="6553901" y="2070621"/>
            <a:ext cx="7556500" cy="3718647"/>
          </a:xfrm>
          <a:prstGeom prst="rect">
            <a:avLst/>
          </a:prstGeom>
        </p:spPr>
        <p:txBody>
          <a:bodyPr>
            <a:spAutoFit/>
          </a:bodyPr>
          <a:lstStyle/>
          <a:p>
            <a:pPr marL="285750" indent="-28575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ru-RU" sz="1800" b="1" dirty="0">
                <a:solidFill>
                  <a:srgbClr val="222222"/>
                </a:solidFill>
                <a:latin typeface="HelveticaNeueCyr" panose="02000503040000020004" pitchFamily="2" charset="-52"/>
              </a:rPr>
              <a:t>Рост количества данных</a:t>
            </a:r>
            <a:r>
              <a:rPr lang="ru-RU" sz="1800" dirty="0">
                <a:solidFill>
                  <a:srgbClr val="222222"/>
                </a:solidFill>
                <a:latin typeface="HelveticaNeueCyr" panose="02000503040000020004" pitchFamily="2" charset="-52"/>
              </a:rPr>
              <a:t>, которые необходимо правильно собирать, обрабатывать и хранить</a:t>
            </a:r>
          </a:p>
          <a:p>
            <a:pPr marL="285750" indent="-285750">
              <a:lnSpc>
                <a:spcPct val="120000"/>
              </a:lnSpc>
              <a:buFont typeface="Arial" panose="020B0604020202020204" pitchFamily="34" charset="0"/>
              <a:buChar char="•"/>
            </a:pPr>
            <a:endParaRPr lang="ru-RU" sz="1800" b="1" dirty="0">
              <a:solidFill>
                <a:srgbClr val="222222"/>
              </a:solidFill>
              <a:latin typeface="HelveticaNeueCyr" panose="02000503040000020004" pitchFamily="2" charset="-52"/>
            </a:endParaRPr>
          </a:p>
          <a:p>
            <a:pPr marL="285750" indent="-28575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ru-RU" sz="1800" b="1" dirty="0">
                <a:solidFill>
                  <a:srgbClr val="222222"/>
                </a:solidFill>
                <a:latin typeface="HelveticaNeueCyr" panose="02000503040000020004" pitchFamily="2" charset="-52"/>
              </a:rPr>
              <a:t>Рост потребности в центрах обработки данных.</a:t>
            </a:r>
            <a:br>
              <a:rPr lang="ru-RU" sz="1800" b="1" dirty="0">
                <a:solidFill>
                  <a:srgbClr val="222222"/>
                </a:solidFill>
                <a:latin typeface="HelveticaNeueCyr" panose="02000503040000020004" pitchFamily="2" charset="-52"/>
              </a:rPr>
            </a:br>
            <a:r>
              <a:rPr lang="ru-RU" sz="1800" dirty="0" err="1">
                <a:solidFill>
                  <a:srgbClr val="222222"/>
                </a:solidFill>
                <a:latin typeface="HelveticaNeueCyr" panose="02000503040000020004" pitchFamily="2" charset="-52"/>
              </a:rPr>
              <a:t>ЦОДы</a:t>
            </a:r>
            <a:r>
              <a:rPr lang="ru-RU" sz="1800" dirty="0">
                <a:solidFill>
                  <a:srgbClr val="222222"/>
                </a:solidFill>
                <a:latin typeface="HelveticaNeueCyr" panose="02000503040000020004" pitchFamily="2" charset="-52"/>
              </a:rPr>
              <a:t> становятся вычислительной основой новой цифровой инфраструктуры</a:t>
            </a:r>
            <a:br>
              <a:rPr lang="ru-RU" sz="1800" dirty="0">
                <a:solidFill>
                  <a:srgbClr val="222222"/>
                </a:solidFill>
                <a:latin typeface="HelveticaNeueCyr" panose="02000503040000020004" pitchFamily="2" charset="-52"/>
              </a:rPr>
            </a:br>
            <a:endParaRPr lang="ru-RU" sz="1800" dirty="0">
              <a:solidFill>
                <a:srgbClr val="222222"/>
              </a:solidFill>
              <a:latin typeface="HelveticaNeueCyr" panose="02000503040000020004" pitchFamily="2" charset="-52"/>
            </a:endParaRPr>
          </a:p>
          <a:p>
            <a:pPr marL="285750" indent="-28575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ru-RU" sz="1800" b="1" dirty="0">
                <a:solidFill>
                  <a:srgbClr val="222222"/>
                </a:solidFill>
                <a:latin typeface="HelveticaNeueCyr" panose="02000503040000020004" pitchFamily="2" charset="-52"/>
              </a:rPr>
              <a:t>Рост популярности и востребованности искусственного интеллекта. </a:t>
            </a:r>
            <a:r>
              <a:rPr lang="ru-RU" sz="1800" dirty="0">
                <a:solidFill>
                  <a:srgbClr val="222222"/>
                </a:solidFill>
                <a:latin typeface="HelveticaNeueCyr" panose="02000503040000020004" pitchFamily="2" charset="-52"/>
              </a:rPr>
              <a:t>Обработка больших данных, их </a:t>
            </a:r>
            <a:r>
              <a:rPr lang="ru-RU" sz="1800" dirty="0" err="1">
                <a:solidFill>
                  <a:srgbClr val="222222"/>
                </a:solidFill>
                <a:latin typeface="HelveticaNeueCyr" panose="02000503040000020004" pitchFamily="2" charset="-52"/>
              </a:rPr>
              <a:t>переиспользование</a:t>
            </a:r>
            <a:br>
              <a:rPr lang="ru-RU" sz="1800" dirty="0">
                <a:solidFill>
                  <a:srgbClr val="222222"/>
                </a:solidFill>
                <a:latin typeface="HelveticaNeueCyr" panose="02000503040000020004" pitchFamily="2" charset="-52"/>
              </a:rPr>
            </a:br>
            <a:r>
              <a:rPr lang="ru-RU" sz="1800" dirty="0">
                <a:solidFill>
                  <a:srgbClr val="222222"/>
                </a:solidFill>
                <a:latin typeface="HelveticaNeueCyr" panose="02000503040000020004" pitchFamily="2" charset="-52"/>
              </a:rPr>
              <a:t>и получение качественно новой информации, </a:t>
            </a:r>
            <a:r>
              <a:rPr lang="ru-RU" sz="1800" b="1" dirty="0">
                <a:solidFill>
                  <a:srgbClr val="222222"/>
                </a:solidFill>
                <a:latin typeface="HelveticaNeueCyr" panose="02000503040000020004" pitchFamily="2" charset="-52"/>
              </a:rPr>
              <a:t>становится проблемой, если не использовать искусственный интеллект</a:t>
            </a:r>
          </a:p>
        </p:txBody>
      </p:sp>
    </p:spTree>
    <p:extLst>
      <p:ext uri="{BB962C8B-B14F-4D97-AF65-F5344CB8AC3E}">
        <p14:creationId xmlns:p14="http://schemas.microsoft.com/office/powerpoint/2010/main" val="345013247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Прямоугольник: скругленные углы 14">
            <a:extLst>
              <a:ext uri="{FF2B5EF4-FFF2-40B4-BE49-F238E27FC236}">
                <a16:creationId xmlns:a16="http://schemas.microsoft.com/office/drawing/2014/main" id="{21A6EB33-6025-4E6B-B126-85F09F106F69}"/>
              </a:ext>
            </a:extLst>
          </p:cNvPr>
          <p:cNvSpPr/>
          <p:nvPr/>
        </p:nvSpPr>
        <p:spPr>
          <a:xfrm>
            <a:off x="212725" y="795805"/>
            <a:ext cx="4673545" cy="2492188"/>
          </a:xfrm>
          <a:prstGeom prst="roundRect">
            <a:avLst>
              <a:gd name="adj" fmla="val 8453"/>
            </a:avLst>
          </a:prstGeom>
          <a:solidFill>
            <a:srgbClr val="E7E9F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id="{CADC82BF-0C89-400C-98F4-578F57BE9F4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9FD2042-F21C-415A-9EA3-4A549B5658B7}" type="slidenum">
              <a:rPr kumimoji="0" lang="ru-RU" sz="1600" b="0" i="0" u="none" strike="noStrike" kern="1200" cap="none" spc="0" normalizeH="0" baseline="0" noProof="0" smtClean="0">
                <a:ln>
                  <a:noFill/>
                </a:ln>
                <a:solidFill>
                  <a:srgbClr val="FFFFFF">
                    <a:lumMod val="75000"/>
                  </a:srgbClr>
                </a:solidFill>
                <a:effectLst/>
                <a:uLnTx/>
                <a:uFillTx/>
                <a:latin typeface="Unbounded Light" pitchFamily="2" charset="-52"/>
                <a:sym typeface="Arial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ru-RU" sz="1600" b="0" i="0" u="none" strike="noStrike" kern="1200" cap="none" spc="0" normalizeH="0" baseline="0" noProof="0" dirty="0">
              <a:ln>
                <a:noFill/>
              </a:ln>
              <a:solidFill>
                <a:srgbClr val="FFFFFF">
                  <a:lumMod val="75000"/>
                </a:srgbClr>
              </a:solidFill>
              <a:effectLst/>
              <a:uLnTx/>
              <a:uFillTx/>
              <a:latin typeface="Unbounded Light" pitchFamily="2" charset="-52"/>
              <a:sym typeface="Arial"/>
            </a:endParaRPr>
          </a:p>
        </p:txBody>
      </p:sp>
      <p:sp>
        <p:nvSpPr>
          <p:cNvPr id="7" name="Google Shape;1046;p21">
            <a:extLst>
              <a:ext uri="{FF2B5EF4-FFF2-40B4-BE49-F238E27FC236}">
                <a16:creationId xmlns:a16="http://schemas.microsoft.com/office/drawing/2014/main" id="{BF704CA4-FC90-0D7F-95E2-B0F309C793A4}"/>
              </a:ext>
            </a:extLst>
          </p:cNvPr>
          <p:cNvSpPr/>
          <p:nvPr/>
        </p:nvSpPr>
        <p:spPr>
          <a:xfrm>
            <a:off x="212724" y="266700"/>
            <a:ext cx="11991975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2300"/>
              <a:buFont typeface="Arial"/>
              <a:buNone/>
              <a:tabLst/>
              <a:defRPr/>
            </a:pPr>
            <a:r>
              <a:rPr lang="ru-RU" sz="2400">
                <a:latin typeface="Unbounded Medium"/>
                <a:ea typeface="Unbounded Medium"/>
                <a:cs typeface="Unbounded Medium"/>
                <a:sym typeface="Unbounded Medium"/>
              </a:rPr>
              <a:t>Как растут данные в России и Москве</a:t>
            </a:r>
            <a:endParaRPr kumimoji="0" lang="ru-RU" sz="2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Unbounded Medium"/>
              <a:ea typeface="Unbounded Medium"/>
              <a:cs typeface="Unbounded Medium"/>
              <a:sym typeface="Unbounded Medium"/>
            </a:endParaRPr>
          </a:p>
        </p:txBody>
      </p:sp>
      <p:graphicFrame>
        <p:nvGraphicFramePr>
          <p:cNvPr id="17" name="Диаграмма 16">
            <a:extLst>
              <a:ext uri="{FF2B5EF4-FFF2-40B4-BE49-F238E27FC236}">
                <a16:creationId xmlns:a16="http://schemas.microsoft.com/office/drawing/2014/main" id="{14BE5172-922B-4B44-A20B-7E4938861761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195410550"/>
              </p:ext>
            </p:extLst>
          </p:nvPr>
        </p:nvGraphicFramePr>
        <p:xfrm>
          <a:off x="456563" y="5861859"/>
          <a:ext cx="4722665" cy="385093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21" name="Диаграмма 20">
            <a:extLst>
              <a:ext uri="{FF2B5EF4-FFF2-40B4-BE49-F238E27FC236}">
                <a16:creationId xmlns:a16="http://schemas.microsoft.com/office/drawing/2014/main" id="{8C2E5E79-D758-496A-83CF-D35A910C88F3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569197580"/>
              </p:ext>
            </p:extLst>
          </p:nvPr>
        </p:nvGraphicFramePr>
        <p:xfrm>
          <a:off x="5631907" y="5861859"/>
          <a:ext cx="4722664" cy="385093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DDD63A3E-2A84-4685-BCD2-F7A28DC8BA93}"/>
              </a:ext>
            </a:extLst>
          </p:cNvPr>
          <p:cNvSpPr/>
          <p:nvPr/>
        </p:nvSpPr>
        <p:spPr>
          <a:xfrm>
            <a:off x="5692616" y="5878398"/>
            <a:ext cx="3385123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b="1" kern="1200" dirty="0">
                <a:solidFill>
                  <a:schemeClr val="tx1"/>
                </a:solidFill>
                <a:highlight>
                  <a:srgbClr val="FFFFFF"/>
                </a:highlight>
                <a:latin typeface="Unbounded SemiBold" pitchFamily="2" charset="-52"/>
                <a:ea typeface="+mn-ea"/>
                <a:cs typeface="+mn-cs"/>
              </a:rPr>
              <a:t>Объем оперативной памяти*, Тбайт</a:t>
            </a:r>
            <a:endParaRPr lang="en-US" b="1" kern="1200" dirty="0">
              <a:solidFill>
                <a:schemeClr val="tx1"/>
              </a:solidFill>
              <a:highlight>
                <a:srgbClr val="FFFFFF"/>
              </a:highlight>
              <a:latin typeface="Unbounded SemiBold" pitchFamily="2" charset="-52"/>
              <a:ea typeface="+mn-ea"/>
              <a:cs typeface="+mn-cs"/>
            </a:endParaRPr>
          </a:p>
        </p:txBody>
      </p:sp>
      <p:sp>
        <p:nvSpPr>
          <p:cNvPr id="9" name="Прямоугольник 8">
            <a:extLst>
              <a:ext uri="{FF2B5EF4-FFF2-40B4-BE49-F238E27FC236}">
                <a16:creationId xmlns:a16="http://schemas.microsoft.com/office/drawing/2014/main" id="{BEE41831-025D-4E8B-8AE4-29E11571C18A}"/>
              </a:ext>
            </a:extLst>
          </p:cNvPr>
          <p:cNvSpPr/>
          <p:nvPr/>
        </p:nvSpPr>
        <p:spPr>
          <a:xfrm>
            <a:off x="456564" y="5861858"/>
            <a:ext cx="3598789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b="1" kern="1200" dirty="0">
                <a:solidFill>
                  <a:schemeClr val="tx1"/>
                </a:solidFill>
                <a:highlight>
                  <a:srgbClr val="FFFFFF"/>
                </a:highlight>
                <a:latin typeface="Unbounded SemiBold" pitchFamily="2" charset="-52"/>
                <a:ea typeface="+mn-ea"/>
                <a:cs typeface="+mn-cs"/>
              </a:rPr>
              <a:t>Количество виртуальных процессоров ЦОД*, </a:t>
            </a:r>
            <a:r>
              <a:rPr lang="ru-RU" b="1" kern="1200" dirty="0" err="1">
                <a:solidFill>
                  <a:schemeClr val="tx1"/>
                </a:solidFill>
                <a:highlight>
                  <a:srgbClr val="FFFFFF"/>
                </a:highlight>
                <a:latin typeface="Unbounded SemiBold" pitchFamily="2" charset="-52"/>
                <a:ea typeface="+mn-ea"/>
                <a:cs typeface="+mn-cs"/>
              </a:rPr>
              <a:t>шт</a:t>
            </a:r>
            <a:endParaRPr lang="ru-RU" b="1" kern="1200" dirty="0">
              <a:solidFill>
                <a:schemeClr val="tx1"/>
              </a:solidFill>
              <a:highlight>
                <a:srgbClr val="FFFFFF"/>
              </a:highlight>
              <a:latin typeface="Unbounded SemiBold" pitchFamily="2" charset="-52"/>
              <a:ea typeface="+mn-ea"/>
              <a:cs typeface="+mn-cs"/>
            </a:endParaRPr>
          </a:p>
        </p:txBody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B6D81E02-F5A5-435F-A2AB-E7752F9BFDF5}"/>
              </a:ext>
            </a:extLst>
          </p:cNvPr>
          <p:cNvSpPr/>
          <p:nvPr/>
        </p:nvSpPr>
        <p:spPr>
          <a:xfrm>
            <a:off x="212725" y="10045905"/>
            <a:ext cx="3594254" cy="24622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1000" dirty="0">
                <a:latin typeface="HelveticaNeueCyr" panose="02000503040000020004" pitchFamily="2" charset="-52"/>
                <a:hlinkClick r:id="rId5"/>
              </a:rPr>
              <a:t>https://cloudscene.com/region/datacenters-in-europe#russia</a:t>
            </a:r>
            <a:r>
              <a:rPr lang="ru-RU" sz="1000" dirty="0">
                <a:latin typeface="HelveticaNeueCyr" panose="02000503040000020004" pitchFamily="2" charset="-52"/>
              </a:rPr>
              <a:t> 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FC6CA6C-A18B-4639-B1F7-65BE36BF29F3}"/>
              </a:ext>
            </a:extLst>
          </p:cNvPr>
          <p:cNvSpPr txBox="1"/>
          <p:nvPr/>
        </p:nvSpPr>
        <p:spPr>
          <a:xfrm>
            <a:off x="212725" y="898940"/>
            <a:ext cx="4673545" cy="20867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ru-RU" sz="1800" b="1" dirty="0">
                <a:solidFill>
                  <a:srgbClr val="222222"/>
                </a:solidFill>
                <a:latin typeface="Unbounded SemiBold"/>
              </a:rPr>
              <a:t>В 2024 году в РФ насчитывается 251 центр обработки данных</a:t>
            </a:r>
          </a:p>
          <a:p>
            <a:pPr>
              <a:lnSpc>
                <a:spcPct val="120000"/>
              </a:lnSpc>
            </a:pPr>
            <a:r>
              <a:rPr lang="ru-RU" sz="1800" b="1" dirty="0">
                <a:solidFill>
                  <a:srgbClr val="222222"/>
                </a:solidFill>
                <a:latin typeface="Unbounded SemiBold"/>
              </a:rPr>
              <a:t> </a:t>
            </a:r>
          </a:p>
          <a:p>
            <a:pPr>
              <a:lnSpc>
                <a:spcPct val="80000"/>
              </a:lnSpc>
            </a:pPr>
            <a:r>
              <a:rPr lang="ru-RU" sz="1800" b="1" dirty="0">
                <a:solidFill>
                  <a:srgbClr val="222222"/>
                </a:solidFill>
                <a:latin typeface="HelveticaNeueCyr" panose="02000503040000020004" pitchFamily="2" charset="-52"/>
              </a:rPr>
              <a:t>Среди 160 </a:t>
            </a:r>
            <a:r>
              <a:rPr lang="ru-RU" sz="1800" b="1" dirty="0" err="1">
                <a:solidFill>
                  <a:srgbClr val="222222"/>
                </a:solidFill>
                <a:latin typeface="HelveticaNeueCyr" panose="02000503040000020004" pitchFamily="2" charset="-52"/>
              </a:rPr>
              <a:t>ЦОДов</a:t>
            </a:r>
            <a:r>
              <a:rPr lang="ru-RU" sz="1800" b="1" dirty="0">
                <a:solidFill>
                  <a:srgbClr val="222222"/>
                </a:solidFill>
                <a:latin typeface="HelveticaNeueCyr" panose="02000503040000020004" pitchFamily="2" charset="-52"/>
              </a:rPr>
              <a:t>, расположение которых известно, 30% находятся</a:t>
            </a:r>
            <a:br>
              <a:rPr lang="ru-RU" sz="1800" b="1" dirty="0">
                <a:solidFill>
                  <a:srgbClr val="222222"/>
                </a:solidFill>
                <a:latin typeface="HelveticaNeueCyr" panose="02000503040000020004" pitchFamily="2" charset="-52"/>
              </a:rPr>
            </a:br>
            <a:r>
              <a:rPr lang="ru-RU" sz="1800" b="1" dirty="0">
                <a:solidFill>
                  <a:srgbClr val="222222"/>
                </a:solidFill>
                <a:latin typeface="HelveticaNeueCyr" panose="02000503040000020004" pitchFamily="2" charset="-52"/>
              </a:rPr>
              <a:t>в Москве</a:t>
            </a:r>
          </a:p>
        </p:txBody>
      </p:sp>
      <p:sp>
        <p:nvSpPr>
          <p:cNvPr id="18" name="Прямоугольник: скругленные углы 17">
            <a:extLst>
              <a:ext uri="{FF2B5EF4-FFF2-40B4-BE49-F238E27FC236}">
                <a16:creationId xmlns:a16="http://schemas.microsoft.com/office/drawing/2014/main" id="{87287EE3-78EE-4B21-9400-3BE63C78D3F1}"/>
              </a:ext>
            </a:extLst>
          </p:cNvPr>
          <p:cNvSpPr/>
          <p:nvPr/>
        </p:nvSpPr>
        <p:spPr>
          <a:xfrm>
            <a:off x="5221315" y="795805"/>
            <a:ext cx="4673545" cy="2492188"/>
          </a:xfrm>
          <a:prstGeom prst="roundRect">
            <a:avLst>
              <a:gd name="adj" fmla="val 8453"/>
            </a:avLst>
          </a:prstGeom>
          <a:solidFill>
            <a:srgbClr val="E7E9F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133CA81C-6DE1-411C-A3D1-8343A3E5DF85}"/>
              </a:ext>
            </a:extLst>
          </p:cNvPr>
          <p:cNvSpPr txBox="1"/>
          <p:nvPr/>
        </p:nvSpPr>
        <p:spPr>
          <a:xfrm>
            <a:off x="5221315" y="898940"/>
            <a:ext cx="4673545" cy="20867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ru-RU" sz="1800" b="1" dirty="0">
                <a:solidFill>
                  <a:srgbClr val="222222"/>
                </a:solidFill>
                <a:latin typeface="Unbounded SemiBold"/>
              </a:rPr>
              <a:t>130,4 млн пользователей интернета было в РФ на начало 2024 года</a:t>
            </a:r>
          </a:p>
          <a:p>
            <a:pPr>
              <a:lnSpc>
                <a:spcPct val="120000"/>
              </a:lnSpc>
            </a:pPr>
            <a:r>
              <a:rPr lang="ru-RU" sz="1800" b="1" dirty="0">
                <a:solidFill>
                  <a:srgbClr val="222222"/>
                </a:solidFill>
                <a:latin typeface="Unbounded SemiBold"/>
              </a:rPr>
              <a:t> </a:t>
            </a:r>
          </a:p>
          <a:p>
            <a:pPr>
              <a:lnSpc>
                <a:spcPct val="80000"/>
              </a:lnSpc>
            </a:pPr>
            <a:r>
              <a:rPr lang="ru-RU" sz="1800" b="1" dirty="0">
                <a:solidFill>
                  <a:srgbClr val="222222"/>
                </a:solidFill>
                <a:latin typeface="HelveticaNeueCyr" panose="02000503040000020004" pitchFamily="2" charset="-52"/>
              </a:rPr>
              <a:t>В Москве показатель использования интернета составляет 97%</a:t>
            </a:r>
            <a:br>
              <a:rPr lang="ru-RU" sz="1800" b="1" dirty="0">
                <a:solidFill>
                  <a:srgbClr val="222222"/>
                </a:solidFill>
                <a:latin typeface="HelveticaNeueCyr" panose="02000503040000020004" pitchFamily="2" charset="-52"/>
              </a:rPr>
            </a:br>
            <a:r>
              <a:rPr lang="ru-RU" sz="1800" b="1" dirty="0">
                <a:solidFill>
                  <a:srgbClr val="222222"/>
                </a:solidFill>
                <a:latin typeface="HelveticaNeueCyr" panose="02000503040000020004" pitchFamily="2" charset="-52"/>
              </a:rPr>
              <a:t>(выше среднего по стране на 7 </a:t>
            </a:r>
            <a:r>
              <a:rPr lang="ru-RU" sz="1800" b="1" dirty="0" err="1">
                <a:solidFill>
                  <a:srgbClr val="222222"/>
                </a:solidFill>
                <a:latin typeface="HelveticaNeueCyr" panose="02000503040000020004" pitchFamily="2" charset="-52"/>
              </a:rPr>
              <a:t>п.п</a:t>
            </a:r>
            <a:r>
              <a:rPr lang="ru-RU" sz="1800" b="1" dirty="0">
                <a:solidFill>
                  <a:srgbClr val="222222"/>
                </a:solidFill>
                <a:latin typeface="HelveticaNeueCyr" panose="02000503040000020004" pitchFamily="2" charset="-52"/>
              </a:rPr>
              <a:t>.)</a:t>
            </a:r>
          </a:p>
        </p:txBody>
      </p:sp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95F8ADB3-64C6-41AE-BB5E-232DE59E255D}"/>
              </a:ext>
            </a:extLst>
          </p:cNvPr>
          <p:cNvSpPr/>
          <p:nvPr/>
        </p:nvSpPr>
        <p:spPr>
          <a:xfrm>
            <a:off x="212725" y="10242694"/>
            <a:ext cx="3740126" cy="24622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1000" dirty="0">
                <a:latin typeface="HelveticaNeueCyr" panose="02000503040000020004" pitchFamily="2" charset="-52"/>
                <a:hlinkClick r:id="rId6"/>
              </a:rPr>
              <a:t>https://datareportal.com/reports/digital-2024-russian-federation</a:t>
            </a:r>
            <a:r>
              <a:rPr lang="ru-RU" sz="1000" dirty="0">
                <a:latin typeface="HelveticaNeueCyr" panose="02000503040000020004" pitchFamily="2" charset="-52"/>
              </a:rPr>
              <a:t> </a:t>
            </a:r>
          </a:p>
        </p:txBody>
      </p:sp>
      <p:sp>
        <p:nvSpPr>
          <p:cNvPr id="20" name="Прямоугольник: скругленные углы 19">
            <a:extLst>
              <a:ext uri="{FF2B5EF4-FFF2-40B4-BE49-F238E27FC236}">
                <a16:creationId xmlns:a16="http://schemas.microsoft.com/office/drawing/2014/main" id="{BA827867-61BF-4473-AB81-3AF7685FB395}"/>
              </a:ext>
            </a:extLst>
          </p:cNvPr>
          <p:cNvSpPr/>
          <p:nvPr/>
        </p:nvSpPr>
        <p:spPr>
          <a:xfrm>
            <a:off x="10229905" y="795805"/>
            <a:ext cx="4673545" cy="2492188"/>
          </a:xfrm>
          <a:prstGeom prst="roundRect">
            <a:avLst>
              <a:gd name="adj" fmla="val 8453"/>
            </a:avLst>
          </a:prstGeom>
          <a:solidFill>
            <a:srgbClr val="E7E9F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08FD8DE8-D2F0-4DC1-B70D-C1F8C60B2049}"/>
              </a:ext>
            </a:extLst>
          </p:cNvPr>
          <p:cNvSpPr txBox="1"/>
          <p:nvPr/>
        </p:nvSpPr>
        <p:spPr>
          <a:xfrm>
            <a:off x="10229905" y="979150"/>
            <a:ext cx="4673545" cy="20867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80000"/>
              </a:lnSpc>
              <a:buFont typeface="Arial"/>
              <a:buChar char="•"/>
            </a:pPr>
            <a:r>
              <a:rPr lang="ru-RU" sz="1800" b="1" dirty="0">
                <a:solidFill>
                  <a:srgbClr val="222222"/>
                </a:solidFill>
                <a:latin typeface="HelveticaNeueCyr" panose="02000503040000020004" pitchFamily="2" charset="-52"/>
              </a:rPr>
              <a:t>Более 15,9 млн пользователей зарегистрировано на портале </a:t>
            </a:r>
            <a:r>
              <a:rPr lang="en-US" sz="1800" b="1" dirty="0">
                <a:solidFill>
                  <a:srgbClr val="222222"/>
                </a:solidFill>
                <a:latin typeface="HelveticaNeueCyr" panose="02000503040000020004" pitchFamily="2" charset="-52"/>
              </a:rPr>
              <a:t>mos.ru</a:t>
            </a:r>
            <a:r>
              <a:rPr lang="ru-RU" sz="1800" b="1" dirty="0">
                <a:solidFill>
                  <a:srgbClr val="222222"/>
                </a:solidFill>
                <a:latin typeface="HelveticaNeueCyr" panose="02000503040000020004" pitchFamily="2" charset="-52"/>
              </a:rPr>
              <a:t> (9 мес. 2024 года)</a:t>
            </a:r>
          </a:p>
          <a:p>
            <a:pPr marL="285750" indent="-285750">
              <a:lnSpc>
                <a:spcPct val="80000"/>
              </a:lnSpc>
              <a:buFont typeface="Arial"/>
              <a:buChar char="•"/>
            </a:pPr>
            <a:endParaRPr lang="en-US" sz="1800" b="1" dirty="0">
              <a:solidFill>
                <a:srgbClr val="222222"/>
              </a:solidFill>
              <a:latin typeface="HelveticaNeueCyr" panose="02000503040000020004" pitchFamily="2" charset="-52"/>
            </a:endParaRPr>
          </a:p>
          <a:p>
            <a:pPr marL="285750" indent="-285750">
              <a:lnSpc>
                <a:spcPct val="80000"/>
              </a:lnSpc>
              <a:buFont typeface="Arial"/>
              <a:buChar char="•"/>
            </a:pPr>
            <a:r>
              <a:rPr lang="ru-RU" sz="1800" b="1" dirty="0">
                <a:solidFill>
                  <a:srgbClr val="222222"/>
                </a:solidFill>
                <a:latin typeface="HelveticaNeueCyr" panose="02000503040000020004" pitchFamily="2" charset="-52"/>
              </a:rPr>
              <a:t>420 сервисов и услуг доступны москвичам в электронном виде</a:t>
            </a:r>
          </a:p>
          <a:p>
            <a:pPr marL="285750" indent="-285750">
              <a:lnSpc>
                <a:spcPct val="80000"/>
              </a:lnSpc>
              <a:buFont typeface="Arial"/>
              <a:buChar char="•"/>
            </a:pPr>
            <a:endParaRPr lang="ru-RU" sz="1800" b="1" dirty="0">
              <a:solidFill>
                <a:srgbClr val="222222"/>
              </a:solidFill>
              <a:latin typeface="HelveticaNeueCyr" panose="02000503040000020004" pitchFamily="2" charset="-52"/>
            </a:endParaRPr>
          </a:p>
          <a:p>
            <a:pPr marL="285750" indent="-285750">
              <a:lnSpc>
                <a:spcPct val="80000"/>
              </a:lnSpc>
              <a:buFont typeface="Arial"/>
              <a:buChar char="•"/>
            </a:pPr>
            <a:r>
              <a:rPr lang="ru-RU" sz="1800" b="1" dirty="0">
                <a:solidFill>
                  <a:srgbClr val="222222"/>
                </a:solidFill>
                <a:latin typeface="HelveticaNeueCyr" panose="02000503040000020004" pitchFamily="2" charset="-52"/>
              </a:rPr>
              <a:t>Более 763 млн обращений граждан через </a:t>
            </a:r>
            <a:r>
              <a:rPr lang="en-US" sz="1800" b="1" dirty="0">
                <a:solidFill>
                  <a:srgbClr val="222222"/>
                </a:solidFill>
                <a:latin typeface="HelveticaNeueCyr" panose="02000503040000020004" pitchFamily="2" charset="-52"/>
              </a:rPr>
              <a:t>mos.ru</a:t>
            </a:r>
            <a:r>
              <a:rPr lang="ru-RU" sz="1800" b="1" dirty="0">
                <a:solidFill>
                  <a:srgbClr val="222222"/>
                </a:solidFill>
                <a:latin typeface="HelveticaNeueCyr" panose="02000503040000020004" pitchFamily="2" charset="-52"/>
              </a:rPr>
              <a:t> в год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E5AEEA20-EC25-4335-B052-2DA0031E52BB}"/>
              </a:ext>
            </a:extLst>
          </p:cNvPr>
          <p:cNvSpPr txBox="1"/>
          <p:nvPr/>
        </p:nvSpPr>
        <p:spPr>
          <a:xfrm>
            <a:off x="212724" y="3520830"/>
            <a:ext cx="14220831" cy="72878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ru-RU" sz="1800" b="1" dirty="0">
                <a:solidFill>
                  <a:srgbClr val="222222"/>
                </a:solidFill>
                <a:latin typeface="Unbounded SemiBold"/>
              </a:rPr>
              <a:t>Москва является лидером в сфере цифровизации государственных услуг как в России,</a:t>
            </a:r>
            <a:br>
              <a:rPr lang="ru-RU" sz="1800" b="1" dirty="0">
                <a:solidFill>
                  <a:srgbClr val="222222"/>
                </a:solidFill>
                <a:latin typeface="Unbounded SemiBold"/>
              </a:rPr>
            </a:br>
            <a:r>
              <a:rPr lang="ru-RU" sz="1800" b="1" dirty="0">
                <a:solidFill>
                  <a:srgbClr val="222222"/>
                </a:solidFill>
                <a:latin typeface="Unbounded SemiBold"/>
              </a:rPr>
              <a:t>так и в мире </a:t>
            </a:r>
          </a:p>
        </p:txBody>
      </p:sp>
      <p:sp>
        <p:nvSpPr>
          <p:cNvPr id="24" name="Прямоугольник 23">
            <a:extLst>
              <a:ext uri="{FF2B5EF4-FFF2-40B4-BE49-F238E27FC236}">
                <a16:creationId xmlns:a16="http://schemas.microsoft.com/office/drawing/2014/main" id="{E7974CD3-A069-4FCC-8292-07E377305996}"/>
              </a:ext>
            </a:extLst>
          </p:cNvPr>
          <p:cNvSpPr/>
          <p:nvPr/>
        </p:nvSpPr>
        <p:spPr>
          <a:xfrm>
            <a:off x="212725" y="4215325"/>
            <a:ext cx="13904118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1800" dirty="0">
                <a:solidFill>
                  <a:srgbClr val="222222"/>
                </a:solidFill>
                <a:latin typeface="HelveticaNeueCyr" panose="02000503040000020004" pitchFamily="2" charset="-52"/>
              </a:rPr>
              <a:t>Вызовы в Москве: </a:t>
            </a:r>
            <a:endParaRPr lang="en-US" sz="1800" dirty="0">
              <a:solidFill>
                <a:srgbClr val="222222"/>
              </a:solidFill>
              <a:latin typeface="HelveticaNeueCyr" panose="02000503040000020004" pitchFamily="2" charset="-52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800" dirty="0">
                <a:solidFill>
                  <a:srgbClr val="222222"/>
                </a:solidFill>
                <a:latin typeface="HelveticaNeueCyr" panose="02000503040000020004" pitchFamily="2" charset="-52"/>
              </a:rPr>
              <a:t>Необходимо </a:t>
            </a:r>
            <a:r>
              <a:rPr lang="ru-RU" sz="1800" b="1" dirty="0">
                <a:solidFill>
                  <a:srgbClr val="222222"/>
                </a:solidFill>
                <a:latin typeface="HelveticaNeueCyr" panose="02000503040000020004" pitchFamily="2" charset="-52"/>
              </a:rPr>
              <a:t>собирать, обрабатывать и хранить данные</a:t>
            </a:r>
            <a:endParaRPr lang="en-US" sz="1800" b="1" dirty="0">
              <a:solidFill>
                <a:srgbClr val="222222"/>
              </a:solidFill>
              <a:latin typeface="HelveticaNeueCyr" panose="02000503040000020004" pitchFamily="2" charset="-52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800" b="1" dirty="0">
                <a:solidFill>
                  <a:srgbClr val="222222"/>
                </a:solidFill>
                <a:latin typeface="HelveticaNeueCyr" panose="02000503040000020004" pitchFamily="2" charset="-52"/>
              </a:rPr>
              <a:t>Внедрять решения ИИ </a:t>
            </a:r>
            <a:r>
              <a:rPr lang="ru-RU" sz="1800" dirty="0">
                <a:solidFill>
                  <a:srgbClr val="222222"/>
                </a:solidFill>
                <a:latin typeface="HelveticaNeueCyr" panose="02000503040000020004" pitchFamily="2" charset="-52"/>
              </a:rPr>
              <a:t>для повышения качества и скорости работы с данными и</a:t>
            </a:r>
            <a:r>
              <a:rPr lang="en-US" sz="1800" dirty="0">
                <a:solidFill>
                  <a:srgbClr val="222222"/>
                </a:solidFill>
                <a:latin typeface="HelveticaNeueCyr" panose="02000503040000020004" pitchFamily="2" charset="-52"/>
              </a:rPr>
              <a:t> </a:t>
            </a:r>
            <a:r>
              <a:rPr lang="ru-RU" sz="1800" dirty="0">
                <a:solidFill>
                  <a:srgbClr val="222222"/>
                </a:solidFill>
                <a:latin typeface="HelveticaNeueCyr" panose="02000503040000020004" pitchFamily="2" charset="-52"/>
              </a:rPr>
              <a:t>для повышения качества городских электронных услуг</a:t>
            </a:r>
            <a:endParaRPr lang="en-US" sz="1800" dirty="0">
              <a:solidFill>
                <a:srgbClr val="222222"/>
              </a:solidFill>
              <a:latin typeface="HelveticaNeueCyr" panose="02000503040000020004" pitchFamily="2" charset="-52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800" b="1" dirty="0">
                <a:solidFill>
                  <a:srgbClr val="222222"/>
                </a:solidFill>
                <a:latin typeface="HelveticaNeueCyr" panose="02000503040000020004" pitchFamily="2" charset="-52"/>
              </a:rPr>
              <a:t>Наращивать вычислительные мощности </a:t>
            </a:r>
            <a:r>
              <a:rPr lang="ru-RU" sz="1800" dirty="0">
                <a:solidFill>
                  <a:srgbClr val="222222"/>
                </a:solidFill>
                <a:latin typeface="HelveticaNeueCyr" panose="02000503040000020004" pitchFamily="2" charset="-52"/>
              </a:rPr>
              <a:t>для развития цифровых сервисов и услуг</a:t>
            </a:r>
            <a:endParaRPr lang="ru-RU" sz="1800" b="1" dirty="0">
              <a:solidFill>
                <a:srgbClr val="222222"/>
              </a:solidFill>
              <a:latin typeface="HelveticaNeueCyr" panose="02000503040000020004" pitchFamily="2" charset="-52"/>
            </a:endParaRPr>
          </a:p>
        </p:txBody>
      </p:sp>
      <p:sp>
        <p:nvSpPr>
          <p:cNvPr id="26" name="Прямоугольник 25">
            <a:extLst>
              <a:ext uri="{FF2B5EF4-FFF2-40B4-BE49-F238E27FC236}">
                <a16:creationId xmlns:a16="http://schemas.microsoft.com/office/drawing/2014/main" id="{DDD3C1FD-E4B3-4493-8EE5-6384FD54DCC2}"/>
              </a:ext>
            </a:extLst>
          </p:cNvPr>
          <p:cNvSpPr/>
          <p:nvPr/>
        </p:nvSpPr>
        <p:spPr>
          <a:xfrm>
            <a:off x="3952852" y="10028237"/>
            <a:ext cx="10163992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000" dirty="0">
                <a:latin typeface="HelveticaNeueCyr" panose="02000503040000020004" pitchFamily="2" charset="-52"/>
              </a:rPr>
              <a:t>* </a:t>
            </a:r>
            <a:r>
              <a:rPr lang="ru-RU" sz="1000" dirty="0">
                <a:latin typeface="HelveticaNeueCyr" panose="02000503040000020004" pitchFamily="2" charset="-52"/>
              </a:rPr>
              <a:t>Приведены данные о состоянии ЦОД СОЦСФЕРА. ЦОД СОЦСФЕРА  представляет из себя три физические площадки, логически объединенные посредством высокоскоростных магистральных каналов связи в один виртуальный ЦОД В ЦОД СОЦСФЕРЫ размещена Общегородская платформа ИИ. Основными потребителями высокопроизводительных мощностей (</a:t>
            </a:r>
            <a:r>
              <a:rPr lang="en-US" sz="1000" dirty="0">
                <a:latin typeface="HelveticaNeueCyr" panose="02000503040000020004" pitchFamily="2" charset="-52"/>
              </a:rPr>
              <a:t>GPU) </a:t>
            </a:r>
            <a:r>
              <a:rPr lang="ru-RU" sz="1000" dirty="0">
                <a:latin typeface="HelveticaNeueCyr" panose="02000503040000020004" pitchFamily="2" charset="-52"/>
              </a:rPr>
              <a:t>являются: </a:t>
            </a:r>
            <a:r>
              <a:rPr lang="ru-RU" sz="1000" dirty="0" err="1">
                <a:latin typeface="HelveticaNeueCyr" panose="02000503040000020004" pitchFamily="2" charset="-52"/>
              </a:rPr>
              <a:t>Мос</a:t>
            </a:r>
            <a:r>
              <a:rPr lang="en-US" sz="1000" dirty="0">
                <a:latin typeface="HelveticaNeueCyr" panose="02000503040000020004" pitchFamily="2" charset="-52"/>
              </a:rPr>
              <a:t>GPT, </a:t>
            </a:r>
            <a:r>
              <a:rPr lang="ru-RU" sz="1000" dirty="0">
                <a:latin typeface="HelveticaNeueCyr" panose="02000503040000020004" pitchFamily="2" charset="-52"/>
              </a:rPr>
              <a:t>Голосовой помощник, Цифровой Двойник и др.</a:t>
            </a:r>
          </a:p>
          <a:p>
            <a:endParaRPr lang="ru-RU" sz="1000" dirty="0">
              <a:latin typeface="HelveticaNeueCyr" panose="02000503040000020004" pitchFamily="2" charset="-52"/>
            </a:endParaRPr>
          </a:p>
        </p:txBody>
      </p:sp>
    </p:spTree>
    <p:extLst>
      <p:ext uri="{BB962C8B-B14F-4D97-AF65-F5344CB8AC3E}">
        <p14:creationId xmlns:p14="http://schemas.microsoft.com/office/powerpoint/2010/main" val="317158694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id="{CADC82BF-0C89-400C-98F4-578F57BE9F4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9FD2042-F21C-415A-9EA3-4A549B5658B7}" type="slidenum">
              <a:rPr kumimoji="0" lang="ru-RU" sz="1600" b="0" i="0" u="none" strike="noStrike" kern="1200" cap="none" spc="0" normalizeH="0" baseline="0" noProof="0" smtClean="0">
                <a:ln>
                  <a:noFill/>
                </a:ln>
                <a:solidFill>
                  <a:srgbClr val="FFFFFF">
                    <a:lumMod val="75000"/>
                  </a:srgbClr>
                </a:solidFill>
                <a:effectLst/>
                <a:uLnTx/>
                <a:uFillTx/>
                <a:latin typeface="Unbounded Light" pitchFamily="2" charset="-52"/>
                <a:sym typeface="Arial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ru-RU" sz="1600" b="0" i="0" u="none" strike="noStrike" kern="1200" cap="none" spc="0" normalizeH="0" baseline="0" noProof="0" dirty="0">
              <a:ln>
                <a:noFill/>
              </a:ln>
              <a:solidFill>
                <a:srgbClr val="FFFFFF">
                  <a:lumMod val="75000"/>
                </a:srgbClr>
              </a:solidFill>
              <a:effectLst/>
              <a:uLnTx/>
              <a:uFillTx/>
              <a:latin typeface="Unbounded Light" pitchFamily="2" charset="-52"/>
              <a:sym typeface="Arial"/>
            </a:endParaRPr>
          </a:p>
        </p:txBody>
      </p:sp>
      <p:sp>
        <p:nvSpPr>
          <p:cNvPr id="7" name="Google Shape;1046;p21">
            <a:extLst>
              <a:ext uri="{FF2B5EF4-FFF2-40B4-BE49-F238E27FC236}">
                <a16:creationId xmlns:a16="http://schemas.microsoft.com/office/drawing/2014/main" id="{BF704CA4-FC90-0D7F-95E2-B0F309C793A4}"/>
              </a:ext>
            </a:extLst>
          </p:cNvPr>
          <p:cNvSpPr/>
          <p:nvPr/>
        </p:nvSpPr>
        <p:spPr>
          <a:xfrm>
            <a:off x="212724" y="266700"/>
            <a:ext cx="13022013" cy="7386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2300"/>
              <a:buFont typeface="Arial"/>
              <a:buNone/>
              <a:tabLst/>
              <a:defRPr/>
            </a:pPr>
            <a:r>
              <a:rPr lang="ru-RU" sz="2400" dirty="0">
                <a:latin typeface="Unbounded Medium"/>
                <a:ea typeface="Unbounded Medium"/>
                <a:cs typeface="Unbounded Medium"/>
                <a:sym typeface="Unbounded Medium"/>
              </a:rPr>
              <a:t>Искусственный интеллект и потребности в вычислительных мощностях</a:t>
            </a:r>
            <a:endParaRPr kumimoji="0" lang="ru-RU" sz="2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Unbounded Medium"/>
              <a:ea typeface="Unbounded Medium"/>
              <a:cs typeface="Unbounded Medium"/>
              <a:sym typeface="Unbounded Medium"/>
            </a:endParaRPr>
          </a:p>
        </p:txBody>
      </p:sp>
      <p:graphicFrame>
        <p:nvGraphicFramePr>
          <p:cNvPr id="5" name="Диаграмма 4">
            <a:extLst>
              <a:ext uri="{FF2B5EF4-FFF2-40B4-BE49-F238E27FC236}">
                <a16:creationId xmlns:a16="http://schemas.microsoft.com/office/drawing/2014/main" id="{AB8DDDBF-C2EF-403F-BD95-573679D7AF70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085041773"/>
              </p:ext>
            </p:extLst>
          </p:nvPr>
        </p:nvGraphicFramePr>
        <p:xfrm>
          <a:off x="212724" y="1152552"/>
          <a:ext cx="5801759" cy="421831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Google Shape;470;p10">
            <a:extLst>
              <a:ext uri="{FF2B5EF4-FFF2-40B4-BE49-F238E27FC236}">
                <a16:creationId xmlns:a16="http://schemas.microsoft.com/office/drawing/2014/main" id="{842E648F-927C-4A6A-BD3A-7E30754C318D}"/>
              </a:ext>
            </a:extLst>
          </p:cNvPr>
          <p:cNvSpPr/>
          <p:nvPr/>
        </p:nvSpPr>
        <p:spPr>
          <a:xfrm rot="2434">
            <a:off x="325831" y="1212553"/>
            <a:ext cx="4886983" cy="2434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12500"/>
              </a:lnSpc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600"/>
              <a:buFont typeface="Unbounded SemiBold"/>
              <a:buNone/>
              <a:tabLst/>
              <a:defRPr/>
            </a:pPr>
            <a:r>
              <a:rPr kumimoji="0" lang="ru-RU" b="1" i="0" u="none" strike="noStrike" kern="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Unbounded SemiBold"/>
                <a:ea typeface="Unbounded SemiBold"/>
                <a:cs typeface="Unbounded SemiBold"/>
                <a:sym typeface="Unbounded SemiBold"/>
              </a:rPr>
              <a:t>Объем </a:t>
            </a:r>
            <a:r>
              <a:rPr lang="ru-RU" b="1" dirty="0">
                <a:solidFill>
                  <a:srgbClr val="222222"/>
                </a:solidFill>
                <a:latin typeface="Unbounded SemiBold"/>
                <a:ea typeface="Unbounded SemiBold"/>
                <a:cs typeface="Unbounded SemiBold"/>
                <a:sym typeface="Unbounded SemiBold"/>
              </a:rPr>
              <a:t>рынка ИИ в мире, млрд </a:t>
            </a:r>
            <a:r>
              <a:rPr lang="en-US" b="1" dirty="0">
                <a:solidFill>
                  <a:srgbClr val="222222"/>
                </a:solidFill>
                <a:latin typeface="Unbounded SemiBold"/>
                <a:ea typeface="Unbounded SemiBold"/>
                <a:cs typeface="Unbounded SemiBold"/>
                <a:sym typeface="Unbounded SemiBold"/>
              </a:rPr>
              <a:t>$</a:t>
            </a:r>
            <a:endParaRPr kumimoji="0" lang="ru-RU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Unbounded SemiBold"/>
              <a:ea typeface="Unbounded SemiBold"/>
              <a:cs typeface="Unbounded SemiBold"/>
              <a:sym typeface="Unbounded SemiBold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F6A40BB-BECB-41BD-B36C-388016AC55B7}"/>
              </a:ext>
            </a:extLst>
          </p:cNvPr>
          <p:cNvSpPr txBox="1"/>
          <p:nvPr/>
        </p:nvSpPr>
        <p:spPr>
          <a:xfrm>
            <a:off x="6499231" y="2571843"/>
            <a:ext cx="803360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600" b="1" dirty="0">
                <a:solidFill>
                  <a:srgbClr val="222222"/>
                </a:solidFill>
                <a:latin typeface="HelveticaNeueCyr" panose="02000503040000020004" pitchFamily="2" charset="-52"/>
              </a:rPr>
              <a:t>По прогнозам мировой спрос на мощности </a:t>
            </a:r>
            <a:r>
              <a:rPr lang="ru-RU" sz="1600" b="1" dirty="0" err="1">
                <a:solidFill>
                  <a:srgbClr val="222222"/>
                </a:solidFill>
                <a:latin typeface="HelveticaNeueCyr" panose="02000503040000020004" pitchFamily="2" charset="-52"/>
              </a:rPr>
              <a:t>ЦОДов</a:t>
            </a:r>
            <a:r>
              <a:rPr lang="ru-RU" sz="1600" b="1" dirty="0">
                <a:solidFill>
                  <a:srgbClr val="222222"/>
                </a:solidFill>
                <a:latin typeface="HelveticaNeueCyr" panose="02000503040000020004" pitchFamily="2" charset="-52"/>
              </a:rPr>
              <a:t> может возрасти</a:t>
            </a:r>
            <a:br>
              <a:rPr lang="ru-RU" sz="1600" b="1" dirty="0">
                <a:solidFill>
                  <a:srgbClr val="222222"/>
                </a:solidFill>
                <a:latin typeface="HelveticaNeueCyr" panose="02000503040000020004" pitchFamily="2" charset="-52"/>
              </a:rPr>
            </a:br>
            <a:r>
              <a:rPr lang="ru-RU" sz="1600" b="1" dirty="0">
                <a:solidFill>
                  <a:srgbClr val="222222"/>
                </a:solidFill>
                <a:latin typeface="HelveticaNeueCyr" panose="02000503040000020004" pitchFamily="2" charset="-52"/>
              </a:rPr>
              <a:t>в 3 и более раз к 2030 году:</a:t>
            </a:r>
          </a:p>
        </p:txBody>
      </p:sp>
      <p:sp>
        <p:nvSpPr>
          <p:cNvPr id="13" name="Прямоугольник 12">
            <a:extLst>
              <a:ext uri="{FF2B5EF4-FFF2-40B4-BE49-F238E27FC236}">
                <a16:creationId xmlns:a16="http://schemas.microsoft.com/office/drawing/2014/main" id="{EFF583EC-8143-4CDB-9BC0-138B819641B3}"/>
              </a:ext>
            </a:extLst>
          </p:cNvPr>
          <p:cNvSpPr/>
          <p:nvPr/>
        </p:nvSpPr>
        <p:spPr>
          <a:xfrm>
            <a:off x="6499231" y="1517203"/>
            <a:ext cx="7556500" cy="952120"/>
          </a:xfrm>
          <a:prstGeom prst="rect">
            <a:avLst/>
          </a:prstGeom>
        </p:spPr>
        <p:txBody>
          <a:bodyPr>
            <a:spAutoFit/>
          </a:bodyPr>
          <a:lstStyle/>
          <a:p>
            <a:pPr marL="285750" indent="-28575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ru-RU" sz="1600" dirty="0">
                <a:solidFill>
                  <a:srgbClr val="222222"/>
                </a:solidFill>
                <a:latin typeface="HelveticaNeueCyr" panose="02000503040000020004" pitchFamily="2" charset="-52"/>
              </a:rPr>
              <a:t>Качественные данные</a:t>
            </a:r>
          </a:p>
          <a:p>
            <a:pPr marL="285750" indent="-28575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ru-RU" sz="1600" dirty="0">
                <a:solidFill>
                  <a:srgbClr val="222222"/>
                </a:solidFill>
                <a:latin typeface="HelveticaNeueCyr" panose="02000503040000020004" pitchFamily="2" charset="-52"/>
              </a:rPr>
              <a:t>Алгоритмы и модели</a:t>
            </a:r>
          </a:p>
          <a:p>
            <a:pPr marL="285750" indent="-28575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ru-RU" sz="1600" b="1" dirty="0">
                <a:solidFill>
                  <a:srgbClr val="222222"/>
                </a:solidFill>
                <a:latin typeface="HelveticaNeueCyr" panose="02000503040000020004" pitchFamily="2" charset="-52"/>
              </a:rPr>
              <a:t>Вычислительные мощности</a:t>
            </a:r>
            <a:endParaRPr lang="ru-RU" sz="1800" dirty="0">
              <a:solidFill>
                <a:srgbClr val="222222"/>
              </a:solidFill>
              <a:latin typeface="HelveticaNeueCyr" panose="02000503040000020004" pitchFamily="2" charset="-52"/>
            </a:endParaRPr>
          </a:p>
        </p:txBody>
      </p:sp>
      <p:grpSp>
        <p:nvGrpSpPr>
          <p:cNvPr id="36" name="Группа 35">
            <a:extLst>
              <a:ext uri="{FF2B5EF4-FFF2-40B4-BE49-F238E27FC236}">
                <a16:creationId xmlns:a16="http://schemas.microsoft.com/office/drawing/2014/main" id="{FA83779D-355A-4D40-B90F-2A9E5330EFCF}"/>
              </a:ext>
            </a:extLst>
          </p:cNvPr>
          <p:cNvGrpSpPr/>
          <p:nvPr/>
        </p:nvGrpSpPr>
        <p:grpSpPr>
          <a:xfrm>
            <a:off x="512430" y="6944405"/>
            <a:ext cx="13921126" cy="2771853"/>
            <a:chOff x="356347" y="1739155"/>
            <a:chExt cx="13921126" cy="2771853"/>
          </a:xfrm>
        </p:grpSpPr>
        <p:graphicFrame>
          <p:nvGraphicFramePr>
            <p:cNvPr id="41" name="Схема 40">
              <a:extLst>
                <a:ext uri="{FF2B5EF4-FFF2-40B4-BE49-F238E27FC236}">
                  <a16:creationId xmlns:a16="http://schemas.microsoft.com/office/drawing/2014/main" id="{D9D27C93-63AE-492C-90D4-3E047E3FA86D}"/>
                </a:ext>
              </a:extLst>
            </p:cNvPr>
            <p:cNvGraphicFramePr/>
            <p:nvPr>
              <p:extLst>
                <p:ext uri="{D42A27DB-BD31-4B8C-83A1-F6EECF244321}">
                  <p14:modId xmlns:p14="http://schemas.microsoft.com/office/powerpoint/2010/main" val="1380799526"/>
                </p:ext>
              </p:extLst>
            </p:nvPr>
          </p:nvGraphicFramePr>
          <p:xfrm>
            <a:off x="573436" y="2158471"/>
            <a:ext cx="13704037" cy="2120999"/>
          </p:xfrm>
          <a:graphic>
            <a:graphicData uri="http://schemas.openxmlformats.org/drawingml/2006/diagram">
              <dgm:relIds xmlns:dgm="http://schemas.openxmlformats.org/drawingml/2006/diagram" xmlns:r="http://schemas.openxmlformats.org/officeDocument/2006/relationships" r:dm="rId4" r:lo="rId5" r:qs="rId6" r:cs="rId7"/>
            </a:graphicData>
          </a:graphic>
        </p:graphicFrame>
        <p:sp>
          <p:nvSpPr>
            <p:cNvPr id="52" name="Прямоугольник 51">
              <a:extLst>
                <a:ext uri="{FF2B5EF4-FFF2-40B4-BE49-F238E27FC236}">
                  <a16:creationId xmlns:a16="http://schemas.microsoft.com/office/drawing/2014/main" id="{324D7399-7CC5-40D3-8D2F-B667686AF295}"/>
                </a:ext>
              </a:extLst>
            </p:cNvPr>
            <p:cNvSpPr/>
            <p:nvPr/>
          </p:nvSpPr>
          <p:spPr>
            <a:xfrm>
              <a:off x="8747812" y="3435807"/>
              <a:ext cx="2880918" cy="548651"/>
            </a:xfrm>
            <a:prstGeom prst="rect">
              <a:avLst/>
            </a:prstGeom>
          </p:spPr>
          <p:style>
            <a:lnRef idx="0">
              <a:schemeClr val="dk1">
                <a:alpha val="0"/>
                <a:hueOff val="0"/>
                <a:satOff val="0"/>
                <a:lumOff val="0"/>
                <a:alphaOff val="0"/>
              </a:schemeClr>
            </a:lnRef>
            <a:fillRef idx="0">
              <a:schemeClr val="lt1">
                <a:alpha val="0"/>
                <a:hueOff val="0"/>
                <a:satOff val="0"/>
                <a:lumOff val="0"/>
                <a:alphaOff val="0"/>
              </a:schemeClr>
            </a:fillRef>
            <a:effectRef idx="0">
              <a:schemeClr val="lt1">
                <a:alpha val="0"/>
                <a:hueOff val="0"/>
                <a:satOff val="0"/>
                <a:lumOff val="0"/>
                <a:alphaOff val="0"/>
              </a:schemeClr>
            </a:effectRef>
            <a:fontRef idx="minor">
              <a:schemeClr val="tx1">
                <a:hueOff val="0"/>
                <a:satOff val="0"/>
                <a:lumOff val="0"/>
                <a:alphaOff val="0"/>
              </a:schemeClr>
            </a:fontRef>
          </p:style>
        </p:sp>
        <p:sp>
          <p:nvSpPr>
            <p:cNvPr id="50" name="Прямоугольник 49">
              <a:extLst>
                <a:ext uri="{FF2B5EF4-FFF2-40B4-BE49-F238E27FC236}">
                  <a16:creationId xmlns:a16="http://schemas.microsoft.com/office/drawing/2014/main" id="{3B313095-D843-423B-9EB3-FF9CA0AB1D81}"/>
                </a:ext>
              </a:extLst>
            </p:cNvPr>
            <p:cNvSpPr/>
            <p:nvPr/>
          </p:nvSpPr>
          <p:spPr>
            <a:xfrm>
              <a:off x="573437" y="2480045"/>
              <a:ext cx="2880918" cy="549520"/>
            </a:xfrm>
            <a:prstGeom prst="rect">
              <a:avLst/>
            </a:prstGeom>
          </p:spPr>
          <p:style>
            <a:lnRef idx="0">
              <a:schemeClr val="dk1">
                <a:alpha val="0"/>
                <a:hueOff val="0"/>
                <a:satOff val="0"/>
                <a:lumOff val="0"/>
                <a:alphaOff val="0"/>
              </a:schemeClr>
            </a:lnRef>
            <a:fillRef idx="0">
              <a:schemeClr val="lt1">
                <a:alpha val="0"/>
                <a:hueOff val="0"/>
                <a:satOff val="0"/>
                <a:lumOff val="0"/>
                <a:alphaOff val="0"/>
              </a:schemeClr>
            </a:fillRef>
            <a:effectRef idx="0">
              <a:schemeClr val="lt1">
                <a:alpha val="0"/>
                <a:hueOff val="0"/>
                <a:satOff val="0"/>
                <a:lumOff val="0"/>
                <a:alphaOff val="0"/>
              </a:schemeClr>
            </a:effectRef>
            <a:fontRef idx="minor">
              <a:schemeClr val="tx1">
                <a:hueOff val="0"/>
                <a:satOff val="0"/>
                <a:lumOff val="0"/>
                <a:alphaOff val="0"/>
              </a:schemeClr>
            </a:fontRef>
          </p:style>
        </p:sp>
        <p:sp>
          <p:nvSpPr>
            <p:cNvPr id="48" name="Прямоугольник 47">
              <a:extLst>
                <a:ext uri="{FF2B5EF4-FFF2-40B4-BE49-F238E27FC236}">
                  <a16:creationId xmlns:a16="http://schemas.microsoft.com/office/drawing/2014/main" id="{CFC70CC2-5C03-4A80-AD4C-8611B632A51F}"/>
                </a:ext>
              </a:extLst>
            </p:cNvPr>
            <p:cNvSpPr/>
            <p:nvPr/>
          </p:nvSpPr>
          <p:spPr>
            <a:xfrm>
              <a:off x="356347" y="1739155"/>
              <a:ext cx="3288510" cy="549523"/>
            </a:xfrm>
            <a:prstGeom prst="rect">
              <a:avLst/>
            </a:prstGeom>
          </p:spPr>
          <p:style>
            <a:lnRef idx="0">
              <a:schemeClr val="dk1">
                <a:alpha val="0"/>
                <a:hueOff val="0"/>
                <a:satOff val="0"/>
                <a:lumOff val="0"/>
                <a:alphaOff val="0"/>
              </a:schemeClr>
            </a:lnRef>
            <a:fillRef idx="0">
              <a:schemeClr val="lt1">
                <a:alpha val="0"/>
                <a:hueOff val="0"/>
                <a:satOff val="0"/>
                <a:lumOff val="0"/>
                <a:alphaOff val="0"/>
              </a:schemeClr>
            </a:fillRef>
            <a:effectRef idx="0">
              <a:schemeClr val="lt1">
                <a:alpha val="0"/>
                <a:hueOff val="0"/>
                <a:satOff val="0"/>
                <a:lumOff val="0"/>
                <a:alphaOff val="0"/>
              </a:schemeClr>
            </a:effectRef>
            <a:fontRef idx="minor">
              <a:schemeClr val="tx1">
                <a:hueOff val="0"/>
                <a:satOff val="0"/>
                <a:lumOff val="0"/>
                <a:alphaOff val="0"/>
              </a:schemeClr>
            </a:fontRef>
          </p:style>
        </p:sp>
        <p:sp>
          <p:nvSpPr>
            <p:cNvPr id="45" name="Прямоугольник 44">
              <a:extLst>
                <a:ext uri="{FF2B5EF4-FFF2-40B4-BE49-F238E27FC236}">
                  <a16:creationId xmlns:a16="http://schemas.microsoft.com/office/drawing/2014/main" id="{DEC82565-F9EC-4EDF-B575-4836C396584D}"/>
                </a:ext>
              </a:extLst>
            </p:cNvPr>
            <p:cNvSpPr/>
            <p:nvPr/>
          </p:nvSpPr>
          <p:spPr>
            <a:xfrm>
              <a:off x="2650330" y="3961486"/>
              <a:ext cx="2880918" cy="549522"/>
            </a:xfrm>
            <a:prstGeom prst="rect">
              <a:avLst/>
            </a:prstGeom>
          </p:spPr>
          <p:style>
            <a:lnRef idx="0">
              <a:schemeClr val="dk1">
                <a:alpha val="0"/>
                <a:hueOff val="0"/>
                <a:satOff val="0"/>
                <a:lumOff val="0"/>
                <a:alphaOff val="0"/>
              </a:schemeClr>
            </a:lnRef>
            <a:fillRef idx="0">
              <a:schemeClr val="lt1">
                <a:alpha val="0"/>
                <a:hueOff val="0"/>
                <a:satOff val="0"/>
                <a:lumOff val="0"/>
                <a:alphaOff val="0"/>
              </a:schemeClr>
            </a:fillRef>
            <a:effectRef idx="0">
              <a:schemeClr val="lt1">
                <a:alpha val="0"/>
                <a:hueOff val="0"/>
                <a:satOff val="0"/>
                <a:lumOff val="0"/>
                <a:alphaOff val="0"/>
              </a:schemeClr>
            </a:effectRef>
            <a:fontRef idx="minor">
              <a:schemeClr val="tx1">
                <a:hueOff val="0"/>
                <a:satOff val="0"/>
                <a:lumOff val="0"/>
                <a:alphaOff val="0"/>
              </a:schemeClr>
            </a:fontRef>
          </p:style>
        </p:sp>
      </p:grpSp>
      <p:sp>
        <p:nvSpPr>
          <p:cNvPr id="54" name="TextBox 53">
            <a:extLst>
              <a:ext uri="{FF2B5EF4-FFF2-40B4-BE49-F238E27FC236}">
                <a16:creationId xmlns:a16="http://schemas.microsoft.com/office/drawing/2014/main" id="{17BFDF19-979F-4CA1-A3B8-9AE715000FE1}"/>
              </a:ext>
            </a:extLst>
          </p:cNvPr>
          <p:cNvSpPr txBox="1"/>
          <p:nvPr/>
        </p:nvSpPr>
        <p:spPr>
          <a:xfrm>
            <a:off x="300667" y="6731188"/>
            <a:ext cx="3110996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latin typeface="HelveticaNeueCyr" panose="02000503040000020004" pitchFamily="2" charset="-52"/>
              </a:rPr>
              <a:t>Google BERT-base</a:t>
            </a:r>
            <a:endParaRPr lang="ru-RU" b="1" dirty="0">
              <a:latin typeface="HelveticaNeueCyr" panose="02000503040000020004" pitchFamily="2" charset="-52"/>
            </a:endParaRPr>
          </a:p>
          <a:p>
            <a:r>
              <a:rPr lang="ru-RU" dirty="0">
                <a:latin typeface="HelveticaNeueCyr" panose="02000503040000020004" pitchFamily="2" charset="-52"/>
              </a:rPr>
              <a:t>109 млн параметров</a:t>
            </a:r>
          </a:p>
          <a:p>
            <a:r>
              <a:rPr lang="ru-RU" dirty="0">
                <a:latin typeface="HelveticaNeueCyr" panose="02000503040000020004" pitchFamily="2" charset="-52"/>
              </a:rPr>
              <a:t>Затраченные компьютерные мощности: </a:t>
            </a:r>
            <a:r>
              <a:rPr lang="ru-RU" b="1" dirty="0">
                <a:latin typeface="HelveticaNeueCyr" panose="02000503040000020004" pitchFamily="2" charset="-52"/>
              </a:rPr>
              <a:t>1,89 Пета</a:t>
            </a:r>
            <a:r>
              <a:rPr lang="en-US" b="1" dirty="0">
                <a:latin typeface="HelveticaNeueCyr" panose="02000503040000020004" pitchFamily="2" charset="-52"/>
              </a:rPr>
              <a:t>FLOPS-</a:t>
            </a:r>
            <a:r>
              <a:rPr lang="ru-RU" b="1" dirty="0">
                <a:latin typeface="HelveticaNeueCyr" panose="02000503040000020004" pitchFamily="2" charset="-52"/>
              </a:rPr>
              <a:t>дней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177A6DC9-28FB-41C9-B670-F5CC0FB681B0}"/>
              </a:ext>
            </a:extLst>
          </p:cNvPr>
          <p:cNvSpPr txBox="1"/>
          <p:nvPr/>
        </p:nvSpPr>
        <p:spPr>
          <a:xfrm>
            <a:off x="1956364" y="9011961"/>
            <a:ext cx="3116836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latin typeface="HelveticaNeueCyr" panose="02000503040000020004" pitchFamily="2" charset="-52"/>
              </a:rPr>
              <a:t>Open AI GPT-3</a:t>
            </a:r>
            <a:endParaRPr lang="ru-RU" b="1" dirty="0">
              <a:latin typeface="HelveticaNeueCyr" panose="02000503040000020004" pitchFamily="2" charset="-52"/>
            </a:endParaRPr>
          </a:p>
          <a:p>
            <a:r>
              <a:rPr lang="ru-RU" dirty="0">
                <a:latin typeface="HelveticaNeueCyr" panose="02000503040000020004" pitchFamily="2" charset="-52"/>
              </a:rPr>
              <a:t>175 млрд параметров</a:t>
            </a:r>
          </a:p>
          <a:p>
            <a:r>
              <a:rPr lang="ru-RU" dirty="0">
                <a:latin typeface="HelveticaNeueCyr" panose="02000503040000020004" pitchFamily="2" charset="-52"/>
              </a:rPr>
              <a:t>Затраченные компьютерные мощности: </a:t>
            </a:r>
            <a:r>
              <a:rPr lang="ru-RU" b="1" dirty="0">
                <a:latin typeface="HelveticaNeueCyr" panose="02000503040000020004" pitchFamily="2" charset="-52"/>
              </a:rPr>
              <a:t>3 640 Пета</a:t>
            </a:r>
            <a:r>
              <a:rPr lang="en-US" b="1" dirty="0">
                <a:latin typeface="HelveticaNeueCyr" panose="02000503040000020004" pitchFamily="2" charset="-52"/>
              </a:rPr>
              <a:t>FLOPS-</a:t>
            </a:r>
            <a:r>
              <a:rPr lang="ru-RU" b="1" dirty="0">
                <a:latin typeface="HelveticaNeueCyr" panose="02000503040000020004" pitchFamily="2" charset="-52"/>
              </a:rPr>
              <a:t>дней</a:t>
            </a:r>
          </a:p>
        </p:txBody>
      </p:sp>
      <p:sp>
        <p:nvSpPr>
          <p:cNvPr id="19" name="Прямоугольник 18">
            <a:extLst>
              <a:ext uri="{FF2B5EF4-FFF2-40B4-BE49-F238E27FC236}">
                <a16:creationId xmlns:a16="http://schemas.microsoft.com/office/drawing/2014/main" id="{7B54955A-E9BE-4FBB-851A-20D0F3E03BA0}"/>
              </a:ext>
            </a:extLst>
          </p:cNvPr>
          <p:cNvSpPr/>
          <p:nvPr/>
        </p:nvSpPr>
        <p:spPr>
          <a:xfrm>
            <a:off x="212724" y="6087025"/>
            <a:ext cx="14011276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1600" dirty="0">
                <a:solidFill>
                  <a:srgbClr val="002060"/>
                </a:solidFill>
                <a:latin typeface="Unbounded SemiBold" pitchFamily="2" charset="-52"/>
              </a:rPr>
              <a:t>Визуализация роста затрат мощностей на обучение ИИ на примере конкретных популярных моделей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73432E1A-BC18-462C-81E5-B8B0777B982F}"/>
              </a:ext>
            </a:extLst>
          </p:cNvPr>
          <p:cNvSpPr txBox="1"/>
          <p:nvPr/>
        </p:nvSpPr>
        <p:spPr>
          <a:xfrm>
            <a:off x="3654482" y="6756681"/>
            <a:ext cx="3271104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latin typeface="HelveticaNeueCyr" panose="02000503040000020004" pitchFamily="2" charset="-52"/>
              </a:rPr>
              <a:t>Huawei PANGU-</a:t>
            </a:r>
            <a:r>
              <a:rPr lang="el-GR" b="1" dirty="0">
                <a:latin typeface="HelveticaNeueCyr" panose="02000503040000020004" pitchFamily="2" charset="-52"/>
              </a:rPr>
              <a:t>α</a:t>
            </a:r>
            <a:br>
              <a:rPr lang="ru-RU" b="1" dirty="0">
                <a:latin typeface="HelveticaNeueCyr" panose="02000503040000020004" pitchFamily="2" charset="-52"/>
              </a:rPr>
            </a:br>
            <a:r>
              <a:rPr lang="en-US" dirty="0">
                <a:latin typeface="HelveticaNeueCyr" panose="02000503040000020004" pitchFamily="2" charset="-52"/>
              </a:rPr>
              <a:t>200</a:t>
            </a:r>
            <a:r>
              <a:rPr lang="ru-RU" dirty="0">
                <a:latin typeface="HelveticaNeueCyr" panose="02000503040000020004" pitchFamily="2" charset="-52"/>
              </a:rPr>
              <a:t> млрд параметров</a:t>
            </a:r>
          </a:p>
          <a:p>
            <a:r>
              <a:rPr lang="ru-RU" dirty="0">
                <a:latin typeface="HelveticaNeueCyr" panose="02000503040000020004" pitchFamily="2" charset="-52"/>
              </a:rPr>
              <a:t>Затраченные компьютерные мощности: </a:t>
            </a:r>
            <a:r>
              <a:rPr lang="en-US" b="1" dirty="0">
                <a:latin typeface="HelveticaNeueCyr" panose="02000503040000020004" pitchFamily="2" charset="-52"/>
              </a:rPr>
              <a:t>25 000</a:t>
            </a:r>
            <a:r>
              <a:rPr lang="ru-RU" b="1" dirty="0">
                <a:latin typeface="HelveticaNeueCyr" panose="02000503040000020004" pitchFamily="2" charset="-52"/>
              </a:rPr>
              <a:t> Пета</a:t>
            </a:r>
            <a:r>
              <a:rPr lang="en-US" b="1" dirty="0">
                <a:latin typeface="HelveticaNeueCyr" panose="02000503040000020004" pitchFamily="2" charset="-52"/>
              </a:rPr>
              <a:t>FLOPS-</a:t>
            </a:r>
            <a:r>
              <a:rPr lang="ru-RU" b="1" dirty="0">
                <a:latin typeface="HelveticaNeueCyr" panose="02000503040000020004" pitchFamily="2" charset="-52"/>
              </a:rPr>
              <a:t>дней</a:t>
            </a:r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1DAF9264-C9CE-4F4E-99CF-70FB60D6D00A}"/>
              </a:ext>
            </a:extLst>
          </p:cNvPr>
          <p:cNvSpPr/>
          <p:nvPr/>
        </p:nvSpPr>
        <p:spPr>
          <a:xfrm>
            <a:off x="7341896" y="10149617"/>
            <a:ext cx="14020403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000" dirty="0">
                <a:solidFill>
                  <a:srgbClr val="222222"/>
                </a:solidFill>
                <a:latin typeface="HelveticaNeueCyr" panose="02000503040000020004" pitchFamily="2" charset="-52"/>
              </a:rPr>
              <a:t>Brown T. B. Language models are few-shot learners //</a:t>
            </a:r>
            <a:r>
              <a:rPr lang="en-US" sz="1000" dirty="0" err="1">
                <a:solidFill>
                  <a:srgbClr val="222222"/>
                </a:solidFill>
                <a:latin typeface="HelveticaNeueCyr" panose="02000503040000020004" pitchFamily="2" charset="-52"/>
              </a:rPr>
              <a:t>arXiv</a:t>
            </a:r>
            <a:r>
              <a:rPr lang="en-US" sz="1000" dirty="0">
                <a:solidFill>
                  <a:srgbClr val="222222"/>
                </a:solidFill>
                <a:latin typeface="HelveticaNeueCyr" panose="02000503040000020004" pitchFamily="2" charset="-52"/>
              </a:rPr>
              <a:t> preprint arXiv:2005.14165. – 2020.</a:t>
            </a:r>
            <a:endParaRPr lang="ru-RU" sz="1000" dirty="0">
              <a:solidFill>
                <a:srgbClr val="222222"/>
              </a:solidFill>
              <a:latin typeface="HelveticaNeueCyr" panose="02000503040000020004" pitchFamily="2" charset="-52"/>
            </a:endParaRPr>
          </a:p>
          <a:p>
            <a:r>
              <a:rPr lang="ru-RU" sz="1000" dirty="0">
                <a:solidFill>
                  <a:srgbClr val="222222"/>
                </a:solidFill>
                <a:latin typeface="HelveticaNeueCyr" panose="02000503040000020004" pitchFamily="2" charset="-52"/>
              </a:rPr>
              <a:t>Интеллектуальный мир, </a:t>
            </a:r>
            <a:r>
              <a:rPr lang="en-US" sz="1000" dirty="0">
                <a:solidFill>
                  <a:srgbClr val="222222"/>
                </a:solidFill>
                <a:latin typeface="HelveticaNeueCyr" panose="02000503040000020004" pitchFamily="2" charset="-52"/>
              </a:rPr>
              <a:t>Huawei</a:t>
            </a:r>
            <a:r>
              <a:rPr lang="ru-RU" sz="1000" dirty="0">
                <a:solidFill>
                  <a:srgbClr val="222222"/>
                </a:solidFill>
                <a:latin typeface="HelveticaNeueCyr" panose="02000503040000020004" pitchFamily="2" charset="-52"/>
              </a:rPr>
              <a:t>, </a:t>
            </a:r>
            <a:r>
              <a:rPr lang="en-US" sz="1000" dirty="0">
                <a:solidFill>
                  <a:srgbClr val="222222"/>
                </a:solidFill>
                <a:latin typeface="HelveticaNeueCyr" panose="02000503040000020004" pitchFamily="2" charset="-52"/>
                <a:hlinkClick r:id="rId9"/>
              </a:rPr>
              <a:t>https://www-file.huawei.com/-/media/corp2020/pdf/giv/intelligent_world_2030_en.pdf</a:t>
            </a:r>
            <a:endParaRPr lang="ru-RU" sz="1000" dirty="0">
              <a:solidFill>
                <a:srgbClr val="222222"/>
              </a:solidFill>
              <a:latin typeface="HelveticaNeueCyr" panose="02000503040000020004" pitchFamily="2" charset="-52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226C3ABD-ED6E-4159-923C-8BBAE5959764}"/>
              </a:ext>
            </a:extLst>
          </p:cNvPr>
          <p:cNvSpPr txBox="1"/>
          <p:nvPr/>
        </p:nvSpPr>
        <p:spPr>
          <a:xfrm>
            <a:off x="6116183" y="9011961"/>
            <a:ext cx="3271104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latin typeface="HelveticaNeueCyr" panose="02000503040000020004" pitchFamily="2" charset="-52"/>
              </a:rPr>
              <a:t>Meta** Llama 3.1 </a:t>
            </a:r>
            <a:r>
              <a:rPr lang="ru-RU" b="1" dirty="0">
                <a:latin typeface="HelveticaNeueCyr" panose="02000503040000020004" pitchFamily="2" charset="-52"/>
              </a:rPr>
              <a:t>– 405</a:t>
            </a:r>
            <a:r>
              <a:rPr lang="en-US" b="1" dirty="0">
                <a:latin typeface="HelveticaNeueCyr" panose="02000503040000020004" pitchFamily="2" charset="-52"/>
              </a:rPr>
              <a:t>B</a:t>
            </a:r>
            <a:br>
              <a:rPr lang="ru-RU" b="1" dirty="0">
                <a:latin typeface="HelveticaNeueCyr" panose="02000503040000020004" pitchFamily="2" charset="-52"/>
              </a:rPr>
            </a:br>
            <a:r>
              <a:rPr lang="en-US" dirty="0">
                <a:latin typeface="HelveticaNeueCyr" panose="02000503040000020004" pitchFamily="2" charset="-52"/>
              </a:rPr>
              <a:t>4</a:t>
            </a:r>
            <a:r>
              <a:rPr lang="ru-RU" dirty="0">
                <a:latin typeface="HelveticaNeueCyr" panose="02000503040000020004" pitchFamily="2" charset="-52"/>
              </a:rPr>
              <a:t>05 млрд параметров</a:t>
            </a:r>
          </a:p>
          <a:p>
            <a:r>
              <a:rPr lang="ru-RU" dirty="0">
                <a:latin typeface="HelveticaNeueCyr" panose="02000503040000020004" pitchFamily="2" charset="-52"/>
              </a:rPr>
              <a:t>Затраченные компьютерные мощности: </a:t>
            </a:r>
            <a:r>
              <a:rPr lang="en-US" b="1" dirty="0">
                <a:latin typeface="HelveticaNeueCyr" panose="02000503040000020004" pitchFamily="2" charset="-52"/>
              </a:rPr>
              <a:t>38 550</a:t>
            </a:r>
            <a:r>
              <a:rPr lang="ru-RU" b="1" dirty="0">
                <a:latin typeface="HelveticaNeueCyr" panose="02000503040000020004" pitchFamily="2" charset="-52"/>
              </a:rPr>
              <a:t> Пета</a:t>
            </a:r>
            <a:r>
              <a:rPr lang="en-US" b="1" dirty="0">
                <a:latin typeface="HelveticaNeueCyr" panose="02000503040000020004" pitchFamily="2" charset="-52"/>
              </a:rPr>
              <a:t>FLOPS-</a:t>
            </a:r>
            <a:r>
              <a:rPr lang="ru-RU" b="1" dirty="0">
                <a:latin typeface="HelveticaNeueCyr" panose="02000503040000020004" pitchFamily="2" charset="-52"/>
              </a:rPr>
              <a:t>дней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BD6001CF-8283-46BD-8BC0-535C434846E3}"/>
              </a:ext>
            </a:extLst>
          </p:cNvPr>
          <p:cNvSpPr txBox="1"/>
          <p:nvPr/>
        </p:nvSpPr>
        <p:spPr>
          <a:xfrm>
            <a:off x="11162453" y="6793422"/>
            <a:ext cx="3271104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b="1" dirty="0">
                <a:latin typeface="HelveticaNeueCyr" panose="02000503040000020004" pitchFamily="2" charset="-52"/>
              </a:rPr>
              <a:t>Прогнозируемые компьютерные мощности для ИИ:</a:t>
            </a:r>
            <a:br>
              <a:rPr lang="ru-RU" b="1" dirty="0">
                <a:latin typeface="HelveticaNeueCyr" panose="02000503040000020004" pitchFamily="2" charset="-52"/>
              </a:rPr>
            </a:br>
            <a:r>
              <a:rPr lang="ru-RU" b="1" dirty="0">
                <a:latin typeface="HelveticaNeueCyr" panose="02000503040000020004" pitchFamily="2" charset="-52"/>
              </a:rPr>
              <a:t>105 *10</a:t>
            </a:r>
            <a:r>
              <a:rPr lang="en-US" b="1" dirty="0">
                <a:latin typeface="HelveticaNeueCyr" panose="02000503040000020004" pitchFamily="2" charset="-52"/>
              </a:rPr>
              <a:t>^6</a:t>
            </a:r>
            <a:r>
              <a:rPr lang="ru-RU" b="1" dirty="0">
                <a:latin typeface="HelveticaNeueCyr" panose="02000503040000020004" pitchFamily="2" charset="-52"/>
              </a:rPr>
              <a:t> Пета</a:t>
            </a:r>
            <a:r>
              <a:rPr lang="en-US" b="1" dirty="0">
                <a:latin typeface="HelveticaNeueCyr" panose="02000503040000020004" pitchFamily="2" charset="-52"/>
              </a:rPr>
              <a:t>FLOPS</a:t>
            </a:r>
            <a:br>
              <a:rPr lang="ru-RU" b="1" dirty="0">
                <a:latin typeface="HelveticaNeueCyr" panose="02000503040000020004" pitchFamily="2" charset="-52"/>
              </a:rPr>
            </a:br>
            <a:r>
              <a:rPr lang="ru-RU" dirty="0">
                <a:latin typeface="HelveticaNeueCyr" panose="02000503040000020004" pitchFamily="2" charset="-52"/>
              </a:rPr>
              <a:t>в 500 раз больше, чем в 2020 году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B99DFBB9-E247-4F6C-9A3C-4FB4A9860EAA}"/>
              </a:ext>
            </a:extLst>
          </p:cNvPr>
          <p:cNvSpPr txBox="1"/>
          <p:nvPr/>
        </p:nvSpPr>
        <p:spPr>
          <a:xfrm>
            <a:off x="212724" y="6370563"/>
            <a:ext cx="1389825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200" i="1" dirty="0">
                <a:latin typeface="HelveticaNeueCyr" panose="02000503040000020004" pitchFamily="2" charset="-52"/>
              </a:rPr>
              <a:t>Порядок расположения моделей не связан с техническими характеристиками, отражена хронология по году релиза моделей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CB781E26-423D-4BCA-8161-9458D8AF0D33}"/>
              </a:ext>
            </a:extLst>
          </p:cNvPr>
          <p:cNvSpPr txBox="1"/>
          <p:nvPr/>
        </p:nvSpPr>
        <p:spPr>
          <a:xfrm>
            <a:off x="6496207" y="957126"/>
            <a:ext cx="803360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600" b="1" dirty="0">
                <a:solidFill>
                  <a:srgbClr val="222222"/>
                </a:solidFill>
                <a:latin typeface="HelveticaNeueCyr" panose="02000503040000020004" pitchFamily="2" charset="-52"/>
              </a:rPr>
              <a:t>Развитие решений с искусственным интеллектом (ИИ) определяется тремя факторами:</a:t>
            </a:r>
          </a:p>
        </p:txBody>
      </p:sp>
      <p:sp>
        <p:nvSpPr>
          <p:cNvPr id="32" name="Прямоугольник 31">
            <a:extLst>
              <a:ext uri="{FF2B5EF4-FFF2-40B4-BE49-F238E27FC236}">
                <a16:creationId xmlns:a16="http://schemas.microsoft.com/office/drawing/2014/main" id="{E69C9289-51CB-4216-99A9-B265E9E17266}"/>
              </a:ext>
            </a:extLst>
          </p:cNvPr>
          <p:cNvSpPr/>
          <p:nvPr/>
        </p:nvSpPr>
        <p:spPr>
          <a:xfrm>
            <a:off x="6815477" y="3849809"/>
            <a:ext cx="1435395" cy="1344026"/>
          </a:xfrm>
          <a:prstGeom prst="rect">
            <a:avLst/>
          </a:prstGeom>
          <a:solidFill>
            <a:srgbClr val="8FAADC"/>
          </a:solidFill>
          <a:ln w="12700">
            <a:solidFill>
              <a:schemeClr val="tx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2" name="Прямоугольник 41">
            <a:extLst>
              <a:ext uri="{FF2B5EF4-FFF2-40B4-BE49-F238E27FC236}">
                <a16:creationId xmlns:a16="http://schemas.microsoft.com/office/drawing/2014/main" id="{A686B9D2-028B-4749-9FC9-8CE7151B6459}"/>
              </a:ext>
            </a:extLst>
          </p:cNvPr>
          <p:cNvSpPr/>
          <p:nvPr/>
        </p:nvSpPr>
        <p:spPr>
          <a:xfrm>
            <a:off x="8839717" y="3546484"/>
            <a:ext cx="1729053" cy="1641246"/>
          </a:xfrm>
          <a:prstGeom prst="rect">
            <a:avLst/>
          </a:prstGeom>
          <a:solidFill>
            <a:srgbClr val="A8B0FA"/>
          </a:solidFill>
          <a:ln w="12700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3" name="Прямоугольник 42">
            <a:extLst>
              <a:ext uri="{FF2B5EF4-FFF2-40B4-BE49-F238E27FC236}">
                <a16:creationId xmlns:a16="http://schemas.microsoft.com/office/drawing/2014/main" id="{01CD12A5-5DDA-401B-A3E4-BAE7B8C42971}"/>
              </a:ext>
            </a:extLst>
          </p:cNvPr>
          <p:cNvSpPr/>
          <p:nvPr/>
        </p:nvSpPr>
        <p:spPr>
          <a:xfrm>
            <a:off x="11157615" y="3286854"/>
            <a:ext cx="2012285" cy="1906981"/>
          </a:xfrm>
          <a:prstGeom prst="rect">
            <a:avLst/>
          </a:prstGeom>
          <a:solidFill>
            <a:srgbClr val="5C8EFE"/>
          </a:solidFill>
          <a:ln w="12700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3" name="Прямоугольник 32">
            <a:extLst>
              <a:ext uri="{FF2B5EF4-FFF2-40B4-BE49-F238E27FC236}">
                <a16:creationId xmlns:a16="http://schemas.microsoft.com/office/drawing/2014/main" id="{BF4B95BB-63FC-44BA-ABA3-6DCC565AD678}"/>
              </a:ext>
            </a:extLst>
          </p:cNvPr>
          <p:cNvSpPr/>
          <p:nvPr/>
        </p:nvSpPr>
        <p:spPr>
          <a:xfrm>
            <a:off x="6833493" y="4378666"/>
            <a:ext cx="814013" cy="803748"/>
          </a:xfrm>
          <a:prstGeom prst="rect">
            <a:avLst/>
          </a:prstGeom>
          <a:noFill/>
          <a:ln w="22225">
            <a:solidFill>
              <a:schemeClr val="accent3">
                <a:lumMod val="50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6" name="Прямоугольник 45">
            <a:extLst>
              <a:ext uri="{FF2B5EF4-FFF2-40B4-BE49-F238E27FC236}">
                <a16:creationId xmlns:a16="http://schemas.microsoft.com/office/drawing/2014/main" id="{751BAA76-BF56-4A11-A47A-727207F73209}"/>
              </a:ext>
            </a:extLst>
          </p:cNvPr>
          <p:cNvSpPr/>
          <p:nvPr/>
        </p:nvSpPr>
        <p:spPr>
          <a:xfrm>
            <a:off x="8850170" y="4369411"/>
            <a:ext cx="814013" cy="803748"/>
          </a:xfrm>
          <a:prstGeom prst="rect">
            <a:avLst/>
          </a:prstGeom>
          <a:noFill/>
          <a:ln w="22225">
            <a:solidFill>
              <a:schemeClr val="accent3">
                <a:lumMod val="50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7" name="Прямоугольник 46">
            <a:extLst>
              <a:ext uri="{FF2B5EF4-FFF2-40B4-BE49-F238E27FC236}">
                <a16:creationId xmlns:a16="http://schemas.microsoft.com/office/drawing/2014/main" id="{06EE1D6C-F0CC-4414-8A6E-741FD616BD1B}"/>
              </a:ext>
            </a:extLst>
          </p:cNvPr>
          <p:cNvSpPr/>
          <p:nvPr/>
        </p:nvSpPr>
        <p:spPr>
          <a:xfrm>
            <a:off x="11177551" y="4378688"/>
            <a:ext cx="814013" cy="803748"/>
          </a:xfrm>
          <a:prstGeom prst="rect">
            <a:avLst/>
          </a:prstGeom>
          <a:noFill/>
          <a:ln w="22225">
            <a:solidFill>
              <a:schemeClr val="accent3">
                <a:lumMod val="50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ADC71B2A-BCAB-436D-9C24-AB7BC4812199}"/>
              </a:ext>
            </a:extLst>
          </p:cNvPr>
          <p:cNvSpPr txBox="1"/>
          <p:nvPr/>
        </p:nvSpPr>
        <p:spPr>
          <a:xfrm>
            <a:off x="6725026" y="3577504"/>
            <a:ext cx="61687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b="1" dirty="0">
                <a:latin typeface="HelveticaNeueCyr" panose="02000503040000020004" pitchFamily="2" charset="-52"/>
              </a:rPr>
              <a:t>2030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7238C9CC-A7B6-433D-8031-C6C25ED18CEC}"/>
              </a:ext>
            </a:extLst>
          </p:cNvPr>
          <p:cNvSpPr txBox="1"/>
          <p:nvPr/>
        </p:nvSpPr>
        <p:spPr>
          <a:xfrm>
            <a:off x="8759013" y="3271417"/>
            <a:ext cx="61687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b="1" dirty="0">
                <a:latin typeface="HelveticaNeueCyr" panose="02000503040000020004" pitchFamily="2" charset="-52"/>
              </a:rPr>
              <a:t>2030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4033D2EB-7C23-4A71-A402-AB880FB8A205}"/>
              </a:ext>
            </a:extLst>
          </p:cNvPr>
          <p:cNvSpPr txBox="1"/>
          <p:nvPr/>
        </p:nvSpPr>
        <p:spPr>
          <a:xfrm>
            <a:off x="11064063" y="3023846"/>
            <a:ext cx="61687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b="1" dirty="0">
                <a:latin typeface="HelveticaNeueCyr" panose="02000503040000020004" pitchFamily="2" charset="-52"/>
              </a:rPr>
              <a:t>2030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DCAF145A-D2BD-448B-9F4F-F06F594AE758}"/>
              </a:ext>
            </a:extLst>
          </p:cNvPr>
          <p:cNvSpPr txBox="1"/>
          <p:nvPr/>
        </p:nvSpPr>
        <p:spPr>
          <a:xfrm>
            <a:off x="6763888" y="4350472"/>
            <a:ext cx="61687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200" dirty="0">
                <a:latin typeface="HelveticaNeueCyr" panose="02000503040000020004" pitchFamily="2" charset="-52"/>
              </a:rPr>
              <a:t>2023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F32E0785-B1AC-4E85-8E52-A51D5EE3CB93}"/>
              </a:ext>
            </a:extLst>
          </p:cNvPr>
          <p:cNvSpPr txBox="1"/>
          <p:nvPr/>
        </p:nvSpPr>
        <p:spPr>
          <a:xfrm>
            <a:off x="7348445" y="4348968"/>
            <a:ext cx="61687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200" dirty="0">
                <a:latin typeface="HelveticaNeueCyr" panose="02000503040000020004" pitchFamily="2" charset="-52"/>
              </a:rPr>
              <a:t>55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B1816B3B-D1B7-4D59-B985-DD9560478740}"/>
              </a:ext>
            </a:extLst>
          </p:cNvPr>
          <p:cNvSpPr txBox="1"/>
          <p:nvPr/>
        </p:nvSpPr>
        <p:spPr>
          <a:xfrm>
            <a:off x="8782182" y="4341328"/>
            <a:ext cx="61687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200" dirty="0">
                <a:latin typeface="HelveticaNeueCyr" panose="02000503040000020004" pitchFamily="2" charset="-52"/>
              </a:rPr>
              <a:t>2023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F0F50B88-62DF-4814-B86A-942DA3D2778F}"/>
              </a:ext>
            </a:extLst>
          </p:cNvPr>
          <p:cNvSpPr txBox="1"/>
          <p:nvPr/>
        </p:nvSpPr>
        <p:spPr>
          <a:xfrm>
            <a:off x="9366739" y="4339824"/>
            <a:ext cx="61687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200" dirty="0">
                <a:latin typeface="HelveticaNeueCyr" panose="02000503040000020004" pitchFamily="2" charset="-52"/>
              </a:rPr>
              <a:t>55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1920EE62-8E01-44B6-B975-B49EEBB49B46}"/>
              </a:ext>
            </a:extLst>
          </p:cNvPr>
          <p:cNvSpPr txBox="1"/>
          <p:nvPr/>
        </p:nvSpPr>
        <p:spPr>
          <a:xfrm>
            <a:off x="11105462" y="4348505"/>
            <a:ext cx="61687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200" dirty="0">
                <a:latin typeface="HelveticaNeueCyr" panose="02000503040000020004" pitchFamily="2" charset="-52"/>
              </a:rPr>
              <a:t>2023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9260328C-C632-4FF2-8492-11376674C75B}"/>
              </a:ext>
            </a:extLst>
          </p:cNvPr>
          <p:cNvSpPr txBox="1"/>
          <p:nvPr/>
        </p:nvSpPr>
        <p:spPr>
          <a:xfrm>
            <a:off x="11690019" y="4347001"/>
            <a:ext cx="61687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200" dirty="0">
                <a:latin typeface="HelveticaNeueCyr" panose="02000503040000020004" pitchFamily="2" charset="-52"/>
              </a:rPr>
              <a:t>55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B4041997-728D-4298-AA7B-934E6714E57C}"/>
              </a:ext>
            </a:extLst>
          </p:cNvPr>
          <p:cNvSpPr txBox="1"/>
          <p:nvPr/>
        </p:nvSpPr>
        <p:spPr>
          <a:xfrm>
            <a:off x="7885085" y="3583321"/>
            <a:ext cx="61687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b="1" dirty="0">
                <a:latin typeface="HelveticaNeueCyr" panose="02000503040000020004" pitchFamily="2" charset="-52"/>
              </a:rPr>
              <a:t>171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09F308D0-4106-485A-BCC2-D1848FBDE1A4}"/>
              </a:ext>
            </a:extLst>
          </p:cNvPr>
          <p:cNvSpPr txBox="1"/>
          <p:nvPr/>
        </p:nvSpPr>
        <p:spPr>
          <a:xfrm>
            <a:off x="10184963" y="3281971"/>
            <a:ext cx="61687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b="1" dirty="0">
                <a:latin typeface="HelveticaNeueCyr" panose="02000503040000020004" pitchFamily="2" charset="-52"/>
              </a:rPr>
              <a:t>219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3D77C870-7B89-4F42-82DD-A98F921F6F72}"/>
              </a:ext>
            </a:extLst>
          </p:cNvPr>
          <p:cNvSpPr txBox="1"/>
          <p:nvPr/>
        </p:nvSpPr>
        <p:spPr>
          <a:xfrm>
            <a:off x="12791655" y="3020307"/>
            <a:ext cx="61687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b="1" dirty="0">
                <a:latin typeface="HelveticaNeueCyr" panose="02000503040000020004" pitchFamily="2" charset="-52"/>
              </a:rPr>
              <a:t>2</a:t>
            </a:r>
            <a:r>
              <a:rPr lang="en-US" b="1" dirty="0">
                <a:latin typeface="HelveticaNeueCyr" panose="02000503040000020004" pitchFamily="2" charset="-52"/>
              </a:rPr>
              <a:t>98</a:t>
            </a:r>
            <a:endParaRPr lang="ru-RU" b="1" dirty="0">
              <a:latin typeface="HelveticaNeueCyr" panose="02000503040000020004" pitchFamily="2" charset="-52"/>
            </a:endParaRP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98482013-C80B-415D-BDD6-A01CB8D15F85}"/>
              </a:ext>
            </a:extLst>
          </p:cNvPr>
          <p:cNvSpPr txBox="1"/>
          <p:nvPr/>
        </p:nvSpPr>
        <p:spPr>
          <a:xfrm>
            <a:off x="6614733" y="5464419"/>
            <a:ext cx="803360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200" i="1" dirty="0">
                <a:latin typeface="HelveticaNeueCyr" panose="02000503040000020004" pitchFamily="2" charset="-52"/>
              </a:rPr>
              <a:t>Спрос на мощности ЦОД, ГВт, прогноз </a:t>
            </a:r>
            <a:r>
              <a:rPr lang="en-US" sz="1200" i="1" dirty="0">
                <a:latin typeface="HelveticaNeueCyr" panose="02000503040000020004" pitchFamily="2" charset="-52"/>
              </a:rPr>
              <a:t>McKinsey. </a:t>
            </a:r>
            <a:r>
              <a:rPr lang="ru-RU" sz="1200" i="1" dirty="0">
                <a:latin typeface="HelveticaNeueCyr" panose="02000503040000020004" pitchFamily="2" charset="-52"/>
              </a:rPr>
              <a:t>Сценарии учитывают тенденции внедрения ИИ, поставки различных типов чипов и связанного потребления электроэнергии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AD362FD9-C10F-4DEE-BE84-6BAE7DC82443}"/>
              </a:ext>
            </a:extLst>
          </p:cNvPr>
          <p:cNvSpPr txBox="1"/>
          <p:nvPr/>
        </p:nvSpPr>
        <p:spPr>
          <a:xfrm>
            <a:off x="11096530" y="5181636"/>
            <a:ext cx="231199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200" i="1" dirty="0">
                <a:latin typeface="HelveticaNeueCyr" panose="02000503040000020004" pitchFamily="2" charset="-52"/>
              </a:rPr>
              <a:t>Верхний диапазон 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F7E28162-9EE7-404F-B8D0-155887667FD6}"/>
              </a:ext>
            </a:extLst>
          </p:cNvPr>
          <p:cNvSpPr txBox="1"/>
          <p:nvPr/>
        </p:nvSpPr>
        <p:spPr>
          <a:xfrm>
            <a:off x="8719334" y="5169800"/>
            <a:ext cx="231199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200" i="1" dirty="0">
                <a:latin typeface="HelveticaNeueCyr" panose="02000503040000020004" pitchFamily="2" charset="-52"/>
              </a:rPr>
              <a:t>Средний диапазон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C8A94D4B-2740-4962-A048-AD55D973540F}"/>
              </a:ext>
            </a:extLst>
          </p:cNvPr>
          <p:cNvSpPr txBox="1"/>
          <p:nvPr/>
        </p:nvSpPr>
        <p:spPr>
          <a:xfrm>
            <a:off x="6694313" y="5181916"/>
            <a:ext cx="231199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200" i="1" dirty="0">
                <a:latin typeface="HelveticaNeueCyr" panose="02000503040000020004" pitchFamily="2" charset="-52"/>
              </a:rPr>
              <a:t>Нижний диапазон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D7E3B9BD-6F36-4B41-906E-684564526732}"/>
              </a:ext>
            </a:extLst>
          </p:cNvPr>
          <p:cNvSpPr txBox="1"/>
          <p:nvPr/>
        </p:nvSpPr>
        <p:spPr>
          <a:xfrm>
            <a:off x="7160291" y="3872135"/>
            <a:ext cx="111909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b="1" dirty="0">
                <a:latin typeface="HelveticaNeueCyr" panose="02000503040000020004" pitchFamily="2" charset="-52"/>
              </a:rPr>
              <a:t>CAGR +19%</a:t>
            </a:r>
            <a:endParaRPr lang="ru-RU" b="1" dirty="0">
              <a:latin typeface="HelveticaNeueCyr" panose="02000503040000020004" pitchFamily="2" charset="-52"/>
            </a:endParaRP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6A6C49C5-825E-4BF0-95FE-320B2E525B44}"/>
              </a:ext>
            </a:extLst>
          </p:cNvPr>
          <p:cNvSpPr txBox="1"/>
          <p:nvPr/>
        </p:nvSpPr>
        <p:spPr>
          <a:xfrm>
            <a:off x="9496266" y="3567362"/>
            <a:ext cx="111909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b="1" dirty="0">
                <a:latin typeface="HelveticaNeueCyr" panose="02000503040000020004" pitchFamily="2" charset="-52"/>
              </a:rPr>
              <a:t>CAGR +22%</a:t>
            </a:r>
            <a:endParaRPr lang="ru-RU" b="1" dirty="0">
              <a:latin typeface="HelveticaNeueCyr" panose="02000503040000020004" pitchFamily="2" charset="-52"/>
            </a:endParaRP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0410A139-9277-4775-AC52-EACE69FEEF49}"/>
              </a:ext>
            </a:extLst>
          </p:cNvPr>
          <p:cNvSpPr txBox="1"/>
          <p:nvPr/>
        </p:nvSpPr>
        <p:spPr>
          <a:xfrm>
            <a:off x="12100367" y="3314653"/>
            <a:ext cx="111909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b="1" dirty="0">
                <a:latin typeface="HelveticaNeueCyr" panose="02000503040000020004" pitchFamily="2" charset="-52"/>
              </a:rPr>
              <a:t>CAGR +27%</a:t>
            </a:r>
            <a:endParaRPr lang="ru-RU" b="1" dirty="0">
              <a:latin typeface="HelveticaNeueCyr" panose="02000503040000020004" pitchFamily="2" charset="-52"/>
            </a:endParaRPr>
          </a:p>
        </p:txBody>
      </p:sp>
      <p:sp>
        <p:nvSpPr>
          <p:cNvPr id="37" name="Прямоугольник 36">
            <a:extLst>
              <a:ext uri="{FF2B5EF4-FFF2-40B4-BE49-F238E27FC236}">
                <a16:creationId xmlns:a16="http://schemas.microsoft.com/office/drawing/2014/main" id="{BFA70E3F-524B-40BB-9B8E-4C9BC473BEFA}"/>
              </a:ext>
            </a:extLst>
          </p:cNvPr>
          <p:cNvSpPr/>
          <p:nvPr/>
        </p:nvSpPr>
        <p:spPr>
          <a:xfrm>
            <a:off x="328585" y="10181100"/>
            <a:ext cx="7556500" cy="400110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ru-RU" sz="1000" dirty="0">
                <a:solidFill>
                  <a:srgbClr val="222222"/>
                </a:solidFill>
                <a:latin typeface="HelveticaNeueCyr" panose="02000503040000020004" pitchFamily="2" charset="-52"/>
              </a:rPr>
              <a:t>* Прогнозные значения, </a:t>
            </a:r>
            <a:r>
              <a:rPr lang="en-US" sz="1000" dirty="0">
                <a:solidFill>
                  <a:srgbClr val="222222"/>
                </a:solidFill>
                <a:latin typeface="HelveticaNeueCyr" panose="02000503040000020004" pitchFamily="2" charset="-52"/>
                <a:hlinkClick r:id="rId10"/>
              </a:rPr>
              <a:t>https://www.statista.com/forecasts/1474143/global-ai-market-size</a:t>
            </a:r>
            <a:r>
              <a:rPr lang="en-US" sz="1000" dirty="0">
                <a:solidFill>
                  <a:srgbClr val="222222"/>
                </a:solidFill>
                <a:latin typeface="HelveticaNeueCyr" panose="02000503040000020004" pitchFamily="2" charset="-52"/>
              </a:rPr>
              <a:t> </a:t>
            </a:r>
          </a:p>
          <a:p>
            <a:r>
              <a:rPr lang="ru-RU" sz="1000" dirty="0">
                <a:solidFill>
                  <a:srgbClr val="222222"/>
                </a:solidFill>
                <a:latin typeface="HelveticaNeueCyr" panose="02000503040000020004" pitchFamily="2" charset="-52"/>
              </a:rPr>
              <a:t>*</a:t>
            </a:r>
            <a:r>
              <a:rPr lang="en-US" sz="1000" dirty="0">
                <a:solidFill>
                  <a:srgbClr val="222222"/>
                </a:solidFill>
                <a:latin typeface="HelveticaNeueCyr" panose="02000503040000020004" pitchFamily="2" charset="-52"/>
              </a:rPr>
              <a:t>*</a:t>
            </a:r>
            <a:r>
              <a:rPr lang="ru-RU" sz="1000" dirty="0">
                <a:solidFill>
                  <a:srgbClr val="222222"/>
                </a:solidFill>
                <a:latin typeface="HelveticaNeueCyr" panose="02000503040000020004" pitchFamily="2" charset="-52"/>
              </a:rPr>
              <a:t>Деятельность организации запрещена на территории РФ </a:t>
            </a:r>
            <a:endParaRPr lang="ru-RU" sz="1000" dirty="0">
              <a:latin typeface="HelveticaNeueCyr" panose="02000503040000020004" pitchFamily="2" charset="-52"/>
            </a:endParaRPr>
          </a:p>
        </p:txBody>
      </p:sp>
    </p:spTree>
    <p:extLst>
      <p:ext uri="{BB962C8B-B14F-4D97-AF65-F5344CB8AC3E}">
        <p14:creationId xmlns:p14="http://schemas.microsoft.com/office/powerpoint/2010/main" val="49875332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id="{CADC82BF-0C89-400C-98F4-578F57BE9F4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9FD2042-F21C-415A-9EA3-4A549B5658B7}" type="slidenum">
              <a:rPr kumimoji="0" lang="ru-RU" sz="1600" b="0" i="0" u="none" strike="noStrike" kern="1200" cap="none" spc="0" normalizeH="0" baseline="0" noProof="0" smtClean="0">
                <a:ln>
                  <a:noFill/>
                </a:ln>
                <a:solidFill>
                  <a:srgbClr val="FFFFFF">
                    <a:lumMod val="75000"/>
                  </a:srgbClr>
                </a:solidFill>
                <a:effectLst/>
                <a:uLnTx/>
                <a:uFillTx/>
                <a:latin typeface="Unbounded Light" pitchFamily="2" charset="-52"/>
                <a:sym typeface="Arial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ru-RU" sz="1600" b="0" i="0" u="none" strike="noStrike" kern="1200" cap="none" spc="0" normalizeH="0" baseline="0" noProof="0" dirty="0">
              <a:ln>
                <a:noFill/>
              </a:ln>
              <a:solidFill>
                <a:srgbClr val="FFFFFF">
                  <a:lumMod val="75000"/>
                </a:srgbClr>
              </a:solidFill>
              <a:effectLst/>
              <a:uLnTx/>
              <a:uFillTx/>
              <a:latin typeface="Unbounded Light" pitchFamily="2" charset="-52"/>
              <a:sym typeface="Arial"/>
            </a:endParaRPr>
          </a:p>
        </p:txBody>
      </p:sp>
      <p:sp>
        <p:nvSpPr>
          <p:cNvPr id="7" name="Google Shape;1046;p21">
            <a:extLst>
              <a:ext uri="{FF2B5EF4-FFF2-40B4-BE49-F238E27FC236}">
                <a16:creationId xmlns:a16="http://schemas.microsoft.com/office/drawing/2014/main" id="{BF704CA4-FC90-0D7F-95E2-B0F309C793A4}"/>
              </a:ext>
            </a:extLst>
          </p:cNvPr>
          <p:cNvSpPr/>
          <p:nvPr/>
        </p:nvSpPr>
        <p:spPr>
          <a:xfrm>
            <a:off x="212724" y="266700"/>
            <a:ext cx="11991975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2300"/>
              <a:buFont typeface="Arial"/>
              <a:buNone/>
              <a:tabLst/>
              <a:defRPr/>
            </a:pPr>
            <a:r>
              <a:rPr kumimoji="0" lang="ru-RU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Unbounded Medium"/>
                <a:ea typeface="Unbounded Medium"/>
                <a:cs typeface="Unbounded Medium"/>
                <a:sym typeface="Unbounded Medium"/>
              </a:rPr>
              <a:t>Искусственный интеллект в контуре правительства </a:t>
            </a:r>
          </a:p>
        </p:txBody>
      </p:sp>
      <p:sp>
        <p:nvSpPr>
          <p:cNvPr id="3" name="Прямоугольник: скругленные углы 2">
            <a:extLst>
              <a:ext uri="{FF2B5EF4-FFF2-40B4-BE49-F238E27FC236}">
                <a16:creationId xmlns:a16="http://schemas.microsoft.com/office/drawing/2014/main" id="{27A15473-FBA7-4642-BA4A-5124810ECA16}"/>
              </a:ext>
            </a:extLst>
          </p:cNvPr>
          <p:cNvSpPr/>
          <p:nvPr/>
        </p:nvSpPr>
        <p:spPr>
          <a:xfrm>
            <a:off x="212724" y="914400"/>
            <a:ext cx="14630327" cy="3352800"/>
          </a:xfrm>
          <a:prstGeom prst="roundRect">
            <a:avLst>
              <a:gd name="adj" fmla="val 10624"/>
            </a:avLst>
          </a:prstGeom>
          <a:solidFill>
            <a:srgbClr val="E7E9F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grpSp>
        <p:nvGrpSpPr>
          <p:cNvPr id="6" name="Группа 5">
            <a:extLst>
              <a:ext uri="{FF2B5EF4-FFF2-40B4-BE49-F238E27FC236}">
                <a16:creationId xmlns:a16="http://schemas.microsoft.com/office/drawing/2014/main" id="{1FEE7748-D7DD-4604-8236-1DC562AC9205}"/>
              </a:ext>
            </a:extLst>
          </p:cNvPr>
          <p:cNvGrpSpPr/>
          <p:nvPr/>
        </p:nvGrpSpPr>
        <p:grpSpPr>
          <a:xfrm>
            <a:off x="900035" y="2283075"/>
            <a:ext cx="3333750" cy="1665832"/>
            <a:chOff x="615951" y="2486275"/>
            <a:chExt cx="3333750" cy="1665832"/>
          </a:xfrm>
        </p:grpSpPr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BC4BA32E-BA94-4282-8A20-8978DC6912F0}"/>
                </a:ext>
              </a:extLst>
            </p:cNvPr>
            <p:cNvSpPr txBox="1"/>
            <p:nvPr/>
          </p:nvSpPr>
          <p:spPr>
            <a:xfrm>
              <a:off x="615951" y="2486275"/>
              <a:ext cx="2880918" cy="62049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50000"/>
                </a:lnSpc>
              </a:pPr>
              <a:r>
                <a:rPr lang="en-US" sz="3200" dirty="0">
                  <a:solidFill>
                    <a:srgbClr val="002060"/>
                  </a:solidFill>
                  <a:latin typeface="Unbounded SemiBold" pitchFamily="2" charset="-52"/>
                </a:rPr>
                <a:t>88</a:t>
              </a:r>
              <a:br>
                <a:rPr lang="ru-RU" sz="3200" dirty="0">
                  <a:solidFill>
                    <a:srgbClr val="002060"/>
                  </a:solidFill>
                  <a:latin typeface="Unbounded SemiBold" pitchFamily="2" charset="-52"/>
                </a:rPr>
              </a:br>
              <a:r>
                <a:rPr lang="ru-RU" sz="1800" dirty="0">
                  <a:solidFill>
                    <a:srgbClr val="002060"/>
                  </a:solidFill>
                  <a:latin typeface="Unbounded SemiBold" pitchFamily="2" charset="-52"/>
                </a:rPr>
                <a:t>проектов</a:t>
              </a:r>
              <a:r>
                <a:rPr lang="ru-RU" sz="3200" dirty="0">
                  <a:solidFill>
                    <a:srgbClr val="002060"/>
                  </a:solidFill>
                  <a:latin typeface="Unbounded SemiBold" pitchFamily="2" charset="-52"/>
                </a:rPr>
                <a:t> </a:t>
              </a:r>
            </a:p>
          </p:txBody>
        </p:sp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17951809-C124-4D55-AB18-9B1A9157C311}"/>
                </a:ext>
              </a:extLst>
            </p:cNvPr>
            <p:cNvSpPr txBox="1"/>
            <p:nvPr/>
          </p:nvSpPr>
          <p:spPr>
            <a:xfrm>
              <a:off x="622301" y="3074889"/>
              <a:ext cx="3327400" cy="107721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ru-RU" sz="1600" dirty="0">
                  <a:latin typeface="HelveticaNeueCyr" panose="02000503040000020004" pitchFamily="2" charset="-52"/>
                </a:rPr>
                <a:t>с применением искусственного интеллекта реализуется</a:t>
              </a:r>
              <a:br>
                <a:rPr lang="ru-RU" sz="1600" dirty="0">
                  <a:latin typeface="HelveticaNeueCyr" panose="02000503040000020004" pitchFamily="2" charset="-52"/>
                </a:rPr>
              </a:br>
              <a:r>
                <a:rPr lang="ru-RU" sz="1600" dirty="0">
                  <a:latin typeface="HelveticaNeueCyr" panose="02000503040000020004" pitchFamily="2" charset="-52"/>
                </a:rPr>
                <a:t>в Москве в различных отраслях городского хозяйства</a:t>
              </a:r>
            </a:p>
          </p:txBody>
        </p:sp>
      </p:grpSp>
      <p:grpSp>
        <p:nvGrpSpPr>
          <p:cNvPr id="8" name="Группа 7">
            <a:extLst>
              <a:ext uri="{FF2B5EF4-FFF2-40B4-BE49-F238E27FC236}">
                <a16:creationId xmlns:a16="http://schemas.microsoft.com/office/drawing/2014/main" id="{4365B79F-6AC3-4665-942C-EDB7D17E3B72}"/>
              </a:ext>
            </a:extLst>
          </p:cNvPr>
          <p:cNvGrpSpPr/>
          <p:nvPr/>
        </p:nvGrpSpPr>
        <p:grpSpPr>
          <a:xfrm>
            <a:off x="412824" y="685223"/>
            <a:ext cx="13921126" cy="3101837"/>
            <a:chOff x="356347" y="1409171"/>
            <a:chExt cx="13921126" cy="3101837"/>
          </a:xfrm>
        </p:grpSpPr>
        <p:graphicFrame>
          <p:nvGraphicFramePr>
            <p:cNvPr id="9" name="Схема 8">
              <a:extLst>
                <a:ext uri="{FF2B5EF4-FFF2-40B4-BE49-F238E27FC236}">
                  <a16:creationId xmlns:a16="http://schemas.microsoft.com/office/drawing/2014/main" id="{88D8D8C7-6BC3-47C6-9F30-A3F468E85215}"/>
                </a:ext>
              </a:extLst>
            </p:cNvPr>
            <p:cNvGraphicFramePr/>
            <p:nvPr>
              <p:extLst>
                <p:ext uri="{D42A27DB-BD31-4B8C-83A1-F6EECF244321}">
                  <p14:modId xmlns:p14="http://schemas.microsoft.com/office/powerpoint/2010/main" val="1778634834"/>
                </p:ext>
              </p:extLst>
            </p:nvPr>
          </p:nvGraphicFramePr>
          <p:xfrm>
            <a:off x="573436" y="1409171"/>
            <a:ext cx="13704037" cy="2120999"/>
          </p:xfrm>
          <a:graphic>
            <a:graphicData uri="http://schemas.openxmlformats.org/drawingml/2006/diagram">
              <dgm:relIds xmlns:dgm="http://schemas.openxmlformats.org/drawingml/2006/diagram" xmlns:r="http://schemas.openxmlformats.org/officeDocument/2006/relationships" r:dm="rId3" r:lo="rId4" r:qs="rId5" r:cs="rId6"/>
            </a:graphicData>
          </a:graphic>
        </p:graphicFrame>
        <p:sp>
          <p:nvSpPr>
            <p:cNvPr id="10" name="Прямоугольник 9">
              <a:extLst>
                <a:ext uri="{FF2B5EF4-FFF2-40B4-BE49-F238E27FC236}">
                  <a16:creationId xmlns:a16="http://schemas.microsoft.com/office/drawing/2014/main" id="{8112A8C9-734B-479B-96FF-D91E0CD7A443}"/>
                </a:ext>
              </a:extLst>
            </p:cNvPr>
            <p:cNvSpPr/>
            <p:nvPr/>
          </p:nvSpPr>
          <p:spPr>
            <a:xfrm>
              <a:off x="8747812" y="3435807"/>
              <a:ext cx="2880918" cy="548651"/>
            </a:xfrm>
            <a:prstGeom prst="rect">
              <a:avLst/>
            </a:prstGeom>
          </p:spPr>
          <p:style>
            <a:lnRef idx="0">
              <a:schemeClr val="dk1">
                <a:alpha val="0"/>
                <a:hueOff val="0"/>
                <a:satOff val="0"/>
                <a:lumOff val="0"/>
                <a:alphaOff val="0"/>
              </a:schemeClr>
            </a:lnRef>
            <a:fillRef idx="0">
              <a:schemeClr val="lt1">
                <a:alpha val="0"/>
                <a:hueOff val="0"/>
                <a:satOff val="0"/>
                <a:lumOff val="0"/>
                <a:alphaOff val="0"/>
              </a:schemeClr>
            </a:fillRef>
            <a:effectRef idx="0">
              <a:schemeClr val="lt1">
                <a:alpha val="0"/>
                <a:hueOff val="0"/>
                <a:satOff val="0"/>
                <a:lumOff val="0"/>
                <a:alphaOff val="0"/>
              </a:schemeClr>
            </a:effectRef>
            <a:fontRef idx="minor">
              <a:schemeClr val="tx1">
                <a:hueOff val="0"/>
                <a:satOff val="0"/>
                <a:lumOff val="0"/>
                <a:alphaOff val="0"/>
              </a:schemeClr>
            </a:fontRef>
          </p:style>
        </p:sp>
        <p:sp>
          <p:nvSpPr>
            <p:cNvPr id="11" name="Прямоугольник 10">
              <a:extLst>
                <a:ext uri="{FF2B5EF4-FFF2-40B4-BE49-F238E27FC236}">
                  <a16:creationId xmlns:a16="http://schemas.microsoft.com/office/drawing/2014/main" id="{36F0406D-9B1E-480A-839A-0553DC7AF874}"/>
                </a:ext>
              </a:extLst>
            </p:cNvPr>
            <p:cNvSpPr/>
            <p:nvPr/>
          </p:nvSpPr>
          <p:spPr>
            <a:xfrm>
              <a:off x="573437" y="2480045"/>
              <a:ext cx="2880918" cy="549520"/>
            </a:xfrm>
            <a:prstGeom prst="rect">
              <a:avLst/>
            </a:prstGeom>
          </p:spPr>
          <p:style>
            <a:lnRef idx="0">
              <a:schemeClr val="dk1">
                <a:alpha val="0"/>
                <a:hueOff val="0"/>
                <a:satOff val="0"/>
                <a:lumOff val="0"/>
                <a:alphaOff val="0"/>
              </a:schemeClr>
            </a:lnRef>
            <a:fillRef idx="0">
              <a:schemeClr val="lt1">
                <a:alpha val="0"/>
                <a:hueOff val="0"/>
                <a:satOff val="0"/>
                <a:lumOff val="0"/>
                <a:alphaOff val="0"/>
              </a:schemeClr>
            </a:fillRef>
            <a:effectRef idx="0">
              <a:schemeClr val="lt1">
                <a:alpha val="0"/>
                <a:hueOff val="0"/>
                <a:satOff val="0"/>
                <a:lumOff val="0"/>
                <a:alphaOff val="0"/>
              </a:schemeClr>
            </a:effectRef>
            <a:fontRef idx="minor">
              <a:schemeClr val="tx1">
                <a:hueOff val="0"/>
                <a:satOff val="0"/>
                <a:lumOff val="0"/>
                <a:alphaOff val="0"/>
              </a:schemeClr>
            </a:fontRef>
          </p:style>
        </p:sp>
        <p:sp>
          <p:nvSpPr>
            <p:cNvPr id="12" name="Прямоугольник 11">
              <a:extLst>
                <a:ext uri="{FF2B5EF4-FFF2-40B4-BE49-F238E27FC236}">
                  <a16:creationId xmlns:a16="http://schemas.microsoft.com/office/drawing/2014/main" id="{48CBF977-A72D-4B7A-8AA7-D1ABF14C1AAB}"/>
                </a:ext>
              </a:extLst>
            </p:cNvPr>
            <p:cNvSpPr/>
            <p:nvPr/>
          </p:nvSpPr>
          <p:spPr>
            <a:xfrm>
              <a:off x="356347" y="1739155"/>
              <a:ext cx="3288510" cy="549523"/>
            </a:xfrm>
            <a:prstGeom prst="rect">
              <a:avLst/>
            </a:prstGeom>
          </p:spPr>
          <p:style>
            <a:lnRef idx="0">
              <a:schemeClr val="dk1">
                <a:alpha val="0"/>
                <a:hueOff val="0"/>
                <a:satOff val="0"/>
                <a:lumOff val="0"/>
                <a:alphaOff val="0"/>
              </a:schemeClr>
            </a:lnRef>
            <a:fillRef idx="0">
              <a:schemeClr val="lt1">
                <a:alpha val="0"/>
                <a:hueOff val="0"/>
                <a:satOff val="0"/>
                <a:lumOff val="0"/>
                <a:alphaOff val="0"/>
              </a:schemeClr>
            </a:fillRef>
            <a:effectRef idx="0">
              <a:schemeClr val="lt1">
                <a:alpha val="0"/>
                <a:hueOff val="0"/>
                <a:satOff val="0"/>
                <a:lumOff val="0"/>
                <a:alphaOff val="0"/>
              </a:schemeClr>
            </a:effectRef>
            <a:fontRef idx="minor">
              <a:schemeClr val="tx1">
                <a:hueOff val="0"/>
                <a:satOff val="0"/>
                <a:lumOff val="0"/>
                <a:alphaOff val="0"/>
              </a:schemeClr>
            </a:fontRef>
          </p:style>
        </p:sp>
        <p:sp>
          <p:nvSpPr>
            <p:cNvPr id="13" name="Прямоугольник 12">
              <a:extLst>
                <a:ext uri="{FF2B5EF4-FFF2-40B4-BE49-F238E27FC236}">
                  <a16:creationId xmlns:a16="http://schemas.microsoft.com/office/drawing/2014/main" id="{08FFCFC8-EBE8-4F32-9E58-84A3BFAE01CA}"/>
                </a:ext>
              </a:extLst>
            </p:cNvPr>
            <p:cNvSpPr/>
            <p:nvPr/>
          </p:nvSpPr>
          <p:spPr>
            <a:xfrm>
              <a:off x="2650330" y="3961486"/>
              <a:ext cx="2880918" cy="549522"/>
            </a:xfrm>
            <a:prstGeom prst="rect">
              <a:avLst/>
            </a:prstGeom>
          </p:spPr>
          <p:style>
            <a:lnRef idx="0">
              <a:schemeClr val="dk1">
                <a:alpha val="0"/>
                <a:hueOff val="0"/>
                <a:satOff val="0"/>
                <a:lumOff val="0"/>
                <a:alphaOff val="0"/>
              </a:schemeClr>
            </a:lnRef>
            <a:fillRef idx="0">
              <a:schemeClr val="lt1">
                <a:alpha val="0"/>
                <a:hueOff val="0"/>
                <a:satOff val="0"/>
                <a:lumOff val="0"/>
                <a:alphaOff val="0"/>
              </a:schemeClr>
            </a:fillRef>
            <a:effectRef idx="0">
              <a:schemeClr val="lt1">
                <a:alpha val="0"/>
                <a:hueOff val="0"/>
                <a:satOff val="0"/>
                <a:lumOff val="0"/>
                <a:alphaOff val="0"/>
              </a:schemeClr>
            </a:effectRef>
            <a:fontRef idx="minor">
              <a:schemeClr val="tx1">
                <a:hueOff val="0"/>
                <a:satOff val="0"/>
                <a:lumOff val="0"/>
                <a:alphaOff val="0"/>
              </a:schemeClr>
            </a:fontRef>
          </p:style>
        </p:sp>
      </p:grpSp>
      <p:sp>
        <p:nvSpPr>
          <p:cNvPr id="16" name="TextBox 15">
            <a:extLst>
              <a:ext uri="{FF2B5EF4-FFF2-40B4-BE49-F238E27FC236}">
                <a16:creationId xmlns:a16="http://schemas.microsoft.com/office/drawing/2014/main" id="{FD4A6660-5CEF-40CF-AE8D-1EC38C5E7BB6}"/>
              </a:ext>
            </a:extLst>
          </p:cNvPr>
          <p:cNvSpPr txBox="1"/>
          <p:nvPr/>
        </p:nvSpPr>
        <p:spPr>
          <a:xfrm>
            <a:off x="11270513" y="2185745"/>
            <a:ext cx="3531444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600" dirty="0">
                <a:latin typeface="HelveticaNeueCyr" panose="02000503040000020004" pitchFamily="2" charset="-52"/>
              </a:rPr>
              <a:t>Обеспечение создания</a:t>
            </a:r>
            <a:br>
              <a:rPr lang="ru-RU" sz="1600" dirty="0">
                <a:latin typeface="HelveticaNeueCyr" panose="02000503040000020004" pitchFamily="2" charset="-52"/>
              </a:rPr>
            </a:br>
            <a:r>
              <a:rPr lang="ru-RU" sz="1600" dirty="0">
                <a:latin typeface="HelveticaNeueCyr" panose="02000503040000020004" pitchFamily="2" charset="-52"/>
              </a:rPr>
              <a:t>эко-системы ИИ</a:t>
            </a:r>
            <a:br>
              <a:rPr lang="ru-RU" sz="1600" dirty="0">
                <a:latin typeface="HelveticaNeueCyr" panose="02000503040000020004" pitchFamily="2" charset="-52"/>
              </a:rPr>
            </a:br>
            <a:endParaRPr lang="ru-RU" sz="600" dirty="0">
              <a:latin typeface="HelveticaNeueCyr" panose="02000503040000020004" pitchFamily="2" charset="-52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600" dirty="0">
                <a:latin typeface="HelveticaNeueCyr" panose="02000503040000020004" pitchFamily="2" charset="-52"/>
              </a:rPr>
              <a:t>Внедрение ИИ-технологий</a:t>
            </a:r>
            <a:br>
              <a:rPr lang="ru-RU" sz="1600" dirty="0">
                <a:latin typeface="HelveticaNeueCyr" panose="02000503040000020004" pitchFamily="2" charset="-52"/>
              </a:rPr>
            </a:br>
            <a:r>
              <a:rPr lang="ru-RU" sz="1600" dirty="0">
                <a:latin typeface="HelveticaNeueCyr" panose="02000503040000020004" pitchFamily="2" charset="-52"/>
              </a:rPr>
              <a:t>в деятельность все ОИВ Москвы</a:t>
            </a:r>
            <a:br>
              <a:rPr lang="ru-RU" sz="1600" dirty="0">
                <a:latin typeface="HelveticaNeueCyr" panose="02000503040000020004" pitchFamily="2" charset="-52"/>
              </a:rPr>
            </a:br>
            <a:endParaRPr lang="ru-RU" sz="600" dirty="0">
              <a:latin typeface="HelveticaNeueCyr" panose="02000503040000020004" pitchFamily="2" charset="-52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600" dirty="0">
                <a:latin typeface="HelveticaNeueCyr" panose="02000503040000020004" pitchFamily="2" charset="-52"/>
              </a:rPr>
              <a:t>Масштабирование опыта Москвы на субъекты РФ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6A0795E8-75E8-4C47-AAF7-229FF4F62A22}"/>
              </a:ext>
            </a:extLst>
          </p:cNvPr>
          <p:cNvSpPr txBox="1"/>
          <p:nvPr/>
        </p:nvSpPr>
        <p:spPr>
          <a:xfrm>
            <a:off x="310945" y="4649363"/>
            <a:ext cx="256192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b="1" kern="1200" dirty="0">
                <a:solidFill>
                  <a:schemeClr val="tx1"/>
                </a:solidFill>
                <a:highlight>
                  <a:srgbClr val="FFFFFF"/>
                </a:highlight>
                <a:latin typeface="Unbounded SemiBold" pitchFamily="2" charset="-52"/>
                <a:ea typeface="+mn-ea"/>
                <a:cs typeface="+mn-cs"/>
              </a:rPr>
              <a:t>Объем </a:t>
            </a:r>
            <a:r>
              <a:rPr lang="en-US" b="1" kern="1200" dirty="0">
                <a:solidFill>
                  <a:schemeClr val="tx1"/>
                </a:solidFill>
                <a:highlight>
                  <a:srgbClr val="FFFFFF"/>
                </a:highlight>
                <a:latin typeface="Unbounded SemiBold" pitchFamily="2" charset="-52"/>
                <a:ea typeface="+mn-ea"/>
                <a:cs typeface="+mn-cs"/>
              </a:rPr>
              <a:t>GPU</a:t>
            </a:r>
            <a:r>
              <a:rPr lang="ru-RU" b="1" kern="1200" dirty="0">
                <a:solidFill>
                  <a:schemeClr val="tx1"/>
                </a:solidFill>
                <a:highlight>
                  <a:srgbClr val="FFFFFF"/>
                </a:highlight>
                <a:latin typeface="Unbounded SemiBold" pitchFamily="2" charset="-52"/>
                <a:ea typeface="+mn-ea"/>
                <a:cs typeface="+mn-cs"/>
              </a:rPr>
              <a:t> (</a:t>
            </a:r>
            <a:r>
              <a:rPr lang="en-US" b="1" kern="1200" dirty="0">
                <a:solidFill>
                  <a:schemeClr val="tx1"/>
                </a:solidFill>
                <a:highlight>
                  <a:srgbClr val="FFFFFF"/>
                </a:highlight>
                <a:latin typeface="Unbounded SemiBold" pitchFamily="2" charset="-52"/>
                <a:ea typeface="+mn-ea"/>
                <a:cs typeface="+mn-cs"/>
              </a:rPr>
              <a:t>RAM</a:t>
            </a:r>
            <a:r>
              <a:rPr lang="ru-RU" b="1" kern="1200" dirty="0">
                <a:solidFill>
                  <a:schemeClr val="tx1"/>
                </a:solidFill>
                <a:highlight>
                  <a:srgbClr val="FFFFFF"/>
                </a:highlight>
                <a:latin typeface="Unbounded SemiBold" pitchFamily="2" charset="-52"/>
                <a:ea typeface="+mn-ea"/>
                <a:cs typeface="+mn-cs"/>
              </a:rPr>
              <a:t>), ГБ</a:t>
            </a:r>
          </a:p>
        </p:txBody>
      </p:sp>
      <p:graphicFrame>
        <p:nvGraphicFramePr>
          <p:cNvPr id="19" name="Диаграмма 18">
            <a:extLst>
              <a:ext uri="{FF2B5EF4-FFF2-40B4-BE49-F238E27FC236}">
                <a16:creationId xmlns:a16="http://schemas.microsoft.com/office/drawing/2014/main" id="{93D79870-2041-4962-9C94-D5ADFC71513A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41824327"/>
              </p:ext>
            </p:extLst>
          </p:nvPr>
        </p:nvGraphicFramePr>
        <p:xfrm>
          <a:off x="412824" y="4912452"/>
          <a:ext cx="6025572" cy="444009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8"/>
          </a:graphicData>
        </a:graphic>
      </p:graphicFrame>
      <p:cxnSp>
        <p:nvCxnSpPr>
          <p:cNvPr id="20" name="Прямая соединительная линия 19">
            <a:extLst>
              <a:ext uri="{FF2B5EF4-FFF2-40B4-BE49-F238E27FC236}">
                <a16:creationId xmlns:a16="http://schemas.microsoft.com/office/drawing/2014/main" id="{47BDF933-48AE-49D8-A3F8-2ED66BA22D57}"/>
              </a:ext>
            </a:extLst>
          </p:cNvPr>
          <p:cNvCxnSpPr>
            <a:cxnSpLocks/>
          </p:cNvCxnSpPr>
          <p:nvPr/>
        </p:nvCxnSpPr>
        <p:spPr>
          <a:xfrm>
            <a:off x="3677481" y="6487485"/>
            <a:ext cx="0" cy="173493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TextBox 20">
            <a:extLst>
              <a:ext uri="{FF2B5EF4-FFF2-40B4-BE49-F238E27FC236}">
                <a16:creationId xmlns:a16="http://schemas.microsoft.com/office/drawing/2014/main" id="{AEC5D350-7A04-468A-878B-53E6FEB7926E}"/>
              </a:ext>
            </a:extLst>
          </p:cNvPr>
          <p:cNvSpPr txBox="1"/>
          <p:nvPr/>
        </p:nvSpPr>
        <p:spPr>
          <a:xfrm>
            <a:off x="3141421" y="8222421"/>
            <a:ext cx="142614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kern="1200" dirty="0">
                <a:solidFill>
                  <a:schemeClr val="tx1">
                    <a:lumMod val="65000"/>
                    <a:lumOff val="35000"/>
                  </a:schemeClr>
                </a:solidFill>
                <a:latin typeface="HelveticaNeueCyr" panose="02000503040000020004" pitchFamily="2" charset="-52"/>
                <a:ea typeface="+mn-ea"/>
                <a:cs typeface="+mn-cs"/>
              </a:rPr>
              <a:t>01.07.2024</a:t>
            </a:r>
            <a:endParaRPr lang="ru-RU" sz="1100" kern="1200" dirty="0">
              <a:solidFill>
                <a:schemeClr val="tx1">
                  <a:lumMod val="65000"/>
                  <a:lumOff val="35000"/>
                </a:schemeClr>
              </a:solidFill>
              <a:latin typeface="HelveticaNeueCyr" panose="02000503040000020004" pitchFamily="2" charset="-52"/>
              <a:ea typeface="+mn-ea"/>
              <a:cs typeface="+mn-cs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BE2B0A66-2781-4D6D-A4C1-0ADF93643ABF}"/>
              </a:ext>
            </a:extLst>
          </p:cNvPr>
          <p:cNvSpPr txBox="1"/>
          <p:nvPr/>
        </p:nvSpPr>
        <p:spPr>
          <a:xfrm>
            <a:off x="7146851" y="4587639"/>
            <a:ext cx="7556500" cy="72878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ru-RU" sz="1800" dirty="0">
                <a:solidFill>
                  <a:srgbClr val="002060"/>
                </a:solidFill>
                <a:latin typeface="Unbounded SemiBold" pitchFamily="2" charset="-52"/>
              </a:rPr>
              <a:t>На текущий момент кластер </a:t>
            </a:r>
            <a:r>
              <a:rPr lang="en-US" sz="1800" dirty="0">
                <a:solidFill>
                  <a:srgbClr val="002060"/>
                </a:solidFill>
                <a:latin typeface="Unbounded SemiBold" pitchFamily="2" charset="-52"/>
              </a:rPr>
              <a:t>GPU</a:t>
            </a:r>
            <a:r>
              <a:rPr lang="ru-RU" sz="1800" dirty="0">
                <a:solidFill>
                  <a:srgbClr val="002060"/>
                </a:solidFill>
                <a:latin typeface="Unbounded SemiBold" pitchFamily="2" charset="-52"/>
              </a:rPr>
              <a:t> серверов включает в себя: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0E5BBC65-47E3-4124-8D52-080039C06156}"/>
              </a:ext>
            </a:extLst>
          </p:cNvPr>
          <p:cNvSpPr txBox="1"/>
          <p:nvPr/>
        </p:nvSpPr>
        <p:spPr>
          <a:xfrm>
            <a:off x="7330347" y="6820960"/>
            <a:ext cx="288091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80000"/>
              </a:lnSpc>
            </a:pPr>
            <a:r>
              <a:rPr lang="ru-RU" sz="3200" dirty="0">
                <a:solidFill>
                  <a:srgbClr val="002060"/>
                </a:solidFill>
                <a:latin typeface="Unbounded SemiBold" pitchFamily="2" charset="-52"/>
              </a:rPr>
              <a:t>3 200 ГБ</a:t>
            </a:r>
            <a:r>
              <a:rPr lang="ru-RU" sz="1800" dirty="0">
                <a:solidFill>
                  <a:srgbClr val="002060"/>
                </a:solidFill>
                <a:latin typeface="Unbounded SemiBold" pitchFamily="2" charset="-52"/>
              </a:rPr>
              <a:t> </a:t>
            </a:r>
          </a:p>
          <a:p>
            <a:pPr>
              <a:lnSpc>
                <a:spcPct val="80000"/>
              </a:lnSpc>
            </a:pPr>
            <a:r>
              <a:rPr lang="ru-RU" sz="1800" dirty="0">
                <a:solidFill>
                  <a:srgbClr val="002060"/>
                </a:solidFill>
                <a:latin typeface="Unbounded SemiBold" pitchFamily="2" charset="-52"/>
              </a:rPr>
              <a:t>генеративный ИИ</a:t>
            </a:r>
            <a:endParaRPr lang="ru-RU" sz="3200" dirty="0">
              <a:solidFill>
                <a:srgbClr val="002060"/>
              </a:solidFill>
              <a:latin typeface="Unbounded SemiBold" pitchFamily="2" charset="-52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95BCF28A-D0B2-4797-AC73-4E6A3A0ADAD5}"/>
              </a:ext>
            </a:extLst>
          </p:cNvPr>
          <p:cNvSpPr txBox="1"/>
          <p:nvPr/>
        </p:nvSpPr>
        <p:spPr>
          <a:xfrm>
            <a:off x="7330347" y="5779599"/>
            <a:ext cx="288091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80000"/>
              </a:lnSpc>
            </a:pPr>
            <a:r>
              <a:rPr lang="ru-RU" sz="3200" dirty="0">
                <a:solidFill>
                  <a:srgbClr val="002060"/>
                </a:solidFill>
                <a:latin typeface="Unbounded SemiBold" pitchFamily="2" charset="-52"/>
              </a:rPr>
              <a:t>4 032 ГБ</a:t>
            </a:r>
            <a:r>
              <a:rPr lang="ru-RU" sz="1800" dirty="0">
                <a:solidFill>
                  <a:srgbClr val="002060"/>
                </a:solidFill>
                <a:latin typeface="Unbounded SemiBold" pitchFamily="2" charset="-52"/>
              </a:rPr>
              <a:t> рендеринг</a:t>
            </a:r>
            <a:endParaRPr lang="ru-RU" sz="3200" dirty="0">
              <a:solidFill>
                <a:srgbClr val="002060"/>
              </a:solidFill>
              <a:latin typeface="Unbounded SemiBold" pitchFamily="2" charset="-52"/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2C2A1002-3F1D-4E3A-9706-A8F117BC83D3}"/>
              </a:ext>
            </a:extLst>
          </p:cNvPr>
          <p:cNvSpPr txBox="1"/>
          <p:nvPr/>
        </p:nvSpPr>
        <p:spPr>
          <a:xfrm>
            <a:off x="7146851" y="7936775"/>
            <a:ext cx="7156003" cy="141577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800" dirty="0">
                <a:solidFill>
                  <a:srgbClr val="002060"/>
                </a:solidFill>
                <a:latin typeface="Unbounded SemiBold" pitchFamily="2" charset="-52"/>
              </a:rPr>
              <a:t>Показатель утилизации кластера </a:t>
            </a:r>
            <a:r>
              <a:rPr lang="en-US" sz="1800" dirty="0">
                <a:solidFill>
                  <a:srgbClr val="002060"/>
                </a:solidFill>
                <a:latin typeface="Unbounded SemiBold" pitchFamily="2" charset="-52"/>
              </a:rPr>
              <a:t>GPU </a:t>
            </a:r>
            <a:r>
              <a:rPr lang="ru-RU" sz="1800" dirty="0">
                <a:solidFill>
                  <a:srgbClr val="002060"/>
                </a:solidFill>
                <a:latin typeface="Unbounded SemiBold" pitchFamily="2" charset="-52"/>
              </a:rPr>
              <a:t>серверов, на данный момент составляет до 100%.</a:t>
            </a:r>
            <a:br>
              <a:rPr lang="ru-RU" sz="1600" dirty="0">
                <a:latin typeface="HelveticaNeueCyr" panose="02000503040000020004" pitchFamily="2" charset="-52"/>
              </a:rPr>
            </a:br>
            <a:r>
              <a:rPr lang="ru-RU" sz="1600" dirty="0">
                <a:latin typeface="HelveticaNeueCyr" panose="02000503040000020004" pitchFamily="2" charset="-52"/>
              </a:rPr>
              <a:t>Утилизация – доля ресурсов системы, которые используются </a:t>
            </a:r>
            <a:br>
              <a:rPr lang="ru-RU" sz="1600" dirty="0">
                <a:latin typeface="HelveticaNeueCyr" panose="02000503040000020004" pitchFamily="2" charset="-52"/>
              </a:rPr>
            </a:br>
            <a:r>
              <a:rPr lang="ru-RU" sz="1600" dirty="0">
                <a:latin typeface="HelveticaNeueCyr" panose="02000503040000020004" pitchFamily="2" charset="-52"/>
              </a:rPr>
              <a:t>для выполнения работ</a:t>
            </a:r>
          </a:p>
        </p:txBody>
      </p:sp>
    </p:spTree>
    <p:extLst>
      <p:ext uri="{BB962C8B-B14F-4D97-AF65-F5344CB8AC3E}">
        <p14:creationId xmlns:p14="http://schemas.microsoft.com/office/powerpoint/2010/main" val="72018032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id="{CADC82BF-0C89-400C-98F4-578F57BE9F4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9FD2042-F21C-415A-9EA3-4A549B5658B7}" type="slidenum">
              <a:rPr kumimoji="0" lang="ru-RU" sz="1600" b="0" i="0" u="none" strike="noStrike" kern="1200" cap="none" spc="0" normalizeH="0" baseline="0" noProof="0" smtClean="0">
                <a:ln>
                  <a:noFill/>
                </a:ln>
                <a:solidFill>
                  <a:srgbClr val="FFFFFF">
                    <a:lumMod val="75000"/>
                  </a:srgbClr>
                </a:solidFill>
                <a:effectLst/>
                <a:uLnTx/>
                <a:uFillTx/>
                <a:latin typeface="Unbounded Light" pitchFamily="2" charset="-52"/>
                <a:sym typeface="Arial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ru-RU" sz="1600" b="0" i="0" u="none" strike="noStrike" kern="1200" cap="none" spc="0" normalizeH="0" baseline="0" noProof="0" dirty="0">
              <a:ln>
                <a:noFill/>
              </a:ln>
              <a:solidFill>
                <a:srgbClr val="FFFFFF">
                  <a:lumMod val="75000"/>
                </a:srgbClr>
              </a:solidFill>
              <a:effectLst/>
              <a:uLnTx/>
              <a:uFillTx/>
              <a:latin typeface="Unbounded Light" pitchFamily="2" charset="-52"/>
              <a:sym typeface="Arial"/>
            </a:endParaRPr>
          </a:p>
        </p:txBody>
      </p:sp>
      <p:sp>
        <p:nvSpPr>
          <p:cNvPr id="7" name="Google Shape;1046;p21">
            <a:extLst>
              <a:ext uri="{FF2B5EF4-FFF2-40B4-BE49-F238E27FC236}">
                <a16:creationId xmlns:a16="http://schemas.microsoft.com/office/drawing/2014/main" id="{BF704CA4-FC90-0D7F-95E2-B0F309C793A4}"/>
              </a:ext>
            </a:extLst>
          </p:cNvPr>
          <p:cNvSpPr/>
          <p:nvPr/>
        </p:nvSpPr>
        <p:spPr>
          <a:xfrm>
            <a:off x="212724" y="266700"/>
            <a:ext cx="11991975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2300"/>
              <a:buFont typeface="Arial"/>
              <a:buNone/>
              <a:tabLst/>
              <a:defRPr/>
            </a:pPr>
            <a:r>
              <a:rPr kumimoji="0" lang="ru-RU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Unbounded Medium"/>
                <a:ea typeface="Unbounded Medium"/>
                <a:cs typeface="Unbounded Medium"/>
                <a:sym typeface="Unbounded Medium"/>
              </a:rPr>
              <a:t>Рынок графических процессоров</a:t>
            </a:r>
          </a:p>
        </p:txBody>
      </p:sp>
      <p:graphicFrame>
        <p:nvGraphicFramePr>
          <p:cNvPr id="14" name="Таблица 13">
            <a:extLst>
              <a:ext uri="{FF2B5EF4-FFF2-40B4-BE49-F238E27FC236}">
                <a16:creationId xmlns:a16="http://schemas.microsoft.com/office/drawing/2014/main" id="{384FEDC1-004B-4AFE-B12A-3905D3F76C0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20563025"/>
              </p:ext>
            </p:extLst>
          </p:nvPr>
        </p:nvGraphicFramePr>
        <p:xfrm>
          <a:off x="447674" y="763905"/>
          <a:ext cx="14220825" cy="9479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54200">
                  <a:extLst>
                    <a:ext uri="{9D8B030D-6E8A-4147-A177-3AD203B41FA5}">
                      <a16:colId xmlns:a16="http://schemas.microsoft.com/office/drawing/2014/main" val="2584254708"/>
                    </a:ext>
                  </a:extLst>
                </a:gridCol>
                <a:gridCol w="2291622">
                  <a:extLst>
                    <a:ext uri="{9D8B030D-6E8A-4147-A177-3AD203B41FA5}">
                      <a16:colId xmlns:a16="http://schemas.microsoft.com/office/drawing/2014/main" val="722765251"/>
                    </a:ext>
                  </a:extLst>
                </a:gridCol>
                <a:gridCol w="2523881">
                  <a:extLst>
                    <a:ext uri="{9D8B030D-6E8A-4147-A177-3AD203B41FA5}">
                      <a16:colId xmlns:a16="http://schemas.microsoft.com/office/drawing/2014/main" val="2020830982"/>
                    </a:ext>
                  </a:extLst>
                </a:gridCol>
                <a:gridCol w="2662068">
                  <a:extLst>
                    <a:ext uri="{9D8B030D-6E8A-4147-A177-3AD203B41FA5}">
                      <a16:colId xmlns:a16="http://schemas.microsoft.com/office/drawing/2014/main" val="2594056973"/>
                    </a:ext>
                  </a:extLst>
                </a:gridCol>
                <a:gridCol w="2662068">
                  <a:extLst>
                    <a:ext uri="{9D8B030D-6E8A-4147-A177-3AD203B41FA5}">
                      <a16:colId xmlns:a16="http://schemas.microsoft.com/office/drawing/2014/main" val="3223612353"/>
                    </a:ext>
                  </a:extLst>
                </a:gridCol>
                <a:gridCol w="2826986">
                  <a:extLst>
                    <a:ext uri="{9D8B030D-6E8A-4147-A177-3AD203B41FA5}">
                      <a16:colId xmlns:a16="http://schemas.microsoft.com/office/drawing/2014/main" val="244459427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ru-RU" sz="1000">
                          <a:solidFill>
                            <a:schemeClr val="bg1"/>
                          </a:solidFill>
                          <a:latin typeface="HelveticaNeueCyr" panose="020B0604020202020204" charset="-52"/>
                        </a:rPr>
                        <a:t>Тип процессора</a:t>
                      </a:r>
                      <a:endParaRPr lang="ru-RU" sz="1000" dirty="0">
                        <a:solidFill>
                          <a:schemeClr val="bg1"/>
                        </a:solidFill>
                        <a:latin typeface="HelveticaNeueCyr" panose="020B0604020202020204" charset="-52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3C5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C5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C5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C5D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kern="1200">
                          <a:solidFill>
                            <a:schemeClr val="bg1"/>
                          </a:solidFill>
                          <a:latin typeface="HelveticaNeueCyr" panose="020B0604020202020204" charset="-52"/>
                          <a:cs typeface="Wix Madefor Display ExtraBold" panose="020B0503020203020203" pitchFamily="34" charset="-52"/>
                        </a:rPr>
                        <a:t>Центральный процессор (ЦП)</a:t>
                      </a:r>
                    </a:p>
                    <a:p>
                      <a:pPr algn="ctr"/>
                      <a:r>
                        <a:rPr lang="en-US" sz="1000" b="1" i="1" kern="1200">
                          <a:solidFill>
                            <a:schemeClr val="bg1"/>
                          </a:solidFill>
                          <a:latin typeface="HelveticaNeueCyr" panose="020B0604020202020204" charset="-52"/>
                          <a:cs typeface="Wix Madefor Display" panose="020B0503020203020203" pitchFamily="34" charset="-52"/>
                        </a:rPr>
                        <a:t>Central Processing Unit (CPU) </a:t>
                      </a:r>
                      <a:endParaRPr lang="ru-RU" sz="1000" b="0" kern="1200" dirty="0">
                        <a:solidFill>
                          <a:schemeClr val="bg1"/>
                        </a:solidFill>
                        <a:latin typeface="HelveticaNeueCyr" panose="020B0604020202020204" charset="-52"/>
                        <a:cs typeface="Wix Madefor Display" panose="020B0503020203020203" pitchFamily="34" charset="-5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C5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C5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C5D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kern="1200">
                          <a:solidFill>
                            <a:schemeClr val="bg1"/>
                          </a:solidFill>
                          <a:latin typeface="HelveticaNeueCyr" panose="020B0604020202020204" charset="-52"/>
                          <a:cs typeface="Wix Madefor Display ExtraBold" panose="020B0503020203020203" pitchFamily="34" charset="-52"/>
                        </a:rPr>
                        <a:t>Графический процессор (ГП)</a:t>
                      </a:r>
                      <a:endParaRPr lang="ru-RU" sz="1000" b="1" i="0" kern="1200">
                        <a:solidFill>
                          <a:schemeClr val="bg1"/>
                        </a:solidFill>
                        <a:latin typeface="HelveticaNeueCyr" panose="020B0604020202020204" charset="-52"/>
                        <a:cs typeface="Wix Madefor Display ExtraBold" panose="020B0503020203020203" pitchFamily="34" charset="-52"/>
                      </a:endParaRPr>
                    </a:p>
                    <a:p>
                      <a:pPr algn="ctr"/>
                      <a:r>
                        <a:rPr lang="en-US" sz="1000" b="1" i="1" kern="1200">
                          <a:solidFill>
                            <a:schemeClr val="bg1"/>
                          </a:solidFill>
                          <a:latin typeface="HelveticaNeueCyr" panose="020B0604020202020204" charset="-52"/>
                          <a:cs typeface="Wix Madefor Display" panose="020B0503020203020203" pitchFamily="34" charset="-52"/>
                        </a:rPr>
                        <a:t>Graphics Processing Unit (GPU)</a:t>
                      </a:r>
                      <a:endParaRPr lang="en-US" sz="1000" b="1" i="1" kern="1200" dirty="0">
                        <a:solidFill>
                          <a:schemeClr val="bg1"/>
                        </a:solidFill>
                        <a:latin typeface="HelveticaNeueCyr" panose="020B0604020202020204" charset="-52"/>
                        <a:cs typeface="Wix Madefor Display" panose="020B0503020203020203" pitchFamily="34" charset="-5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C5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C5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C5D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1" i="0" dirty="0">
                          <a:solidFill>
                            <a:schemeClr val="bg1"/>
                          </a:solidFill>
                          <a:latin typeface="HelveticaNeueCyr" panose="020B0604020202020204" charset="-52"/>
                        </a:rPr>
                        <a:t>Нейронный процессор (НП)</a:t>
                      </a:r>
                    </a:p>
                    <a:p>
                      <a:pPr algn="ctr"/>
                      <a:r>
                        <a:rPr lang="en-US" sz="1000" b="1" i="1" dirty="0">
                          <a:solidFill>
                            <a:schemeClr val="bg1"/>
                          </a:solidFill>
                          <a:latin typeface="HelveticaNeueCyr" panose="020B0604020202020204" charset="-52"/>
                        </a:rPr>
                        <a:t>Neural Processing Unit </a:t>
                      </a:r>
                      <a:r>
                        <a:rPr lang="ru-RU" sz="1000" b="1" i="1" dirty="0">
                          <a:solidFill>
                            <a:schemeClr val="bg1"/>
                          </a:solidFill>
                          <a:latin typeface="HelveticaNeueCyr" panose="020B0604020202020204" charset="-52"/>
                        </a:rPr>
                        <a:t>(</a:t>
                      </a:r>
                      <a:r>
                        <a:rPr lang="en-US" sz="1000" b="1" i="1" dirty="0">
                          <a:solidFill>
                            <a:schemeClr val="bg1"/>
                          </a:solidFill>
                          <a:latin typeface="HelveticaNeueCyr" panose="020B0604020202020204" charset="-52"/>
                        </a:rPr>
                        <a:t>NPU</a:t>
                      </a:r>
                      <a:r>
                        <a:rPr lang="ru-RU" sz="1000" b="1" i="1" dirty="0">
                          <a:solidFill>
                            <a:schemeClr val="bg1"/>
                          </a:solidFill>
                          <a:latin typeface="HelveticaNeueCyr" panose="020B0604020202020204" charset="-52"/>
                        </a:rPr>
                        <a:t>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C5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C5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C5D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kern="1200" dirty="0">
                          <a:solidFill>
                            <a:schemeClr val="bg1"/>
                          </a:solidFill>
                          <a:latin typeface="HelveticaNeueCyr" panose="020B0604020202020204" charset="-52"/>
                          <a:cs typeface="Wix Madefor Display ExtraBold" panose="020B0503020203020203" pitchFamily="34" charset="-52"/>
                        </a:rPr>
                        <a:t>Тензорный процессор (ТП)</a:t>
                      </a:r>
                    </a:p>
                    <a:p>
                      <a:pPr algn="ctr"/>
                      <a:r>
                        <a:rPr lang="en-US" sz="1000" b="1" i="1" dirty="0">
                          <a:solidFill>
                            <a:schemeClr val="bg1"/>
                          </a:solidFill>
                          <a:latin typeface="HelveticaNeueCyr" panose="020B0604020202020204" charset="-52"/>
                        </a:rPr>
                        <a:t>Tensor Processing Unit</a:t>
                      </a:r>
                      <a:r>
                        <a:rPr lang="ru-RU" sz="1000" b="1" i="1" dirty="0">
                          <a:solidFill>
                            <a:schemeClr val="bg1"/>
                          </a:solidFill>
                          <a:latin typeface="HelveticaNeueCyr" panose="020B0604020202020204" charset="-52"/>
                        </a:rPr>
                        <a:t> (</a:t>
                      </a:r>
                      <a:r>
                        <a:rPr lang="en-US" sz="1000" b="1" i="1" dirty="0">
                          <a:solidFill>
                            <a:schemeClr val="bg1"/>
                          </a:solidFill>
                          <a:latin typeface="HelveticaNeueCyr" panose="020B0604020202020204" charset="-52"/>
                        </a:rPr>
                        <a:t>TPU</a:t>
                      </a:r>
                      <a:r>
                        <a:rPr lang="ru-RU" sz="1000" b="1" i="1" dirty="0">
                          <a:solidFill>
                            <a:schemeClr val="bg1"/>
                          </a:solidFill>
                          <a:latin typeface="HelveticaNeueCyr" panose="020B0604020202020204" charset="-52"/>
                        </a:rPr>
                        <a:t>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C5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C5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C5D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kern="1200">
                          <a:solidFill>
                            <a:schemeClr val="bg1"/>
                          </a:solidFill>
                          <a:latin typeface="HelveticaNeueCyr" panose="020B0604020202020204" charset="-52"/>
                          <a:cs typeface="Wix Madefor Display ExtraBold" panose="020B0503020203020203" pitchFamily="34" charset="-52"/>
                        </a:rPr>
                        <a:t>Квантовый компьютер</a:t>
                      </a:r>
                      <a:endParaRPr lang="ru-RU" sz="1000" kern="1200" dirty="0">
                        <a:solidFill>
                          <a:schemeClr val="bg1"/>
                        </a:solidFill>
                        <a:latin typeface="HelveticaNeueCyr" panose="020B0604020202020204" charset="-52"/>
                        <a:cs typeface="Wix Madefor Display ExtraBold" panose="020B0503020203020203" pitchFamily="34" charset="-5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C5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C5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C5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C5D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0995955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sz="1000" b="1">
                          <a:solidFill>
                            <a:schemeClr val="tx1"/>
                          </a:solidFill>
                          <a:latin typeface="HelveticaNeueCyr" panose="020B0604020202020204" charset="-52"/>
                        </a:rPr>
                        <a:t>Описание</a:t>
                      </a:r>
                      <a:endParaRPr lang="ru-RU" sz="1000" b="1" dirty="0">
                        <a:solidFill>
                          <a:schemeClr val="tx1"/>
                        </a:solidFill>
                        <a:latin typeface="HelveticaNeueCyr" panose="020B0604020202020204" charset="-52"/>
                      </a:endParaRPr>
                    </a:p>
                  </a:txBody>
                  <a:tcPr>
                    <a:lnL w="12700" cap="flat" cmpd="sng" algn="ctr">
                      <a:solidFill>
                        <a:srgbClr val="3C5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C5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C5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C5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ru-RU" sz="1000" b="0" kern="1200" dirty="0">
                          <a:solidFill>
                            <a:schemeClr val="tx1"/>
                          </a:solidFill>
                          <a:latin typeface="HelveticaNeueCyr" panose="020B0604020202020204" charset="-52"/>
                          <a:cs typeface="Wix Madefor Display" panose="020B0503020203020203" pitchFamily="34" charset="-52"/>
                        </a:rPr>
                        <a:t>Главная часть компьютера, представляющая собой микросхему, которая исполняет машинные инструкции (код программ)</a:t>
                      </a:r>
                      <a:endParaRPr lang="ru-RU" sz="1000" kern="1200" dirty="0">
                        <a:solidFill>
                          <a:schemeClr val="tx1"/>
                        </a:solidFill>
                        <a:latin typeface="HelveticaNeueCyr" panose="020B0604020202020204" charset="-52"/>
                        <a:cs typeface="Wix Madefor Display" panose="020B0503020203020203" pitchFamily="34" charset="-52"/>
                      </a:endParaRPr>
                    </a:p>
                  </a:txBody>
                  <a:tcPr>
                    <a:lnL w="12700" cap="flat" cmpd="sng" algn="ctr">
                      <a:solidFill>
                        <a:srgbClr val="3C5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C5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C5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C5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ru-RU" sz="1000" b="0" i="0" kern="1200">
                          <a:solidFill>
                            <a:schemeClr val="tx1"/>
                          </a:solidFill>
                          <a:latin typeface="HelveticaNeueCyr" panose="020B0604020202020204" charset="-52"/>
                          <a:cs typeface="Wix Madefor Display" panose="020B0503020203020203" pitchFamily="34" charset="-52"/>
                        </a:rPr>
                        <a:t>Микросхема компьютера, ускоряющая производительность, которая обрабатывает графику и выполняет расчеты, связанные с ней, помогая ЦП</a:t>
                      </a:r>
                      <a:endParaRPr lang="ru-RU" sz="1000" b="0" i="0" kern="1200" dirty="0">
                        <a:solidFill>
                          <a:schemeClr val="tx1"/>
                        </a:solidFill>
                        <a:latin typeface="HelveticaNeueCyr" panose="020B0604020202020204" charset="-52"/>
                        <a:cs typeface="Wix Madefor Display" panose="020B0503020203020203" pitchFamily="34" charset="-52"/>
                      </a:endParaRPr>
                    </a:p>
                  </a:txBody>
                  <a:tcPr>
                    <a:lnL w="12700" cap="flat" cmpd="sng" algn="ctr">
                      <a:solidFill>
                        <a:srgbClr val="3C5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C5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C5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C5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ru-RU" sz="1000" b="0" dirty="0">
                          <a:solidFill>
                            <a:schemeClr val="tx1"/>
                          </a:solidFill>
                          <a:latin typeface="HelveticaNeueCyr" panose="020B0604020202020204" charset="-52"/>
                          <a:cs typeface="Wix Madefor Display" panose="020B0503020203020203" pitchFamily="34" charset="-52"/>
                        </a:rPr>
                        <a:t>Микросхема, используемая для аппаратного ускорения работы алгоритмов искусственных нейронных сетей, компьютерного зрения, машинного обучения и др.</a:t>
                      </a:r>
                    </a:p>
                  </a:txBody>
                  <a:tcPr>
                    <a:lnL w="12700" cap="flat" cmpd="sng" algn="ctr">
                      <a:solidFill>
                        <a:srgbClr val="3C5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C5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C5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C5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ru-RU" sz="1000" b="0" dirty="0">
                          <a:solidFill>
                            <a:schemeClr val="tx1"/>
                          </a:solidFill>
                          <a:latin typeface="HelveticaNeueCyr" panose="020B0604020202020204" charset="-52"/>
                          <a:cs typeface="Wix Madefor Display" panose="020B0503020203020203" pitchFamily="34" charset="-52"/>
                        </a:rPr>
                        <a:t>Интегральная схема для выполнения высокопроизводительных вычислений</a:t>
                      </a:r>
                      <a:br>
                        <a:rPr lang="ru-RU" sz="1000" b="0" dirty="0">
                          <a:solidFill>
                            <a:schemeClr val="tx1"/>
                          </a:solidFill>
                          <a:latin typeface="HelveticaNeueCyr" panose="020B0604020202020204" charset="-52"/>
                          <a:cs typeface="Wix Madefor Display" panose="020B0503020203020203" pitchFamily="34" charset="-52"/>
                        </a:rPr>
                      </a:br>
                      <a:r>
                        <a:rPr lang="ru-RU" sz="1000" b="0" dirty="0">
                          <a:solidFill>
                            <a:schemeClr val="tx1"/>
                          </a:solidFill>
                          <a:latin typeface="HelveticaNeueCyr" panose="020B0604020202020204" charset="-52"/>
                          <a:cs typeface="Wix Madefor Display" panose="020B0503020203020203" pitchFamily="34" charset="-52"/>
                        </a:rPr>
                        <a:t>с пониженной точностью, разработан для ускорения задач глубокого обучения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ru-RU" sz="1000" b="1" dirty="0">
                          <a:solidFill>
                            <a:schemeClr val="tx1"/>
                          </a:solidFill>
                          <a:latin typeface="HelveticaNeueCyr" panose="020B0604020202020204" charset="-52"/>
                          <a:cs typeface="Wix Madefor Display" panose="020B0503020203020203" pitchFamily="34" charset="-52"/>
                        </a:rPr>
                        <a:t>Является подвидом нейронных процессоров</a:t>
                      </a:r>
                    </a:p>
                  </a:txBody>
                  <a:tcPr>
                    <a:lnL w="12700" cap="flat" cmpd="sng" algn="ctr">
                      <a:solidFill>
                        <a:srgbClr val="3C5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C5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C5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C5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ru-RU" sz="1000" b="0">
                          <a:solidFill>
                            <a:schemeClr val="tx1"/>
                          </a:solidFill>
                          <a:latin typeface="HelveticaNeueCyr" panose="020B0604020202020204" charset="-52"/>
                          <a:cs typeface="Wix Madefor Display" panose="020B0503020203020203" pitchFamily="34" charset="-52"/>
                        </a:rPr>
                        <a:t>Вычислительное устройство, которое использует явления квантовой механики для передачи и обработки данных</a:t>
                      </a:r>
                      <a:endParaRPr lang="ru-RU" sz="1000" b="0" dirty="0">
                        <a:solidFill>
                          <a:schemeClr val="tx1"/>
                        </a:solidFill>
                        <a:latin typeface="HelveticaNeueCyr" panose="020B0604020202020204" charset="-52"/>
                        <a:cs typeface="Wix Madefor Display" panose="020B0503020203020203" pitchFamily="34" charset="-52"/>
                      </a:endParaRPr>
                    </a:p>
                  </a:txBody>
                  <a:tcPr>
                    <a:lnL w="12700" cap="flat" cmpd="sng" algn="ctr">
                      <a:solidFill>
                        <a:srgbClr val="3C5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C5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C5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C5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80803855"/>
                  </a:ext>
                </a:extLst>
              </a:tr>
              <a:tr h="450215">
                <a:tc>
                  <a:txBody>
                    <a:bodyPr/>
                    <a:lstStyle/>
                    <a:p>
                      <a:r>
                        <a:rPr lang="ru-RU" sz="1000" b="1">
                          <a:solidFill>
                            <a:schemeClr val="tx1"/>
                          </a:solidFill>
                          <a:latin typeface="HelveticaNeueCyr" panose="020B0604020202020204" charset="-52"/>
                        </a:rPr>
                        <a:t>Основные функции</a:t>
                      </a:r>
                      <a:endParaRPr lang="ru-RU" sz="1000" b="1" dirty="0">
                        <a:solidFill>
                          <a:schemeClr val="tx1"/>
                        </a:solidFill>
                        <a:latin typeface="HelveticaNeueCyr" panose="020B0604020202020204" charset="-52"/>
                      </a:endParaRPr>
                    </a:p>
                  </a:txBody>
                  <a:tcPr>
                    <a:lnL w="12700" cap="flat" cmpd="sng" algn="ctr">
                      <a:solidFill>
                        <a:srgbClr val="3C5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C5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C5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C5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ru-RU" sz="1000" dirty="0">
                          <a:solidFill>
                            <a:schemeClr val="tx1"/>
                          </a:solidFill>
                          <a:latin typeface="HelveticaNeueCyr" panose="020B0604020202020204" charset="-52"/>
                        </a:rPr>
                        <a:t>Управление всеми операциями на компьютере, вводом/выводом, памятью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ru-RU" sz="1000" dirty="0">
                          <a:solidFill>
                            <a:schemeClr val="tx1"/>
                          </a:solidFill>
                          <a:latin typeface="HelveticaNeueCyr" panose="020B0604020202020204" charset="-52"/>
                        </a:rPr>
                        <a:t>Обработка инструкций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ru-RU" sz="1000" dirty="0">
                          <a:solidFill>
                            <a:schemeClr val="tx1"/>
                          </a:solidFill>
                          <a:latin typeface="HelveticaNeueCyr" panose="020B0604020202020204" charset="-52"/>
                        </a:rPr>
                        <a:t>Выполнение арифметических</a:t>
                      </a:r>
                      <a:br>
                        <a:rPr lang="ru-RU" sz="1000" dirty="0">
                          <a:solidFill>
                            <a:schemeClr val="tx1"/>
                          </a:solidFill>
                          <a:latin typeface="HelveticaNeueCyr" panose="020B0604020202020204" charset="-52"/>
                        </a:rPr>
                      </a:br>
                      <a:r>
                        <a:rPr lang="ru-RU" sz="1000" dirty="0">
                          <a:solidFill>
                            <a:schemeClr val="tx1"/>
                          </a:solidFill>
                          <a:latin typeface="HelveticaNeueCyr" panose="020B0604020202020204" charset="-52"/>
                        </a:rPr>
                        <a:t>и логических операций</a:t>
                      </a:r>
                    </a:p>
                  </a:txBody>
                  <a:tcPr>
                    <a:lnL w="12700" cap="flat" cmpd="sng" algn="ctr">
                      <a:solidFill>
                        <a:srgbClr val="3C5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C5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C5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C5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ru-RU" sz="1000" dirty="0">
                          <a:solidFill>
                            <a:schemeClr val="tx1"/>
                          </a:solidFill>
                          <a:latin typeface="HelveticaNeueCyr" panose="020B0604020202020204" charset="-52"/>
                        </a:rPr>
                        <a:t>Рендеринг графики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ru-RU" sz="1000" dirty="0">
                          <a:solidFill>
                            <a:schemeClr val="tx1"/>
                          </a:solidFill>
                          <a:latin typeface="HelveticaNeueCyr" panose="020B0604020202020204" charset="-52"/>
                        </a:rPr>
                        <a:t>Обработка пикселей и вершин для создания трехмерных изображений</a:t>
                      </a:r>
                      <a:endParaRPr lang="en-US" sz="1000" dirty="0">
                        <a:solidFill>
                          <a:schemeClr val="tx1"/>
                        </a:solidFill>
                        <a:latin typeface="HelveticaNeueCyr" panose="020B0604020202020204" charset="-52"/>
                      </a:endParaRP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ru-RU" sz="1000" dirty="0">
                          <a:solidFill>
                            <a:schemeClr val="tx1"/>
                          </a:solidFill>
                          <a:latin typeface="HelveticaNeueCyr" panose="020B0604020202020204" charset="-52"/>
                        </a:rPr>
                        <a:t>Большое количество вычислений</a:t>
                      </a:r>
                      <a:br>
                        <a:rPr lang="ru-RU" sz="1000" dirty="0">
                          <a:solidFill>
                            <a:schemeClr val="tx1"/>
                          </a:solidFill>
                          <a:latin typeface="HelveticaNeueCyr" panose="020B0604020202020204" charset="-52"/>
                        </a:rPr>
                      </a:br>
                      <a:r>
                        <a:rPr lang="ru-RU" sz="1000" dirty="0">
                          <a:solidFill>
                            <a:schemeClr val="tx1"/>
                          </a:solidFill>
                          <a:latin typeface="HelveticaNeueCyr" panose="020B0604020202020204" charset="-52"/>
                        </a:rPr>
                        <a:t>в области графики, машинного обучения, ИИ</a:t>
                      </a:r>
                    </a:p>
                  </a:txBody>
                  <a:tcPr>
                    <a:lnL w="12700" cap="flat" cmpd="sng" algn="ctr">
                      <a:solidFill>
                        <a:srgbClr val="3C5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C5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C5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C5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ru-RU" sz="1000" dirty="0">
                          <a:solidFill>
                            <a:schemeClr val="tx1"/>
                          </a:solidFill>
                          <a:latin typeface="HelveticaNeueCyr" panose="020B0604020202020204" charset="-52"/>
                        </a:rPr>
                        <a:t>Обработка и анализ данных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ru-RU" sz="1000" dirty="0">
                          <a:solidFill>
                            <a:schemeClr val="tx1"/>
                          </a:solidFill>
                          <a:latin typeface="HelveticaNeueCyr" panose="020B0604020202020204" charset="-52"/>
                        </a:rPr>
                        <a:t>Распознавание образов</a:t>
                      </a:r>
                      <a:br>
                        <a:rPr lang="ru-RU" sz="1000" dirty="0">
                          <a:solidFill>
                            <a:schemeClr val="tx1"/>
                          </a:solidFill>
                          <a:latin typeface="HelveticaNeueCyr" panose="020B0604020202020204" charset="-52"/>
                        </a:rPr>
                      </a:br>
                      <a:r>
                        <a:rPr lang="ru-RU" sz="1000" dirty="0">
                          <a:solidFill>
                            <a:schemeClr val="tx1"/>
                          </a:solidFill>
                          <a:latin typeface="HelveticaNeueCyr" panose="020B0604020202020204" charset="-52"/>
                        </a:rPr>
                        <a:t>и изображений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ru-RU" sz="1000" dirty="0">
                          <a:solidFill>
                            <a:schemeClr val="tx1"/>
                          </a:solidFill>
                          <a:latin typeface="HelveticaNeueCyr" panose="020B0604020202020204" charset="-52"/>
                        </a:rPr>
                        <a:t>Обучение на основе данных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ru-RU" sz="1000" dirty="0">
                          <a:solidFill>
                            <a:schemeClr val="tx1"/>
                          </a:solidFill>
                          <a:latin typeface="HelveticaNeueCyr" panose="020B0604020202020204" charset="-52"/>
                        </a:rPr>
                        <a:t>Решение сложных ИИ задач классификации, прогнозирования и др.</a:t>
                      </a:r>
                    </a:p>
                  </a:txBody>
                  <a:tcPr>
                    <a:lnL w="12700" cap="flat" cmpd="sng" algn="ctr">
                      <a:solidFill>
                        <a:srgbClr val="3C5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C5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C5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C5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ru-RU" sz="1000">
                          <a:solidFill>
                            <a:schemeClr val="tx1"/>
                          </a:solidFill>
                          <a:latin typeface="HelveticaNeueCyr" panose="020B0604020202020204" charset="-52"/>
                        </a:rPr>
                        <a:t>Ускорение задач машинного обучения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ru-RU" sz="1000">
                          <a:solidFill>
                            <a:schemeClr val="tx1"/>
                          </a:solidFill>
                          <a:latin typeface="HelveticaNeueCyr" panose="020B0604020202020204" charset="-52"/>
                        </a:rPr>
                        <a:t>Оптимизация и вычисление математических выражений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ru-RU" sz="1000">
                          <a:solidFill>
                            <a:schemeClr val="tx1"/>
                          </a:solidFill>
                          <a:latin typeface="HelveticaNeueCyr" panose="020B0604020202020204" charset="-52"/>
                        </a:rPr>
                        <a:t>Поддержка программирования глубоких нейронных сетей</a:t>
                      </a:r>
                      <a:endParaRPr lang="ru-RU" sz="1000" dirty="0">
                        <a:solidFill>
                          <a:schemeClr val="tx1"/>
                        </a:solidFill>
                        <a:latin typeface="HelveticaNeueCyr" panose="020B0604020202020204" charset="-52"/>
                      </a:endParaRPr>
                    </a:p>
                  </a:txBody>
                  <a:tcPr>
                    <a:lnL w="12700" cap="flat" cmpd="sng" algn="ctr">
                      <a:solidFill>
                        <a:srgbClr val="3C5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C5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C5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C5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ru-RU" sz="1000">
                          <a:solidFill>
                            <a:schemeClr val="tx1"/>
                          </a:solidFill>
                          <a:latin typeface="HelveticaNeueCyr" panose="020B0604020202020204" charset="-52"/>
                        </a:rPr>
                        <a:t>Решение сложных алгоритмических задач, на которые обычные компьютеры тратят много времени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ru-RU" sz="1000">
                          <a:solidFill>
                            <a:schemeClr val="tx1"/>
                          </a:solidFill>
                          <a:latin typeface="HelveticaNeueCyr" panose="020B0604020202020204" charset="-52"/>
                        </a:rPr>
                        <a:t>Разработка специализированных квантовых вычислителей для конкретных задач</a:t>
                      </a:r>
                      <a:endParaRPr lang="ru-RU" sz="1000" dirty="0">
                        <a:solidFill>
                          <a:schemeClr val="tx1"/>
                        </a:solidFill>
                        <a:latin typeface="HelveticaNeueCyr" panose="020B0604020202020204" charset="-52"/>
                      </a:endParaRPr>
                    </a:p>
                  </a:txBody>
                  <a:tcPr>
                    <a:lnL w="12700" cap="flat" cmpd="sng" algn="ctr">
                      <a:solidFill>
                        <a:srgbClr val="3C5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C5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C5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C5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66720568"/>
                  </a:ext>
                </a:extLst>
              </a:tr>
              <a:tr h="398047">
                <a:tc>
                  <a:txBody>
                    <a:bodyPr/>
                    <a:lstStyle/>
                    <a:p>
                      <a:r>
                        <a:rPr lang="ru-RU" sz="1000" b="1">
                          <a:solidFill>
                            <a:schemeClr val="tx1"/>
                          </a:solidFill>
                          <a:latin typeface="HelveticaNeueCyr" panose="020B0604020202020204" charset="-52"/>
                        </a:rPr>
                        <a:t>Обработка данных</a:t>
                      </a:r>
                      <a:endParaRPr lang="ru-RU" sz="1000" b="1" dirty="0">
                        <a:solidFill>
                          <a:schemeClr val="tx1"/>
                        </a:solidFill>
                        <a:latin typeface="HelveticaNeueCyr" panose="020B0604020202020204" charset="-52"/>
                      </a:endParaRPr>
                    </a:p>
                  </a:txBody>
                  <a:tcPr>
                    <a:lnL w="12700" cap="flat" cmpd="sng" algn="ctr">
                      <a:solidFill>
                        <a:srgbClr val="3C5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C5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C5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C5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r>
                        <a:rPr lang="ru-RU" sz="1000" b="1">
                          <a:solidFill>
                            <a:schemeClr val="tx1"/>
                          </a:solidFill>
                          <a:latin typeface="HelveticaNeueCyr" panose="020B0604020202020204" charset="-52"/>
                        </a:rPr>
                        <a:t>Последовательная</a:t>
                      </a:r>
                      <a:r>
                        <a:rPr lang="ru-RU" sz="1000">
                          <a:solidFill>
                            <a:schemeClr val="tx1"/>
                          </a:solidFill>
                          <a:latin typeface="HelveticaNeueCyr" panose="020B0604020202020204" charset="-52"/>
                        </a:rPr>
                        <a:t> (выполняет каждый шаг алгоритма один за другим)</a:t>
                      </a:r>
                      <a:endParaRPr lang="ru-RU" sz="1000" dirty="0">
                        <a:solidFill>
                          <a:schemeClr val="tx1"/>
                        </a:solidFill>
                        <a:latin typeface="HelveticaNeueCyr" panose="020B0604020202020204" charset="-52"/>
                      </a:endParaRPr>
                    </a:p>
                  </a:txBody>
                  <a:tcPr>
                    <a:lnL w="12700" cap="flat" cmpd="sng" algn="ctr">
                      <a:solidFill>
                        <a:srgbClr val="3C5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C5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C5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C5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r>
                        <a:rPr lang="ru-RU" sz="1000" b="1" i="0" dirty="0">
                          <a:solidFill>
                            <a:schemeClr val="tx1"/>
                          </a:solidFill>
                          <a:latin typeface="HelveticaNeueCyr" panose="020B0604020202020204" charset="-52"/>
                        </a:rPr>
                        <a:t>Параллельная</a:t>
                      </a:r>
                      <a:r>
                        <a:rPr lang="ru-RU" sz="1000" dirty="0">
                          <a:solidFill>
                            <a:schemeClr val="tx1"/>
                          </a:solidFill>
                          <a:latin typeface="HelveticaNeueCyr" panose="020B0604020202020204" charset="-52"/>
                        </a:rPr>
                        <a:t> (выполняет шаги алгоритма одновременно)</a:t>
                      </a:r>
                    </a:p>
                  </a:txBody>
                  <a:tcPr>
                    <a:lnL w="12700" cap="flat" cmpd="sng" algn="ctr">
                      <a:solidFill>
                        <a:srgbClr val="3C5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C5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C5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C5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ru-RU" sz="1000" b="1" i="0" dirty="0">
                          <a:solidFill>
                            <a:schemeClr val="tx1"/>
                          </a:solidFill>
                          <a:latin typeface="HelveticaNeueCyr" panose="020B0604020202020204" charset="-52"/>
                        </a:rPr>
                        <a:t>Параллельная</a:t>
                      </a:r>
                      <a:r>
                        <a:rPr lang="ru-RU" sz="1000" dirty="0">
                          <a:solidFill>
                            <a:schemeClr val="tx1"/>
                          </a:solidFill>
                          <a:latin typeface="HelveticaNeueCyr" panose="020B0604020202020204" charset="-52"/>
                        </a:rPr>
                        <a:t> (выполняет шаги алгоритма одновременно)</a:t>
                      </a:r>
                    </a:p>
                  </a:txBody>
                  <a:tcPr>
                    <a:lnL w="12700" cap="flat" cmpd="sng" algn="ctr">
                      <a:solidFill>
                        <a:srgbClr val="3C5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C5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C5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C5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1000" b="1">
                          <a:solidFill>
                            <a:schemeClr val="tx1"/>
                          </a:solidFill>
                          <a:latin typeface="HelveticaNeueCyr" panose="020B0604020202020204" charset="-52"/>
                        </a:rPr>
                        <a:t>Параллельная</a:t>
                      </a:r>
                      <a:r>
                        <a:rPr lang="ru-RU" sz="1000">
                          <a:solidFill>
                            <a:schemeClr val="tx1"/>
                          </a:solidFill>
                          <a:latin typeface="HelveticaNeueCyr" panose="020B0604020202020204" charset="-52"/>
                        </a:rPr>
                        <a:t> (выполняет шаги алгоритма одновременно)</a:t>
                      </a:r>
                      <a:endParaRPr lang="ru-RU" sz="1000" dirty="0">
                        <a:solidFill>
                          <a:schemeClr val="tx1"/>
                        </a:solidFill>
                        <a:latin typeface="HelveticaNeueCyr" panose="020B0604020202020204" charset="-52"/>
                      </a:endParaRPr>
                    </a:p>
                  </a:txBody>
                  <a:tcPr>
                    <a:lnL w="12700" cap="flat" cmpd="sng" algn="ctr">
                      <a:solidFill>
                        <a:srgbClr val="3C5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C5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C5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C5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ru-RU" sz="1000" b="1">
                          <a:solidFill>
                            <a:schemeClr val="tx1"/>
                          </a:solidFill>
                          <a:latin typeface="HelveticaNeueCyr" panose="020B0604020202020204" charset="-52"/>
                        </a:rPr>
                        <a:t>Параллельная</a:t>
                      </a:r>
                      <a:r>
                        <a:rPr lang="ru-RU" sz="1000">
                          <a:solidFill>
                            <a:schemeClr val="tx1"/>
                          </a:solidFill>
                          <a:latin typeface="HelveticaNeueCyr" panose="020B0604020202020204" charset="-52"/>
                        </a:rPr>
                        <a:t> (выполняет шаги алгоритма одновременно)</a:t>
                      </a:r>
                      <a:endParaRPr lang="ru-RU" sz="1000" dirty="0">
                        <a:solidFill>
                          <a:schemeClr val="tx1"/>
                        </a:solidFill>
                        <a:latin typeface="HelveticaNeueCyr" panose="020B0604020202020204" charset="-52"/>
                      </a:endParaRPr>
                    </a:p>
                  </a:txBody>
                  <a:tcPr>
                    <a:lnL w="12700" cap="flat" cmpd="sng" algn="ctr">
                      <a:solidFill>
                        <a:srgbClr val="3C5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C5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C5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C5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2054065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sz="1000" b="1">
                          <a:solidFill>
                            <a:schemeClr val="tx1"/>
                          </a:solidFill>
                          <a:latin typeface="HelveticaNeueCyr" panose="020B0604020202020204" charset="-52"/>
                        </a:rPr>
                        <a:t>Количество ядер</a:t>
                      </a:r>
                      <a:endParaRPr lang="ru-RU" sz="1000" b="1" dirty="0">
                        <a:solidFill>
                          <a:schemeClr val="tx1"/>
                        </a:solidFill>
                        <a:latin typeface="HelveticaNeueCyr" panose="020B0604020202020204" charset="-52"/>
                      </a:endParaRPr>
                    </a:p>
                  </a:txBody>
                  <a:tcPr>
                    <a:lnL w="12700" cap="flat" cmpd="sng" algn="ctr">
                      <a:solidFill>
                        <a:srgbClr val="3C5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C5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C5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C5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r>
                        <a:rPr lang="ru-RU" sz="1000" dirty="0">
                          <a:solidFill>
                            <a:schemeClr val="tx1"/>
                          </a:solidFill>
                          <a:latin typeface="HelveticaNeueCyr" panose="020B0604020202020204" charset="-52"/>
                        </a:rPr>
                        <a:t>От 1 до 96, высокая мощность</a:t>
                      </a:r>
                    </a:p>
                  </a:txBody>
                  <a:tcPr>
                    <a:lnL w="12700" cap="flat" cmpd="sng" algn="ctr">
                      <a:solidFill>
                        <a:srgbClr val="3C5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C5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C5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C5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r>
                        <a:rPr lang="ru-RU" sz="1000" dirty="0">
                          <a:solidFill>
                            <a:schemeClr val="tx1"/>
                          </a:solidFill>
                          <a:latin typeface="HelveticaNeueCyr" panose="020B0604020202020204" charset="-52"/>
                        </a:rPr>
                        <a:t>От 100 до 1000, меньше производительность, чем у ЦП</a:t>
                      </a:r>
                    </a:p>
                  </a:txBody>
                  <a:tcPr>
                    <a:lnL w="12700" cap="flat" cmpd="sng" algn="ctr">
                      <a:solidFill>
                        <a:srgbClr val="3C5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C5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C5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C5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r>
                        <a:rPr lang="ru-RU" sz="1000">
                          <a:solidFill>
                            <a:schemeClr val="tx1"/>
                          </a:solidFill>
                          <a:latin typeface="HelveticaNeueCyr" panose="020B0604020202020204" charset="-52"/>
                        </a:rPr>
                        <a:t>От 10 000 ядер и более</a:t>
                      </a:r>
                      <a:endParaRPr lang="ru-RU" sz="1000" dirty="0">
                        <a:solidFill>
                          <a:schemeClr val="tx1"/>
                        </a:solidFill>
                        <a:latin typeface="HelveticaNeueCyr" panose="020B0604020202020204" charset="-52"/>
                      </a:endParaRPr>
                    </a:p>
                  </a:txBody>
                  <a:tcPr>
                    <a:lnL w="12700" cap="flat" cmpd="sng" algn="ctr">
                      <a:solidFill>
                        <a:srgbClr val="3C5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C5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C5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C5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r>
                        <a:rPr lang="ru-RU" sz="1000" dirty="0">
                          <a:solidFill>
                            <a:schemeClr val="tx1"/>
                          </a:solidFill>
                          <a:latin typeface="HelveticaNeueCyr" panose="020B0604020202020204" charset="-52"/>
                        </a:rPr>
                        <a:t>От 100 до 640, менее мощные, чем в ЦП</a:t>
                      </a:r>
                    </a:p>
                  </a:txBody>
                  <a:tcPr>
                    <a:lnL w="12700" cap="flat" cmpd="sng" algn="ctr">
                      <a:solidFill>
                        <a:srgbClr val="3C5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C5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C5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C5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r>
                        <a:rPr lang="ru-RU" sz="1000" dirty="0">
                          <a:solidFill>
                            <a:schemeClr val="tx1"/>
                          </a:solidFill>
                          <a:latin typeface="HelveticaNeueCyr" panose="020B0604020202020204" charset="-52"/>
                        </a:rPr>
                        <a:t>Ядро отсутствует, функционирование основано на принципах квантовой механики</a:t>
                      </a:r>
                    </a:p>
                  </a:txBody>
                  <a:tcPr>
                    <a:lnL w="12700" cap="flat" cmpd="sng" algn="ctr">
                      <a:solidFill>
                        <a:srgbClr val="3C5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C5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C5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C5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54473245"/>
                  </a:ext>
                </a:extLst>
              </a:tr>
              <a:tr h="445672">
                <a:tc>
                  <a:txBody>
                    <a:bodyPr/>
                    <a:lstStyle/>
                    <a:p>
                      <a:r>
                        <a:rPr lang="ru-RU" sz="1000" b="1">
                          <a:solidFill>
                            <a:schemeClr val="tx1"/>
                          </a:solidFill>
                          <a:latin typeface="HelveticaNeueCyr" panose="020B0604020202020204" charset="-52"/>
                        </a:rPr>
                        <a:t>Производители</a:t>
                      </a:r>
                      <a:endParaRPr lang="ru-RU" sz="1000" b="1" dirty="0">
                        <a:solidFill>
                          <a:schemeClr val="tx1"/>
                        </a:solidFill>
                        <a:latin typeface="HelveticaNeueCyr" panose="020B0604020202020204" charset="-52"/>
                      </a:endParaRPr>
                    </a:p>
                  </a:txBody>
                  <a:tcPr>
                    <a:lnL w="12700" cap="flat" cmpd="sng" algn="ctr">
                      <a:solidFill>
                        <a:srgbClr val="3C5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C5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C5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C5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ru-RU" sz="1000" b="1">
                          <a:solidFill>
                            <a:schemeClr val="tx1"/>
                          </a:solidFill>
                          <a:latin typeface="HelveticaNeueCyr" panose="020B0604020202020204" charset="-52"/>
                        </a:rPr>
                        <a:t>Иностранные разработки: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000">
                          <a:solidFill>
                            <a:schemeClr val="tx1"/>
                          </a:solidFill>
                          <a:latin typeface="HelveticaNeueCyr" panose="020B0604020202020204" charset="-52"/>
                        </a:rPr>
                        <a:t>Intel</a:t>
                      </a:r>
                      <a:r>
                        <a:rPr lang="ru-RU" sz="1000">
                          <a:solidFill>
                            <a:schemeClr val="tx1"/>
                          </a:solidFill>
                          <a:latin typeface="HelveticaNeueCyr" panose="020B0604020202020204" charset="-52"/>
                        </a:rPr>
                        <a:t>, США (</a:t>
                      </a:r>
                      <a:r>
                        <a:rPr lang="en-US" sz="1000">
                          <a:solidFill>
                            <a:schemeClr val="tx1"/>
                          </a:solidFill>
                          <a:latin typeface="HelveticaNeueCyr" panose="020B0604020202020204" charset="-52"/>
                        </a:rPr>
                        <a:t>Intel Core i</a:t>
                      </a:r>
                      <a:r>
                        <a:rPr lang="ru-RU" sz="1000">
                          <a:solidFill>
                            <a:schemeClr val="tx1"/>
                          </a:solidFill>
                          <a:latin typeface="HelveticaNeueCyr" panose="020B0604020202020204" charset="-52"/>
                        </a:rPr>
                        <a:t>3, </a:t>
                      </a:r>
                      <a:r>
                        <a:rPr lang="en-US" sz="1000">
                          <a:solidFill>
                            <a:schemeClr val="tx1"/>
                          </a:solidFill>
                          <a:latin typeface="HelveticaNeueCyr" panose="020B0604020202020204" charset="-52"/>
                        </a:rPr>
                        <a:t>i</a:t>
                      </a:r>
                      <a:r>
                        <a:rPr lang="ru-RU" sz="1000">
                          <a:solidFill>
                            <a:schemeClr val="tx1"/>
                          </a:solidFill>
                          <a:latin typeface="HelveticaNeueCyr" panose="020B0604020202020204" charset="-52"/>
                        </a:rPr>
                        <a:t>5,</a:t>
                      </a:r>
                      <a:r>
                        <a:rPr lang="en-US" sz="1000">
                          <a:solidFill>
                            <a:schemeClr val="tx1"/>
                          </a:solidFill>
                          <a:latin typeface="HelveticaNeueCyr" panose="020B0604020202020204" charset="-52"/>
                        </a:rPr>
                        <a:t> i</a:t>
                      </a:r>
                      <a:r>
                        <a:rPr lang="ru-RU" sz="1000">
                          <a:solidFill>
                            <a:schemeClr val="tx1"/>
                          </a:solidFill>
                          <a:latin typeface="HelveticaNeueCyr" panose="020B0604020202020204" charset="-52"/>
                        </a:rPr>
                        <a:t>7, </a:t>
                      </a:r>
                      <a:r>
                        <a:rPr lang="en-US" sz="1000">
                          <a:solidFill>
                            <a:schemeClr val="tx1"/>
                          </a:solidFill>
                          <a:latin typeface="HelveticaNeueCyr" panose="020B0604020202020204" charset="-52"/>
                        </a:rPr>
                        <a:t>M</a:t>
                      </a:r>
                      <a:r>
                        <a:rPr lang="ru-RU" sz="1000">
                          <a:solidFill>
                            <a:schemeClr val="tx1"/>
                          </a:solidFill>
                          <a:latin typeface="HelveticaNeueCyr" panose="020B0604020202020204" charset="-52"/>
                        </a:rPr>
                        <a:t>;</a:t>
                      </a:r>
                      <a:r>
                        <a:rPr lang="en-US" sz="1000">
                          <a:solidFill>
                            <a:schemeClr val="tx1"/>
                          </a:solidFill>
                          <a:latin typeface="HelveticaNeueCyr" panose="020B0604020202020204" charset="-52"/>
                        </a:rPr>
                        <a:t> Intel</a:t>
                      </a:r>
                      <a:r>
                        <a:rPr lang="ru-RU" sz="1000">
                          <a:solidFill>
                            <a:schemeClr val="tx1"/>
                          </a:solidFill>
                          <a:latin typeface="HelveticaNeueCyr" panose="020B0604020202020204" charset="-52"/>
                        </a:rPr>
                        <a:t> </a:t>
                      </a:r>
                      <a:r>
                        <a:rPr lang="en-US" sz="1000">
                          <a:solidFill>
                            <a:schemeClr val="tx1"/>
                          </a:solidFill>
                          <a:latin typeface="HelveticaNeueCyr" panose="020B0604020202020204" charset="-52"/>
                        </a:rPr>
                        <a:t>Xeon</a:t>
                      </a:r>
                      <a:r>
                        <a:rPr lang="ru-RU" sz="1000">
                          <a:solidFill>
                            <a:schemeClr val="tx1"/>
                          </a:solidFill>
                          <a:latin typeface="HelveticaNeueCyr" panose="020B0604020202020204" charset="-52"/>
                        </a:rPr>
                        <a:t>;</a:t>
                      </a:r>
                      <a:r>
                        <a:rPr lang="en-US" sz="1000">
                          <a:solidFill>
                            <a:schemeClr val="tx1"/>
                          </a:solidFill>
                          <a:latin typeface="HelveticaNeueCyr" panose="020B0604020202020204" charset="-52"/>
                        </a:rPr>
                        <a:t> Pentium</a:t>
                      </a:r>
                      <a:r>
                        <a:rPr lang="ru-RU" sz="1000">
                          <a:solidFill>
                            <a:schemeClr val="tx1"/>
                          </a:solidFill>
                          <a:latin typeface="HelveticaNeueCyr" panose="020B0604020202020204" charset="-52"/>
                        </a:rPr>
                        <a:t>)</a:t>
                      </a:r>
                      <a:endParaRPr lang="en-US" sz="1000">
                        <a:solidFill>
                          <a:schemeClr val="tx1"/>
                        </a:solidFill>
                        <a:latin typeface="HelveticaNeueCyr" panose="020B0604020202020204" charset="-52"/>
                      </a:endParaRP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000">
                          <a:solidFill>
                            <a:schemeClr val="tx1"/>
                          </a:solidFill>
                          <a:latin typeface="HelveticaNeueCyr" panose="020B0604020202020204" charset="-52"/>
                        </a:rPr>
                        <a:t>AMD</a:t>
                      </a:r>
                      <a:r>
                        <a:rPr lang="ru-RU" sz="1000">
                          <a:solidFill>
                            <a:schemeClr val="tx1"/>
                          </a:solidFill>
                          <a:latin typeface="HelveticaNeueCyr" panose="020B0604020202020204" charset="-52"/>
                        </a:rPr>
                        <a:t>, США (</a:t>
                      </a:r>
                      <a:r>
                        <a:rPr lang="en-US" sz="1000">
                          <a:solidFill>
                            <a:schemeClr val="tx1"/>
                          </a:solidFill>
                          <a:latin typeface="HelveticaNeueCyr" panose="020B0604020202020204" charset="-52"/>
                        </a:rPr>
                        <a:t>Athlon, Phenom, Opteron</a:t>
                      </a:r>
                      <a:r>
                        <a:rPr lang="ru-RU" sz="1000">
                          <a:solidFill>
                            <a:schemeClr val="tx1"/>
                          </a:solidFill>
                          <a:latin typeface="HelveticaNeueCyr" panose="020B0604020202020204" charset="-52"/>
                        </a:rPr>
                        <a:t>)</a:t>
                      </a:r>
                      <a:endParaRPr lang="en-US" sz="1000">
                        <a:solidFill>
                          <a:schemeClr val="tx1"/>
                        </a:solidFill>
                        <a:latin typeface="HelveticaNeueCyr" panose="020B0604020202020204" charset="-52"/>
                      </a:endParaRP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000">
                          <a:solidFill>
                            <a:schemeClr val="tx1"/>
                          </a:solidFill>
                          <a:latin typeface="HelveticaNeueCyr" panose="020B0604020202020204" charset="-52"/>
                        </a:rPr>
                        <a:t>IBM</a:t>
                      </a:r>
                      <a:r>
                        <a:rPr lang="ru-RU" sz="1000">
                          <a:solidFill>
                            <a:schemeClr val="tx1"/>
                          </a:solidFill>
                          <a:latin typeface="HelveticaNeueCyr" panose="020B0604020202020204" charset="-52"/>
                        </a:rPr>
                        <a:t>, США</a:t>
                      </a:r>
                      <a:r>
                        <a:rPr lang="en-US" sz="1000">
                          <a:solidFill>
                            <a:schemeClr val="tx1"/>
                          </a:solidFill>
                          <a:latin typeface="HelveticaNeueCyr" panose="020B0604020202020204" charset="-52"/>
                        </a:rPr>
                        <a:t> (POWER7)</a:t>
                      </a:r>
                      <a:endParaRPr lang="ru-RU" sz="1000">
                        <a:solidFill>
                          <a:schemeClr val="tx1"/>
                        </a:solidFill>
                        <a:latin typeface="HelveticaNeueCyr" panose="020B0604020202020204" charset="-52"/>
                      </a:endParaRP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000">
                          <a:solidFill>
                            <a:schemeClr val="tx1"/>
                          </a:solidFill>
                          <a:latin typeface="HelveticaNeueCyr" panose="020B0604020202020204" charset="-52"/>
                        </a:rPr>
                        <a:t>Apple</a:t>
                      </a:r>
                      <a:r>
                        <a:rPr lang="ru-RU" sz="1000">
                          <a:solidFill>
                            <a:schemeClr val="tx1"/>
                          </a:solidFill>
                          <a:latin typeface="HelveticaNeueCyr" panose="020B0604020202020204" charset="-52"/>
                        </a:rPr>
                        <a:t>, США (</a:t>
                      </a:r>
                      <a:r>
                        <a:rPr lang="en-US" sz="1000">
                          <a:solidFill>
                            <a:schemeClr val="tx1"/>
                          </a:solidFill>
                          <a:latin typeface="HelveticaNeueCyr" panose="020B0604020202020204" charset="-52"/>
                        </a:rPr>
                        <a:t>Apple Silicon, A18)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000">
                          <a:solidFill>
                            <a:schemeClr val="tx1"/>
                          </a:solidFill>
                          <a:latin typeface="HelveticaNeueCyr" panose="020B0604020202020204" charset="-52"/>
                        </a:rPr>
                        <a:t>ARM</a:t>
                      </a:r>
                      <a:r>
                        <a:rPr lang="ru-RU" sz="1000">
                          <a:solidFill>
                            <a:schemeClr val="tx1"/>
                          </a:solidFill>
                          <a:latin typeface="HelveticaNeueCyr" panose="020B0604020202020204" charset="-52"/>
                        </a:rPr>
                        <a:t>,</a:t>
                      </a:r>
                      <a:r>
                        <a:rPr lang="en-US" sz="1000">
                          <a:solidFill>
                            <a:schemeClr val="tx1"/>
                          </a:solidFill>
                          <a:latin typeface="HelveticaNeueCyr" panose="020B0604020202020204" charset="-52"/>
                        </a:rPr>
                        <a:t> </a:t>
                      </a:r>
                      <a:r>
                        <a:rPr lang="ru-RU" sz="1000">
                          <a:solidFill>
                            <a:schemeClr val="tx1"/>
                          </a:solidFill>
                          <a:latin typeface="HelveticaNeueCyr" panose="020B0604020202020204" charset="-52"/>
                        </a:rPr>
                        <a:t>Великобритания (</a:t>
                      </a:r>
                      <a:r>
                        <a:rPr lang="en-US" sz="1000">
                          <a:solidFill>
                            <a:schemeClr val="tx1"/>
                          </a:solidFill>
                          <a:latin typeface="HelveticaNeueCyr" panose="020B0604020202020204" charset="-52"/>
                        </a:rPr>
                        <a:t>Cortex M)</a:t>
                      </a:r>
                      <a:endParaRPr lang="ru-RU" sz="1000">
                        <a:solidFill>
                          <a:schemeClr val="tx1"/>
                        </a:solidFill>
                        <a:latin typeface="HelveticaNeueCyr" panose="020B0604020202020204" charset="-52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ru-RU" sz="1000" b="1">
                          <a:solidFill>
                            <a:schemeClr val="tx1"/>
                          </a:solidFill>
                          <a:latin typeface="HelveticaNeueCyr" panose="020B0604020202020204" charset="-52"/>
                        </a:rPr>
                        <a:t>Российские разработки: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000">
                          <a:solidFill>
                            <a:schemeClr val="tx1"/>
                          </a:solidFill>
                          <a:latin typeface="HelveticaNeueCyr" panose="020B0604020202020204" charset="-52"/>
                        </a:rPr>
                        <a:t>Baikal Electronics</a:t>
                      </a:r>
                      <a:r>
                        <a:rPr lang="ru-RU" sz="1000">
                          <a:solidFill>
                            <a:schemeClr val="tx1"/>
                          </a:solidFill>
                          <a:latin typeface="HelveticaNeueCyr" panose="020B0604020202020204" charset="-52"/>
                        </a:rPr>
                        <a:t>, РФ (</a:t>
                      </a:r>
                      <a:r>
                        <a:rPr lang="en-US" sz="1000">
                          <a:solidFill>
                            <a:schemeClr val="tx1"/>
                          </a:solidFill>
                          <a:latin typeface="HelveticaNeueCyr" panose="020B0604020202020204" charset="-52"/>
                        </a:rPr>
                        <a:t>Baikal-M</a:t>
                      </a:r>
                      <a:r>
                        <a:rPr lang="ru-RU" sz="1000">
                          <a:solidFill>
                            <a:schemeClr val="tx1"/>
                          </a:solidFill>
                          <a:latin typeface="HelveticaNeueCyr" panose="020B0604020202020204" charset="-52"/>
                        </a:rPr>
                        <a:t>)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ru-RU" sz="1000">
                          <a:solidFill>
                            <a:schemeClr val="tx1"/>
                          </a:solidFill>
                          <a:latin typeface="HelveticaNeueCyr" panose="020B0604020202020204" charset="-52"/>
                        </a:rPr>
                        <a:t>МЦСТ, РФ (Эльбрус)</a:t>
                      </a:r>
                      <a:endParaRPr lang="ru-RU" sz="1000" dirty="0">
                        <a:solidFill>
                          <a:schemeClr val="tx1"/>
                        </a:solidFill>
                        <a:latin typeface="HelveticaNeueCyr" panose="020B0604020202020204" charset="-52"/>
                      </a:endParaRPr>
                    </a:p>
                  </a:txBody>
                  <a:tcPr>
                    <a:lnL w="12700" cap="flat" cmpd="sng" algn="ctr">
                      <a:solidFill>
                        <a:srgbClr val="3C5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C5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C5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C5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ru-RU" sz="1000" b="1" dirty="0">
                          <a:solidFill>
                            <a:schemeClr val="tx1"/>
                          </a:solidFill>
                          <a:latin typeface="HelveticaNeueCyr" panose="020B0604020202020204" charset="-52"/>
                        </a:rPr>
                        <a:t>Иностранные разработки: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  <a:latin typeface="HelveticaNeueCyr" panose="020B0604020202020204" charset="-52"/>
                        </a:rPr>
                        <a:t>Intel</a:t>
                      </a:r>
                      <a:r>
                        <a:rPr lang="ru-RU" sz="1000" dirty="0">
                          <a:solidFill>
                            <a:schemeClr val="tx1"/>
                          </a:solidFill>
                          <a:latin typeface="HelveticaNeueCyr" panose="020B0604020202020204" charset="-52"/>
                        </a:rPr>
                        <a:t>, США (</a:t>
                      </a:r>
                      <a:r>
                        <a:rPr lang="en-US" sz="1000" dirty="0">
                          <a:solidFill>
                            <a:schemeClr val="tx1"/>
                          </a:solidFill>
                          <a:latin typeface="HelveticaNeueCyr" panose="020B0604020202020204" charset="-52"/>
                        </a:rPr>
                        <a:t>Intel HD Graphics</a:t>
                      </a:r>
                      <a:r>
                        <a:rPr lang="ru-RU" sz="1000" dirty="0">
                          <a:solidFill>
                            <a:schemeClr val="tx1"/>
                          </a:solidFill>
                          <a:latin typeface="HelveticaNeueCyr" panose="020B0604020202020204" charset="-52"/>
                        </a:rPr>
                        <a:t>)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  <a:latin typeface="HelveticaNeueCyr" panose="020B0604020202020204" charset="-52"/>
                        </a:rPr>
                        <a:t>AMD</a:t>
                      </a:r>
                      <a:r>
                        <a:rPr lang="ru-RU" sz="1000" dirty="0">
                          <a:solidFill>
                            <a:schemeClr val="tx1"/>
                          </a:solidFill>
                          <a:latin typeface="HelveticaNeueCyr" panose="020B0604020202020204" charset="-52"/>
                        </a:rPr>
                        <a:t>, США</a:t>
                      </a:r>
                      <a:r>
                        <a:rPr lang="en-US" sz="1000" dirty="0">
                          <a:solidFill>
                            <a:schemeClr val="tx1"/>
                          </a:solidFill>
                          <a:latin typeface="HelveticaNeueCyr" panose="020B0604020202020204" charset="-52"/>
                        </a:rPr>
                        <a:t> </a:t>
                      </a:r>
                      <a:r>
                        <a:rPr lang="ru-RU" sz="1000" dirty="0">
                          <a:solidFill>
                            <a:schemeClr val="tx1"/>
                          </a:solidFill>
                          <a:latin typeface="HelveticaNeueCyr" panose="020B0604020202020204" charset="-52"/>
                        </a:rPr>
                        <a:t>(</a:t>
                      </a:r>
                      <a:r>
                        <a:rPr lang="en-US" sz="1000" dirty="0">
                          <a:solidFill>
                            <a:schemeClr val="tx1"/>
                          </a:solidFill>
                          <a:latin typeface="HelveticaNeueCyr" panose="020B0604020202020204" charset="-52"/>
                        </a:rPr>
                        <a:t>AMD</a:t>
                      </a:r>
                      <a:r>
                        <a:rPr lang="ru-RU" sz="1000" dirty="0">
                          <a:solidFill>
                            <a:schemeClr val="tx1"/>
                          </a:solidFill>
                          <a:latin typeface="HelveticaNeueCyr" panose="020B0604020202020204" charset="-52"/>
                        </a:rPr>
                        <a:t> </a:t>
                      </a:r>
                      <a:r>
                        <a:rPr lang="en-US" sz="1000" dirty="0">
                          <a:solidFill>
                            <a:schemeClr val="tx1"/>
                          </a:solidFill>
                          <a:latin typeface="HelveticaNeueCyr" panose="020B0604020202020204" charset="-52"/>
                        </a:rPr>
                        <a:t>Radeon</a:t>
                      </a:r>
                      <a:r>
                        <a:rPr lang="ru-RU" sz="1000" dirty="0">
                          <a:solidFill>
                            <a:schemeClr val="tx1"/>
                          </a:solidFill>
                          <a:latin typeface="HelveticaNeueCyr" panose="020B0604020202020204" charset="-52"/>
                        </a:rPr>
                        <a:t>, </a:t>
                      </a:r>
                      <a:r>
                        <a:rPr lang="en-US" sz="1000" dirty="0">
                          <a:solidFill>
                            <a:schemeClr val="tx1"/>
                          </a:solidFill>
                          <a:latin typeface="HelveticaNeueCyr" panose="020B0604020202020204" charset="-52"/>
                        </a:rPr>
                        <a:t>5700XT</a:t>
                      </a:r>
                      <a:r>
                        <a:rPr lang="ru-RU" sz="1000" dirty="0">
                          <a:solidFill>
                            <a:schemeClr val="tx1"/>
                          </a:solidFill>
                          <a:latin typeface="HelveticaNeueCyr" panose="020B0604020202020204" charset="-52"/>
                        </a:rPr>
                        <a:t>)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  <a:latin typeface="HelveticaNeueCyr" panose="020B0604020202020204" charset="-52"/>
                        </a:rPr>
                        <a:t>Nvidia</a:t>
                      </a:r>
                      <a:r>
                        <a:rPr lang="ru-RU" sz="1000" dirty="0">
                          <a:solidFill>
                            <a:schemeClr val="tx1"/>
                          </a:solidFill>
                          <a:latin typeface="HelveticaNeueCyr" panose="020B0604020202020204" charset="-52"/>
                        </a:rPr>
                        <a:t>, США (</a:t>
                      </a:r>
                      <a:r>
                        <a:rPr lang="en-US" sz="1000" dirty="0">
                          <a:solidFill>
                            <a:schemeClr val="tx1"/>
                          </a:solidFill>
                          <a:latin typeface="HelveticaNeueCyr" panose="020B0604020202020204" charset="-52"/>
                        </a:rPr>
                        <a:t>GTX 1660 Super</a:t>
                      </a:r>
                      <a:r>
                        <a:rPr lang="ru-RU" sz="1000" dirty="0">
                          <a:solidFill>
                            <a:schemeClr val="tx1"/>
                          </a:solidFill>
                          <a:latin typeface="HelveticaNeueCyr" panose="020B0604020202020204" charset="-52"/>
                        </a:rPr>
                        <a:t>)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ru-RU" sz="1000" dirty="0">
                          <a:solidFill>
                            <a:schemeClr val="tx1"/>
                          </a:solidFill>
                          <a:latin typeface="HelveticaNeueCyr" panose="020B0604020202020204" charset="-52"/>
                        </a:rPr>
                        <a:t>ASUS, Тайвань (</a:t>
                      </a:r>
                      <a:r>
                        <a:rPr lang="ru-RU" sz="1000" dirty="0" err="1">
                          <a:solidFill>
                            <a:schemeClr val="tx1"/>
                          </a:solidFill>
                          <a:latin typeface="HelveticaNeueCyr" panose="020B0604020202020204" charset="-52"/>
                        </a:rPr>
                        <a:t>GeForce</a:t>
                      </a:r>
                      <a:r>
                        <a:rPr lang="ru-RU" sz="1000" dirty="0">
                          <a:solidFill>
                            <a:schemeClr val="tx1"/>
                          </a:solidFill>
                          <a:latin typeface="HelveticaNeueCyr" panose="020B0604020202020204" charset="-52"/>
                        </a:rPr>
                        <a:t> GTX 1060)</a:t>
                      </a:r>
                      <a:endParaRPr lang="en-US" sz="1000" dirty="0">
                        <a:solidFill>
                          <a:schemeClr val="tx1"/>
                        </a:solidFill>
                        <a:latin typeface="HelveticaNeueCyr" panose="020B0604020202020204" charset="-52"/>
                      </a:endParaRP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  <a:latin typeface="HelveticaNeueCyr" panose="020B0604020202020204" charset="-52"/>
                        </a:rPr>
                        <a:t>ARM</a:t>
                      </a:r>
                      <a:r>
                        <a:rPr lang="ru-RU" sz="1000" dirty="0">
                          <a:solidFill>
                            <a:schemeClr val="tx1"/>
                          </a:solidFill>
                          <a:latin typeface="HelveticaNeueCyr" panose="020B0604020202020204" charset="-52"/>
                        </a:rPr>
                        <a:t>, Великобритания</a:t>
                      </a:r>
                      <a:r>
                        <a:rPr lang="en-US" sz="1000" dirty="0">
                          <a:solidFill>
                            <a:schemeClr val="tx1"/>
                          </a:solidFill>
                          <a:latin typeface="HelveticaNeueCyr" panose="020B0604020202020204" charset="-52"/>
                        </a:rPr>
                        <a:t> (Immortalis-G925, Arm Mali-G725)</a:t>
                      </a:r>
                      <a:endParaRPr lang="ru-RU" sz="1000" dirty="0">
                        <a:solidFill>
                          <a:schemeClr val="tx1"/>
                        </a:solidFill>
                        <a:latin typeface="HelveticaNeueCyr" panose="020B0604020202020204" charset="-52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ru-RU" sz="1000" b="1" dirty="0">
                          <a:solidFill>
                            <a:schemeClr val="tx1"/>
                          </a:solidFill>
                          <a:latin typeface="HelveticaNeueCyr" panose="020B0604020202020204" charset="-52"/>
                        </a:rPr>
                        <a:t>Российские разработки: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ru-RU" sz="1000" dirty="0">
                          <a:solidFill>
                            <a:schemeClr val="tx1"/>
                          </a:solidFill>
                          <a:latin typeface="HelveticaNeueCyr" panose="020B0604020202020204" charset="-52"/>
                        </a:rPr>
                        <a:t>Информация отсутствует</a:t>
                      </a:r>
                    </a:p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endParaRPr lang="ru-RU" sz="1000" dirty="0">
                        <a:solidFill>
                          <a:schemeClr val="tx1"/>
                        </a:solidFill>
                        <a:latin typeface="HelveticaNeueCyr" panose="020B0604020202020204" charset="-52"/>
                      </a:endParaRPr>
                    </a:p>
                  </a:txBody>
                  <a:tcPr>
                    <a:lnL w="12700" cap="flat" cmpd="sng" algn="ctr">
                      <a:solidFill>
                        <a:srgbClr val="3C5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C5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C5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C5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ru-RU" sz="1000" b="1" dirty="0">
                          <a:solidFill>
                            <a:schemeClr val="tx1"/>
                          </a:solidFill>
                          <a:latin typeface="HelveticaNeueCyr" panose="020B0604020202020204" charset="-52"/>
                        </a:rPr>
                        <a:t>Иностранные разработки:</a:t>
                      </a:r>
                      <a:endParaRPr lang="ru-RU" sz="1000" dirty="0">
                        <a:solidFill>
                          <a:schemeClr val="tx1"/>
                        </a:solidFill>
                        <a:latin typeface="HelveticaNeueCyr" panose="020B0604020202020204" charset="-52"/>
                      </a:endParaRP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  <a:latin typeface="HelveticaNeueCyr" panose="020B0604020202020204" charset="-52"/>
                        </a:rPr>
                        <a:t>Qualcomm</a:t>
                      </a:r>
                      <a:r>
                        <a:rPr lang="ru-RU" sz="1000" dirty="0">
                          <a:solidFill>
                            <a:schemeClr val="tx1"/>
                          </a:solidFill>
                          <a:latin typeface="HelveticaNeueCyr" panose="020B0604020202020204" charset="-52"/>
                        </a:rPr>
                        <a:t>, США</a:t>
                      </a:r>
                      <a:r>
                        <a:rPr lang="en-US" sz="1000" dirty="0">
                          <a:solidFill>
                            <a:schemeClr val="tx1"/>
                          </a:solidFill>
                          <a:latin typeface="HelveticaNeueCyr" panose="020B0604020202020204" charset="-52"/>
                        </a:rPr>
                        <a:t> </a:t>
                      </a:r>
                      <a:r>
                        <a:rPr lang="ru-RU" sz="1000" dirty="0">
                          <a:solidFill>
                            <a:schemeClr val="tx1"/>
                          </a:solidFill>
                          <a:latin typeface="HelveticaNeueCyr" panose="020B0604020202020204" charset="-52"/>
                        </a:rPr>
                        <a:t>(</a:t>
                      </a:r>
                      <a:r>
                        <a:rPr lang="en-US" sz="1000" dirty="0">
                          <a:solidFill>
                            <a:schemeClr val="tx1"/>
                          </a:solidFill>
                          <a:latin typeface="HelveticaNeueCyr" panose="020B0604020202020204" charset="-52"/>
                        </a:rPr>
                        <a:t>Snapdragon X Elite</a:t>
                      </a:r>
                      <a:r>
                        <a:rPr lang="ru-RU" sz="1000" dirty="0">
                          <a:solidFill>
                            <a:schemeClr val="tx1"/>
                          </a:solidFill>
                          <a:latin typeface="HelveticaNeueCyr" panose="020B0604020202020204" charset="-52"/>
                        </a:rPr>
                        <a:t>,</a:t>
                      </a:r>
                      <a:r>
                        <a:rPr lang="en-US" sz="1000" dirty="0">
                          <a:solidFill>
                            <a:schemeClr val="tx1"/>
                          </a:solidFill>
                          <a:latin typeface="HelveticaNeueCyr" panose="020B0604020202020204" charset="-52"/>
                        </a:rPr>
                        <a:t> X Plus</a:t>
                      </a:r>
                      <a:r>
                        <a:rPr lang="ru-RU" sz="1000" dirty="0">
                          <a:solidFill>
                            <a:schemeClr val="tx1"/>
                          </a:solidFill>
                          <a:latin typeface="HelveticaNeueCyr" panose="020B0604020202020204" charset="-52"/>
                        </a:rPr>
                        <a:t>)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ru-RU" sz="1000" dirty="0" err="1">
                          <a:solidFill>
                            <a:schemeClr val="tx1"/>
                          </a:solidFill>
                          <a:latin typeface="HelveticaNeueCyr" panose="020B0604020202020204" charset="-52"/>
                        </a:rPr>
                        <a:t>Apple</a:t>
                      </a:r>
                      <a:r>
                        <a:rPr lang="ru-RU" sz="1000" dirty="0">
                          <a:solidFill>
                            <a:schemeClr val="tx1"/>
                          </a:solidFill>
                          <a:latin typeface="HelveticaNeueCyr" panose="020B0604020202020204" charset="-52"/>
                        </a:rPr>
                        <a:t>, США (</a:t>
                      </a:r>
                      <a:r>
                        <a:rPr lang="ru-RU" sz="1000" dirty="0" err="1">
                          <a:solidFill>
                            <a:schemeClr val="tx1"/>
                          </a:solidFill>
                          <a:latin typeface="HelveticaNeueCyr" panose="020B0604020202020204" charset="-52"/>
                        </a:rPr>
                        <a:t>Neural</a:t>
                      </a:r>
                      <a:r>
                        <a:rPr lang="ru-RU" sz="1000" dirty="0">
                          <a:solidFill>
                            <a:schemeClr val="tx1"/>
                          </a:solidFill>
                          <a:latin typeface="HelveticaNeueCyr" panose="020B0604020202020204" charset="-52"/>
                        </a:rPr>
                        <a:t> </a:t>
                      </a:r>
                      <a:r>
                        <a:rPr lang="ru-RU" sz="1000" dirty="0" err="1">
                          <a:solidFill>
                            <a:schemeClr val="tx1"/>
                          </a:solidFill>
                          <a:latin typeface="HelveticaNeueCyr" panose="020B0604020202020204" charset="-52"/>
                        </a:rPr>
                        <a:t>Engine</a:t>
                      </a:r>
                      <a:r>
                        <a:rPr lang="ru-RU" sz="1000" dirty="0">
                          <a:solidFill>
                            <a:schemeClr val="tx1"/>
                          </a:solidFill>
                          <a:latin typeface="HelveticaNeueCyr" panose="020B0604020202020204" charset="-52"/>
                        </a:rPr>
                        <a:t>)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  <a:latin typeface="HelveticaNeueCyr" panose="020B0604020202020204" charset="-52"/>
                        </a:rPr>
                        <a:t>Huawei</a:t>
                      </a:r>
                      <a:r>
                        <a:rPr lang="ru-RU" sz="1000" dirty="0">
                          <a:solidFill>
                            <a:schemeClr val="tx1"/>
                          </a:solidFill>
                          <a:latin typeface="HelveticaNeueCyr" panose="020B0604020202020204" charset="-52"/>
                        </a:rPr>
                        <a:t>, КНР (</a:t>
                      </a:r>
                      <a:r>
                        <a:rPr lang="en-US" sz="1000" dirty="0">
                          <a:solidFill>
                            <a:schemeClr val="tx1"/>
                          </a:solidFill>
                          <a:latin typeface="HelveticaNeueCyr" panose="020B0604020202020204" charset="-52"/>
                        </a:rPr>
                        <a:t>Kirin 970</a:t>
                      </a:r>
                      <a:r>
                        <a:rPr lang="ru-RU" sz="1000" dirty="0">
                          <a:solidFill>
                            <a:schemeClr val="tx1"/>
                          </a:solidFill>
                          <a:latin typeface="HelveticaNeueCyr" panose="020B0604020202020204" charset="-52"/>
                        </a:rPr>
                        <a:t>)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  <a:latin typeface="HelveticaNeueCyr" panose="020B0604020202020204" charset="-52"/>
                        </a:rPr>
                        <a:t>Intel</a:t>
                      </a:r>
                      <a:r>
                        <a:rPr lang="ru-RU" sz="1000" dirty="0">
                          <a:solidFill>
                            <a:schemeClr val="tx1"/>
                          </a:solidFill>
                          <a:latin typeface="HelveticaNeueCyr" panose="020B0604020202020204" charset="-52"/>
                        </a:rPr>
                        <a:t>, США (</a:t>
                      </a:r>
                      <a:r>
                        <a:rPr lang="en-US" sz="1000" dirty="0">
                          <a:solidFill>
                            <a:schemeClr val="tx1"/>
                          </a:solidFill>
                          <a:latin typeface="HelveticaNeueCyr" panose="020B0604020202020204" charset="-52"/>
                        </a:rPr>
                        <a:t>Intel</a:t>
                      </a:r>
                      <a:r>
                        <a:rPr lang="ru-RU" sz="1000" dirty="0">
                          <a:solidFill>
                            <a:schemeClr val="tx1"/>
                          </a:solidFill>
                          <a:latin typeface="HelveticaNeueCyr" panose="020B0604020202020204" charset="-52"/>
                        </a:rPr>
                        <a:t> </a:t>
                      </a:r>
                      <a:r>
                        <a:rPr lang="en-US" sz="1000" dirty="0">
                          <a:solidFill>
                            <a:schemeClr val="tx1"/>
                          </a:solidFill>
                          <a:latin typeface="HelveticaNeueCyr" panose="020B0604020202020204" charset="-52"/>
                        </a:rPr>
                        <a:t>Core Ultra</a:t>
                      </a:r>
                      <a:r>
                        <a:rPr lang="ru-RU" sz="1000" dirty="0">
                          <a:solidFill>
                            <a:schemeClr val="tx1"/>
                          </a:solidFill>
                          <a:latin typeface="HelveticaNeueCyr" panose="020B0604020202020204" charset="-52"/>
                        </a:rPr>
                        <a:t>)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  <a:latin typeface="HelveticaNeueCyr" panose="020B0604020202020204" charset="-52"/>
                        </a:rPr>
                        <a:t>IBM</a:t>
                      </a:r>
                      <a:r>
                        <a:rPr lang="ru-RU" sz="1000" dirty="0">
                          <a:solidFill>
                            <a:schemeClr val="tx1"/>
                          </a:solidFill>
                          <a:latin typeface="HelveticaNeueCyr" panose="020B0604020202020204" charset="-52"/>
                        </a:rPr>
                        <a:t>, США (</a:t>
                      </a:r>
                      <a:r>
                        <a:rPr lang="en-US" sz="1000" dirty="0" err="1">
                          <a:solidFill>
                            <a:schemeClr val="tx1"/>
                          </a:solidFill>
                          <a:latin typeface="HelveticaNeueCyr" panose="020B0604020202020204" charset="-52"/>
                        </a:rPr>
                        <a:t>TrueNorth</a:t>
                      </a:r>
                      <a:r>
                        <a:rPr lang="ru-RU" sz="1000" dirty="0">
                          <a:solidFill>
                            <a:schemeClr val="tx1"/>
                          </a:solidFill>
                          <a:latin typeface="HelveticaNeueCyr" panose="020B0604020202020204" charset="-52"/>
                        </a:rPr>
                        <a:t>)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ru-RU" sz="1000" b="1" dirty="0">
                          <a:solidFill>
                            <a:schemeClr val="tx1"/>
                          </a:solidFill>
                          <a:latin typeface="HelveticaNeueCyr" panose="020B0604020202020204" charset="-52"/>
                        </a:rPr>
                        <a:t>Российские разработки: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ru-RU" sz="1000" dirty="0">
                          <a:solidFill>
                            <a:schemeClr val="tx1"/>
                          </a:solidFill>
                          <a:latin typeface="HelveticaNeueCyr" panose="020B0604020202020204" charset="-52"/>
                        </a:rPr>
                        <a:t>МФТИ (</a:t>
                      </a:r>
                      <a:r>
                        <a:rPr lang="en-US" sz="1000" dirty="0" err="1">
                          <a:solidFill>
                            <a:schemeClr val="tx1"/>
                          </a:solidFill>
                          <a:latin typeface="HelveticaNeueCyr" panose="020B0604020202020204" charset="-52"/>
                        </a:rPr>
                        <a:t>Ncore</a:t>
                      </a:r>
                      <a:r>
                        <a:rPr lang="ru-RU" sz="1000" dirty="0">
                          <a:solidFill>
                            <a:schemeClr val="tx1"/>
                          </a:solidFill>
                          <a:latin typeface="HelveticaNeueCyr" panose="020B0604020202020204" charset="-52"/>
                        </a:rPr>
                        <a:t>)</a:t>
                      </a:r>
                      <a:r>
                        <a:rPr lang="en-US" sz="1000" dirty="0">
                          <a:solidFill>
                            <a:schemeClr val="tx1"/>
                          </a:solidFill>
                          <a:latin typeface="HelveticaNeueCyr" panose="020B0604020202020204" charset="-52"/>
                        </a:rPr>
                        <a:t> </a:t>
                      </a:r>
                      <a:endParaRPr lang="ru-RU" sz="1000" dirty="0">
                        <a:solidFill>
                          <a:schemeClr val="tx1"/>
                        </a:solidFill>
                        <a:latin typeface="HelveticaNeueCyr" panose="020B0604020202020204" charset="-52"/>
                      </a:endParaRP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ru-RU" sz="1000" dirty="0">
                          <a:solidFill>
                            <a:schemeClr val="tx1"/>
                          </a:solidFill>
                          <a:latin typeface="HelveticaNeueCyr" panose="020B0604020202020204" charset="-52"/>
                        </a:rPr>
                        <a:t>Мотив </a:t>
                      </a:r>
                      <a:r>
                        <a:rPr lang="ru-RU" sz="1000" dirty="0" err="1">
                          <a:solidFill>
                            <a:schemeClr val="tx1"/>
                          </a:solidFill>
                          <a:latin typeface="HelveticaNeueCyr" panose="020B0604020202020204" charset="-52"/>
                        </a:rPr>
                        <a:t>Нейроморфные</a:t>
                      </a:r>
                      <a:r>
                        <a:rPr lang="ru-RU" sz="1000" dirty="0">
                          <a:solidFill>
                            <a:schemeClr val="tx1"/>
                          </a:solidFill>
                          <a:latin typeface="HelveticaNeueCyr" panose="020B0604020202020204" charset="-52"/>
                        </a:rPr>
                        <a:t> Технологии (Алтай)</a:t>
                      </a:r>
                    </a:p>
                  </a:txBody>
                  <a:tcPr>
                    <a:lnL w="12700" cap="flat" cmpd="sng" algn="ctr">
                      <a:solidFill>
                        <a:srgbClr val="3C5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C5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C5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C5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ru-RU" sz="1000" b="1" dirty="0">
                          <a:solidFill>
                            <a:schemeClr val="tx1"/>
                          </a:solidFill>
                          <a:latin typeface="HelveticaNeueCyr" panose="020B0604020202020204" charset="-52"/>
                        </a:rPr>
                        <a:t>Иностранные разработки: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  <a:latin typeface="HelveticaNeueCyr" panose="020B0604020202020204" charset="-52"/>
                        </a:rPr>
                        <a:t>Google</a:t>
                      </a:r>
                      <a:r>
                        <a:rPr lang="ru-RU" sz="1000" dirty="0">
                          <a:solidFill>
                            <a:schemeClr val="tx1"/>
                          </a:solidFill>
                          <a:latin typeface="HelveticaNeueCyr" panose="020B0604020202020204" charset="-52"/>
                        </a:rPr>
                        <a:t> (</a:t>
                      </a:r>
                      <a:r>
                        <a:rPr lang="en-US" sz="1000" dirty="0">
                          <a:solidFill>
                            <a:schemeClr val="tx1"/>
                          </a:solidFill>
                          <a:latin typeface="HelveticaNeueCyr" panose="020B0604020202020204" charset="-52"/>
                        </a:rPr>
                        <a:t>Google</a:t>
                      </a:r>
                      <a:r>
                        <a:rPr lang="ru-RU" sz="1000" dirty="0">
                          <a:solidFill>
                            <a:schemeClr val="tx1"/>
                          </a:solidFill>
                          <a:latin typeface="HelveticaNeueCyr" panose="020B0604020202020204" charset="-52"/>
                        </a:rPr>
                        <a:t> </a:t>
                      </a:r>
                      <a:r>
                        <a:rPr lang="en-US" sz="1000" dirty="0">
                          <a:solidFill>
                            <a:schemeClr val="tx1"/>
                          </a:solidFill>
                          <a:latin typeface="HelveticaNeueCyr" panose="020B0604020202020204" charset="-52"/>
                        </a:rPr>
                        <a:t>TPU</a:t>
                      </a:r>
                      <a:r>
                        <a:rPr lang="ru-RU" sz="1000" dirty="0">
                          <a:solidFill>
                            <a:schemeClr val="tx1"/>
                          </a:solidFill>
                          <a:latin typeface="HelveticaNeueCyr" panose="020B0604020202020204" charset="-52"/>
                        </a:rPr>
                        <a:t>)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ru-RU" sz="1000" b="1" dirty="0">
                          <a:solidFill>
                            <a:schemeClr val="tx1"/>
                          </a:solidFill>
                          <a:latin typeface="HelveticaNeueCyr" panose="020B0604020202020204" charset="-52"/>
                        </a:rPr>
                        <a:t>Российские разработки: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  <a:latin typeface="HelveticaNeueCyr" panose="020B0604020202020204" charset="-52"/>
                        </a:rPr>
                        <a:t>IVA Technologies</a:t>
                      </a:r>
                      <a:r>
                        <a:rPr lang="ru-RU" sz="1000" dirty="0">
                          <a:solidFill>
                            <a:schemeClr val="tx1"/>
                          </a:solidFill>
                          <a:latin typeface="HelveticaNeueCyr" panose="020B0604020202020204" charset="-52"/>
                        </a:rPr>
                        <a:t>, РФ (</a:t>
                      </a:r>
                      <a:r>
                        <a:rPr lang="en-US" sz="1000" dirty="0">
                          <a:solidFill>
                            <a:schemeClr val="tx1"/>
                          </a:solidFill>
                          <a:latin typeface="HelveticaNeueCyr" panose="020B0604020202020204" charset="-52"/>
                        </a:rPr>
                        <a:t>IVA TPU</a:t>
                      </a:r>
                      <a:r>
                        <a:rPr lang="ru-RU" sz="1000" dirty="0">
                          <a:solidFill>
                            <a:schemeClr val="tx1"/>
                          </a:solidFill>
                          <a:latin typeface="HelveticaNeueCyr" panose="020B0604020202020204" charset="-52"/>
                        </a:rPr>
                        <a:t>)</a:t>
                      </a:r>
                    </a:p>
                  </a:txBody>
                  <a:tcPr>
                    <a:lnL w="12700" cap="flat" cmpd="sng" algn="ctr">
                      <a:solidFill>
                        <a:srgbClr val="3C5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C5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C5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C5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1000" b="1">
                          <a:solidFill>
                            <a:schemeClr val="tx1"/>
                          </a:solidFill>
                          <a:latin typeface="HelveticaNeueCyr" panose="020B0604020202020204" charset="-52"/>
                        </a:rPr>
                        <a:t>Иностранные разработки: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ru-RU" sz="1000">
                          <a:solidFill>
                            <a:schemeClr val="tx1"/>
                          </a:solidFill>
                          <a:latin typeface="HelveticaNeueCyr" panose="020B0604020202020204" charset="-52"/>
                        </a:rPr>
                        <a:t>IBM, США (Osprey)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ru-RU" sz="1000">
                          <a:solidFill>
                            <a:schemeClr val="tx1"/>
                          </a:solidFill>
                          <a:latin typeface="HelveticaNeueCyr" panose="020B0604020202020204" charset="-52"/>
                        </a:rPr>
                        <a:t>Google, США (Sycamore)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ru-RU" sz="1000">
                          <a:solidFill>
                            <a:schemeClr val="tx1"/>
                          </a:solidFill>
                          <a:latin typeface="HelveticaNeueCyr" panose="020B0604020202020204" charset="-52"/>
                        </a:rPr>
                        <a:t>Intel, США (Tunnel Falls)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ru-RU" sz="1000">
                          <a:solidFill>
                            <a:schemeClr val="tx1"/>
                          </a:solidFill>
                          <a:latin typeface="HelveticaNeueCyr" panose="020B0604020202020204" charset="-52"/>
                        </a:rPr>
                        <a:t>Xanadu </a:t>
                      </a:r>
                      <a:r>
                        <a:rPr lang="en-US" sz="1000">
                          <a:solidFill>
                            <a:schemeClr val="tx1"/>
                          </a:solidFill>
                          <a:latin typeface="HelveticaNeueCyr" panose="020B0604020202020204" charset="-52"/>
                        </a:rPr>
                        <a:t>Quantum Tech</a:t>
                      </a:r>
                      <a:r>
                        <a:rPr lang="ru-RU" sz="1000">
                          <a:solidFill>
                            <a:schemeClr val="tx1"/>
                          </a:solidFill>
                          <a:latin typeface="HelveticaNeueCyr" panose="020B0604020202020204" charset="-52"/>
                        </a:rPr>
                        <a:t>, Канада (Borealis)</a:t>
                      </a:r>
                    </a:p>
                    <a:p>
                      <a:r>
                        <a:rPr lang="ru-RU" sz="1000" b="1">
                          <a:solidFill>
                            <a:schemeClr val="tx1"/>
                          </a:solidFill>
                          <a:latin typeface="HelveticaNeueCyr" panose="020B0604020202020204" charset="-52"/>
                        </a:rPr>
                        <a:t>Российские разработки: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ru-RU" sz="1000">
                          <a:solidFill>
                            <a:schemeClr val="tx1"/>
                          </a:solidFill>
                          <a:latin typeface="HelveticaNeueCyr" panose="020B0604020202020204" charset="-52"/>
                        </a:rPr>
                        <a:t>МФТИ и НИТУ «МИСиС» (создан 4-кубитный процессор, разработка 8-кубитного)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ru-RU" sz="1000">
                          <a:solidFill>
                            <a:schemeClr val="tx1"/>
                          </a:solidFill>
                          <a:latin typeface="HelveticaNeueCyr" panose="020B0604020202020204" charset="-52"/>
                        </a:rPr>
                        <a:t>МГУ (разработка 16-кубитного процессора)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ru-RU" sz="1000">
                          <a:solidFill>
                            <a:schemeClr val="tx1"/>
                          </a:solidFill>
                          <a:latin typeface="HelveticaNeueCyr" panose="020B0604020202020204" charset="-52"/>
                        </a:rPr>
                        <a:t>РКЦиФИ им. П.Н. Лебедева РАН, создан 50-кубитный квантовый компьютер)</a:t>
                      </a:r>
                      <a:endParaRPr lang="ru-RU" sz="1000" dirty="0">
                        <a:solidFill>
                          <a:schemeClr val="tx1"/>
                        </a:solidFill>
                        <a:latin typeface="HelveticaNeueCyr" panose="020B0604020202020204" charset="-52"/>
                      </a:endParaRPr>
                    </a:p>
                  </a:txBody>
                  <a:tcPr>
                    <a:lnL w="12700" cap="flat" cmpd="sng" algn="ctr">
                      <a:solidFill>
                        <a:srgbClr val="3C5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C5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C5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C5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11745571"/>
                  </a:ext>
                </a:extLst>
              </a:tr>
              <a:tr h="445672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ru-RU" sz="1000" b="1">
                          <a:solidFill>
                            <a:schemeClr val="tx1"/>
                          </a:solidFill>
                          <a:latin typeface="HelveticaNeueCyr" panose="020B0604020202020204" charset="-52"/>
                        </a:rPr>
                        <a:t>Доступность </a:t>
                      </a:r>
                      <a:br>
                        <a:rPr lang="ru-RU" sz="1000" b="1">
                          <a:solidFill>
                            <a:schemeClr val="tx1"/>
                          </a:solidFill>
                          <a:latin typeface="HelveticaNeueCyr" panose="020B0604020202020204" charset="-52"/>
                        </a:rPr>
                      </a:br>
                      <a:r>
                        <a:rPr lang="ru-RU" sz="1000" b="1">
                          <a:solidFill>
                            <a:schemeClr val="tx1"/>
                          </a:solidFill>
                          <a:latin typeface="HelveticaNeueCyr" panose="020B0604020202020204" charset="-52"/>
                        </a:rPr>
                        <a:t>на рынке</a:t>
                      </a:r>
                      <a:endParaRPr lang="ru-RU" sz="1000" b="1" dirty="0">
                        <a:solidFill>
                          <a:schemeClr val="tx1"/>
                        </a:solidFill>
                        <a:latin typeface="HelveticaNeueCyr" panose="020B0604020202020204" charset="-52"/>
                      </a:endParaRPr>
                    </a:p>
                  </a:txBody>
                  <a:tcPr>
                    <a:lnL w="12700" cap="flat" cmpd="sng" algn="ctr">
                      <a:solidFill>
                        <a:srgbClr val="3C5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C5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C5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C5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r>
                        <a:rPr lang="ru-RU" sz="1000" b="1">
                          <a:solidFill>
                            <a:schemeClr val="tx1"/>
                          </a:solidFill>
                          <a:latin typeface="HelveticaNeueCyr" panose="020B0604020202020204" charset="-52"/>
                        </a:rPr>
                        <a:t>Высокая</a:t>
                      </a:r>
                      <a:r>
                        <a:rPr lang="ru-RU" sz="1000">
                          <a:solidFill>
                            <a:schemeClr val="tx1"/>
                          </a:solidFill>
                          <a:latin typeface="HelveticaNeueCyr" panose="020B0604020202020204" charset="-52"/>
                        </a:rPr>
                        <a:t> (производятся множеством компаний)</a:t>
                      </a:r>
                      <a:endParaRPr lang="ru-RU" sz="1000" dirty="0">
                        <a:solidFill>
                          <a:schemeClr val="tx1"/>
                        </a:solidFill>
                        <a:latin typeface="HelveticaNeueCyr" panose="020B0604020202020204" charset="-52"/>
                      </a:endParaRPr>
                    </a:p>
                  </a:txBody>
                  <a:tcPr>
                    <a:lnL w="12700" cap="flat" cmpd="sng" algn="ctr">
                      <a:solidFill>
                        <a:srgbClr val="3C5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C5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C5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C5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r>
                        <a:rPr lang="ru-RU" sz="1000" b="1">
                          <a:solidFill>
                            <a:schemeClr val="tx1"/>
                          </a:solidFill>
                          <a:latin typeface="HelveticaNeueCyr" panose="020B0604020202020204" charset="-52"/>
                        </a:rPr>
                        <a:t>Средняя </a:t>
                      </a:r>
                      <a:r>
                        <a:rPr lang="ru-RU" sz="1000">
                          <a:solidFill>
                            <a:schemeClr val="tx1"/>
                          </a:solidFill>
                          <a:latin typeface="HelveticaNeueCyr" panose="020B0604020202020204" charset="-52"/>
                        </a:rPr>
                        <a:t>(ограниченное производство, требует инвестиций и специализированного оборудования)</a:t>
                      </a:r>
                      <a:endParaRPr lang="ru-RU" sz="1000" dirty="0">
                        <a:solidFill>
                          <a:schemeClr val="tx1"/>
                        </a:solidFill>
                        <a:latin typeface="HelveticaNeueCyr" panose="020B0604020202020204" charset="-52"/>
                      </a:endParaRPr>
                    </a:p>
                  </a:txBody>
                  <a:tcPr>
                    <a:lnL w="12700" cap="flat" cmpd="sng" algn="ctr">
                      <a:solidFill>
                        <a:srgbClr val="3C5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C5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C5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C5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ru-RU" sz="1000" b="1">
                          <a:solidFill>
                            <a:schemeClr val="tx1"/>
                          </a:solidFill>
                          <a:latin typeface="HelveticaNeueCyr" panose="020B0604020202020204" charset="-52"/>
                        </a:rPr>
                        <a:t>Низкая </a:t>
                      </a:r>
                      <a:r>
                        <a:rPr lang="ru-RU" sz="1000">
                          <a:solidFill>
                            <a:schemeClr val="tx1"/>
                          </a:solidFill>
                          <a:latin typeface="HelveticaNeueCyr" panose="020B0604020202020204" charset="-52"/>
                        </a:rPr>
                        <a:t>(являются специализированными устройствами)</a:t>
                      </a:r>
                      <a:endParaRPr lang="ru-RU" sz="1000" dirty="0">
                        <a:solidFill>
                          <a:schemeClr val="tx1"/>
                        </a:solidFill>
                        <a:latin typeface="HelveticaNeueCyr" panose="020B0604020202020204" charset="-52"/>
                      </a:endParaRPr>
                    </a:p>
                  </a:txBody>
                  <a:tcPr>
                    <a:lnL w="12700" cap="flat" cmpd="sng" algn="ctr">
                      <a:solidFill>
                        <a:srgbClr val="3C5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C5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C5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C5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r>
                        <a:rPr lang="ru-RU" sz="1000" b="1">
                          <a:solidFill>
                            <a:schemeClr val="tx1"/>
                          </a:solidFill>
                          <a:latin typeface="HelveticaNeueCyr" panose="020B0604020202020204" charset="-52"/>
                        </a:rPr>
                        <a:t>Низкая </a:t>
                      </a:r>
                      <a:r>
                        <a:rPr lang="ru-RU" sz="1000">
                          <a:solidFill>
                            <a:schemeClr val="tx1"/>
                          </a:solidFill>
                          <a:latin typeface="HelveticaNeueCyr" panose="020B0604020202020204" charset="-52"/>
                        </a:rPr>
                        <a:t>(являются специализированными устройствами)</a:t>
                      </a:r>
                      <a:endParaRPr lang="ru-RU" sz="1000" dirty="0">
                        <a:solidFill>
                          <a:schemeClr val="tx1"/>
                        </a:solidFill>
                        <a:latin typeface="HelveticaNeueCyr" panose="020B0604020202020204" charset="-52"/>
                      </a:endParaRPr>
                    </a:p>
                  </a:txBody>
                  <a:tcPr>
                    <a:lnL w="12700" cap="flat" cmpd="sng" algn="ctr">
                      <a:solidFill>
                        <a:srgbClr val="3C5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C5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C5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C5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r>
                        <a:rPr lang="ru-RU" sz="1000" b="1" dirty="0">
                          <a:solidFill>
                            <a:schemeClr val="tx1"/>
                          </a:solidFill>
                          <a:latin typeface="HelveticaNeueCyr" panose="020B0604020202020204" charset="-52"/>
                        </a:rPr>
                        <a:t>НИОКР</a:t>
                      </a:r>
                      <a:endParaRPr lang="ru-RU" sz="1000" dirty="0">
                        <a:solidFill>
                          <a:schemeClr val="tx1"/>
                        </a:solidFill>
                        <a:latin typeface="HelveticaNeueCyr" panose="020B0604020202020204" charset="-52"/>
                      </a:endParaRPr>
                    </a:p>
                  </a:txBody>
                  <a:tcPr>
                    <a:lnL w="12700" cap="flat" cmpd="sng" algn="ctr">
                      <a:solidFill>
                        <a:srgbClr val="3C5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C5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C5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C5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0316757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sz="1000" b="1">
                          <a:solidFill>
                            <a:schemeClr val="tx1"/>
                          </a:solidFill>
                          <a:latin typeface="HelveticaNeueCyr" panose="020B0604020202020204" charset="-52"/>
                        </a:rPr>
                        <a:t>Плюсы</a:t>
                      </a:r>
                      <a:endParaRPr lang="ru-RU" sz="1000" b="1" dirty="0">
                        <a:solidFill>
                          <a:schemeClr val="tx1"/>
                        </a:solidFill>
                        <a:latin typeface="HelveticaNeueCyr" panose="020B0604020202020204" charset="-52"/>
                      </a:endParaRPr>
                    </a:p>
                  </a:txBody>
                  <a:tcPr>
                    <a:lnL w="12700" cap="flat" cmpd="sng" algn="ctr">
                      <a:solidFill>
                        <a:srgbClr val="3C5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C5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C5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C5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ru-RU" sz="1000">
                          <a:solidFill>
                            <a:schemeClr val="tx1"/>
                          </a:solidFill>
                          <a:latin typeface="HelveticaNeueCyr" panose="020B0604020202020204" charset="-52"/>
                        </a:rPr>
                        <a:t>Работает самостоятельно, без дополнительного оборудования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ru-RU" sz="1000">
                          <a:solidFill>
                            <a:schemeClr val="tx1"/>
                          </a:solidFill>
                          <a:latin typeface="HelveticaNeueCyr" panose="020B0604020202020204" charset="-52"/>
                        </a:rPr>
                        <a:t>Широкий выбор процессоров на рынке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ru-RU" sz="1000">
                          <a:solidFill>
                            <a:schemeClr val="tx1"/>
                          </a:solidFill>
                          <a:latin typeface="HelveticaNeueCyr" panose="020B0604020202020204" charset="-52"/>
                        </a:rPr>
                        <a:t>Высокая точность вычислений</a:t>
                      </a:r>
                      <a:endParaRPr lang="ru-RU" sz="1000" dirty="0">
                        <a:solidFill>
                          <a:schemeClr val="tx1"/>
                        </a:solidFill>
                        <a:latin typeface="HelveticaNeueCyr" panose="020B0604020202020204" charset="-52"/>
                      </a:endParaRPr>
                    </a:p>
                  </a:txBody>
                  <a:tcPr>
                    <a:lnL w="12700" cap="flat" cmpd="sng" algn="ctr">
                      <a:solidFill>
                        <a:srgbClr val="3C5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C5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C5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C5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ru-RU" sz="1000">
                          <a:solidFill>
                            <a:schemeClr val="tx1"/>
                          </a:solidFill>
                          <a:latin typeface="HelveticaNeueCyr" panose="020B0604020202020204" charset="-52"/>
                        </a:rPr>
                        <a:t>Возможность параллельных вычислений, без последовательного перебора решений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ru-RU" sz="1000">
                          <a:solidFill>
                            <a:schemeClr val="tx1"/>
                          </a:solidFill>
                          <a:latin typeface="HelveticaNeueCyr" panose="020B0604020202020204" charset="-52"/>
                        </a:rPr>
                        <a:t>Высокая производительность для задач ИИ и машинного обучения</a:t>
                      </a:r>
                      <a:endParaRPr lang="ru-RU" sz="1000" dirty="0">
                        <a:solidFill>
                          <a:schemeClr val="tx1"/>
                        </a:solidFill>
                        <a:latin typeface="HelveticaNeueCyr" panose="020B0604020202020204" charset="-52"/>
                      </a:endParaRPr>
                    </a:p>
                  </a:txBody>
                  <a:tcPr>
                    <a:lnL w="12700" cap="flat" cmpd="sng" algn="ctr">
                      <a:solidFill>
                        <a:srgbClr val="3C5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C5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C5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C5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ru-RU" sz="1000" dirty="0">
                          <a:solidFill>
                            <a:schemeClr val="tx1"/>
                          </a:solidFill>
                          <a:latin typeface="HelveticaNeueCyr" panose="020B0604020202020204" charset="-52"/>
                        </a:rPr>
                        <a:t>Память с высокой пропускной способностью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ru-RU" sz="1000" dirty="0">
                          <a:solidFill>
                            <a:schemeClr val="tx1"/>
                          </a:solidFill>
                          <a:latin typeface="HelveticaNeueCyr" panose="020B0604020202020204" charset="-52"/>
                        </a:rPr>
                        <a:t>Меньшее потребление энергии при большом объеме задач</a:t>
                      </a:r>
                    </a:p>
                  </a:txBody>
                  <a:tcPr>
                    <a:lnL w="12700" cap="flat" cmpd="sng" algn="ctr">
                      <a:solidFill>
                        <a:srgbClr val="3C5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C5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C5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C5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ru-RU" sz="1000" dirty="0">
                          <a:solidFill>
                            <a:schemeClr val="tx1"/>
                          </a:solidFill>
                          <a:latin typeface="HelveticaNeueCyr" panose="020B0604020202020204" charset="-52"/>
                        </a:rPr>
                        <a:t>Возможность параллельных вычислений в больших объемах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ru-RU" sz="1000" dirty="0">
                          <a:solidFill>
                            <a:schemeClr val="tx1"/>
                          </a:solidFill>
                          <a:latin typeface="HelveticaNeueCyr" panose="020B0604020202020204" charset="-52"/>
                        </a:rPr>
                        <a:t>Высокоскоростные матричные вычисления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ru-RU" sz="1000" dirty="0">
                          <a:solidFill>
                            <a:schemeClr val="tx1"/>
                          </a:solidFill>
                          <a:latin typeface="HelveticaNeueCyr" panose="020B0604020202020204" charset="-52"/>
                        </a:rPr>
                        <a:t>Высокая производительность</a:t>
                      </a:r>
                      <a:br>
                        <a:rPr lang="ru-RU" sz="1000" dirty="0">
                          <a:solidFill>
                            <a:schemeClr val="tx1"/>
                          </a:solidFill>
                          <a:latin typeface="HelveticaNeueCyr" panose="020B0604020202020204" charset="-52"/>
                        </a:rPr>
                      </a:br>
                      <a:r>
                        <a:rPr lang="ru-RU" sz="1000" dirty="0">
                          <a:solidFill>
                            <a:schemeClr val="tx1"/>
                          </a:solidFill>
                          <a:latin typeface="HelveticaNeueCyr" panose="020B0604020202020204" charset="-52"/>
                        </a:rPr>
                        <a:t>и энергоэффективность</a:t>
                      </a:r>
                    </a:p>
                  </a:txBody>
                  <a:tcPr>
                    <a:lnL w="12700" cap="flat" cmpd="sng" algn="ctr">
                      <a:solidFill>
                        <a:srgbClr val="3C5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C5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C5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C5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ru-RU" sz="1000" dirty="0">
                          <a:solidFill>
                            <a:schemeClr val="tx1"/>
                          </a:solidFill>
                          <a:latin typeface="HelveticaNeueCyr" panose="020B0604020202020204" charset="-52"/>
                        </a:rPr>
                        <a:t>Возможность параллельных вычислений, без последовательного перебора решений, компьютер может обрабатывать одновременно все варианты ответов</a:t>
                      </a:r>
                    </a:p>
                  </a:txBody>
                  <a:tcPr>
                    <a:lnL w="12700" cap="flat" cmpd="sng" algn="ctr">
                      <a:solidFill>
                        <a:srgbClr val="3C5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C5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C5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C5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3256258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sz="1000" b="1">
                          <a:solidFill>
                            <a:schemeClr val="tx1"/>
                          </a:solidFill>
                          <a:latin typeface="HelveticaNeueCyr" panose="020B0604020202020204" charset="-52"/>
                        </a:rPr>
                        <a:t>Минусы</a:t>
                      </a:r>
                      <a:endParaRPr lang="ru-RU" sz="1000" b="1" dirty="0">
                        <a:solidFill>
                          <a:schemeClr val="tx1"/>
                        </a:solidFill>
                        <a:latin typeface="HelveticaNeueCyr" panose="020B0604020202020204" charset="-52"/>
                      </a:endParaRPr>
                    </a:p>
                  </a:txBody>
                  <a:tcPr>
                    <a:lnL w="12700" cap="flat" cmpd="sng" algn="ctr">
                      <a:solidFill>
                        <a:srgbClr val="3C5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C5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C5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C5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ru-RU" sz="1000">
                          <a:solidFill>
                            <a:schemeClr val="tx1"/>
                          </a:solidFill>
                          <a:latin typeface="HelveticaNeueCyr" panose="020B0604020202020204" charset="-52"/>
                        </a:rPr>
                        <a:t>Перебирают решения последовательно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ru-RU" sz="1000">
                          <a:solidFill>
                            <a:schemeClr val="tx1"/>
                          </a:solidFill>
                          <a:latin typeface="HelveticaNeueCyr" panose="020B0604020202020204" charset="-52"/>
                        </a:rPr>
                        <a:t>Физические ограничения (необходимость охлаждения для стабильной работы)</a:t>
                      </a:r>
                      <a:endParaRPr lang="ru-RU" sz="1000" dirty="0">
                        <a:solidFill>
                          <a:schemeClr val="tx1"/>
                        </a:solidFill>
                        <a:latin typeface="HelveticaNeueCyr" panose="020B0604020202020204" charset="-52"/>
                      </a:endParaRPr>
                    </a:p>
                  </a:txBody>
                  <a:tcPr>
                    <a:lnL w="12700" cap="flat" cmpd="sng" algn="ctr">
                      <a:solidFill>
                        <a:srgbClr val="3C5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C5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C5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C5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ru-RU" sz="1000">
                          <a:solidFill>
                            <a:schemeClr val="tx1"/>
                          </a:solidFill>
                          <a:latin typeface="HelveticaNeueCyr" panose="020B0604020202020204" charset="-52"/>
                        </a:rPr>
                        <a:t>Монофункциональный </a:t>
                      </a:r>
                    </a:p>
                    <a:p>
                      <a:pPr marL="171450" marR="0" lvl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ru-RU" sz="1000">
                          <a:solidFill>
                            <a:schemeClr val="tx1"/>
                          </a:solidFill>
                          <a:latin typeface="HelveticaNeueCyr" panose="020B0604020202020204" charset="-52"/>
                        </a:rPr>
                        <a:t>Не работает самостоятельно (нужен ЦП)</a:t>
                      </a:r>
                    </a:p>
                    <a:p>
                      <a:pPr marL="171450" marR="0" lvl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ru-RU" sz="1000">
                          <a:solidFill>
                            <a:schemeClr val="tx1"/>
                          </a:solidFill>
                          <a:latin typeface="HelveticaNeueCyr" panose="020B0604020202020204" charset="-52"/>
                        </a:rPr>
                        <a:t>Физические ограничения (требуется охлаждение при сложных вычислениях)</a:t>
                      </a:r>
                      <a:endParaRPr lang="ru-RU" sz="1000" dirty="0">
                        <a:solidFill>
                          <a:schemeClr val="tx1"/>
                        </a:solidFill>
                        <a:latin typeface="HelveticaNeueCyr" panose="020B0604020202020204" charset="-52"/>
                      </a:endParaRPr>
                    </a:p>
                  </a:txBody>
                  <a:tcPr>
                    <a:lnL w="12700" cap="flat" cmpd="sng" algn="ctr">
                      <a:solidFill>
                        <a:srgbClr val="3C5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C5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C5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C5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ru-RU" sz="1000" dirty="0">
                          <a:solidFill>
                            <a:schemeClr val="tx1"/>
                          </a:solidFill>
                          <a:latin typeface="HelveticaNeueCyr" panose="020B0604020202020204" charset="-52"/>
                        </a:rPr>
                        <a:t>Низкая точность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ru-RU" sz="1000" dirty="0">
                          <a:solidFill>
                            <a:schemeClr val="tx1"/>
                          </a:solidFill>
                          <a:latin typeface="HelveticaNeueCyr" panose="020B0604020202020204" charset="-52"/>
                        </a:rPr>
                        <a:t>Чаще используется в смартфонах</a:t>
                      </a:r>
                      <a:br>
                        <a:rPr lang="ru-RU" sz="1000" dirty="0">
                          <a:solidFill>
                            <a:schemeClr val="tx1"/>
                          </a:solidFill>
                          <a:latin typeface="HelveticaNeueCyr" panose="020B0604020202020204" charset="-52"/>
                        </a:rPr>
                      </a:br>
                      <a:r>
                        <a:rPr lang="ru-RU" sz="1000" dirty="0">
                          <a:solidFill>
                            <a:schemeClr val="tx1"/>
                          </a:solidFill>
                          <a:latin typeface="HelveticaNeueCyr" panose="020B0604020202020204" charset="-52"/>
                        </a:rPr>
                        <a:t>в качестве дополнительного модуля </a:t>
                      </a:r>
                    </a:p>
                  </a:txBody>
                  <a:tcPr>
                    <a:lnL w="12700" cap="flat" cmpd="sng" algn="ctr">
                      <a:solidFill>
                        <a:srgbClr val="3C5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C5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C5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C5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ru-RU" sz="1000">
                          <a:solidFill>
                            <a:schemeClr val="tx1"/>
                          </a:solidFill>
                          <a:latin typeface="HelveticaNeueCyr" panose="020B0604020202020204" charset="-52"/>
                        </a:rPr>
                        <a:t>Не работает самостоятельно (нужен ЦП)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ru-RU" sz="1000">
                          <a:solidFill>
                            <a:schemeClr val="tx1"/>
                          </a:solidFill>
                          <a:latin typeface="HelveticaNeueCyr" panose="020B0604020202020204" charset="-52"/>
                        </a:rPr>
                        <a:t>Сложность настройки и управления, требующая специализированных знаний и навыков</a:t>
                      </a:r>
                      <a:endParaRPr lang="ru-RU" sz="1000" dirty="0">
                        <a:solidFill>
                          <a:schemeClr val="tx1"/>
                        </a:solidFill>
                        <a:latin typeface="HelveticaNeueCyr" panose="020B0604020202020204" charset="-52"/>
                      </a:endParaRPr>
                    </a:p>
                  </a:txBody>
                  <a:tcPr>
                    <a:lnL w="12700" cap="flat" cmpd="sng" algn="ctr">
                      <a:solidFill>
                        <a:srgbClr val="3C5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C5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C5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C5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ru-RU" sz="1000" dirty="0">
                          <a:solidFill>
                            <a:schemeClr val="tx1"/>
                          </a:solidFill>
                          <a:latin typeface="HelveticaNeueCyr" panose="020B0604020202020204" charset="-52"/>
                        </a:rPr>
                        <a:t>Выдают не точные результаты,</a:t>
                      </a:r>
                      <a:br>
                        <a:rPr lang="ru-RU" sz="1000" dirty="0">
                          <a:solidFill>
                            <a:schemeClr val="tx1"/>
                          </a:solidFill>
                          <a:latin typeface="HelveticaNeueCyr" panose="020B0604020202020204" charset="-52"/>
                        </a:rPr>
                      </a:br>
                      <a:r>
                        <a:rPr lang="ru-RU" sz="1000" dirty="0">
                          <a:solidFill>
                            <a:schemeClr val="tx1"/>
                          </a:solidFill>
                          <a:latin typeface="HelveticaNeueCyr" panose="020B0604020202020204" charset="-52"/>
                        </a:rPr>
                        <a:t>а вероятностные (приближенные)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ru-RU" sz="1000" dirty="0">
                          <a:solidFill>
                            <a:schemeClr val="tx1"/>
                          </a:solidFill>
                          <a:latin typeface="HelveticaNeueCyr" panose="020B0604020202020204" charset="-52"/>
                        </a:rPr>
                        <a:t>Помехи в данных из-за внешних факторов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ru-RU" sz="1000" dirty="0">
                          <a:solidFill>
                            <a:schemeClr val="tx1"/>
                          </a:solidFill>
                          <a:latin typeface="HelveticaNeueCyr" panose="020B0604020202020204" charset="-52"/>
                        </a:rPr>
                        <a:t>Требуются специальные помещения (охлаждаемые, с наивысшим классом чистоты)</a:t>
                      </a:r>
                    </a:p>
                  </a:txBody>
                  <a:tcPr>
                    <a:lnL w="12700" cap="flat" cmpd="sng" algn="ctr">
                      <a:solidFill>
                        <a:srgbClr val="3C5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C5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C5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C5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62627259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ru-RU" sz="1000" b="1">
                          <a:solidFill>
                            <a:schemeClr val="tx1"/>
                          </a:solidFill>
                          <a:latin typeface="HelveticaNeueCyr" panose="020B0604020202020204" charset="-52"/>
                        </a:rPr>
                        <a:t>Использование</a:t>
                      </a:r>
                      <a:endParaRPr lang="ru-RU" sz="1000" b="1" dirty="0">
                        <a:solidFill>
                          <a:schemeClr val="tx1"/>
                        </a:solidFill>
                        <a:latin typeface="HelveticaNeueCyr" panose="020B0604020202020204" charset="-52"/>
                      </a:endParaRPr>
                    </a:p>
                  </a:txBody>
                  <a:tcPr>
                    <a:lnL w="12700" cap="flat" cmpd="sng" algn="ctr">
                      <a:solidFill>
                        <a:srgbClr val="3C5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C5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C5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C5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r>
                        <a:rPr lang="ru-RU" sz="1000">
                          <a:solidFill>
                            <a:schemeClr val="tx1"/>
                          </a:solidFill>
                          <a:latin typeface="HelveticaNeueCyr" panose="020B0604020202020204" charset="-52"/>
                        </a:rPr>
                        <a:t>Запуск различных программ</a:t>
                      </a:r>
                      <a:endParaRPr lang="ru-RU" sz="1000" dirty="0">
                        <a:solidFill>
                          <a:schemeClr val="tx1"/>
                        </a:solidFill>
                        <a:latin typeface="HelveticaNeueCyr" panose="020B0604020202020204" charset="-52"/>
                      </a:endParaRPr>
                    </a:p>
                  </a:txBody>
                  <a:tcPr>
                    <a:lnL w="12700" cap="flat" cmpd="sng" algn="ctr">
                      <a:solidFill>
                        <a:srgbClr val="3C5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C5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C5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C5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ru-RU" sz="1000">
                          <a:solidFill>
                            <a:schemeClr val="tx1"/>
                          </a:solidFill>
                          <a:latin typeface="HelveticaNeueCyr" panose="020B0604020202020204" charset="-52"/>
                        </a:rPr>
                        <a:t>Обработка графики, реже машинное обучение</a:t>
                      </a:r>
                      <a:endParaRPr lang="ru-RU" sz="1000" dirty="0">
                        <a:solidFill>
                          <a:schemeClr val="tx1"/>
                        </a:solidFill>
                        <a:latin typeface="HelveticaNeueCyr" panose="020B0604020202020204" charset="-52"/>
                      </a:endParaRPr>
                    </a:p>
                  </a:txBody>
                  <a:tcPr>
                    <a:lnL w="12700" cap="flat" cmpd="sng" algn="ctr">
                      <a:solidFill>
                        <a:srgbClr val="3C5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C5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C5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C5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ru-RU" sz="1000" dirty="0">
                          <a:solidFill>
                            <a:schemeClr val="tx1"/>
                          </a:solidFill>
                          <a:latin typeface="HelveticaNeueCyr" panose="020B0604020202020204" charset="-52"/>
                        </a:rPr>
                        <a:t>Ускорение задач, связанных с ИИ и машинным обучением</a:t>
                      </a:r>
                    </a:p>
                  </a:txBody>
                  <a:tcPr>
                    <a:lnL w="12700" cap="flat" cmpd="sng" algn="ctr">
                      <a:solidFill>
                        <a:srgbClr val="3C5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C5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C5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C5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ru-RU" sz="1000" dirty="0">
                          <a:solidFill>
                            <a:schemeClr val="tx1"/>
                          </a:solidFill>
                          <a:latin typeface="HelveticaNeueCyr" panose="020B0604020202020204" charset="-52"/>
                        </a:rPr>
                        <a:t>Запуск нейросетей, задачи глубокого обучения</a:t>
                      </a:r>
                    </a:p>
                  </a:txBody>
                  <a:tcPr>
                    <a:lnL w="12700" cap="flat" cmpd="sng" algn="ctr">
                      <a:solidFill>
                        <a:srgbClr val="3C5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C5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C5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C5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r>
                        <a:rPr lang="ru-RU" sz="1000">
                          <a:solidFill>
                            <a:schemeClr val="tx1"/>
                          </a:solidFill>
                          <a:latin typeface="HelveticaNeueCyr" panose="020B0604020202020204" charset="-52"/>
                        </a:rPr>
                        <a:t>Квантовые вычисления, моделирование сложных молекулярных систем </a:t>
                      </a:r>
                      <a:endParaRPr lang="ru-RU" sz="1000" dirty="0">
                        <a:solidFill>
                          <a:schemeClr val="tx1"/>
                        </a:solidFill>
                        <a:latin typeface="HelveticaNeueCyr" panose="020B0604020202020204" charset="-52"/>
                      </a:endParaRPr>
                    </a:p>
                  </a:txBody>
                  <a:tcPr>
                    <a:lnL w="12700" cap="flat" cmpd="sng" algn="ctr">
                      <a:solidFill>
                        <a:srgbClr val="3C5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C5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C5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C5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81378096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ru-RU" sz="1000" b="1">
                          <a:solidFill>
                            <a:schemeClr val="tx1"/>
                          </a:solidFill>
                          <a:latin typeface="HelveticaNeueCyr" panose="020B0604020202020204" charset="-52"/>
                        </a:rPr>
                        <a:t>Скорость работы нейросетей</a:t>
                      </a:r>
                      <a:endParaRPr lang="ru-RU" sz="1000" b="1" dirty="0">
                        <a:solidFill>
                          <a:schemeClr val="tx1"/>
                        </a:solidFill>
                        <a:latin typeface="HelveticaNeueCyr" panose="020B0604020202020204" charset="-52"/>
                      </a:endParaRPr>
                    </a:p>
                  </a:txBody>
                  <a:tcPr>
                    <a:lnL w="12700" cap="flat" cmpd="sng" algn="ctr">
                      <a:solidFill>
                        <a:srgbClr val="3C5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C5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C5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C5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r>
                        <a:rPr lang="ru-RU" sz="1000" b="1">
                          <a:solidFill>
                            <a:schemeClr val="tx1"/>
                          </a:solidFill>
                          <a:latin typeface="HelveticaNeueCyr" panose="020B0604020202020204" charset="-52"/>
                        </a:rPr>
                        <a:t>Низкая</a:t>
                      </a:r>
                      <a:r>
                        <a:rPr lang="ru-RU" sz="1000">
                          <a:solidFill>
                            <a:schemeClr val="tx1"/>
                          </a:solidFill>
                          <a:latin typeface="HelveticaNeueCyr" panose="020B0604020202020204" charset="-52"/>
                        </a:rPr>
                        <a:t>, требуется дополнительное оборудование для ускорения</a:t>
                      </a:r>
                      <a:endParaRPr lang="ru-RU" sz="1000" dirty="0">
                        <a:solidFill>
                          <a:schemeClr val="tx1"/>
                        </a:solidFill>
                        <a:latin typeface="HelveticaNeueCyr" panose="020B0604020202020204" charset="-52"/>
                      </a:endParaRPr>
                    </a:p>
                  </a:txBody>
                  <a:tcPr>
                    <a:lnL w="12700" cap="flat" cmpd="sng" algn="ctr">
                      <a:solidFill>
                        <a:srgbClr val="3C5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C5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C5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C5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ru-RU" sz="1000" b="1" i="0">
                          <a:solidFill>
                            <a:schemeClr val="tx1"/>
                          </a:solidFill>
                          <a:latin typeface="HelveticaNeueCyr" panose="020B0604020202020204" charset="-52"/>
                        </a:rPr>
                        <a:t>Средняя</a:t>
                      </a:r>
                      <a:r>
                        <a:rPr lang="ru-RU" sz="1000">
                          <a:solidFill>
                            <a:schemeClr val="tx1"/>
                          </a:solidFill>
                          <a:latin typeface="HelveticaNeueCyr" panose="020B0604020202020204" charset="-52"/>
                        </a:rPr>
                        <a:t>, справляется с простыми задачами</a:t>
                      </a:r>
                      <a:endParaRPr lang="ru-RU" sz="1000" dirty="0">
                        <a:solidFill>
                          <a:schemeClr val="tx1"/>
                        </a:solidFill>
                        <a:latin typeface="HelveticaNeueCyr" panose="020B0604020202020204" charset="-52"/>
                      </a:endParaRPr>
                    </a:p>
                  </a:txBody>
                  <a:tcPr>
                    <a:lnL w="12700" cap="flat" cmpd="sng" algn="ctr">
                      <a:solidFill>
                        <a:srgbClr val="3C5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C5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C5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C5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ru-RU" sz="1000" b="1" dirty="0">
                          <a:solidFill>
                            <a:schemeClr val="tx1"/>
                          </a:solidFill>
                          <a:latin typeface="HelveticaNeueCyr" panose="020B0604020202020204" charset="-52"/>
                        </a:rPr>
                        <a:t>Высокая</a:t>
                      </a:r>
                      <a:r>
                        <a:rPr lang="ru-RU" sz="1000" dirty="0">
                          <a:solidFill>
                            <a:schemeClr val="tx1"/>
                          </a:solidFill>
                          <a:latin typeface="HelveticaNeueCyr" panose="020B0604020202020204" charset="-52"/>
                        </a:rPr>
                        <a:t>, увеличивает скорость вычисления задач ИИ </a:t>
                      </a:r>
                    </a:p>
                  </a:txBody>
                  <a:tcPr>
                    <a:lnL w="12700" cap="flat" cmpd="sng" algn="ctr">
                      <a:solidFill>
                        <a:srgbClr val="3C5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C5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C5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C5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ru-RU" sz="1000" b="1" dirty="0">
                          <a:solidFill>
                            <a:schemeClr val="tx1"/>
                          </a:solidFill>
                          <a:latin typeface="HelveticaNeueCyr" panose="020B0604020202020204" charset="-52"/>
                        </a:rPr>
                        <a:t>Высокая</a:t>
                      </a:r>
                      <a:r>
                        <a:rPr lang="ru-RU" sz="1000" dirty="0">
                          <a:solidFill>
                            <a:schemeClr val="tx1"/>
                          </a:solidFill>
                          <a:latin typeface="HelveticaNeueCyr" panose="020B0604020202020204" charset="-52"/>
                        </a:rPr>
                        <a:t>, выполняет сложные вычисления, решает задачи глубокого обучения</a:t>
                      </a:r>
                    </a:p>
                  </a:txBody>
                  <a:tcPr>
                    <a:lnL w="12700" cap="flat" cmpd="sng" algn="ctr">
                      <a:solidFill>
                        <a:srgbClr val="3C5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C5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C5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C5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r>
                        <a:rPr lang="ru-RU" sz="1000" b="1">
                          <a:solidFill>
                            <a:schemeClr val="tx1"/>
                          </a:solidFill>
                          <a:latin typeface="HelveticaNeueCyr" panose="020B0604020202020204" charset="-52"/>
                        </a:rPr>
                        <a:t>Очень высокая</a:t>
                      </a:r>
                      <a:r>
                        <a:rPr lang="ru-RU" sz="1000">
                          <a:solidFill>
                            <a:schemeClr val="tx1"/>
                          </a:solidFill>
                          <a:latin typeface="HelveticaNeueCyr" panose="020B0604020202020204" charset="-52"/>
                        </a:rPr>
                        <a:t>, быстро выполняет сложные вычисления</a:t>
                      </a:r>
                      <a:endParaRPr lang="ru-RU" sz="1000" dirty="0">
                        <a:solidFill>
                          <a:schemeClr val="tx1"/>
                        </a:solidFill>
                        <a:latin typeface="HelveticaNeueCyr" panose="020B0604020202020204" charset="-52"/>
                      </a:endParaRPr>
                    </a:p>
                  </a:txBody>
                  <a:tcPr>
                    <a:lnL w="12700" cap="flat" cmpd="sng" algn="ctr">
                      <a:solidFill>
                        <a:srgbClr val="3C5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C5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C5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C5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071764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sz="1000" b="1">
                          <a:solidFill>
                            <a:schemeClr val="bg1"/>
                          </a:solidFill>
                          <a:latin typeface="HelveticaNeueCyr" panose="020B0604020202020204" charset="-52"/>
                        </a:rPr>
                        <a:t>Реализация в ДИТ</a:t>
                      </a:r>
                      <a:endParaRPr lang="ru-RU" sz="1000" b="1" dirty="0">
                        <a:solidFill>
                          <a:schemeClr val="bg1"/>
                        </a:solidFill>
                        <a:latin typeface="HelveticaNeueCyr" panose="020B0604020202020204" charset="-52"/>
                      </a:endParaRPr>
                    </a:p>
                  </a:txBody>
                  <a:tcPr>
                    <a:lnL w="12700" cap="flat" cmpd="sng" algn="ctr">
                      <a:solidFill>
                        <a:srgbClr val="3C5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C5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C5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C5D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1000" b="1">
                          <a:solidFill>
                            <a:schemeClr val="bg1"/>
                          </a:solidFill>
                          <a:latin typeface="HelveticaNeueCyr" panose="020B0604020202020204" charset="-52"/>
                        </a:rPr>
                        <a:t>Основной процессор для всех информационных систем и сервисов</a:t>
                      </a:r>
                      <a:endParaRPr lang="ru-RU" sz="1000" b="1" dirty="0">
                        <a:solidFill>
                          <a:schemeClr val="bg1"/>
                        </a:solidFill>
                        <a:latin typeface="HelveticaNeueCyr" panose="020B0604020202020204" charset="-52"/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C5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C5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C5D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1000" b="1">
                          <a:solidFill>
                            <a:schemeClr val="bg1"/>
                          </a:solidFill>
                          <a:latin typeface="HelveticaNeueCyr" panose="020B0604020202020204" charset="-52"/>
                        </a:rPr>
                        <a:t>Закупается для нужд искусственного интеллекта, рендеринга видео</a:t>
                      </a:r>
                      <a:endParaRPr lang="ru-RU" sz="1000" b="1" dirty="0">
                        <a:solidFill>
                          <a:schemeClr val="bg1"/>
                        </a:solidFill>
                        <a:latin typeface="HelveticaNeueCyr" panose="020B0604020202020204" charset="-52"/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C5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C5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C5D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1000" b="1" i="0" u="none" strike="noStrike" cap="none" dirty="0">
                          <a:solidFill>
                            <a:schemeClr val="bg1"/>
                          </a:solidFill>
                          <a:latin typeface="HelveticaNeueCyr" panose="020B0604020202020204" charset="-52"/>
                          <a:ea typeface="+mn-ea"/>
                          <a:cs typeface="+mn-cs"/>
                          <a:sym typeface="Arial"/>
                        </a:rPr>
                        <a:t>Не используется в ДИТ</a:t>
                      </a: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C5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C5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C5D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1000" b="1" dirty="0">
                          <a:solidFill>
                            <a:schemeClr val="bg1"/>
                          </a:solidFill>
                          <a:latin typeface="HelveticaNeueCyr" panose="020B0604020202020204" charset="-52"/>
                        </a:rPr>
                        <a:t>Закупается для нужд искусственного интеллекта, рендеринга видео</a:t>
                      </a: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C5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C5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C5D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1000" b="1" dirty="0">
                          <a:solidFill>
                            <a:schemeClr val="bg1"/>
                          </a:solidFill>
                          <a:latin typeface="HelveticaNeueCyr" panose="020B0604020202020204" charset="-52"/>
                        </a:rPr>
                        <a:t>Тестируется в ДИТ</a:t>
                      </a: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C5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C5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C5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C5D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0270536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56336688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id="{CADC82BF-0C89-400C-98F4-578F57BE9F4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3677906" y="10226562"/>
            <a:ext cx="755650" cy="246221"/>
          </a:xfrm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9FD2042-F21C-415A-9EA3-4A549B5658B7}" type="slidenum">
              <a:rPr kumimoji="0" lang="ru-RU" sz="1600" b="0" i="0" u="none" strike="noStrike" kern="1200" cap="none" spc="0" normalizeH="0" baseline="0" noProof="0" smtClean="0">
                <a:ln>
                  <a:noFill/>
                </a:ln>
                <a:solidFill>
                  <a:srgbClr val="FFFFFF">
                    <a:lumMod val="75000"/>
                  </a:srgbClr>
                </a:solidFill>
                <a:effectLst/>
                <a:uLnTx/>
                <a:uFillTx/>
                <a:latin typeface="Unbounded Light" pitchFamily="2" charset="-52"/>
                <a:sym typeface="Arial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</a:t>
            </a:fld>
            <a:endParaRPr kumimoji="0" lang="ru-RU" sz="1600" b="0" i="0" u="none" strike="noStrike" kern="1200" cap="none" spc="0" normalizeH="0" baseline="0" noProof="0" dirty="0">
              <a:ln>
                <a:noFill/>
              </a:ln>
              <a:solidFill>
                <a:srgbClr val="FFFFFF">
                  <a:lumMod val="75000"/>
                </a:srgbClr>
              </a:solidFill>
              <a:effectLst/>
              <a:uLnTx/>
              <a:uFillTx/>
              <a:latin typeface="Unbounded Light" pitchFamily="2" charset="-52"/>
              <a:sym typeface="Arial"/>
            </a:endParaRPr>
          </a:p>
        </p:txBody>
      </p:sp>
      <p:sp>
        <p:nvSpPr>
          <p:cNvPr id="7" name="Google Shape;1046;p21">
            <a:extLst>
              <a:ext uri="{FF2B5EF4-FFF2-40B4-BE49-F238E27FC236}">
                <a16:creationId xmlns:a16="http://schemas.microsoft.com/office/drawing/2014/main" id="{BF704CA4-FC90-0D7F-95E2-B0F309C793A4}"/>
              </a:ext>
            </a:extLst>
          </p:cNvPr>
          <p:cNvSpPr/>
          <p:nvPr/>
        </p:nvSpPr>
        <p:spPr>
          <a:xfrm>
            <a:off x="212724" y="266700"/>
            <a:ext cx="14401634" cy="7386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2300"/>
              <a:buFont typeface="Arial"/>
              <a:buNone/>
              <a:tabLst/>
              <a:defRPr/>
            </a:pPr>
            <a:r>
              <a:rPr lang="ru-RU" sz="2400" dirty="0">
                <a:latin typeface="Unbounded Medium"/>
                <a:ea typeface="Unbounded Medium"/>
                <a:cs typeface="Unbounded Medium"/>
                <a:sym typeface="Unbounded Medium"/>
              </a:rPr>
              <a:t>Рынок полупроводниковой электроники, почему в России и мире компании ищут альтернативные способы реализации вычислений</a:t>
            </a:r>
            <a:endParaRPr kumimoji="0" lang="ru-RU" sz="2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Unbounded Medium"/>
              <a:ea typeface="Unbounded Medium"/>
              <a:cs typeface="Unbounded Medium"/>
              <a:sym typeface="Unbounded Medium"/>
            </a:endParaRPr>
          </a:p>
        </p:txBody>
      </p:sp>
      <p:sp>
        <p:nvSpPr>
          <p:cNvPr id="40" name="Прямоугольник 39">
            <a:extLst>
              <a:ext uri="{FF2B5EF4-FFF2-40B4-BE49-F238E27FC236}">
                <a16:creationId xmlns:a16="http://schemas.microsoft.com/office/drawing/2014/main" id="{891F2129-6EDF-443D-9CB0-924AA6D96381}"/>
              </a:ext>
            </a:extLst>
          </p:cNvPr>
          <p:cNvSpPr/>
          <p:nvPr/>
        </p:nvSpPr>
        <p:spPr>
          <a:xfrm>
            <a:off x="456379" y="2799885"/>
            <a:ext cx="6431874" cy="330064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ru-RU" dirty="0">
                <a:solidFill>
                  <a:srgbClr val="222222"/>
                </a:solidFill>
                <a:latin typeface="HelveticaNeueCyr" panose="02000503040000020004" pitchFamily="2" charset="-52"/>
              </a:rPr>
              <a:t>Количество транзисторов на площади кремниевой пластины увеличивается в 2 раза каждые 2 года (Закон Мура)</a:t>
            </a:r>
          </a:p>
          <a:p>
            <a:pPr marL="285750" indent="-28575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ru-RU" dirty="0">
                <a:solidFill>
                  <a:srgbClr val="222222"/>
                </a:solidFill>
                <a:latin typeface="HelveticaNeueCyr" panose="02000503040000020004" pitchFamily="2" charset="-52"/>
              </a:rPr>
              <a:t>При уменьшении размеров транзистора и повышении тактовой частоты процессора, можно кратно повышать производительность (Эмпирический закон </a:t>
            </a:r>
            <a:r>
              <a:rPr lang="ru-RU" dirty="0" err="1">
                <a:solidFill>
                  <a:srgbClr val="222222"/>
                </a:solidFill>
                <a:latin typeface="HelveticaNeueCyr" panose="02000503040000020004" pitchFamily="2" charset="-52"/>
              </a:rPr>
              <a:t>Деннарда</a:t>
            </a:r>
            <a:r>
              <a:rPr lang="ru-RU" dirty="0">
                <a:solidFill>
                  <a:srgbClr val="222222"/>
                </a:solidFill>
                <a:latin typeface="HelveticaNeueCyr" panose="02000503040000020004" pitchFamily="2" charset="-52"/>
              </a:rPr>
              <a:t>)</a:t>
            </a:r>
            <a:br>
              <a:rPr lang="ru-RU" dirty="0">
                <a:solidFill>
                  <a:srgbClr val="222222"/>
                </a:solidFill>
                <a:latin typeface="HelveticaNeueCyr" panose="02000503040000020004" pitchFamily="2" charset="-52"/>
              </a:rPr>
            </a:br>
            <a:endParaRPr lang="ru-RU" sz="700" dirty="0">
              <a:solidFill>
                <a:srgbClr val="222222"/>
              </a:solidFill>
              <a:latin typeface="HelveticaNeueCyr" panose="02000503040000020004" pitchFamily="2" charset="-52"/>
            </a:endParaRPr>
          </a:p>
          <a:p>
            <a:pPr>
              <a:lnSpc>
                <a:spcPct val="120000"/>
              </a:lnSpc>
            </a:pPr>
            <a:r>
              <a:rPr lang="ru-RU" dirty="0">
                <a:solidFill>
                  <a:srgbClr val="222222"/>
                </a:solidFill>
                <a:latin typeface="HelveticaNeueCyr" panose="02000503040000020004" pitchFamily="2" charset="-52"/>
              </a:rPr>
              <a:t>Закон Мура определил текущие размеры микропроцессоров, а закон </a:t>
            </a:r>
            <a:r>
              <a:rPr lang="ru-RU" dirty="0" err="1">
                <a:solidFill>
                  <a:srgbClr val="222222"/>
                </a:solidFill>
                <a:latin typeface="HelveticaNeueCyr" panose="02000503040000020004" pitchFamily="2" charset="-52"/>
              </a:rPr>
              <a:t>Деннарда</a:t>
            </a:r>
            <a:r>
              <a:rPr lang="ru-RU" dirty="0">
                <a:solidFill>
                  <a:srgbClr val="222222"/>
                </a:solidFill>
                <a:latin typeface="HelveticaNeueCyr" panose="02000503040000020004" pitchFamily="2" charset="-52"/>
              </a:rPr>
              <a:t> расширил его и объяснял в каком именно направлении нужно двигаться, чтобы развивать полупроводниковую индустрию</a:t>
            </a:r>
          </a:p>
          <a:p>
            <a:pPr>
              <a:lnSpc>
                <a:spcPct val="120000"/>
              </a:lnSpc>
            </a:pPr>
            <a:r>
              <a:rPr lang="ru-RU" dirty="0">
                <a:solidFill>
                  <a:srgbClr val="222222"/>
                </a:solidFill>
                <a:latin typeface="HelveticaNeueCyr" panose="02000503040000020004" pitchFamily="2" charset="-52"/>
              </a:rPr>
              <a:t>При этом с 2006 года тактовая частота массовых микропроцессоров</a:t>
            </a:r>
            <a:br>
              <a:rPr lang="ru-RU" dirty="0">
                <a:solidFill>
                  <a:srgbClr val="222222"/>
                </a:solidFill>
                <a:latin typeface="HelveticaNeueCyr" panose="02000503040000020004" pitchFamily="2" charset="-52"/>
              </a:rPr>
            </a:br>
            <a:r>
              <a:rPr lang="ru-RU" dirty="0">
                <a:solidFill>
                  <a:srgbClr val="222222"/>
                </a:solidFill>
                <a:latin typeface="HelveticaNeueCyr" panose="02000503040000020004" pitchFamily="2" charset="-52"/>
              </a:rPr>
              <a:t>не растет выше 4 ГГц, что показывает некоторое нарушение закона </a:t>
            </a:r>
            <a:r>
              <a:rPr lang="ru-RU" dirty="0" err="1">
                <a:solidFill>
                  <a:srgbClr val="222222"/>
                </a:solidFill>
                <a:latin typeface="HelveticaNeueCyr" panose="02000503040000020004" pitchFamily="2" charset="-52"/>
              </a:rPr>
              <a:t>Деннарда</a:t>
            </a:r>
            <a:r>
              <a:rPr lang="ru-RU" dirty="0">
                <a:solidFill>
                  <a:srgbClr val="222222"/>
                </a:solidFill>
                <a:latin typeface="HelveticaNeueCyr" panose="02000503040000020004" pitchFamily="2" charset="-52"/>
              </a:rPr>
              <a:t>, производители перешли на многоядерные процессоры, чтобы увеличить производительность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DDE8E662-BE0E-46A8-B8D6-E3C911B63394}"/>
              </a:ext>
            </a:extLst>
          </p:cNvPr>
          <p:cNvSpPr txBox="1"/>
          <p:nvPr/>
        </p:nvSpPr>
        <p:spPr>
          <a:xfrm>
            <a:off x="7622980" y="1987615"/>
            <a:ext cx="702393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600" b="1" dirty="0">
                <a:solidFill>
                  <a:srgbClr val="222222"/>
                </a:solidFill>
                <a:latin typeface="HelveticaNeueCyr" panose="02000503040000020004" pitchFamily="2" charset="-52"/>
              </a:rPr>
              <a:t>2020-2023 гг. на рынке наблюдался дефицит полупроводниковых чипов на фоне последствий пандемии </a:t>
            </a:r>
            <a:r>
              <a:rPr lang="en-US" sz="1600" b="1" dirty="0">
                <a:solidFill>
                  <a:srgbClr val="222222"/>
                </a:solidFill>
                <a:latin typeface="HelveticaNeueCyr" panose="02000503040000020004" pitchFamily="2" charset="-52"/>
              </a:rPr>
              <a:t>COVID-19</a:t>
            </a:r>
            <a:endParaRPr lang="ru-RU" sz="1600" b="1" dirty="0">
              <a:solidFill>
                <a:srgbClr val="222222"/>
              </a:solidFill>
              <a:latin typeface="HelveticaNeueCyr" panose="02000503040000020004" pitchFamily="2" charset="-52"/>
            </a:endParaRP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1459411F-4270-4585-BF25-778018427A04}"/>
              </a:ext>
            </a:extLst>
          </p:cNvPr>
          <p:cNvSpPr txBox="1"/>
          <p:nvPr/>
        </p:nvSpPr>
        <p:spPr>
          <a:xfrm>
            <a:off x="7744900" y="4609281"/>
            <a:ext cx="7023936" cy="35548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600" b="1" dirty="0">
                <a:solidFill>
                  <a:srgbClr val="222222"/>
                </a:solidFill>
                <a:latin typeface="HelveticaNeueCyr" panose="02000503040000020004" pitchFamily="2" charset="-52"/>
              </a:rPr>
              <a:t>Факторы, которые влияют на рынок:</a:t>
            </a:r>
            <a:br>
              <a:rPr lang="ru-RU" sz="1600" b="1" dirty="0">
                <a:solidFill>
                  <a:srgbClr val="222222"/>
                </a:solidFill>
                <a:latin typeface="HelveticaNeueCyr" panose="02000503040000020004" pitchFamily="2" charset="-52"/>
              </a:rPr>
            </a:br>
            <a:endParaRPr lang="ru-RU" sz="500" b="1" dirty="0">
              <a:solidFill>
                <a:srgbClr val="222222"/>
              </a:solidFill>
              <a:latin typeface="HelveticaNeueCyr" panose="02000503040000020004" pitchFamily="2" charset="-52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600" b="1" dirty="0">
                <a:solidFill>
                  <a:srgbClr val="222222"/>
                </a:solidFill>
                <a:latin typeface="HelveticaNeueCyr" panose="02000503040000020004" pitchFamily="2" charset="-52"/>
              </a:rPr>
              <a:t>Международная напряженность, которая может нарушать мировые цепочки поставок (более </a:t>
            </a:r>
            <a:r>
              <a:rPr lang="en-US" sz="1600" b="1" dirty="0">
                <a:solidFill>
                  <a:srgbClr val="222222"/>
                </a:solidFill>
                <a:latin typeface="HelveticaNeueCyr" panose="02000503040000020004" pitchFamily="2" charset="-52"/>
              </a:rPr>
              <a:t>50%</a:t>
            </a:r>
            <a:r>
              <a:rPr lang="ru-RU" sz="1600" b="1" dirty="0">
                <a:solidFill>
                  <a:srgbClr val="222222"/>
                </a:solidFill>
                <a:latin typeface="HelveticaNeueCyr" panose="02000503040000020004" pitchFamily="2" charset="-52"/>
              </a:rPr>
              <a:t> рынка сосредоточено</a:t>
            </a:r>
            <a:br>
              <a:rPr lang="en-US" sz="1600" b="1" dirty="0">
                <a:solidFill>
                  <a:srgbClr val="222222"/>
                </a:solidFill>
                <a:latin typeface="HelveticaNeueCyr" panose="02000503040000020004" pitchFamily="2" charset="-52"/>
              </a:rPr>
            </a:br>
            <a:r>
              <a:rPr lang="ru-RU" sz="1600" b="1" dirty="0">
                <a:solidFill>
                  <a:srgbClr val="222222"/>
                </a:solidFill>
                <a:latin typeface="HelveticaNeueCyr" panose="02000503040000020004" pitchFamily="2" charset="-52"/>
              </a:rPr>
              <a:t>в странах Азии)</a:t>
            </a:r>
            <a:br>
              <a:rPr lang="en-US" sz="1600" b="1" dirty="0">
                <a:solidFill>
                  <a:srgbClr val="222222"/>
                </a:solidFill>
                <a:latin typeface="HelveticaNeueCyr" panose="02000503040000020004" pitchFamily="2" charset="-52"/>
              </a:rPr>
            </a:br>
            <a:endParaRPr lang="ru-RU" sz="600" b="1" dirty="0">
              <a:solidFill>
                <a:srgbClr val="222222"/>
              </a:solidFill>
              <a:latin typeface="HelveticaNeueCyr" panose="02000503040000020004" pitchFamily="2" charset="-52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600" b="1" dirty="0">
                <a:solidFill>
                  <a:srgbClr val="222222"/>
                </a:solidFill>
                <a:latin typeface="HelveticaNeueCyr" panose="02000503040000020004" pitchFamily="2" charset="-52"/>
              </a:rPr>
              <a:t>Рост спроса на чипы, который определяется не только ростом спроса на высокопроизводительные вычислительные устройства, но и ростом спроса на потребительскую электронику (смартфоны, ПК и др.)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600" b="1" dirty="0">
              <a:solidFill>
                <a:srgbClr val="222222"/>
              </a:solidFill>
              <a:latin typeface="HelveticaNeueCyr" panose="02000503040000020004" pitchFamily="2" charset="-52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600" b="1" dirty="0">
                <a:solidFill>
                  <a:srgbClr val="222222"/>
                </a:solidFill>
                <a:latin typeface="HelveticaNeueCyr" panose="02000503040000020004" pitchFamily="2" charset="-52"/>
              </a:rPr>
              <a:t>Высокая стоимость развития локального производства (выражается не только в капитальных затратах</a:t>
            </a:r>
            <a:br>
              <a:rPr lang="ru-RU" sz="1600" b="1" dirty="0">
                <a:solidFill>
                  <a:srgbClr val="222222"/>
                </a:solidFill>
                <a:latin typeface="HelveticaNeueCyr" panose="02000503040000020004" pitchFamily="2" charset="-52"/>
              </a:rPr>
            </a:br>
            <a:r>
              <a:rPr lang="ru-RU" sz="1600" b="1" dirty="0">
                <a:solidFill>
                  <a:srgbClr val="222222"/>
                </a:solidFill>
                <a:latin typeface="HelveticaNeueCyr" panose="02000503040000020004" pitchFamily="2" charset="-52"/>
              </a:rPr>
              <a:t>на строительство, закупку оборудования и технологии,</a:t>
            </a:r>
            <a:br>
              <a:rPr lang="ru-RU" sz="1600" b="1" dirty="0">
                <a:solidFill>
                  <a:srgbClr val="222222"/>
                </a:solidFill>
                <a:latin typeface="HelveticaNeueCyr" panose="02000503040000020004" pitchFamily="2" charset="-52"/>
              </a:rPr>
            </a:br>
            <a:r>
              <a:rPr lang="ru-RU" sz="1600" b="1" dirty="0">
                <a:solidFill>
                  <a:srgbClr val="222222"/>
                </a:solidFill>
                <a:latin typeface="HelveticaNeueCyr" panose="02000503040000020004" pitchFamily="2" charset="-52"/>
              </a:rPr>
              <a:t>но и в качестве подготовки кадров, задействованных</a:t>
            </a:r>
            <a:br>
              <a:rPr lang="ru-RU" sz="1600" b="1" dirty="0">
                <a:solidFill>
                  <a:srgbClr val="222222"/>
                </a:solidFill>
                <a:latin typeface="HelveticaNeueCyr" panose="02000503040000020004" pitchFamily="2" charset="-52"/>
              </a:rPr>
            </a:br>
            <a:r>
              <a:rPr lang="ru-RU" sz="1600" b="1" dirty="0">
                <a:solidFill>
                  <a:srgbClr val="222222"/>
                </a:solidFill>
                <a:latin typeface="HelveticaNeueCyr" panose="02000503040000020004" pitchFamily="2" charset="-52"/>
              </a:rPr>
              <a:t>в производстве)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3FD6F73C-9B1E-46C1-B9BD-699A2788D76F}"/>
              </a:ext>
            </a:extLst>
          </p:cNvPr>
          <p:cNvSpPr txBox="1"/>
          <p:nvPr/>
        </p:nvSpPr>
        <p:spPr>
          <a:xfrm>
            <a:off x="365125" y="2322895"/>
            <a:ext cx="626828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600" b="1" dirty="0">
                <a:solidFill>
                  <a:srgbClr val="222222"/>
                </a:solidFill>
                <a:latin typeface="HelveticaNeueCyr" panose="02000503040000020004" pitchFamily="2" charset="-52"/>
              </a:rPr>
              <a:t>Ретроспективно, развитие электроники определялось двумя наблюдениями: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471D8014-1A5E-45FE-8731-FFE482F55B2A}"/>
              </a:ext>
            </a:extLst>
          </p:cNvPr>
          <p:cNvSpPr txBox="1"/>
          <p:nvPr/>
        </p:nvSpPr>
        <p:spPr>
          <a:xfrm>
            <a:off x="456378" y="6376132"/>
            <a:ext cx="6698401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600" b="1" dirty="0">
                <a:solidFill>
                  <a:srgbClr val="222222"/>
                </a:solidFill>
                <a:latin typeface="HelveticaNeueCyr" panose="02000503040000020004" pitchFamily="2" charset="-52"/>
              </a:rPr>
              <a:t>Фундаментально существуют ограничения на минимально возможные линейные размеры канала транзистора порядка</a:t>
            </a:r>
            <a:br>
              <a:rPr lang="ru-RU" sz="1600" b="1" dirty="0">
                <a:solidFill>
                  <a:srgbClr val="222222"/>
                </a:solidFill>
                <a:latin typeface="HelveticaNeueCyr" panose="02000503040000020004" pitchFamily="2" charset="-52"/>
              </a:rPr>
            </a:br>
            <a:r>
              <a:rPr lang="ru-RU" sz="1600" b="1" dirty="0">
                <a:solidFill>
                  <a:srgbClr val="222222"/>
                </a:solidFill>
                <a:latin typeface="HelveticaNeueCyr" panose="02000503040000020004" pitchFamily="2" charset="-52"/>
              </a:rPr>
              <a:t>1.5 </a:t>
            </a:r>
            <a:r>
              <a:rPr lang="ru-RU" sz="1600" b="1" dirty="0" err="1">
                <a:solidFill>
                  <a:srgbClr val="222222"/>
                </a:solidFill>
                <a:latin typeface="HelveticaNeueCyr" panose="02000503040000020004" pitchFamily="2" charset="-52"/>
              </a:rPr>
              <a:t>нм</a:t>
            </a:r>
            <a:r>
              <a:rPr lang="ru-RU" sz="1600" b="1" dirty="0">
                <a:solidFill>
                  <a:srgbClr val="222222"/>
                </a:solidFill>
                <a:latin typeface="HelveticaNeueCyr" panose="02000503040000020004" pitchFamily="2" charset="-52"/>
              </a:rPr>
              <a:t> (при меньших размерах проявляются </a:t>
            </a:r>
            <a:r>
              <a:rPr lang="ru-RU" sz="1600" b="1" dirty="0" err="1">
                <a:solidFill>
                  <a:srgbClr val="222222"/>
                </a:solidFill>
                <a:latin typeface="HelveticaNeueCyr" panose="02000503040000020004" pitchFamily="2" charset="-52"/>
              </a:rPr>
              <a:t>квантовомеханические</a:t>
            </a:r>
            <a:r>
              <a:rPr lang="ru-RU" sz="1600" b="1" dirty="0">
                <a:solidFill>
                  <a:srgbClr val="222222"/>
                </a:solidFill>
                <a:latin typeface="HelveticaNeueCyr" panose="02000503040000020004" pitchFamily="2" charset="-52"/>
              </a:rPr>
              <a:t> эффекты, устройства становятся неработоспособными)</a:t>
            </a:r>
          </a:p>
        </p:txBody>
      </p:sp>
      <p:sp>
        <p:nvSpPr>
          <p:cNvPr id="9" name="Левая фигурная скобка 8">
            <a:extLst>
              <a:ext uri="{FF2B5EF4-FFF2-40B4-BE49-F238E27FC236}">
                <a16:creationId xmlns:a16="http://schemas.microsoft.com/office/drawing/2014/main" id="{DA01A682-6FC8-4D74-9810-EF01CEFCA8B1}"/>
              </a:ext>
            </a:extLst>
          </p:cNvPr>
          <p:cNvSpPr/>
          <p:nvPr/>
        </p:nvSpPr>
        <p:spPr>
          <a:xfrm rot="16200000">
            <a:off x="7261226" y="1267512"/>
            <a:ext cx="537409" cy="14329611"/>
          </a:xfrm>
          <a:prstGeom prst="leftBrace">
            <a:avLst>
              <a:gd name="adj1" fmla="val 120273"/>
              <a:gd name="adj2" fmla="val 50000"/>
            </a:avLst>
          </a:prstGeom>
          <a:ln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132CAC8-C911-49E0-93B4-F9672BE7367C}"/>
              </a:ext>
            </a:extLst>
          </p:cNvPr>
          <p:cNvSpPr txBox="1"/>
          <p:nvPr/>
        </p:nvSpPr>
        <p:spPr>
          <a:xfrm>
            <a:off x="365125" y="9470219"/>
            <a:ext cx="1424923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600" dirty="0">
                <a:latin typeface="HelveticaNeueCyr" panose="02000503040000020004" pitchFamily="2" charset="-52"/>
              </a:rPr>
              <a:t>Поиск новых технологий (например квантовые вычисления, оптические интегральные схемы, </a:t>
            </a:r>
            <a:r>
              <a:rPr lang="ru-RU" sz="1600" dirty="0" err="1">
                <a:latin typeface="HelveticaNeueCyr" panose="02000503040000020004" pitchFamily="2" charset="-52"/>
              </a:rPr>
              <a:t>спинтроника</a:t>
            </a:r>
            <a:r>
              <a:rPr lang="ru-RU" sz="1600" dirty="0">
                <a:latin typeface="HelveticaNeueCyr" panose="02000503040000020004" pitchFamily="2" charset="-52"/>
              </a:rPr>
              <a:t> и др.), и новых программно-определяемых решений для вычислений (виртуализация вычислительных мощностей, вычисления на конечных устройствах пользователей, </a:t>
            </a:r>
            <a:r>
              <a:rPr lang="ru-RU" sz="1600" dirty="0" err="1">
                <a:latin typeface="HelveticaNeueCyr" panose="02000503040000020004" pitchFamily="2" charset="-52"/>
              </a:rPr>
              <a:t>дезагрегация</a:t>
            </a:r>
            <a:r>
              <a:rPr lang="ru-RU" sz="1600" dirty="0">
                <a:latin typeface="HelveticaNeueCyr" panose="02000503040000020004" pitchFamily="2" charset="-52"/>
              </a:rPr>
              <a:t> памяти)</a:t>
            </a:r>
          </a:p>
        </p:txBody>
      </p:sp>
      <p:pic>
        <p:nvPicPr>
          <p:cNvPr id="12" name="Рисунок 11">
            <a:extLst>
              <a:ext uri="{FF2B5EF4-FFF2-40B4-BE49-F238E27FC236}">
                <a16:creationId xmlns:a16="http://schemas.microsoft.com/office/drawing/2014/main" id="{6A0FF2B0-FE97-4BC5-97AA-D47BDEDA167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556167" y="2009656"/>
            <a:ext cx="5725324" cy="3238952"/>
          </a:xfrm>
          <a:prstGeom prst="rect">
            <a:avLst/>
          </a:prstGeom>
        </p:spPr>
      </p:pic>
      <p:sp>
        <p:nvSpPr>
          <p:cNvPr id="24" name="TextBox 23">
            <a:extLst>
              <a:ext uri="{FF2B5EF4-FFF2-40B4-BE49-F238E27FC236}">
                <a16:creationId xmlns:a16="http://schemas.microsoft.com/office/drawing/2014/main" id="{0C8F06F5-B464-4D38-8091-6CC9D4A83494}"/>
              </a:ext>
            </a:extLst>
          </p:cNvPr>
          <p:cNvSpPr txBox="1"/>
          <p:nvPr/>
        </p:nvSpPr>
        <p:spPr>
          <a:xfrm>
            <a:off x="7622979" y="2621831"/>
            <a:ext cx="702393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b="1" dirty="0">
                <a:solidFill>
                  <a:srgbClr val="222222"/>
                </a:solidFill>
                <a:latin typeface="Unbounded SemiBold" pitchFamily="2" charset="-52"/>
              </a:rPr>
              <a:t>Сроки поставок чипов 2017-2022 гг., недели</a:t>
            </a:r>
          </a:p>
        </p:txBody>
      </p:sp>
      <p:sp>
        <p:nvSpPr>
          <p:cNvPr id="14" name="Прямоугольник: скругленные углы 13">
            <a:extLst>
              <a:ext uri="{FF2B5EF4-FFF2-40B4-BE49-F238E27FC236}">
                <a16:creationId xmlns:a16="http://schemas.microsoft.com/office/drawing/2014/main" id="{D8EF907B-7858-4A4D-A696-59C73F19286F}"/>
              </a:ext>
            </a:extLst>
          </p:cNvPr>
          <p:cNvSpPr/>
          <p:nvPr/>
        </p:nvSpPr>
        <p:spPr>
          <a:xfrm>
            <a:off x="212725" y="1129177"/>
            <a:ext cx="7023936" cy="6999591"/>
          </a:xfrm>
          <a:prstGeom prst="roundRect">
            <a:avLst>
              <a:gd name="adj" fmla="val 5601"/>
            </a:avLst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1032" name="Picture 8">
            <a:extLst>
              <a:ext uri="{FF2B5EF4-FFF2-40B4-BE49-F238E27FC236}">
                <a16:creationId xmlns:a16="http://schemas.microsoft.com/office/drawing/2014/main" id="{06BA755A-57EE-4ADB-A137-B625DAD3A06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62887" y="2898589"/>
            <a:ext cx="5837399" cy="172301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8" name="Прямоугольник: скругленные углы 27">
            <a:extLst>
              <a:ext uri="{FF2B5EF4-FFF2-40B4-BE49-F238E27FC236}">
                <a16:creationId xmlns:a16="http://schemas.microsoft.com/office/drawing/2014/main" id="{D4363672-D52E-4707-9D6C-6814C29DA744}"/>
              </a:ext>
            </a:extLst>
          </p:cNvPr>
          <p:cNvSpPr/>
          <p:nvPr/>
        </p:nvSpPr>
        <p:spPr>
          <a:xfrm>
            <a:off x="7409618" y="1129177"/>
            <a:ext cx="7204739" cy="6999591"/>
          </a:xfrm>
          <a:prstGeom prst="roundRect">
            <a:avLst>
              <a:gd name="adj" fmla="val 5166"/>
            </a:avLst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A73983AA-882B-496C-8DB2-534C8E122625}"/>
              </a:ext>
            </a:extLst>
          </p:cNvPr>
          <p:cNvSpPr txBox="1"/>
          <p:nvPr/>
        </p:nvSpPr>
        <p:spPr>
          <a:xfrm>
            <a:off x="365125" y="1351932"/>
            <a:ext cx="571983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2400" dirty="0">
                <a:solidFill>
                  <a:srgbClr val="002060"/>
                </a:solidFill>
                <a:latin typeface="Unbounded SemiBold" pitchFamily="2" charset="-52"/>
              </a:rPr>
              <a:t>1. Технические ограничения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0BC1D3F5-452F-49AF-92B8-9199C179AACB}"/>
              </a:ext>
            </a:extLst>
          </p:cNvPr>
          <p:cNvSpPr txBox="1"/>
          <p:nvPr/>
        </p:nvSpPr>
        <p:spPr>
          <a:xfrm>
            <a:off x="7529930" y="1372553"/>
            <a:ext cx="535435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2400" dirty="0">
                <a:solidFill>
                  <a:srgbClr val="002060"/>
                </a:solidFill>
                <a:latin typeface="Unbounded SemiBold" pitchFamily="2" charset="-52"/>
              </a:rPr>
              <a:t>2. Рыночные ограничения</a:t>
            </a:r>
          </a:p>
        </p:txBody>
      </p:sp>
      <p:sp>
        <p:nvSpPr>
          <p:cNvPr id="31" name="Прямоугольник: скругленные углы 30">
            <a:extLst>
              <a:ext uri="{FF2B5EF4-FFF2-40B4-BE49-F238E27FC236}">
                <a16:creationId xmlns:a16="http://schemas.microsoft.com/office/drawing/2014/main" id="{9F351316-01E4-4E6E-A42A-FC0FFC40F796}"/>
              </a:ext>
            </a:extLst>
          </p:cNvPr>
          <p:cNvSpPr/>
          <p:nvPr/>
        </p:nvSpPr>
        <p:spPr>
          <a:xfrm flipV="1">
            <a:off x="203208" y="8879970"/>
            <a:ext cx="14411149" cy="1346591"/>
          </a:xfrm>
          <a:prstGeom prst="roundRect">
            <a:avLst>
              <a:gd name="adj" fmla="val 26669"/>
            </a:avLst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FD8EC98D-317A-4B36-8084-AAC43D676FFC}"/>
              </a:ext>
            </a:extLst>
          </p:cNvPr>
          <p:cNvSpPr txBox="1"/>
          <p:nvPr/>
        </p:nvSpPr>
        <p:spPr>
          <a:xfrm>
            <a:off x="365125" y="9067819"/>
            <a:ext cx="285366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2400" dirty="0">
                <a:solidFill>
                  <a:srgbClr val="002060"/>
                </a:solidFill>
                <a:latin typeface="Unbounded SemiBold" pitchFamily="2" charset="-52"/>
              </a:rPr>
              <a:t>3. Следствие</a:t>
            </a:r>
          </a:p>
        </p:txBody>
      </p:sp>
      <p:sp>
        <p:nvSpPr>
          <p:cNvPr id="21" name="Прямоугольник 20">
            <a:extLst>
              <a:ext uri="{FF2B5EF4-FFF2-40B4-BE49-F238E27FC236}">
                <a16:creationId xmlns:a16="http://schemas.microsoft.com/office/drawing/2014/main" id="{B462F29B-E3A7-4564-A976-33306ECE24D9}"/>
              </a:ext>
            </a:extLst>
          </p:cNvPr>
          <p:cNvSpPr/>
          <p:nvPr/>
        </p:nvSpPr>
        <p:spPr>
          <a:xfrm>
            <a:off x="7558087" y="3351906"/>
            <a:ext cx="7102793" cy="687074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>
                <a:solidFill>
                  <a:schemeClr val="tx1"/>
                </a:solidFill>
              </a:rPr>
              <a:t>График нужно перерисовать, оригинал на полях</a:t>
            </a:r>
          </a:p>
        </p:txBody>
      </p:sp>
    </p:spTree>
    <p:extLst>
      <p:ext uri="{BB962C8B-B14F-4D97-AF65-F5344CB8AC3E}">
        <p14:creationId xmlns:p14="http://schemas.microsoft.com/office/powerpoint/2010/main" val="421456410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id="{CADC82BF-0C89-400C-98F4-578F57BE9F4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9FD2042-F21C-415A-9EA3-4A549B5658B7}" type="slidenum">
              <a:rPr kumimoji="0" lang="ru-RU" sz="1600" b="0" i="0" u="none" strike="noStrike" kern="1200" cap="none" spc="0" normalizeH="0" baseline="0" noProof="0" smtClean="0">
                <a:ln>
                  <a:noFill/>
                </a:ln>
                <a:solidFill>
                  <a:srgbClr val="FFFFFF">
                    <a:lumMod val="75000"/>
                  </a:srgbClr>
                </a:solidFill>
                <a:effectLst/>
                <a:uLnTx/>
                <a:uFillTx/>
                <a:latin typeface="Unbounded Light" pitchFamily="2" charset="-52"/>
                <a:sym typeface="Arial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9</a:t>
            </a:fld>
            <a:endParaRPr kumimoji="0" lang="ru-RU" sz="1600" b="0" i="0" u="none" strike="noStrike" kern="1200" cap="none" spc="0" normalizeH="0" baseline="0" noProof="0" dirty="0">
              <a:ln>
                <a:noFill/>
              </a:ln>
              <a:solidFill>
                <a:srgbClr val="FFFFFF">
                  <a:lumMod val="75000"/>
                </a:srgbClr>
              </a:solidFill>
              <a:effectLst/>
              <a:uLnTx/>
              <a:uFillTx/>
              <a:latin typeface="Unbounded Light" pitchFamily="2" charset="-52"/>
              <a:sym typeface="Arial"/>
            </a:endParaRPr>
          </a:p>
        </p:txBody>
      </p:sp>
      <p:sp>
        <p:nvSpPr>
          <p:cNvPr id="7" name="Google Shape;1046;p21">
            <a:extLst>
              <a:ext uri="{FF2B5EF4-FFF2-40B4-BE49-F238E27FC236}">
                <a16:creationId xmlns:a16="http://schemas.microsoft.com/office/drawing/2014/main" id="{BF704CA4-FC90-0D7F-95E2-B0F309C793A4}"/>
              </a:ext>
            </a:extLst>
          </p:cNvPr>
          <p:cNvSpPr/>
          <p:nvPr/>
        </p:nvSpPr>
        <p:spPr>
          <a:xfrm>
            <a:off x="212724" y="266700"/>
            <a:ext cx="11991975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2300"/>
              <a:buFont typeface="Arial"/>
              <a:buNone/>
              <a:tabLst/>
              <a:defRPr/>
            </a:pPr>
            <a:r>
              <a:rPr kumimoji="0" lang="ru-RU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Unbounded Medium"/>
                <a:ea typeface="Unbounded Medium"/>
                <a:cs typeface="Unbounded Medium"/>
                <a:sym typeface="Unbounded Medium"/>
              </a:rPr>
              <a:t>Центральный процессор</a:t>
            </a:r>
          </a:p>
        </p:txBody>
      </p:sp>
      <p:sp>
        <p:nvSpPr>
          <p:cNvPr id="5" name="Прямоугольник: скругленные углы 4">
            <a:extLst>
              <a:ext uri="{FF2B5EF4-FFF2-40B4-BE49-F238E27FC236}">
                <a16:creationId xmlns:a16="http://schemas.microsoft.com/office/drawing/2014/main" id="{8BB88A57-BEF0-47DB-9A7B-8EE282669915}"/>
              </a:ext>
            </a:extLst>
          </p:cNvPr>
          <p:cNvSpPr/>
          <p:nvPr/>
        </p:nvSpPr>
        <p:spPr>
          <a:xfrm>
            <a:off x="447671" y="899061"/>
            <a:ext cx="14220832" cy="853540"/>
          </a:xfrm>
          <a:prstGeom prst="roundRect">
            <a:avLst>
              <a:gd name="adj" fmla="val 9260"/>
            </a:avLst>
          </a:prstGeom>
          <a:solidFill>
            <a:srgbClr val="D8DFFF">
              <a:alpha val="4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ru-RU" sz="1800" kern="1200" dirty="0">
                <a:solidFill>
                  <a:schemeClr val="tx1"/>
                </a:solidFill>
                <a:latin typeface="HelveticaNeueCyr" panose="020B0604020202020204" charset="-52"/>
                <a:cs typeface="Wix Madefor Display" panose="020B0503020203020203" pitchFamily="34" charset="-52"/>
              </a:rPr>
              <a:t>электронный блок или интегральная схема, исполняющая машинные инструкции (код программ), главная часть аппаратного обеспечения компьютера </a:t>
            </a:r>
          </a:p>
        </p:txBody>
      </p:sp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30352715-4AFC-4C3A-8114-BCD41DB38F63}"/>
              </a:ext>
            </a:extLst>
          </p:cNvPr>
          <p:cNvSpPr/>
          <p:nvPr/>
        </p:nvSpPr>
        <p:spPr>
          <a:xfrm>
            <a:off x="443796" y="1890935"/>
            <a:ext cx="4835529" cy="427809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1600" b="1" dirty="0">
                <a:solidFill>
                  <a:srgbClr val="222222"/>
                </a:solidFill>
                <a:latin typeface="Unbounded SemiBold" pitchFamily="2" charset="-52"/>
              </a:rPr>
              <a:t>Особенности:</a:t>
            </a:r>
            <a:endParaRPr lang="ru-RU" sz="1600" dirty="0">
              <a:solidFill>
                <a:schemeClr val="tx1"/>
              </a:solidFill>
              <a:latin typeface="Unbounded SemiBold" pitchFamily="2" charset="-52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600" dirty="0">
                <a:latin typeface="HelveticaNeueCyr" panose="020B0604020202020204" charset="-52"/>
              </a:rPr>
              <a:t>Универсальность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600" dirty="0">
                <a:latin typeface="HelveticaNeueCyr" panose="020B0604020202020204" charset="-52"/>
              </a:rPr>
              <a:t>Последовательная обработка данных</a:t>
            </a:r>
          </a:p>
          <a:p>
            <a:endParaRPr lang="ru-RU" sz="1600" b="1" dirty="0">
              <a:solidFill>
                <a:srgbClr val="222222"/>
              </a:solidFill>
              <a:latin typeface="Unbounded SemiBold" pitchFamily="2" charset="-52"/>
            </a:endParaRPr>
          </a:p>
          <a:p>
            <a:r>
              <a:rPr lang="ru-RU" sz="1600" b="1" dirty="0">
                <a:solidFill>
                  <a:srgbClr val="222222"/>
                </a:solidFill>
                <a:latin typeface="Unbounded SemiBold" pitchFamily="2" charset="-52"/>
              </a:rPr>
              <a:t>Сценарии применения: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600" dirty="0">
                <a:latin typeface="HelveticaNeueCyr" panose="020B0604020202020204" charset="-52"/>
              </a:rPr>
              <a:t>Повседневные вычислительные задачи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600" dirty="0">
                <a:latin typeface="HelveticaNeueCyr" panose="020B0604020202020204" charset="-52"/>
              </a:rPr>
              <a:t>Разработка и компиляция ПО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600" dirty="0">
                <a:latin typeface="HelveticaNeueCyr" panose="020B0604020202020204" charset="-52"/>
              </a:rPr>
              <a:t>Обработка графики и использование для игр</a:t>
            </a:r>
          </a:p>
          <a:p>
            <a:endParaRPr lang="ru-RU" sz="1600" dirty="0">
              <a:latin typeface="HelveticaNeueCyr" panose="020B0604020202020204" charset="-52"/>
            </a:endParaRPr>
          </a:p>
          <a:p>
            <a:r>
              <a:rPr lang="ru-RU" sz="1600" b="1" dirty="0">
                <a:solidFill>
                  <a:srgbClr val="222222"/>
                </a:solidFill>
                <a:latin typeface="Unbounded SemiBold" pitchFamily="2" charset="-52"/>
              </a:rPr>
              <a:t>Применение в ИИ:</a:t>
            </a:r>
            <a:endParaRPr lang="ru-RU" sz="1600" dirty="0">
              <a:latin typeface="Unbounded SemiBold" pitchFamily="2" charset="-52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600" dirty="0">
                <a:solidFill>
                  <a:schemeClr val="tx1"/>
                </a:solidFill>
                <a:latin typeface="HelveticaNeueCyr" panose="020B0604020202020204" charset="-52"/>
              </a:rPr>
              <a:t>Небольшие модели могут быть напрямую обучены или точно настроены на </a:t>
            </a:r>
            <a:r>
              <a:rPr lang="ru-RU" sz="1600" dirty="0">
                <a:latin typeface="HelveticaNeueCyr" panose="02000503040000020004" pitchFamily="2" charset="-52"/>
              </a:rPr>
              <a:t>ЦП (</a:t>
            </a:r>
            <a:r>
              <a:rPr lang="en-US" sz="1600" dirty="0">
                <a:latin typeface="HelveticaNeueCyr" panose="02000503040000020004" pitchFamily="2" charset="-52"/>
              </a:rPr>
              <a:t>CPU</a:t>
            </a:r>
            <a:r>
              <a:rPr lang="ru-RU" sz="1600" dirty="0">
                <a:latin typeface="HelveticaNeueCyr" panose="02000503040000020004" pitchFamily="2" charset="-52"/>
              </a:rPr>
              <a:t>)</a:t>
            </a:r>
            <a:r>
              <a:rPr lang="en-US" sz="1600" dirty="0">
                <a:latin typeface="HelveticaNeueCyr" panose="02000503040000020004" pitchFamily="2" charset="-52"/>
              </a:rPr>
              <a:t>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600" dirty="0">
                <a:latin typeface="HelveticaNeueCyr" panose="02000503040000020004" pitchFamily="2" charset="-52"/>
              </a:rPr>
              <a:t>ЦП (</a:t>
            </a:r>
            <a:r>
              <a:rPr lang="en-US" sz="1600" dirty="0">
                <a:latin typeface="HelveticaNeueCyr" panose="02000503040000020004" pitchFamily="2" charset="-52"/>
              </a:rPr>
              <a:t>CPU</a:t>
            </a:r>
            <a:r>
              <a:rPr lang="ru-RU" sz="1600" dirty="0">
                <a:latin typeface="HelveticaNeueCyr" panose="02000503040000020004" pitchFamily="2" charset="-52"/>
              </a:rPr>
              <a:t>)</a:t>
            </a:r>
            <a:r>
              <a:rPr lang="en-US" sz="1600" dirty="0">
                <a:latin typeface="HelveticaNeueCyr" panose="02000503040000020004" pitchFamily="2" charset="-52"/>
              </a:rPr>
              <a:t> </a:t>
            </a:r>
            <a:r>
              <a:rPr lang="ru-RU" sz="1600" dirty="0">
                <a:solidFill>
                  <a:schemeClr val="tx1"/>
                </a:solidFill>
                <a:latin typeface="HelveticaNeueCyr" panose="020B0604020202020204" charset="-52"/>
              </a:rPr>
              <a:t>необходим в более крупных моделях как средство координации обучения на ГП</a:t>
            </a:r>
            <a:r>
              <a:rPr lang="en-US" sz="1600" dirty="0">
                <a:solidFill>
                  <a:schemeClr val="tx1"/>
                </a:solidFill>
                <a:latin typeface="HelveticaNeueCyr" panose="020B0604020202020204" charset="-52"/>
              </a:rPr>
              <a:t> </a:t>
            </a:r>
            <a:r>
              <a:rPr lang="en-US" sz="1600" kern="1200" dirty="0">
                <a:solidFill>
                  <a:schemeClr val="tx1">
                    <a:lumMod val="65000"/>
                    <a:lumOff val="35000"/>
                  </a:schemeClr>
                </a:solidFill>
                <a:latin typeface="HelveticaNeueCyr" panose="02000503040000020004" pitchFamily="2" charset="-52"/>
              </a:rPr>
              <a:t>(</a:t>
            </a:r>
            <a:r>
              <a:rPr lang="en-US" sz="1600" dirty="0">
                <a:solidFill>
                  <a:schemeClr val="tx1"/>
                </a:solidFill>
                <a:latin typeface="HelveticaNeueCyr" panose="020B0604020202020204" charset="-52"/>
              </a:rPr>
              <a:t>GPU)</a:t>
            </a:r>
            <a:r>
              <a:rPr lang="ru-RU" sz="1600" dirty="0">
                <a:solidFill>
                  <a:schemeClr val="tx1"/>
                </a:solidFill>
                <a:latin typeface="HelveticaNeueCyr" panose="020B0604020202020204" charset="-52"/>
              </a:rPr>
              <a:t> или ТП</a:t>
            </a:r>
            <a:r>
              <a:rPr lang="en-US" sz="1600" dirty="0">
                <a:solidFill>
                  <a:schemeClr val="tx1"/>
                </a:solidFill>
                <a:latin typeface="HelveticaNeueCyr" panose="020B0604020202020204" charset="-52"/>
              </a:rPr>
              <a:t> (TPU) </a:t>
            </a:r>
            <a:endParaRPr lang="ru-RU" sz="1600" dirty="0">
              <a:solidFill>
                <a:schemeClr val="tx1"/>
              </a:solidFill>
              <a:latin typeface="HelveticaNeueCyr" panose="020B0604020202020204" charset="-52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600" dirty="0">
                <a:solidFill>
                  <a:schemeClr val="tx1"/>
                </a:solidFill>
                <a:latin typeface="HelveticaNeueCyr" panose="020B0604020202020204" charset="-52"/>
              </a:rPr>
              <a:t>Иногда используются для генерации</a:t>
            </a:r>
            <a:br>
              <a:rPr lang="ru-RU" sz="1600" dirty="0">
                <a:solidFill>
                  <a:schemeClr val="tx1"/>
                </a:solidFill>
                <a:latin typeface="HelveticaNeueCyr" panose="020B0604020202020204" charset="-52"/>
              </a:rPr>
            </a:br>
            <a:r>
              <a:rPr lang="ru-RU" sz="1600" dirty="0">
                <a:solidFill>
                  <a:schemeClr val="tx1"/>
                </a:solidFill>
                <a:latin typeface="HelveticaNeueCyr" panose="020B0604020202020204" charset="-52"/>
              </a:rPr>
              <a:t>или обработки данных обучения</a:t>
            </a:r>
          </a:p>
        </p:txBody>
      </p:sp>
      <p:sp>
        <p:nvSpPr>
          <p:cNvPr id="9" name="Прямоугольник: скругленные углы 8">
            <a:extLst>
              <a:ext uri="{FF2B5EF4-FFF2-40B4-BE49-F238E27FC236}">
                <a16:creationId xmlns:a16="http://schemas.microsoft.com/office/drawing/2014/main" id="{3B590C0C-84D6-46B6-8FDB-8D6186D1E846}"/>
              </a:ext>
            </a:extLst>
          </p:cNvPr>
          <p:cNvSpPr/>
          <p:nvPr/>
        </p:nvSpPr>
        <p:spPr>
          <a:xfrm>
            <a:off x="453668" y="6449197"/>
            <a:ext cx="4825657" cy="558704"/>
          </a:xfrm>
          <a:prstGeom prst="roundRect">
            <a:avLst>
              <a:gd name="adj" fmla="val 9260"/>
            </a:avLst>
          </a:prstGeom>
          <a:solidFill>
            <a:srgbClr val="D8DFFF">
              <a:alpha val="4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ru-RU" sz="1600" b="1" dirty="0">
                <a:solidFill>
                  <a:srgbClr val="222222"/>
                </a:solidFill>
                <a:latin typeface="Unbounded SemiBold" pitchFamily="2" charset="-52"/>
              </a:rPr>
              <a:t>Иностранные производители</a:t>
            </a:r>
            <a:endParaRPr lang="ru-RU" sz="1600" dirty="0">
              <a:latin typeface="Unbounded SemiBold" pitchFamily="2" charset="-52"/>
            </a:endParaRPr>
          </a:p>
        </p:txBody>
      </p:sp>
      <p:pic>
        <p:nvPicPr>
          <p:cNvPr id="13" name="Рисунок 12">
            <a:extLst>
              <a:ext uri="{FF2B5EF4-FFF2-40B4-BE49-F238E27FC236}">
                <a16:creationId xmlns:a16="http://schemas.microsoft.com/office/drawing/2014/main" id="{06817EAD-B5C6-4855-83CB-303E0DB9934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5537" y="7213228"/>
            <a:ext cx="1269886" cy="450618"/>
          </a:xfrm>
          <a:prstGeom prst="rect">
            <a:avLst/>
          </a:prstGeom>
        </p:spPr>
      </p:pic>
      <p:pic>
        <p:nvPicPr>
          <p:cNvPr id="15" name="Рисунок 14">
            <a:extLst>
              <a:ext uri="{FF2B5EF4-FFF2-40B4-BE49-F238E27FC236}">
                <a16:creationId xmlns:a16="http://schemas.microsoft.com/office/drawing/2014/main" id="{3E36266E-DE38-43BE-8085-6DF2BD0792FF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t="29224" b="27953"/>
          <a:stretch/>
        </p:blipFill>
        <p:spPr>
          <a:xfrm>
            <a:off x="453667" y="7963276"/>
            <a:ext cx="1573839" cy="450618"/>
          </a:xfrm>
          <a:prstGeom prst="rect">
            <a:avLst/>
          </a:prstGeom>
        </p:spPr>
      </p:pic>
      <p:pic>
        <p:nvPicPr>
          <p:cNvPr id="17" name="Рисунок 16">
            <a:extLst>
              <a:ext uri="{FF2B5EF4-FFF2-40B4-BE49-F238E27FC236}">
                <a16:creationId xmlns:a16="http://schemas.microsoft.com/office/drawing/2014/main" id="{959B0EEA-B3BC-481F-AA47-CBE0DD21DD0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759819" y="7213228"/>
            <a:ext cx="1269887" cy="450618"/>
          </a:xfrm>
          <a:prstGeom prst="rect">
            <a:avLst/>
          </a:prstGeom>
        </p:spPr>
      </p:pic>
      <p:pic>
        <p:nvPicPr>
          <p:cNvPr id="19" name="Рисунок 18">
            <a:extLst>
              <a:ext uri="{FF2B5EF4-FFF2-40B4-BE49-F238E27FC236}">
                <a16:creationId xmlns:a16="http://schemas.microsoft.com/office/drawing/2014/main" id="{91A67274-0BFD-470D-9BB0-B660EB4D093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533933" y="7427888"/>
            <a:ext cx="655254" cy="761078"/>
          </a:xfrm>
          <a:prstGeom prst="rect">
            <a:avLst/>
          </a:prstGeom>
        </p:spPr>
      </p:pic>
      <p:pic>
        <p:nvPicPr>
          <p:cNvPr id="24" name="Рисунок 23">
            <a:extLst>
              <a:ext uri="{FF2B5EF4-FFF2-40B4-BE49-F238E27FC236}">
                <a16:creationId xmlns:a16="http://schemas.microsoft.com/office/drawing/2014/main" id="{ACFA170D-A356-4F57-A3CC-50D7DF7354F3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759818" y="7988670"/>
            <a:ext cx="1269887" cy="339435"/>
          </a:xfrm>
          <a:prstGeom prst="rect">
            <a:avLst/>
          </a:prstGeom>
        </p:spPr>
      </p:pic>
      <p:pic>
        <p:nvPicPr>
          <p:cNvPr id="25" name="Рисунок 24">
            <a:extLst>
              <a:ext uri="{FF2B5EF4-FFF2-40B4-BE49-F238E27FC236}">
                <a16:creationId xmlns:a16="http://schemas.microsoft.com/office/drawing/2014/main" id="{AF059995-BE00-4A1F-B82F-F66953B68B36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53667" y="9508636"/>
            <a:ext cx="2032257" cy="555114"/>
          </a:xfrm>
          <a:prstGeom prst="rect">
            <a:avLst/>
          </a:prstGeom>
        </p:spPr>
      </p:pic>
      <p:sp>
        <p:nvSpPr>
          <p:cNvPr id="26" name="Прямоугольник: скругленные углы 25">
            <a:extLst>
              <a:ext uri="{FF2B5EF4-FFF2-40B4-BE49-F238E27FC236}">
                <a16:creationId xmlns:a16="http://schemas.microsoft.com/office/drawing/2014/main" id="{43DA0815-F646-4CE9-ADB2-C171958FA3C8}"/>
              </a:ext>
            </a:extLst>
          </p:cNvPr>
          <p:cNvSpPr/>
          <p:nvPr/>
        </p:nvSpPr>
        <p:spPr>
          <a:xfrm>
            <a:off x="443796" y="8743546"/>
            <a:ext cx="4835529" cy="558704"/>
          </a:xfrm>
          <a:prstGeom prst="roundRect">
            <a:avLst>
              <a:gd name="adj" fmla="val 9260"/>
            </a:avLst>
          </a:prstGeom>
          <a:solidFill>
            <a:srgbClr val="D8DFFF">
              <a:alpha val="4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ru-RU" sz="1600" b="1" dirty="0">
                <a:solidFill>
                  <a:srgbClr val="222222"/>
                </a:solidFill>
                <a:latin typeface="Unbounded SemiBold" pitchFamily="2" charset="-52"/>
              </a:rPr>
              <a:t>Российские производители</a:t>
            </a:r>
            <a:endParaRPr lang="ru-RU" sz="1600" dirty="0">
              <a:latin typeface="Unbounded SemiBold" pitchFamily="2" charset="-52"/>
            </a:endParaRPr>
          </a:p>
        </p:txBody>
      </p:sp>
      <p:pic>
        <p:nvPicPr>
          <p:cNvPr id="28" name="Рисунок 27">
            <a:extLst>
              <a:ext uri="{FF2B5EF4-FFF2-40B4-BE49-F238E27FC236}">
                <a16:creationId xmlns:a16="http://schemas.microsoft.com/office/drawing/2014/main" id="{43C0F638-65A9-44E6-BBFE-7974E838D05B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363864" y="9456220"/>
            <a:ext cx="1915461" cy="607530"/>
          </a:xfrm>
          <a:prstGeom prst="rect">
            <a:avLst/>
          </a:prstGeom>
        </p:spPr>
      </p:pic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B35AEC6C-B462-4C9B-9615-8065AE036D14}"/>
              </a:ext>
            </a:extLst>
          </p:cNvPr>
          <p:cNvSpPr/>
          <p:nvPr/>
        </p:nvSpPr>
        <p:spPr>
          <a:xfrm>
            <a:off x="5941924" y="7670428"/>
            <a:ext cx="3028834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1600" dirty="0">
                <a:solidFill>
                  <a:schemeClr val="tx1"/>
                </a:solidFill>
                <a:latin typeface="HelveticaNeueCyr" panose="020B0604020202020204" charset="-52"/>
              </a:rPr>
              <a:t>Основной процессор для всех информационных систем</a:t>
            </a:r>
            <a:br>
              <a:rPr lang="ru-RU" sz="1600" dirty="0">
                <a:solidFill>
                  <a:schemeClr val="tx1"/>
                </a:solidFill>
                <a:latin typeface="HelveticaNeueCyr" panose="020B0604020202020204" charset="-52"/>
              </a:rPr>
            </a:br>
            <a:r>
              <a:rPr lang="ru-RU" sz="1600" dirty="0">
                <a:solidFill>
                  <a:schemeClr val="tx1"/>
                </a:solidFill>
                <a:latin typeface="HelveticaNeueCyr" panose="020B0604020202020204" charset="-52"/>
              </a:rPr>
              <a:t>и сервисов</a:t>
            </a:r>
          </a:p>
        </p:txBody>
      </p:sp>
      <p:sp>
        <p:nvSpPr>
          <p:cNvPr id="30" name="Прямоугольник: скругленные углы 29">
            <a:extLst>
              <a:ext uri="{FF2B5EF4-FFF2-40B4-BE49-F238E27FC236}">
                <a16:creationId xmlns:a16="http://schemas.microsoft.com/office/drawing/2014/main" id="{4B97EA5F-8436-430D-82BD-BAC45108CD94}"/>
              </a:ext>
            </a:extLst>
          </p:cNvPr>
          <p:cNvSpPr/>
          <p:nvPr/>
        </p:nvSpPr>
        <p:spPr>
          <a:xfrm>
            <a:off x="5941924" y="6903631"/>
            <a:ext cx="3028834" cy="558704"/>
          </a:xfrm>
          <a:prstGeom prst="roundRect">
            <a:avLst>
              <a:gd name="adj" fmla="val 9260"/>
            </a:avLst>
          </a:prstGeom>
          <a:solidFill>
            <a:srgbClr val="0F24E7">
              <a:alpha val="4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ru-RU" sz="1600" b="1" dirty="0">
                <a:solidFill>
                  <a:srgbClr val="222222"/>
                </a:solidFill>
                <a:latin typeface="Unbounded SemiBold" pitchFamily="2" charset="-52"/>
              </a:rPr>
              <a:t>Реализация в ДИТ</a:t>
            </a:r>
            <a:endParaRPr lang="ru-RU" sz="1600" dirty="0">
              <a:latin typeface="Unbounded SemiBold" pitchFamily="2" charset="-52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539AF9DE-11EF-46BE-9169-27876DB17157}"/>
              </a:ext>
            </a:extLst>
          </p:cNvPr>
          <p:cNvSpPr txBox="1"/>
          <p:nvPr/>
        </p:nvSpPr>
        <p:spPr>
          <a:xfrm>
            <a:off x="5882641" y="2015630"/>
            <a:ext cx="8785862" cy="12618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600" b="1" dirty="0">
                <a:latin typeface="HelveticaNeueCyr" panose="02000503040000020004" pitchFamily="2" charset="-52"/>
              </a:rPr>
              <a:t>Традиционно рынок вычислений и обработки данных ориентирован на использование ЦП</a:t>
            </a:r>
            <a:r>
              <a:rPr lang="en-US" sz="1600" b="1" dirty="0">
                <a:latin typeface="HelveticaNeueCyr" panose="02000503040000020004" pitchFamily="2" charset="-52"/>
              </a:rPr>
              <a:t> (CPU)</a:t>
            </a:r>
            <a:r>
              <a:rPr lang="ru-RU" sz="1600" b="1" dirty="0">
                <a:latin typeface="HelveticaNeueCyr" panose="02000503040000020004" pitchFamily="2" charset="-52"/>
              </a:rPr>
              <a:t>, этот компонент был самым дорогим в серверах общего назначения</a:t>
            </a:r>
            <a:br>
              <a:rPr lang="ru-RU" dirty="0">
                <a:latin typeface="Unbounded Medium" pitchFamily="2" charset="-52"/>
              </a:rPr>
            </a:br>
            <a:r>
              <a:rPr lang="ru-RU" dirty="0">
                <a:latin typeface="HelveticaNeueCyr" panose="02000503040000020004" pitchFamily="2" charset="-52"/>
              </a:rPr>
              <a:t>Спрос на ЦП по прогнозам будет снижаться из-за конкуренции традиционных ЦП с альтернативными вычислительными устройствами (ГП (</a:t>
            </a:r>
            <a:r>
              <a:rPr lang="en-US" dirty="0">
                <a:latin typeface="HelveticaNeueCyr" panose="02000503040000020004" pitchFamily="2" charset="-52"/>
              </a:rPr>
              <a:t>GPU</a:t>
            </a:r>
            <a:r>
              <a:rPr lang="ru-RU" dirty="0">
                <a:latin typeface="HelveticaNeueCyr" panose="02000503040000020004" pitchFamily="2" charset="-52"/>
              </a:rPr>
              <a:t>), специализированными ускорителями и др.)</a:t>
            </a:r>
            <a:endParaRPr lang="ru-RU" dirty="0">
              <a:latin typeface="Unbounded Medium" pitchFamily="2" charset="-52"/>
            </a:endParaRPr>
          </a:p>
        </p:txBody>
      </p:sp>
      <p:graphicFrame>
        <p:nvGraphicFramePr>
          <p:cNvPr id="11" name="Диаграмма 10">
            <a:extLst>
              <a:ext uri="{FF2B5EF4-FFF2-40B4-BE49-F238E27FC236}">
                <a16:creationId xmlns:a16="http://schemas.microsoft.com/office/drawing/2014/main" id="{38962B51-CF93-40D7-BB26-61C2C1E912C0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840806219"/>
              </p:ext>
            </p:extLst>
          </p:nvPr>
        </p:nvGraphicFramePr>
        <p:xfrm>
          <a:off x="6135887" y="3754283"/>
          <a:ext cx="6023092" cy="294125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0"/>
          </a:graphicData>
        </a:graphic>
      </p:graphicFrame>
      <p:sp>
        <p:nvSpPr>
          <p:cNvPr id="14" name="TextBox 13">
            <a:extLst>
              <a:ext uri="{FF2B5EF4-FFF2-40B4-BE49-F238E27FC236}">
                <a16:creationId xmlns:a16="http://schemas.microsoft.com/office/drawing/2014/main" id="{586B397A-99C5-4286-89FB-E8A80F5017CD}"/>
              </a:ext>
            </a:extLst>
          </p:cNvPr>
          <p:cNvSpPr txBox="1"/>
          <p:nvPr/>
        </p:nvSpPr>
        <p:spPr>
          <a:xfrm>
            <a:off x="12204699" y="4592307"/>
            <a:ext cx="2228857" cy="119763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HelveticaNeueCyr" panose="02000503040000020004" pitchFamily="2" charset="-52"/>
                <a:ea typeface="+mn-ea"/>
                <a:cs typeface="+mn-cs"/>
              </a:defRPr>
            </a:pPr>
            <a:r>
              <a:rPr lang="ru-RU" sz="1197" kern="1200" dirty="0">
                <a:solidFill>
                  <a:schemeClr val="tx1">
                    <a:lumMod val="65000"/>
                    <a:lumOff val="35000"/>
                  </a:schemeClr>
                </a:solidFill>
                <a:latin typeface="HelveticaNeueCyr" panose="02000503040000020004" pitchFamily="2" charset="-52"/>
                <a:ea typeface="+mn-ea"/>
                <a:cs typeface="+mn-cs"/>
              </a:rPr>
              <a:t>*Сопроцессоры – графические процессоры </a:t>
            </a:r>
            <a:r>
              <a:rPr lang="en-US" sz="1197" kern="1200" dirty="0">
                <a:solidFill>
                  <a:schemeClr val="tx1">
                    <a:lumMod val="65000"/>
                    <a:lumOff val="35000"/>
                  </a:schemeClr>
                </a:solidFill>
                <a:latin typeface="HelveticaNeueCyr" panose="02000503040000020004" pitchFamily="2" charset="-52"/>
                <a:ea typeface="+mn-ea"/>
                <a:cs typeface="+mn-cs"/>
              </a:rPr>
              <a:t>(GPU)</a:t>
            </a:r>
            <a:r>
              <a:rPr lang="ru-RU" sz="1197" kern="1200" dirty="0">
                <a:solidFill>
                  <a:schemeClr val="tx1">
                    <a:lumMod val="65000"/>
                    <a:lumOff val="35000"/>
                  </a:schemeClr>
                </a:solidFill>
                <a:latin typeface="HelveticaNeueCyr" panose="02000503040000020004" pitchFamily="2" charset="-52"/>
                <a:ea typeface="+mn-ea"/>
                <a:cs typeface="+mn-cs"/>
              </a:rPr>
              <a:t>, тензорные процессоры (</a:t>
            </a:r>
            <a:r>
              <a:rPr lang="en-US" sz="1197" kern="1200" dirty="0">
                <a:solidFill>
                  <a:schemeClr val="tx1">
                    <a:lumMod val="65000"/>
                    <a:lumOff val="35000"/>
                  </a:schemeClr>
                </a:solidFill>
                <a:latin typeface="HelveticaNeueCyr" panose="02000503040000020004" pitchFamily="2" charset="-52"/>
                <a:ea typeface="+mn-ea"/>
                <a:cs typeface="+mn-cs"/>
              </a:rPr>
              <a:t>TPU</a:t>
            </a:r>
            <a:r>
              <a:rPr lang="ru-RU" sz="1197" kern="1200" dirty="0">
                <a:solidFill>
                  <a:schemeClr val="tx1">
                    <a:lumMod val="65000"/>
                    <a:lumOff val="35000"/>
                  </a:schemeClr>
                </a:solidFill>
                <a:latin typeface="HelveticaNeueCyr" panose="02000503040000020004" pitchFamily="2" charset="-52"/>
                <a:ea typeface="+mn-ea"/>
                <a:cs typeface="+mn-cs"/>
              </a:rPr>
              <a:t>) и другие специализированные интегральные схемы</a:t>
            </a:r>
          </a:p>
        </p:txBody>
      </p:sp>
      <p:sp>
        <p:nvSpPr>
          <p:cNvPr id="16" name="Прямоугольник 15">
            <a:extLst>
              <a:ext uri="{FF2B5EF4-FFF2-40B4-BE49-F238E27FC236}">
                <a16:creationId xmlns:a16="http://schemas.microsoft.com/office/drawing/2014/main" id="{5035837C-9C57-405E-9C4C-EAF3B9111301}"/>
              </a:ext>
            </a:extLst>
          </p:cNvPr>
          <p:cNvSpPr/>
          <p:nvPr/>
        </p:nvSpPr>
        <p:spPr>
          <a:xfrm>
            <a:off x="5941924" y="3441452"/>
            <a:ext cx="7556500" cy="307777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ru-RU" b="1" dirty="0">
                <a:latin typeface="Unbounded SemiBold" pitchFamily="2" charset="-52"/>
              </a:rPr>
              <a:t>Оценка доли серверов с сопроцессорами, прогноз роста</a:t>
            </a:r>
          </a:p>
        </p:txBody>
      </p:sp>
      <p:sp>
        <p:nvSpPr>
          <p:cNvPr id="29" name="Прямоугольник: скругленные углы 28">
            <a:extLst>
              <a:ext uri="{FF2B5EF4-FFF2-40B4-BE49-F238E27FC236}">
                <a16:creationId xmlns:a16="http://schemas.microsoft.com/office/drawing/2014/main" id="{4A53C8CB-A6A3-4184-B7D6-8CF8CC92C416}"/>
              </a:ext>
            </a:extLst>
          </p:cNvPr>
          <p:cNvSpPr/>
          <p:nvPr/>
        </p:nvSpPr>
        <p:spPr>
          <a:xfrm>
            <a:off x="9607899" y="6859936"/>
            <a:ext cx="4825657" cy="558704"/>
          </a:xfrm>
          <a:prstGeom prst="roundRect">
            <a:avLst>
              <a:gd name="adj" fmla="val 9260"/>
            </a:avLst>
          </a:prstGeom>
          <a:solidFill>
            <a:srgbClr val="D8DFFF">
              <a:alpha val="4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ru-RU" sz="1600" b="1" dirty="0">
                <a:solidFill>
                  <a:srgbClr val="222222"/>
                </a:solidFill>
                <a:latin typeface="Unbounded SemiBold" pitchFamily="2" charset="-52"/>
              </a:rPr>
              <a:t>Дефицит</a:t>
            </a:r>
            <a:endParaRPr lang="ru-RU" sz="1600" dirty="0">
              <a:latin typeface="Unbounded SemiBold" pitchFamily="2" charset="-52"/>
            </a:endParaRPr>
          </a:p>
        </p:txBody>
      </p:sp>
      <p:sp>
        <p:nvSpPr>
          <p:cNvPr id="31" name="Прямоугольник 30">
            <a:extLst>
              <a:ext uri="{FF2B5EF4-FFF2-40B4-BE49-F238E27FC236}">
                <a16:creationId xmlns:a16="http://schemas.microsoft.com/office/drawing/2014/main" id="{B9B6DDCA-7147-4BB8-A722-C6C3A6C6C553}"/>
              </a:ext>
            </a:extLst>
          </p:cNvPr>
          <p:cNvSpPr/>
          <p:nvPr/>
        </p:nvSpPr>
        <p:spPr>
          <a:xfrm>
            <a:off x="9607899" y="7554307"/>
            <a:ext cx="4825657" cy="10772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1600" dirty="0">
                <a:solidFill>
                  <a:schemeClr val="tx1"/>
                </a:solidFill>
                <a:latin typeface="HelveticaNeueCyr" panose="020B0604020202020204" charset="-52"/>
              </a:rPr>
              <a:t>Добавление сопроцессоров позволяет избавиться от необходимости увеличивать количество ЦП</a:t>
            </a:r>
            <a:r>
              <a:rPr lang="en-US" sz="1600" dirty="0">
                <a:solidFill>
                  <a:schemeClr val="tx1"/>
                </a:solidFill>
                <a:latin typeface="HelveticaNeueCyr" panose="020B0604020202020204" charset="-52"/>
              </a:rPr>
              <a:t> (CPU)</a:t>
            </a:r>
            <a:r>
              <a:rPr lang="ru-RU" sz="1600" dirty="0">
                <a:solidFill>
                  <a:schemeClr val="tx1"/>
                </a:solidFill>
                <a:latin typeface="HelveticaNeueCyr" panose="020B0604020202020204" charset="-52"/>
              </a:rPr>
              <a:t>, следовательно снижается вероятность возникновения дефицита</a:t>
            </a:r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414B63DB-F9C1-45E2-8B9C-AE9D8B456653}"/>
              </a:ext>
            </a:extLst>
          </p:cNvPr>
          <p:cNvSpPr/>
          <p:nvPr/>
        </p:nvSpPr>
        <p:spPr>
          <a:xfrm>
            <a:off x="5930588" y="8736636"/>
            <a:ext cx="3372900" cy="132343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1600" dirty="0">
                <a:solidFill>
                  <a:srgbClr val="002060"/>
                </a:solidFill>
                <a:latin typeface="Unbounded SemiBold" pitchFamily="2" charset="-52"/>
              </a:rPr>
              <a:t>37 304 шт. </a:t>
            </a:r>
            <a:r>
              <a:rPr lang="ru-RU" sz="1600" dirty="0">
                <a:solidFill>
                  <a:schemeClr val="tx1"/>
                </a:solidFill>
                <a:latin typeface="HelveticaNeueCyr" panose="020B0604020202020204" charset="-52"/>
              </a:rPr>
              <a:t>– количество физических ЦП</a:t>
            </a:r>
          </a:p>
          <a:p>
            <a:endParaRPr lang="ru-RU" sz="1600" dirty="0">
              <a:solidFill>
                <a:schemeClr val="tx1"/>
              </a:solidFill>
              <a:latin typeface="HelveticaNeueCyr" panose="020B0604020202020204" charset="-52"/>
            </a:endParaRPr>
          </a:p>
          <a:p>
            <a:r>
              <a:rPr lang="ru-RU" sz="1600" dirty="0">
                <a:solidFill>
                  <a:srgbClr val="002060"/>
                </a:solidFill>
                <a:latin typeface="Unbounded SemiBold" pitchFamily="2" charset="-52"/>
              </a:rPr>
              <a:t>До 100% </a:t>
            </a:r>
            <a:r>
              <a:rPr lang="ru-RU" sz="1600" dirty="0">
                <a:solidFill>
                  <a:schemeClr val="tx1"/>
                </a:solidFill>
                <a:latin typeface="HelveticaNeueCyr" panose="020B0604020202020204" charset="-52"/>
              </a:rPr>
              <a:t>нагрузки, так как используется виртуализация</a:t>
            </a:r>
          </a:p>
        </p:txBody>
      </p:sp>
      <p:sp>
        <p:nvSpPr>
          <p:cNvPr id="10" name="Прямоугольник: скругленные углы 9">
            <a:extLst>
              <a:ext uri="{FF2B5EF4-FFF2-40B4-BE49-F238E27FC236}">
                <a16:creationId xmlns:a16="http://schemas.microsoft.com/office/drawing/2014/main" id="{165B1CCF-C5BB-4A4A-AAE6-F09CAE95B067}"/>
              </a:ext>
            </a:extLst>
          </p:cNvPr>
          <p:cNvSpPr/>
          <p:nvPr/>
        </p:nvSpPr>
        <p:spPr>
          <a:xfrm>
            <a:off x="5941924" y="6903631"/>
            <a:ext cx="3028834" cy="3240900"/>
          </a:xfrm>
          <a:prstGeom prst="roundRect">
            <a:avLst>
              <a:gd name="adj" fmla="val 2436"/>
            </a:avLst>
          </a:prstGeom>
          <a:noFill/>
          <a:ln>
            <a:solidFill>
              <a:srgbClr val="818CF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2" name="Прямоугольник 31">
            <a:extLst>
              <a:ext uri="{FF2B5EF4-FFF2-40B4-BE49-F238E27FC236}">
                <a16:creationId xmlns:a16="http://schemas.microsoft.com/office/drawing/2014/main" id="{E8DB2B93-57DD-4B89-9934-3568D37F301F}"/>
              </a:ext>
            </a:extLst>
          </p:cNvPr>
          <p:cNvSpPr/>
          <p:nvPr/>
        </p:nvSpPr>
        <p:spPr>
          <a:xfrm>
            <a:off x="5849956" y="7335877"/>
            <a:ext cx="3742429" cy="1500098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>
                <a:solidFill>
                  <a:schemeClr val="tx1"/>
                </a:solidFill>
              </a:rPr>
              <a:t>Нужно подумать о формате и месте размещения блока с реализацией в ДИТ</a:t>
            </a:r>
            <a:br>
              <a:rPr lang="ru-RU" dirty="0">
                <a:solidFill>
                  <a:schemeClr val="tx1"/>
                </a:solidFill>
              </a:rPr>
            </a:br>
            <a:br>
              <a:rPr lang="ru-RU" dirty="0">
                <a:solidFill>
                  <a:schemeClr val="tx1"/>
                </a:solidFill>
              </a:rPr>
            </a:br>
            <a:r>
              <a:rPr lang="ru-RU" dirty="0">
                <a:solidFill>
                  <a:schemeClr val="tx1"/>
                </a:solidFill>
              </a:rPr>
              <a:t>Пока он расположен в середине, не отслеживается структура</a:t>
            </a:r>
          </a:p>
        </p:txBody>
      </p:sp>
    </p:spTree>
    <p:extLst>
      <p:ext uri="{BB962C8B-B14F-4D97-AF65-F5344CB8AC3E}">
        <p14:creationId xmlns:p14="http://schemas.microsoft.com/office/powerpoint/2010/main" val="229499540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id="{CADC82BF-0C89-400C-98F4-578F57BE9F4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9FD2042-F21C-415A-9EA3-4A549B5658B7}" type="slidenum">
              <a:rPr kumimoji="0" lang="ru-RU" sz="1600" b="0" i="0" u="none" strike="noStrike" kern="1200" cap="none" spc="0" normalizeH="0" baseline="0" noProof="0" smtClean="0">
                <a:ln>
                  <a:noFill/>
                </a:ln>
                <a:solidFill>
                  <a:srgbClr val="FFFFFF">
                    <a:lumMod val="75000"/>
                  </a:srgbClr>
                </a:solidFill>
                <a:effectLst/>
                <a:uLnTx/>
                <a:uFillTx/>
                <a:latin typeface="Unbounded Light" pitchFamily="2" charset="-52"/>
                <a:sym typeface="Arial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10</a:t>
            </a:fld>
            <a:endParaRPr kumimoji="0" lang="ru-RU" sz="1600" b="0" i="0" u="none" strike="noStrike" kern="1200" cap="none" spc="0" normalizeH="0" baseline="0" noProof="0" dirty="0">
              <a:ln>
                <a:noFill/>
              </a:ln>
              <a:solidFill>
                <a:srgbClr val="FFFFFF">
                  <a:lumMod val="75000"/>
                </a:srgbClr>
              </a:solidFill>
              <a:effectLst/>
              <a:uLnTx/>
              <a:uFillTx/>
              <a:latin typeface="Unbounded Light" pitchFamily="2" charset="-52"/>
              <a:sym typeface="Arial"/>
            </a:endParaRPr>
          </a:p>
        </p:txBody>
      </p:sp>
      <p:sp>
        <p:nvSpPr>
          <p:cNvPr id="7" name="Google Shape;1046;p21">
            <a:extLst>
              <a:ext uri="{FF2B5EF4-FFF2-40B4-BE49-F238E27FC236}">
                <a16:creationId xmlns:a16="http://schemas.microsoft.com/office/drawing/2014/main" id="{BF704CA4-FC90-0D7F-95E2-B0F309C793A4}"/>
              </a:ext>
            </a:extLst>
          </p:cNvPr>
          <p:cNvSpPr/>
          <p:nvPr/>
        </p:nvSpPr>
        <p:spPr>
          <a:xfrm>
            <a:off x="212724" y="266700"/>
            <a:ext cx="11991975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2300"/>
              <a:buFont typeface="Arial"/>
              <a:buNone/>
              <a:tabLst/>
              <a:defRPr/>
            </a:pPr>
            <a:r>
              <a:rPr kumimoji="0" lang="ru-RU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Unbounded Medium"/>
                <a:ea typeface="Unbounded Medium"/>
                <a:cs typeface="Unbounded Medium"/>
                <a:sym typeface="Unbounded Medium"/>
              </a:rPr>
              <a:t>Графический процессор</a:t>
            </a:r>
          </a:p>
        </p:txBody>
      </p:sp>
      <p:sp>
        <p:nvSpPr>
          <p:cNvPr id="4" name="Прямоугольник: скругленные углы 3">
            <a:extLst>
              <a:ext uri="{FF2B5EF4-FFF2-40B4-BE49-F238E27FC236}">
                <a16:creationId xmlns:a16="http://schemas.microsoft.com/office/drawing/2014/main" id="{7B346811-B021-46F2-96B4-C6E2BECA5D6E}"/>
              </a:ext>
            </a:extLst>
          </p:cNvPr>
          <p:cNvSpPr/>
          <p:nvPr/>
        </p:nvSpPr>
        <p:spPr>
          <a:xfrm>
            <a:off x="447671" y="899061"/>
            <a:ext cx="14220832" cy="853540"/>
          </a:xfrm>
          <a:prstGeom prst="roundRect">
            <a:avLst>
              <a:gd name="adj" fmla="val 9260"/>
            </a:avLst>
          </a:prstGeom>
          <a:solidFill>
            <a:srgbClr val="D8DFFF">
              <a:alpha val="4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ru-RU" sz="1800" kern="1200" dirty="0">
                <a:solidFill>
                  <a:schemeClr val="tx1"/>
                </a:solidFill>
                <a:latin typeface="HelveticaNeueCyr" panose="020B0604020202020204" charset="-52"/>
                <a:cs typeface="Wix Madefor Display" panose="020B0503020203020203" pitchFamily="34" charset="-52"/>
              </a:rPr>
              <a:t>специализированная электронная схема, которая может выполнять математические вычисления с высокой скоростью. Используется для таких задач как рендеринг графики, машинное обучение, редактирование видео и пр.</a:t>
            </a:r>
          </a:p>
        </p:txBody>
      </p:sp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EC370C80-4B60-4861-9D95-515A6801E279}"/>
              </a:ext>
            </a:extLst>
          </p:cNvPr>
          <p:cNvSpPr/>
          <p:nvPr/>
        </p:nvSpPr>
        <p:spPr>
          <a:xfrm>
            <a:off x="447671" y="2015630"/>
            <a:ext cx="4926762" cy="427809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1600" b="1" dirty="0">
                <a:solidFill>
                  <a:srgbClr val="222222"/>
                </a:solidFill>
                <a:latin typeface="Unbounded SemiBold" pitchFamily="2" charset="-52"/>
              </a:rPr>
              <a:t>Особенности:</a:t>
            </a:r>
            <a:endParaRPr lang="ru-RU" sz="1600" dirty="0">
              <a:solidFill>
                <a:schemeClr val="tx1"/>
              </a:solidFill>
              <a:latin typeface="Unbounded SemiBold" pitchFamily="2" charset="-52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600" dirty="0">
                <a:latin typeface="HelveticaNeueCyr" panose="020B0604020202020204" charset="-52"/>
              </a:rPr>
              <a:t>Параллельная обработка данных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600" dirty="0">
                <a:latin typeface="HelveticaNeueCyr" panose="020B0604020202020204" charset="-52"/>
              </a:rPr>
              <a:t>Высокая пропускная способность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600" dirty="0">
                <a:latin typeface="HelveticaNeueCyr" panose="020B0604020202020204" charset="-52"/>
              </a:rPr>
              <a:t>Использование для графического рендеринга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ru-RU" sz="1600" dirty="0">
              <a:latin typeface="HelveticaNeueCyr" panose="020B0604020202020204" charset="-52"/>
            </a:endParaRPr>
          </a:p>
          <a:p>
            <a:r>
              <a:rPr lang="ru-RU" sz="1600" b="1" dirty="0">
                <a:solidFill>
                  <a:srgbClr val="222222"/>
                </a:solidFill>
                <a:latin typeface="Unbounded SemiBold" pitchFamily="2" charset="-52"/>
              </a:rPr>
              <a:t>Сценарии применения: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600" dirty="0">
                <a:latin typeface="HelveticaNeueCyr" panose="020B0604020202020204" charset="-52"/>
              </a:rPr>
              <a:t>Приложения с интенсивной графикой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600" dirty="0">
                <a:latin typeface="HelveticaNeueCyr" panose="020B0604020202020204" charset="-52"/>
              </a:rPr>
              <a:t>Глубокое обучение, а также тренировка нейронных сетей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600" dirty="0">
                <a:latin typeface="HelveticaNeueCyr" panose="020B0604020202020204" charset="-52"/>
              </a:rPr>
              <a:t>Анализ данных и научные вычисления</a:t>
            </a:r>
          </a:p>
          <a:p>
            <a:endParaRPr lang="ru-RU" sz="1600" dirty="0">
              <a:latin typeface="HelveticaNeueCyr" panose="020B0604020202020204" charset="-52"/>
            </a:endParaRPr>
          </a:p>
          <a:p>
            <a:r>
              <a:rPr lang="ru-RU" sz="1600" b="1" dirty="0">
                <a:solidFill>
                  <a:srgbClr val="222222"/>
                </a:solidFill>
                <a:latin typeface="Unbounded SemiBold" pitchFamily="2" charset="-52"/>
              </a:rPr>
              <a:t>Применение в ИИ:</a:t>
            </a:r>
            <a:endParaRPr lang="ru-RU" sz="1600" dirty="0">
              <a:latin typeface="Unbounded SemiBold" pitchFamily="2" charset="-52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600" dirty="0">
                <a:solidFill>
                  <a:schemeClr val="tx1"/>
                </a:solidFill>
                <a:latin typeface="HelveticaNeueCyr" panose="020B0604020202020204" charset="-52"/>
              </a:rPr>
              <a:t>Выполнение определенных математических операций, которые также распространены</a:t>
            </a:r>
            <a:br>
              <a:rPr lang="ru-RU" sz="1600" dirty="0">
                <a:solidFill>
                  <a:schemeClr val="tx1"/>
                </a:solidFill>
                <a:latin typeface="HelveticaNeueCyr" panose="020B0604020202020204" charset="-52"/>
              </a:rPr>
            </a:br>
            <a:r>
              <a:rPr lang="ru-RU" sz="1600" dirty="0">
                <a:solidFill>
                  <a:schemeClr val="tx1"/>
                </a:solidFill>
                <a:latin typeface="HelveticaNeueCyr" panose="020B0604020202020204" charset="-52"/>
              </a:rPr>
              <a:t>в машинном обучении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600" dirty="0">
                <a:solidFill>
                  <a:schemeClr val="tx1"/>
                </a:solidFill>
                <a:latin typeface="HelveticaNeueCyr" panose="020B0604020202020204" charset="-52"/>
              </a:rPr>
              <a:t>Наиболее распространенный вариант ускорителя для обучения моделей ИИ</a:t>
            </a:r>
          </a:p>
        </p:txBody>
      </p:sp>
      <p:sp>
        <p:nvSpPr>
          <p:cNvPr id="8" name="Прямоугольник: скругленные углы 7">
            <a:extLst>
              <a:ext uri="{FF2B5EF4-FFF2-40B4-BE49-F238E27FC236}">
                <a16:creationId xmlns:a16="http://schemas.microsoft.com/office/drawing/2014/main" id="{CC8646F9-96D5-4085-AA50-A76B7B79CD9B}"/>
              </a:ext>
            </a:extLst>
          </p:cNvPr>
          <p:cNvSpPr/>
          <p:nvPr/>
        </p:nvSpPr>
        <p:spPr>
          <a:xfrm>
            <a:off x="453668" y="6449197"/>
            <a:ext cx="4825657" cy="558704"/>
          </a:xfrm>
          <a:prstGeom prst="roundRect">
            <a:avLst>
              <a:gd name="adj" fmla="val 9260"/>
            </a:avLst>
          </a:prstGeom>
          <a:solidFill>
            <a:srgbClr val="D8DFFF">
              <a:alpha val="4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ru-RU" sz="1600" b="1" dirty="0">
                <a:solidFill>
                  <a:srgbClr val="222222"/>
                </a:solidFill>
                <a:latin typeface="Unbounded SemiBold" pitchFamily="2" charset="-52"/>
              </a:rPr>
              <a:t>Иностранные производители</a:t>
            </a:r>
            <a:endParaRPr lang="ru-RU" sz="1600" dirty="0">
              <a:latin typeface="Unbounded SemiBold" pitchFamily="2" charset="-52"/>
            </a:endParaRPr>
          </a:p>
        </p:txBody>
      </p:sp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1714EA39-B5A2-4236-8CEA-BE0587EBC867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29224" b="27953"/>
          <a:stretch/>
        </p:blipFill>
        <p:spPr>
          <a:xfrm>
            <a:off x="3705486" y="7199796"/>
            <a:ext cx="1573839" cy="450618"/>
          </a:xfrm>
          <a:prstGeom prst="rect">
            <a:avLst/>
          </a:prstGeom>
        </p:spPr>
      </p:pic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A7E1BDC9-D695-431C-B7E2-1DDBE920888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76671" y="7203151"/>
            <a:ext cx="1264079" cy="450618"/>
          </a:xfrm>
          <a:prstGeom prst="rect">
            <a:avLst/>
          </a:prstGeom>
        </p:spPr>
      </p:pic>
      <p:pic>
        <p:nvPicPr>
          <p:cNvPr id="13" name="Рисунок 12">
            <a:extLst>
              <a:ext uri="{FF2B5EF4-FFF2-40B4-BE49-F238E27FC236}">
                <a16:creationId xmlns:a16="http://schemas.microsoft.com/office/drawing/2014/main" id="{F9453F75-F7D1-474B-940C-3BAAB561484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076672" y="8023366"/>
            <a:ext cx="1269887" cy="339435"/>
          </a:xfrm>
          <a:prstGeom prst="rect">
            <a:avLst/>
          </a:prstGeom>
        </p:spPr>
      </p:pic>
      <p:sp>
        <p:nvSpPr>
          <p:cNvPr id="15" name="Прямоугольник: скругленные углы 14">
            <a:extLst>
              <a:ext uri="{FF2B5EF4-FFF2-40B4-BE49-F238E27FC236}">
                <a16:creationId xmlns:a16="http://schemas.microsoft.com/office/drawing/2014/main" id="{A0F0C86C-A40F-4270-BE6D-92FAD6C5E456}"/>
              </a:ext>
            </a:extLst>
          </p:cNvPr>
          <p:cNvSpPr/>
          <p:nvPr/>
        </p:nvSpPr>
        <p:spPr>
          <a:xfrm>
            <a:off x="443796" y="8743546"/>
            <a:ext cx="4835529" cy="558704"/>
          </a:xfrm>
          <a:prstGeom prst="roundRect">
            <a:avLst>
              <a:gd name="adj" fmla="val 9260"/>
            </a:avLst>
          </a:prstGeom>
          <a:solidFill>
            <a:srgbClr val="D8DFFF">
              <a:alpha val="4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ru-RU" sz="1600" b="1" dirty="0">
                <a:solidFill>
                  <a:srgbClr val="222222"/>
                </a:solidFill>
                <a:latin typeface="Unbounded SemiBold" pitchFamily="2" charset="-52"/>
              </a:rPr>
              <a:t>Российские производители</a:t>
            </a:r>
            <a:endParaRPr lang="ru-RU" sz="1600" dirty="0">
              <a:latin typeface="Unbounded SemiBold" pitchFamily="2" charset="-52"/>
            </a:endParaRPr>
          </a:p>
        </p:txBody>
      </p:sp>
      <p:pic>
        <p:nvPicPr>
          <p:cNvPr id="16" name="Рисунок 15">
            <a:extLst>
              <a:ext uri="{FF2B5EF4-FFF2-40B4-BE49-F238E27FC236}">
                <a16:creationId xmlns:a16="http://schemas.microsoft.com/office/drawing/2014/main" id="{9850C9A4-8798-438E-8910-D1F31EA59B1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3668" y="7088940"/>
            <a:ext cx="1264078" cy="1350677"/>
          </a:xfrm>
          <a:prstGeom prst="rect">
            <a:avLst/>
          </a:prstGeom>
        </p:spPr>
      </p:pic>
      <p:pic>
        <p:nvPicPr>
          <p:cNvPr id="17" name="Рисунок 16">
            <a:extLst>
              <a:ext uri="{FF2B5EF4-FFF2-40B4-BE49-F238E27FC236}">
                <a16:creationId xmlns:a16="http://schemas.microsoft.com/office/drawing/2014/main" id="{BA4DA3C4-7B02-4DEC-96D2-9736E39DA6E5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705485" y="7764279"/>
            <a:ext cx="1573839" cy="857607"/>
          </a:xfrm>
          <a:prstGeom prst="rect">
            <a:avLst/>
          </a:prstGeom>
        </p:spPr>
      </p:pic>
      <p:sp>
        <p:nvSpPr>
          <p:cNvPr id="18" name="Прямоугольник 17">
            <a:extLst>
              <a:ext uri="{FF2B5EF4-FFF2-40B4-BE49-F238E27FC236}">
                <a16:creationId xmlns:a16="http://schemas.microsoft.com/office/drawing/2014/main" id="{B3C61156-BD3A-44F0-A6EF-00FBC23EC8F9}"/>
              </a:ext>
            </a:extLst>
          </p:cNvPr>
          <p:cNvSpPr/>
          <p:nvPr/>
        </p:nvSpPr>
        <p:spPr>
          <a:xfrm>
            <a:off x="453668" y="9606179"/>
            <a:ext cx="277832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1800" b="1" dirty="0">
                <a:solidFill>
                  <a:schemeClr val="tx1"/>
                </a:solidFill>
                <a:latin typeface="HelveticaNeueCyr" panose="020B0604020202020204" charset="-52"/>
              </a:rPr>
              <a:t>Не производится в РФ</a:t>
            </a:r>
            <a:endParaRPr lang="ru-RU" sz="1800" b="1" dirty="0"/>
          </a:p>
        </p:txBody>
      </p:sp>
      <p:sp>
        <p:nvSpPr>
          <p:cNvPr id="14" name="Прямоугольник: скругленные углы 13">
            <a:extLst>
              <a:ext uri="{FF2B5EF4-FFF2-40B4-BE49-F238E27FC236}">
                <a16:creationId xmlns:a16="http://schemas.microsoft.com/office/drawing/2014/main" id="{E69A73D7-08EA-45CE-A6C9-F6400F8BED58}"/>
              </a:ext>
            </a:extLst>
          </p:cNvPr>
          <p:cNvSpPr/>
          <p:nvPr/>
        </p:nvSpPr>
        <p:spPr>
          <a:xfrm>
            <a:off x="6048604" y="6446431"/>
            <a:ext cx="3028834" cy="558704"/>
          </a:xfrm>
          <a:prstGeom prst="roundRect">
            <a:avLst>
              <a:gd name="adj" fmla="val 9260"/>
            </a:avLst>
          </a:prstGeom>
          <a:solidFill>
            <a:srgbClr val="0F24E7">
              <a:alpha val="4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ru-RU" sz="1600" b="1" dirty="0">
                <a:solidFill>
                  <a:srgbClr val="222222"/>
                </a:solidFill>
                <a:latin typeface="Unbounded SemiBold" pitchFamily="2" charset="-52"/>
              </a:rPr>
              <a:t>Реализация в ДИТ</a:t>
            </a:r>
            <a:endParaRPr lang="ru-RU" sz="1600" dirty="0">
              <a:latin typeface="Unbounded SemiBold" pitchFamily="2" charset="-52"/>
            </a:endParaRPr>
          </a:p>
        </p:txBody>
      </p:sp>
      <p:sp>
        <p:nvSpPr>
          <p:cNvPr id="19" name="Прямоугольник 18">
            <a:extLst>
              <a:ext uri="{FF2B5EF4-FFF2-40B4-BE49-F238E27FC236}">
                <a16:creationId xmlns:a16="http://schemas.microsoft.com/office/drawing/2014/main" id="{6312295E-3996-425A-AA0C-DB74AAE202D7}"/>
              </a:ext>
            </a:extLst>
          </p:cNvPr>
          <p:cNvSpPr/>
          <p:nvPr/>
        </p:nvSpPr>
        <p:spPr>
          <a:xfrm>
            <a:off x="6043668" y="7120781"/>
            <a:ext cx="3028835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1600" dirty="0">
                <a:solidFill>
                  <a:schemeClr val="tx1"/>
                </a:solidFill>
                <a:latin typeface="HelveticaNeueCyr" panose="020B0604020202020204" charset="-52"/>
              </a:rPr>
              <a:t>Закупается для нужд искусственного интеллекта, рендеринга видео</a:t>
            </a:r>
          </a:p>
        </p:txBody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DE32FD75-79A6-44F0-91F2-664144AEBDBC}"/>
              </a:ext>
            </a:extLst>
          </p:cNvPr>
          <p:cNvSpPr/>
          <p:nvPr/>
        </p:nvSpPr>
        <p:spPr>
          <a:xfrm>
            <a:off x="9846722" y="7081552"/>
            <a:ext cx="4825657" cy="276998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1600" dirty="0">
                <a:solidFill>
                  <a:schemeClr val="tx1"/>
                </a:solidFill>
                <a:latin typeface="Unbounded SemiBold" pitchFamily="2" charset="-52"/>
              </a:rPr>
              <a:t>Причины: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>
                <a:solidFill>
                  <a:schemeClr val="tx1"/>
                </a:solidFill>
                <a:latin typeface="HelveticaNeueCyr" panose="020B0604020202020204" charset="-52"/>
              </a:rPr>
              <a:t>Проблемы с глобальными цепочками поставок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>
                <a:solidFill>
                  <a:schemeClr val="tx1"/>
                </a:solidFill>
                <a:latin typeface="HelveticaNeueCyr" panose="020B0604020202020204" charset="-52"/>
              </a:rPr>
              <a:t>Влияние криптовалюты, требующей ГП для майнинга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>
                <a:solidFill>
                  <a:schemeClr val="tx1"/>
                </a:solidFill>
                <a:latin typeface="HelveticaNeueCyr" panose="020B0604020202020204" charset="-52"/>
              </a:rPr>
              <a:t>Рост спроса из-за развития и распространения генеративного ИИ, в частности, больших языковых моделей (LLM)</a:t>
            </a:r>
          </a:p>
          <a:p>
            <a:endParaRPr lang="ru-RU" dirty="0">
              <a:solidFill>
                <a:schemeClr val="tx1"/>
              </a:solidFill>
              <a:latin typeface="HelveticaNeueCyr" panose="020B0604020202020204" charset="-52"/>
            </a:endParaRPr>
          </a:p>
          <a:p>
            <a:r>
              <a:rPr lang="ru-RU" sz="1600" dirty="0">
                <a:solidFill>
                  <a:schemeClr val="tx1"/>
                </a:solidFill>
                <a:latin typeface="Unbounded SemiBold" pitchFamily="2" charset="-52"/>
              </a:rPr>
              <a:t>Инициативы в мире по снижению дефицитности: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>
                <a:solidFill>
                  <a:schemeClr val="tx1"/>
                </a:solidFill>
                <a:latin typeface="HelveticaNeueCyr" panose="020B0604020202020204" charset="-52"/>
              </a:rPr>
              <a:t>Выпуск чипов специально предназначенных</a:t>
            </a:r>
            <a:br>
              <a:rPr lang="ru-RU" dirty="0">
                <a:solidFill>
                  <a:schemeClr val="tx1"/>
                </a:solidFill>
                <a:latin typeface="HelveticaNeueCyr" panose="020B0604020202020204" charset="-52"/>
              </a:rPr>
            </a:br>
            <a:r>
              <a:rPr lang="ru-RU" dirty="0">
                <a:solidFill>
                  <a:schemeClr val="tx1"/>
                </a:solidFill>
                <a:latin typeface="HelveticaNeueCyr" panose="020B0604020202020204" charset="-52"/>
              </a:rPr>
              <a:t>для приложений ИИ (например, </a:t>
            </a:r>
            <a:r>
              <a:rPr lang="en-US" dirty="0">
                <a:solidFill>
                  <a:schemeClr val="tx1"/>
                </a:solidFill>
                <a:latin typeface="HelveticaNeueCyr" panose="020B0604020202020204" charset="-52"/>
              </a:rPr>
              <a:t>NVIDIA</a:t>
            </a:r>
            <a:r>
              <a:rPr lang="ru-RU" dirty="0">
                <a:solidFill>
                  <a:schemeClr val="tx1"/>
                </a:solidFill>
                <a:latin typeface="HelveticaNeueCyr" panose="020B0604020202020204" charset="-52"/>
              </a:rPr>
              <a:t>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>
                <a:solidFill>
                  <a:schemeClr val="tx1"/>
                </a:solidFill>
                <a:latin typeface="HelveticaNeueCyr" panose="020B0604020202020204" charset="-52"/>
              </a:rPr>
              <a:t>Регулирование майнинга криптовалют</a:t>
            </a:r>
          </a:p>
        </p:txBody>
      </p:sp>
      <p:sp>
        <p:nvSpPr>
          <p:cNvPr id="24" name="Прямоугольник: скругленные углы 23">
            <a:extLst>
              <a:ext uri="{FF2B5EF4-FFF2-40B4-BE49-F238E27FC236}">
                <a16:creationId xmlns:a16="http://schemas.microsoft.com/office/drawing/2014/main" id="{CA90032A-3A72-42CF-A78A-CE877F8CBC87}"/>
              </a:ext>
            </a:extLst>
          </p:cNvPr>
          <p:cNvSpPr/>
          <p:nvPr/>
        </p:nvSpPr>
        <p:spPr>
          <a:xfrm>
            <a:off x="9836851" y="6446431"/>
            <a:ext cx="4825657" cy="558704"/>
          </a:xfrm>
          <a:prstGeom prst="roundRect">
            <a:avLst>
              <a:gd name="adj" fmla="val 9260"/>
            </a:avLst>
          </a:prstGeom>
          <a:solidFill>
            <a:srgbClr val="D8DFFF">
              <a:alpha val="4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ru-RU" sz="1600" b="1" dirty="0">
                <a:solidFill>
                  <a:srgbClr val="222222"/>
                </a:solidFill>
                <a:latin typeface="Unbounded SemiBold" pitchFamily="2" charset="-52"/>
              </a:rPr>
              <a:t>Дефицит</a:t>
            </a:r>
            <a:endParaRPr lang="ru-RU" sz="1600" dirty="0">
              <a:latin typeface="Unbounded SemiBold" pitchFamily="2" charset="-52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942D3102-6571-4571-B1F4-899D6567FDF0}"/>
              </a:ext>
            </a:extLst>
          </p:cNvPr>
          <p:cNvSpPr txBox="1"/>
          <p:nvPr/>
        </p:nvSpPr>
        <p:spPr>
          <a:xfrm>
            <a:off x="5882641" y="2015630"/>
            <a:ext cx="824390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>
                <a:latin typeface="Unbounded Medium" pitchFamily="2" charset="-52"/>
              </a:rPr>
              <a:t>Прогнозируемый процентный рост спроса на ГП (</a:t>
            </a:r>
            <a:r>
              <a:rPr lang="en-US" dirty="0">
                <a:latin typeface="Unbounded Medium" pitchFamily="2" charset="-52"/>
              </a:rPr>
              <a:t>GPU</a:t>
            </a:r>
            <a:r>
              <a:rPr lang="ru-RU" dirty="0">
                <a:latin typeface="Unbounded Medium" pitchFamily="2" charset="-52"/>
              </a:rPr>
              <a:t>) к 2026 году в ЦОД, при сценариях быстрого внедрения ИИ</a:t>
            </a:r>
          </a:p>
        </p:txBody>
      </p:sp>
      <p:grpSp>
        <p:nvGrpSpPr>
          <p:cNvPr id="9" name="Группа 8">
            <a:extLst>
              <a:ext uri="{FF2B5EF4-FFF2-40B4-BE49-F238E27FC236}">
                <a16:creationId xmlns:a16="http://schemas.microsoft.com/office/drawing/2014/main" id="{52C5F894-2539-462F-9A75-390D24C03346}"/>
              </a:ext>
            </a:extLst>
          </p:cNvPr>
          <p:cNvGrpSpPr/>
          <p:nvPr/>
        </p:nvGrpSpPr>
        <p:grpSpPr>
          <a:xfrm>
            <a:off x="5971883" y="2600325"/>
            <a:ext cx="4572000" cy="1061187"/>
            <a:chOff x="5971883" y="2600325"/>
            <a:chExt cx="4572000" cy="1061187"/>
          </a:xfrm>
        </p:grpSpPr>
        <p:graphicFrame>
          <p:nvGraphicFramePr>
            <p:cNvPr id="22" name="Диаграмма 21">
              <a:extLst>
                <a:ext uri="{FF2B5EF4-FFF2-40B4-BE49-F238E27FC236}">
                  <a16:creationId xmlns:a16="http://schemas.microsoft.com/office/drawing/2014/main" id="{0AC6DEE3-C35F-4B6E-B7E9-8E0DFE42355B}"/>
                </a:ext>
              </a:extLst>
            </p:cNvPr>
            <p:cNvGraphicFramePr>
              <a:graphicFrameLocks/>
            </p:cNvGraphicFramePr>
            <p:nvPr>
              <p:extLst>
                <p:ext uri="{D42A27DB-BD31-4B8C-83A1-F6EECF244321}">
                  <p14:modId xmlns:p14="http://schemas.microsoft.com/office/powerpoint/2010/main" val="697634224"/>
                </p:ext>
              </p:extLst>
            </p:nvPr>
          </p:nvGraphicFramePr>
          <p:xfrm>
            <a:off x="5971883" y="2600325"/>
            <a:ext cx="4572000" cy="1061187"/>
          </p:xfrm>
          <a:graphic>
            <a:graphicData uri="http://schemas.openxmlformats.org/drawingml/2006/chart">
              <c:chart xmlns:c="http://schemas.openxmlformats.org/drawingml/2006/chart" xmlns:r="http://schemas.openxmlformats.org/officeDocument/2006/relationships" r:id="rId8"/>
            </a:graphicData>
          </a:graphic>
        </p:graphicFrame>
        <p:sp>
          <p:nvSpPr>
            <p:cNvPr id="3" name="Прямоугольник 2">
              <a:extLst>
                <a:ext uri="{FF2B5EF4-FFF2-40B4-BE49-F238E27FC236}">
                  <a16:creationId xmlns:a16="http://schemas.microsoft.com/office/drawing/2014/main" id="{88060D2B-D3EA-475B-9B5B-685CD2B5B625}"/>
                </a:ext>
              </a:extLst>
            </p:cNvPr>
            <p:cNvSpPr/>
            <p:nvPr/>
          </p:nvSpPr>
          <p:spPr>
            <a:xfrm>
              <a:off x="9570634" y="2692726"/>
              <a:ext cx="869149" cy="307777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ru-RU" dirty="0">
                  <a:solidFill>
                    <a:schemeClr val="tx1"/>
                  </a:solidFill>
                  <a:latin typeface="HelveticaNeueCyr" panose="020B0604020202020204" charset="-52"/>
                </a:rPr>
                <a:t>5%-10%</a:t>
              </a:r>
              <a:endParaRPr lang="ru-RU" dirty="0"/>
            </a:p>
          </p:txBody>
        </p:sp>
        <p:sp>
          <p:nvSpPr>
            <p:cNvPr id="25" name="Прямоугольник 24">
              <a:extLst>
                <a:ext uri="{FF2B5EF4-FFF2-40B4-BE49-F238E27FC236}">
                  <a16:creationId xmlns:a16="http://schemas.microsoft.com/office/drawing/2014/main" id="{8C3EE791-7B6C-4223-A419-DFFF8E986452}"/>
                </a:ext>
              </a:extLst>
            </p:cNvPr>
            <p:cNvSpPr/>
            <p:nvPr/>
          </p:nvSpPr>
          <p:spPr>
            <a:xfrm>
              <a:off x="7984969" y="3149580"/>
              <a:ext cx="769763" cy="307777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ru-RU" dirty="0">
                  <a:solidFill>
                    <a:schemeClr val="tx1"/>
                  </a:solidFill>
                  <a:latin typeface="HelveticaNeueCyr" panose="020B0604020202020204" charset="-52"/>
                </a:rPr>
                <a:t>1%-5%</a:t>
              </a:r>
              <a:endParaRPr lang="ru-RU" dirty="0"/>
            </a:p>
          </p:txBody>
        </p:sp>
      </p:grpSp>
      <p:sp>
        <p:nvSpPr>
          <p:cNvPr id="12" name="TextBox 11">
            <a:extLst>
              <a:ext uri="{FF2B5EF4-FFF2-40B4-BE49-F238E27FC236}">
                <a16:creationId xmlns:a16="http://schemas.microsoft.com/office/drawing/2014/main" id="{58A0D965-B23F-47F6-A3A6-947839547E68}"/>
              </a:ext>
            </a:extLst>
          </p:cNvPr>
          <p:cNvSpPr txBox="1"/>
          <p:nvPr/>
        </p:nvSpPr>
        <p:spPr>
          <a:xfrm>
            <a:off x="5882640" y="3654206"/>
            <a:ext cx="4661243" cy="276998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600" b="1" dirty="0">
                <a:latin typeface="HelveticaNeueCyr" panose="02000503040000020004" pitchFamily="2" charset="-52"/>
              </a:rPr>
              <a:t>В мире: </a:t>
            </a:r>
            <a:br>
              <a:rPr lang="ru-RU" sz="1600" dirty="0">
                <a:latin typeface="HelveticaNeueCyr" panose="02000503040000020004" pitchFamily="2" charset="-52"/>
              </a:rPr>
            </a:br>
            <a:r>
              <a:rPr lang="ru-RU" sz="1600" dirty="0">
                <a:latin typeface="HelveticaNeueCyr" panose="02000503040000020004" pitchFamily="2" charset="-52"/>
              </a:rPr>
              <a:t>Основной производитель интегральных микросхем </a:t>
            </a:r>
            <a:r>
              <a:rPr lang="en-US" sz="1600" dirty="0">
                <a:latin typeface="HelveticaNeueCyr" panose="02000503040000020004" pitchFamily="2" charset="-52"/>
              </a:rPr>
              <a:t>TSMC</a:t>
            </a:r>
            <a:r>
              <a:rPr lang="ru-RU" sz="1600" dirty="0">
                <a:latin typeface="HelveticaNeueCyr" panose="02000503040000020004" pitchFamily="2" charset="-52"/>
              </a:rPr>
              <a:t> (осуществляет производство </a:t>
            </a:r>
            <a:r>
              <a:rPr lang="en-US" sz="1600" dirty="0">
                <a:latin typeface="HelveticaNeueCyr" panose="02000503040000020004" pitchFamily="2" charset="-52"/>
              </a:rPr>
              <a:t>Nvidia A100 </a:t>
            </a:r>
            <a:r>
              <a:rPr lang="ru-RU" sz="1600" dirty="0">
                <a:latin typeface="HelveticaNeueCyr" panose="02000503040000020004" pitchFamily="2" charset="-52"/>
              </a:rPr>
              <a:t>и </a:t>
            </a:r>
            <a:r>
              <a:rPr lang="en-US" sz="1600" dirty="0">
                <a:latin typeface="HelveticaNeueCyr" panose="02000503040000020004" pitchFamily="2" charset="-52"/>
              </a:rPr>
              <a:t>H100</a:t>
            </a:r>
            <a:r>
              <a:rPr lang="ru-RU" sz="1600" dirty="0">
                <a:latin typeface="HelveticaNeueCyr" panose="02000503040000020004" pitchFamily="2" charset="-52"/>
              </a:rPr>
              <a:t>)</a:t>
            </a:r>
            <a:r>
              <a:rPr lang="en-US" sz="1600" dirty="0">
                <a:latin typeface="HelveticaNeueCyr" panose="02000503040000020004" pitchFamily="2" charset="-52"/>
              </a:rPr>
              <a:t> </a:t>
            </a:r>
            <a:r>
              <a:rPr lang="ru-RU" sz="1600" dirty="0">
                <a:latin typeface="HelveticaNeueCyr" panose="02000503040000020004" pitchFamily="2" charset="-52"/>
              </a:rPr>
              <a:t>заявляет, что не может удовлетворить растущие потребности из-за ограниченных мощностей компании в части производства по технологии </a:t>
            </a:r>
            <a:r>
              <a:rPr lang="en-US" sz="1600" dirty="0" err="1">
                <a:latin typeface="HelveticaNeueCyr" panose="02000503040000020004" pitchFamily="2" charset="-52"/>
              </a:rPr>
              <a:t>CoWoS</a:t>
            </a:r>
            <a:r>
              <a:rPr lang="en-US" sz="1600" dirty="0">
                <a:latin typeface="HelveticaNeueCyr" panose="02000503040000020004" pitchFamily="2" charset="-52"/>
              </a:rPr>
              <a:t> (Chip-on-Wafer-on-Substrate)</a:t>
            </a:r>
            <a:r>
              <a:rPr lang="ru-RU" sz="1600" dirty="0">
                <a:latin typeface="HelveticaNeueCyr" panose="02000503040000020004" pitchFamily="2" charset="-52"/>
              </a:rPr>
              <a:t>, которая позволяет создавать высокопроизводительные вычислительные устройства</a:t>
            </a:r>
          </a:p>
          <a:p>
            <a:endParaRPr lang="ru-RU" dirty="0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F50C19DC-46D3-41F2-BD65-E911BE73227B}"/>
              </a:ext>
            </a:extLst>
          </p:cNvPr>
          <p:cNvSpPr txBox="1"/>
          <p:nvPr/>
        </p:nvSpPr>
        <p:spPr>
          <a:xfrm>
            <a:off x="10482837" y="3620115"/>
            <a:ext cx="4661243" cy="12926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600" b="1" dirty="0">
                <a:latin typeface="HelveticaNeueCyr" panose="02000503040000020004" pitchFamily="2" charset="-52"/>
              </a:rPr>
              <a:t>В РФ: </a:t>
            </a:r>
            <a:br>
              <a:rPr lang="ru-RU" sz="1600" dirty="0">
                <a:latin typeface="HelveticaNeueCyr" panose="02000503040000020004" pitchFamily="2" charset="-52"/>
              </a:rPr>
            </a:br>
            <a:r>
              <a:rPr lang="ru-RU" sz="1600" dirty="0">
                <a:latin typeface="HelveticaNeueCyr" panose="02000503040000020004" pitchFamily="2" charset="-52"/>
              </a:rPr>
              <a:t>Поставки высокопроизводительных графических процессоров </a:t>
            </a:r>
            <a:r>
              <a:rPr lang="en-US" sz="1600" dirty="0">
                <a:latin typeface="HelveticaNeueCyr" panose="02000503040000020004" pitchFamily="2" charset="-52"/>
              </a:rPr>
              <a:t>Nvidia A100 </a:t>
            </a:r>
            <a:r>
              <a:rPr lang="ru-RU" sz="1600" dirty="0">
                <a:latin typeface="HelveticaNeueCyr" panose="02000503040000020004" pitchFamily="2" charset="-52"/>
              </a:rPr>
              <a:t>и </a:t>
            </a:r>
            <a:r>
              <a:rPr lang="en-US" sz="1600" dirty="0">
                <a:latin typeface="HelveticaNeueCyr" panose="02000503040000020004" pitchFamily="2" charset="-52"/>
              </a:rPr>
              <a:t>H100</a:t>
            </a:r>
            <a:r>
              <a:rPr lang="ru-RU" sz="1600" dirty="0">
                <a:latin typeface="HelveticaNeueCyr" panose="02000503040000020004" pitchFamily="2" charset="-52"/>
              </a:rPr>
              <a:t>, </a:t>
            </a:r>
            <a:r>
              <a:rPr lang="en-US" sz="1600" dirty="0">
                <a:latin typeface="HelveticaNeueCyr" panose="02000503040000020004" pitchFamily="2" charset="-52"/>
              </a:rPr>
              <a:t>AMD Instinct MI250</a:t>
            </a:r>
            <a:r>
              <a:rPr lang="ru-RU" sz="1600" dirty="0">
                <a:latin typeface="HelveticaNeueCyr" panose="02000503040000020004" pitchFamily="2" charset="-52"/>
              </a:rPr>
              <a:t> </a:t>
            </a:r>
            <a:r>
              <a:rPr lang="ru-RU" sz="1600">
                <a:latin typeface="HelveticaNeueCyr" panose="02000503040000020004" pitchFamily="2" charset="-52"/>
              </a:rPr>
              <a:t>под санкциями</a:t>
            </a:r>
            <a:endParaRPr lang="ru-RU" sz="1600" dirty="0">
              <a:latin typeface="HelveticaNeueCyr" panose="02000503040000020004" pitchFamily="2" charset="-52"/>
            </a:endParaRPr>
          </a:p>
          <a:p>
            <a:endParaRPr lang="ru-RU" dirty="0"/>
          </a:p>
        </p:txBody>
      </p:sp>
      <p:sp>
        <p:nvSpPr>
          <p:cNvPr id="33" name="Прямоугольник 32">
            <a:extLst>
              <a:ext uri="{FF2B5EF4-FFF2-40B4-BE49-F238E27FC236}">
                <a16:creationId xmlns:a16="http://schemas.microsoft.com/office/drawing/2014/main" id="{874A1B78-0A1F-4EAD-AE65-E01375D729AE}"/>
              </a:ext>
            </a:extLst>
          </p:cNvPr>
          <p:cNvSpPr/>
          <p:nvPr/>
        </p:nvSpPr>
        <p:spPr>
          <a:xfrm>
            <a:off x="6032188" y="8050836"/>
            <a:ext cx="3130291" cy="166199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1600" dirty="0">
                <a:solidFill>
                  <a:srgbClr val="002060"/>
                </a:solidFill>
                <a:latin typeface="Unbounded SemiBold" pitchFamily="2" charset="-52"/>
              </a:rPr>
              <a:t>4 032 ГБ </a:t>
            </a:r>
            <a:r>
              <a:rPr lang="ru-RU" sz="1600" dirty="0">
                <a:solidFill>
                  <a:schemeClr val="tx1"/>
                </a:solidFill>
                <a:latin typeface="HelveticaNeueCyr" panose="020B0604020202020204" charset="-52"/>
              </a:rPr>
              <a:t>ГП используется для рендеринга</a:t>
            </a:r>
          </a:p>
          <a:p>
            <a:endParaRPr lang="ru-RU" sz="1000" dirty="0">
              <a:solidFill>
                <a:schemeClr val="tx1"/>
              </a:solidFill>
              <a:latin typeface="HelveticaNeueCyr" panose="020B0604020202020204" charset="-52"/>
            </a:endParaRPr>
          </a:p>
          <a:p>
            <a:r>
              <a:rPr lang="ru-RU" sz="1600" dirty="0">
                <a:solidFill>
                  <a:srgbClr val="002060"/>
                </a:solidFill>
                <a:latin typeface="Unbounded SemiBold" pitchFamily="2" charset="-52"/>
              </a:rPr>
              <a:t>3 200 ГБ </a:t>
            </a:r>
            <a:r>
              <a:rPr lang="ru-RU" sz="1600" dirty="0">
                <a:solidFill>
                  <a:schemeClr val="tx1"/>
                </a:solidFill>
                <a:latin typeface="HelveticaNeueCyr" panose="020B0604020202020204" charset="-52"/>
              </a:rPr>
              <a:t>ГП используется для рендеринга</a:t>
            </a:r>
          </a:p>
          <a:p>
            <a:endParaRPr lang="ru-RU" sz="1000" dirty="0">
              <a:solidFill>
                <a:schemeClr val="tx1"/>
              </a:solidFill>
              <a:latin typeface="HelveticaNeueCyr" panose="020B0604020202020204" charset="-52"/>
            </a:endParaRPr>
          </a:p>
          <a:p>
            <a:r>
              <a:rPr lang="ru-RU" sz="1600" dirty="0">
                <a:solidFill>
                  <a:srgbClr val="002060"/>
                </a:solidFill>
                <a:latin typeface="Unbounded SemiBold" pitchFamily="2" charset="-52"/>
              </a:rPr>
              <a:t>До 100% </a:t>
            </a:r>
            <a:r>
              <a:rPr lang="ru-RU" sz="1600" dirty="0">
                <a:solidFill>
                  <a:schemeClr val="tx1"/>
                </a:solidFill>
                <a:latin typeface="HelveticaNeueCyr" panose="020B0604020202020204" charset="-52"/>
              </a:rPr>
              <a:t>нагрузки</a:t>
            </a:r>
          </a:p>
        </p:txBody>
      </p:sp>
      <p:sp>
        <p:nvSpPr>
          <p:cNvPr id="34" name="Прямоугольник: скругленные углы 33">
            <a:extLst>
              <a:ext uri="{FF2B5EF4-FFF2-40B4-BE49-F238E27FC236}">
                <a16:creationId xmlns:a16="http://schemas.microsoft.com/office/drawing/2014/main" id="{DB9F07EA-8009-41A7-AF85-5EDAECF5697C}"/>
              </a:ext>
            </a:extLst>
          </p:cNvPr>
          <p:cNvSpPr/>
          <p:nvPr/>
        </p:nvSpPr>
        <p:spPr>
          <a:xfrm>
            <a:off x="6043524" y="6446431"/>
            <a:ext cx="3028834" cy="3529080"/>
          </a:xfrm>
          <a:prstGeom prst="roundRect">
            <a:avLst>
              <a:gd name="adj" fmla="val 2436"/>
            </a:avLst>
          </a:prstGeom>
          <a:noFill/>
          <a:ln>
            <a:solidFill>
              <a:srgbClr val="818CF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5" name="Прямоугольник 34">
            <a:extLst>
              <a:ext uri="{FF2B5EF4-FFF2-40B4-BE49-F238E27FC236}">
                <a16:creationId xmlns:a16="http://schemas.microsoft.com/office/drawing/2014/main" id="{3C02AB36-D9B7-481F-992F-2AF0A0F7DAF1}"/>
              </a:ext>
            </a:extLst>
          </p:cNvPr>
          <p:cNvSpPr/>
          <p:nvPr/>
        </p:nvSpPr>
        <p:spPr>
          <a:xfrm>
            <a:off x="5849956" y="7335877"/>
            <a:ext cx="3742429" cy="1500098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>
                <a:solidFill>
                  <a:schemeClr val="tx1"/>
                </a:solidFill>
              </a:rPr>
              <a:t>Нужно подумать о формате и месте размещения блока с реализацией в ДИТ</a:t>
            </a:r>
            <a:br>
              <a:rPr lang="ru-RU" dirty="0">
                <a:solidFill>
                  <a:schemeClr val="tx1"/>
                </a:solidFill>
              </a:rPr>
            </a:br>
            <a:br>
              <a:rPr lang="ru-RU" dirty="0">
                <a:solidFill>
                  <a:schemeClr val="tx1"/>
                </a:solidFill>
              </a:rPr>
            </a:br>
            <a:r>
              <a:rPr lang="ru-RU" dirty="0">
                <a:solidFill>
                  <a:schemeClr val="tx1"/>
                </a:solidFill>
              </a:rPr>
              <a:t>Пока он расположен в середине, не отслеживается структура</a:t>
            </a:r>
          </a:p>
        </p:txBody>
      </p:sp>
    </p:spTree>
    <p:extLst>
      <p:ext uri="{BB962C8B-B14F-4D97-AF65-F5344CB8AC3E}">
        <p14:creationId xmlns:p14="http://schemas.microsoft.com/office/powerpoint/2010/main" val="35561269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id="{CADC82BF-0C89-400C-98F4-578F57BE9F4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3629780" y="10222964"/>
            <a:ext cx="755650" cy="246221"/>
          </a:xfrm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9FD2042-F21C-415A-9EA3-4A549B5658B7}" type="slidenum">
              <a:rPr kumimoji="0" lang="ru-RU" sz="1600" b="0" i="0" u="none" strike="noStrike" kern="1200" cap="none" spc="0" normalizeH="0" baseline="0" noProof="0" smtClean="0">
                <a:ln>
                  <a:noFill/>
                </a:ln>
                <a:solidFill>
                  <a:srgbClr val="FFFFFF">
                    <a:lumMod val="75000"/>
                  </a:srgbClr>
                </a:solidFill>
                <a:effectLst/>
                <a:uLnTx/>
                <a:uFillTx/>
                <a:latin typeface="Unbounded Light" pitchFamily="2" charset="-52"/>
                <a:sym typeface="Arial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11</a:t>
            </a:fld>
            <a:endParaRPr kumimoji="0" lang="ru-RU" sz="1600" b="0" i="0" u="none" strike="noStrike" kern="1200" cap="none" spc="0" normalizeH="0" baseline="0" noProof="0" dirty="0">
              <a:ln>
                <a:noFill/>
              </a:ln>
              <a:solidFill>
                <a:srgbClr val="FFFFFF">
                  <a:lumMod val="75000"/>
                </a:srgbClr>
              </a:solidFill>
              <a:effectLst/>
              <a:uLnTx/>
              <a:uFillTx/>
              <a:latin typeface="Unbounded Light" pitchFamily="2" charset="-52"/>
              <a:sym typeface="Arial"/>
            </a:endParaRPr>
          </a:p>
        </p:txBody>
      </p:sp>
      <p:sp>
        <p:nvSpPr>
          <p:cNvPr id="7" name="Google Shape;1046;p21">
            <a:extLst>
              <a:ext uri="{FF2B5EF4-FFF2-40B4-BE49-F238E27FC236}">
                <a16:creationId xmlns:a16="http://schemas.microsoft.com/office/drawing/2014/main" id="{BF704CA4-FC90-0D7F-95E2-B0F309C793A4}"/>
              </a:ext>
            </a:extLst>
          </p:cNvPr>
          <p:cNvSpPr/>
          <p:nvPr/>
        </p:nvSpPr>
        <p:spPr>
          <a:xfrm>
            <a:off x="212724" y="266700"/>
            <a:ext cx="11991975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2300"/>
              <a:buFont typeface="Arial"/>
              <a:buNone/>
              <a:tabLst/>
              <a:defRPr/>
            </a:pPr>
            <a:r>
              <a:rPr kumimoji="0" lang="ru-RU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Unbounded Medium"/>
                <a:ea typeface="Unbounded Medium"/>
                <a:cs typeface="Unbounded Medium"/>
                <a:sym typeface="Unbounded Medium"/>
              </a:rPr>
              <a:t>Нейронный и тензорный процессор</a:t>
            </a:r>
          </a:p>
        </p:txBody>
      </p:sp>
      <p:sp>
        <p:nvSpPr>
          <p:cNvPr id="6" name="Прямоугольник: скругленные углы 5">
            <a:extLst>
              <a:ext uri="{FF2B5EF4-FFF2-40B4-BE49-F238E27FC236}">
                <a16:creationId xmlns:a16="http://schemas.microsoft.com/office/drawing/2014/main" id="{BBEFC215-3D1C-4D6B-A126-A03F3B18A846}"/>
              </a:ext>
            </a:extLst>
          </p:cNvPr>
          <p:cNvSpPr/>
          <p:nvPr/>
        </p:nvSpPr>
        <p:spPr>
          <a:xfrm>
            <a:off x="447672" y="908392"/>
            <a:ext cx="14158794" cy="1393781"/>
          </a:xfrm>
          <a:prstGeom prst="roundRect">
            <a:avLst>
              <a:gd name="adj" fmla="val 9260"/>
            </a:avLst>
          </a:prstGeom>
          <a:solidFill>
            <a:srgbClr val="D8DFFF">
              <a:alpha val="4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ru-RU" sz="1800" kern="1200" dirty="0">
                <a:solidFill>
                  <a:schemeClr val="tx1"/>
                </a:solidFill>
                <a:latin typeface="HelveticaNeueCyr" panose="020B0604020202020204" charset="-52"/>
                <a:cs typeface="Wix Madefor Display" panose="020B0503020203020203" pitchFamily="34" charset="-52"/>
              </a:rPr>
              <a:t>Нейронные процессоры (НП) – специализированный класс микропроцессоров и сопроцессоров, используемый для аппаратного ускорения работы алгоритмов искусственных нейронных сетей, компьютерного зрения, распознавания по голосу, машинного обучения и других методов ИИ. Одним из видов НП является тензорный процессор (ТП), предназначенный для выполнения высокопроизводительных вычислений с пониженной точностью</a:t>
            </a:r>
          </a:p>
        </p:txBody>
      </p:sp>
      <p:sp>
        <p:nvSpPr>
          <p:cNvPr id="9" name="Прямоугольник 8">
            <a:extLst>
              <a:ext uri="{FF2B5EF4-FFF2-40B4-BE49-F238E27FC236}">
                <a16:creationId xmlns:a16="http://schemas.microsoft.com/office/drawing/2014/main" id="{4B0A05F0-141E-4D4B-BAA4-8832FB896CD6}"/>
              </a:ext>
            </a:extLst>
          </p:cNvPr>
          <p:cNvSpPr/>
          <p:nvPr/>
        </p:nvSpPr>
        <p:spPr>
          <a:xfrm>
            <a:off x="458663" y="2443990"/>
            <a:ext cx="5235128" cy="477053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1600" b="1" dirty="0">
                <a:solidFill>
                  <a:srgbClr val="222222"/>
                </a:solidFill>
                <a:latin typeface="Unbounded SemiBold" pitchFamily="2" charset="-52"/>
              </a:rPr>
              <a:t>Особенности:</a:t>
            </a:r>
            <a:endParaRPr lang="ru-RU" sz="1600" dirty="0">
              <a:solidFill>
                <a:schemeClr val="tx1"/>
              </a:solidFill>
              <a:latin typeface="Unbounded SemiBold" pitchFamily="2" charset="-52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600" dirty="0">
                <a:solidFill>
                  <a:srgbClr val="222222"/>
                </a:solidFill>
                <a:latin typeface="HelveticaNeueCyr" panose="020B0604020202020204" charset="-52"/>
              </a:rPr>
              <a:t>Параллельная обработка данных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600" dirty="0">
                <a:solidFill>
                  <a:srgbClr val="222222"/>
                </a:solidFill>
                <a:latin typeface="HelveticaNeueCyr" panose="020B0604020202020204" charset="-52"/>
              </a:rPr>
              <a:t>Высокая пропускная способность</a:t>
            </a:r>
            <a:br>
              <a:rPr lang="ru-RU" sz="1600" dirty="0">
                <a:solidFill>
                  <a:srgbClr val="222222"/>
                </a:solidFill>
                <a:latin typeface="HelveticaNeueCyr" panose="020B0604020202020204" charset="-52"/>
              </a:rPr>
            </a:br>
            <a:r>
              <a:rPr lang="ru-RU" sz="1600" dirty="0">
                <a:solidFill>
                  <a:srgbClr val="222222"/>
                </a:solidFill>
                <a:latin typeface="HelveticaNeueCyr" panose="020B0604020202020204" charset="-52"/>
              </a:rPr>
              <a:t>и эффективность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600" dirty="0">
                <a:solidFill>
                  <a:srgbClr val="222222"/>
                </a:solidFill>
                <a:latin typeface="HelveticaNeueCyr" panose="020B0604020202020204" charset="-52"/>
              </a:rPr>
              <a:t>Низкая точность для снижения энергопотребления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600" dirty="0">
                <a:latin typeface="HelveticaNeueCyr" panose="020B0604020202020204" charset="-52"/>
              </a:rPr>
              <a:t>Для использования необходимы специализированные навыки</a:t>
            </a:r>
          </a:p>
          <a:p>
            <a:endParaRPr lang="ru-RU" sz="1600" dirty="0">
              <a:solidFill>
                <a:srgbClr val="222222"/>
              </a:solidFill>
              <a:latin typeface="Unbounded SemiBold" pitchFamily="2" charset="-52"/>
            </a:endParaRPr>
          </a:p>
          <a:p>
            <a:r>
              <a:rPr lang="ru-RU" sz="1600" b="1" dirty="0">
                <a:solidFill>
                  <a:srgbClr val="222222"/>
                </a:solidFill>
                <a:latin typeface="Unbounded SemiBold" pitchFamily="2" charset="-52"/>
              </a:rPr>
              <a:t>Сценарии применения: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600" dirty="0">
                <a:latin typeface="HelveticaNeueCyr" panose="020B0604020202020204" charset="-52"/>
              </a:rPr>
              <a:t>Применяются в различных сферах: интернет вещей, распознавание образов и др.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600" dirty="0">
                <a:latin typeface="HelveticaNeueCyr" panose="020B0604020202020204" charset="-52"/>
              </a:rPr>
              <a:t>Глубокое обучение, тренировка нейронных сетей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600" dirty="0">
                <a:latin typeface="HelveticaNeueCyr" panose="020B0604020202020204" charset="-52"/>
              </a:rPr>
              <a:t>Анализ данных и научные вычисления</a:t>
            </a:r>
          </a:p>
          <a:p>
            <a:endParaRPr lang="ru-RU" sz="1600" b="1" dirty="0">
              <a:solidFill>
                <a:srgbClr val="222222"/>
              </a:solidFill>
              <a:latin typeface="HelveticaNeueCyr" panose="020B0604020202020204" charset="-52"/>
            </a:endParaRPr>
          </a:p>
          <a:p>
            <a:r>
              <a:rPr lang="ru-RU" sz="1600" b="1" dirty="0">
                <a:solidFill>
                  <a:srgbClr val="222222"/>
                </a:solidFill>
                <a:latin typeface="Unbounded SemiBold" pitchFamily="2" charset="-52"/>
              </a:rPr>
              <a:t>Применение в ИИ:</a:t>
            </a:r>
            <a:endParaRPr lang="ru-RU" sz="1600" dirty="0">
              <a:latin typeface="Unbounded SemiBold" pitchFamily="2" charset="-52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600" dirty="0">
                <a:solidFill>
                  <a:schemeClr val="tx1"/>
                </a:solidFill>
                <a:latin typeface="HelveticaNeueCyr" panose="020B0604020202020204" charset="-52"/>
              </a:rPr>
              <a:t>Разработан специально для применения в задачах машинного обучения и других задачах ИИ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600" dirty="0">
                <a:solidFill>
                  <a:schemeClr val="tx1"/>
                </a:solidFill>
                <a:latin typeface="HelveticaNeueCyr" panose="020B0604020202020204" charset="-52"/>
              </a:rPr>
              <a:t>Обучение и поддержка работоспособности  моделей нейронных сетей</a:t>
            </a:r>
          </a:p>
        </p:txBody>
      </p:sp>
      <p:sp>
        <p:nvSpPr>
          <p:cNvPr id="12" name="Прямоугольник: скругленные углы 11">
            <a:extLst>
              <a:ext uri="{FF2B5EF4-FFF2-40B4-BE49-F238E27FC236}">
                <a16:creationId xmlns:a16="http://schemas.microsoft.com/office/drawing/2014/main" id="{ADFB645D-46E3-4B81-9965-B5D2C09C3704}"/>
              </a:ext>
            </a:extLst>
          </p:cNvPr>
          <p:cNvSpPr/>
          <p:nvPr/>
        </p:nvSpPr>
        <p:spPr>
          <a:xfrm>
            <a:off x="458662" y="7126405"/>
            <a:ext cx="5235128" cy="558704"/>
          </a:xfrm>
          <a:prstGeom prst="roundRect">
            <a:avLst>
              <a:gd name="adj" fmla="val 9260"/>
            </a:avLst>
          </a:prstGeom>
          <a:solidFill>
            <a:srgbClr val="D8DFFF">
              <a:alpha val="4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ru-RU" sz="1600" b="1" dirty="0">
                <a:solidFill>
                  <a:srgbClr val="222222"/>
                </a:solidFill>
                <a:latin typeface="Unbounded SemiBold" pitchFamily="2" charset="-52"/>
              </a:rPr>
              <a:t>Иностранные производители</a:t>
            </a:r>
            <a:endParaRPr lang="ru-RU" sz="1600" dirty="0">
              <a:latin typeface="Unbounded SemiBold" pitchFamily="2" charset="-52"/>
            </a:endParaRPr>
          </a:p>
        </p:txBody>
      </p:sp>
      <p:sp>
        <p:nvSpPr>
          <p:cNvPr id="16" name="Прямоугольник: скругленные углы 15">
            <a:extLst>
              <a:ext uri="{FF2B5EF4-FFF2-40B4-BE49-F238E27FC236}">
                <a16:creationId xmlns:a16="http://schemas.microsoft.com/office/drawing/2014/main" id="{DEF05364-CDC9-40C0-94B2-B4D4B2736215}"/>
              </a:ext>
            </a:extLst>
          </p:cNvPr>
          <p:cNvSpPr/>
          <p:nvPr/>
        </p:nvSpPr>
        <p:spPr>
          <a:xfrm>
            <a:off x="448790" y="8893933"/>
            <a:ext cx="5235128" cy="558704"/>
          </a:xfrm>
          <a:prstGeom prst="roundRect">
            <a:avLst>
              <a:gd name="adj" fmla="val 9260"/>
            </a:avLst>
          </a:prstGeom>
          <a:solidFill>
            <a:srgbClr val="D8DFFF">
              <a:alpha val="4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ru-RU" sz="1600" b="1" dirty="0">
                <a:solidFill>
                  <a:srgbClr val="222222"/>
                </a:solidFill>
                <a:latin typeface="Unbounded SemiBold" pitchFamily="2" charset="-52"/>
              </a:rPr>
              <a:t>Российские производители</a:t>
            </a:r>
            <a:endParaRPr lang="ru-RU" sz="1600" dirty="0">
              <a:latin typeface="Unbounded SemiBold" pitchFamily="2" charset="-52"/>
            </a:endParaRPr>
          </a:p>
        </p:txBody>
      </p:sp>
      <p:pic>
        <p:nvPicPr>
          <p:cNvPr id="20" name="Рисунок 19">
            <a:extLst>
              <a:ext uri="{FF2B5EF4-FFF2-40B4-BE49-F238E27FC236}">
                <a16:creationId xmlns:a16="http://schemas.microsoft.com/office/drawing/2014/main" id="{60909B0F-F672-47C2-9523-5C588F40A44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41178" y="8407910"/>
            <a:ext cx="1847910" cy="342259"/>
          </a:xfrm>
          <a:prstGeom prst="rect">
            <a:avLst/>
          </a:prstGeom>
        </p:spPr>
      </p:pic>
      <p:pic>
        <p:nvPicPr>
          <p:cNvPr id="21" name="Рисунок 20">
            <a:extLst>
              <a:ext uri="{FF2B5EF4-FFF2-40B4-BE49-F238E27FC236}">
                <a16:creationId xmlns:a16="http://schemas.microsoft.com/office/drawing/2014/main" id="{45C6376F-8F45-44AE-BB91-BBC7B3C61C2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9710" y="7796216"/>
            <a:ext cx="1055681" cy="374608"/>
          </a:xfrm>
          <a:prstGeom prst="rect">
            <a:avLst/>
          </a:prstGeom>
        </p:spPr>
      </p:pic>
      <p:pic>
        <p:nvPicPr>
          <p:cNvPr id="22" name="Рисунок 21">
            <a:extLst>
              <a:ext uri="{FF2B5EF4-FFF2-40B4-BE49-F238E27FC236}">
                <a16:creationId xmlns:a16="http://schemas.microsoft.com/office/drawing/2014/main" id="{1531EA21-6546-440F-BA3B-D66A6587461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42851" y="7790349"/>
            <a:ext cx="1141067" cy="380475"/>
          </a:xfrm>
          <a:prstGeom prst="rect">
            <a:avLst/>
          </a:prstGeom>
        </p:spPr>
      </p:pic>
      <p:pic>
        <p:nvPicPr>
          <p:cNvPr id="23" name="Рисунок 22">
            <a:extLst>
              <a:ext uri="{FF2B5EF4-FFF2-40B4-BE49-F238E27FC236}">
                <a16:creationId xmlns:a16="http://schemas.microsoft.com/office/drawing/2014/main" id="{6A5B9BC4-3E3A-4BC8-969F-0922AFC151B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25396" y="8293296"/>
            <a:ext cx="406642" cy="472314"/>
          </a:xfrm>
          <a:prstGeom prst="rect">
            <a:avLst/>
          </a:prstGeom>
        </p:spPr>
      </p:pic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2D003ED4-EE8D-4DB5-AA77-A43647C00B32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141178" y="7571234"/>
            <a:ext cx="1747658" cy="841218"/>
          </a:xfrm>
          <a:prstGeom prst="rect">
            <a:avLst/>
          </a:prstGeom>
        </p:spPr>
      </p:pic>
      <p:pic>
        <p:nvPicPr>
          <p:cNvPr id="25" name="Рисунок 24">
            <a:extLst>
              <a:ext uri="{FF2B5EF4-FFF2-40B4-BE49-F238E27FC236}">
                <a16:creationId xmlns:a16="http://schemas.microsoft.com/office/drawing/2014/main" id="{1F0A5394-1698-4EBB-80CA-0E6A6925B2C5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78582" y="9189146"/>
            <a:ext cx="1744954" cy="1179023"/>
          </a:xfrm>
          <a:prstGeom prst="rect">
            <a:avLst/>
          </a:prstGeom>
        </p:spPr>
      </p:pic>
      <p:pic>
        <p:nvPicPr>
          <p:cNvPr id="14" name="Рисунок 13">
            <a:extLst>
              <a:ext uri="{FF2B5EF4-FFF2-40B4-BE49-F238E27FC236}">
                <a16:creationId xmlns:a16="http://schemas.microsoft.com/office/drawing/2014/main" id="{94E84CA5-5127-4591-8949-F1C53D3FA165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BEBA8EAE-BF5A-486C-A8C5-ECC9F3942E4B}">
                <a14:imgProps xmlns:a14="http://schemas.microsoft.com/office/drawing/2010/main">
                  <a14:imgLayer r:embed="rId10">
                    <a14:imgEffect>
                      <a14:saturation sat="20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2389294" y="9506252"/>
            <a:ext cx="1725426" cy="580372"/>
          </a:xfrm>
          <a:prstGeom prst="rect">
            <a:avLst/>
          </a:prstGeom>
        </p:spPr>
      </p:pic>
      <p:sp>
        <p:nvSpPr>
          <p:cNvPr id="30" name="Прямоугольник: скругленные углы 29">
            <a:extLst>
              <a:ext uri="{FF2B5EF4-FFF2-40B4-BE49-F238E27FC236}">
                <a16:creationId xmlns:a16="http://schemas.microsoft.com/office/drawing/2014/main" id="{5FF02A7F-96F9-4222-9225-803C1062E5A7}"/>
              </a:ext>
            </a:extLst>
          </p:cNvPr>
          <p:cNvSpPr/>
          <p:nvPr/>
        </p:nvSpPr>
        <p:spPr>
          <a:xfrm>
            <a:off x="6196009" y="6688416"/>
            <a:ext cx="3028834" cy="636666"/>
          </a:xfrm>
          <a:prstGeom prst="roundRect">
            <a:avLst>
              <a:gd name="adj" fmla="val 9260"/>
            </a:avLst>
          </a:prstGeom>
          <a:solidFill>
            <a:srgbClr val="0F24E7">
              <a:alpha val="4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ru-RU" sz="1600" b="1" dirty="0">
                <a:solidFill>
                  <a:srgbClr val="222222"/>
                </a:solidFill>
                <a:latin typeface="Unbounded SemiBold" pitchFamily="2" charset="-52"/>
              </a:rPr>
              <a:t>Реализация в ДИТ</a:t>
            </a:r>
            <a:endParaRPr lang="ru-RU" sz="1600" dirty="0">
              <a:latin typeface="Unbounded SemiBold" pitchFamily="2" charset="-52"/>
            </a:endParaRPr>
          </a:p>
        </p:txBody>
      </p:sp>
      <p:sp>
        <p:nvSpPr>
          <p:cNvPr id="19" name="Прямоугольник 18">
            <a:extLst>
              <a:ext uri="{FF2B5EF4-FFF2-40B4-BE49-F238E27FC236}">
                <a16:creationId xmlns:a16="http://schemas.microsoft.com/office/drawing/2014/main" id="{5425FDD1-0120-49AA-991B-D6FAD1982081}"/>
              </a:ext>
            </a:extLst>
          </p:cNvPr>
          <p:cNvSpPr/>
          <p:nvPr/>
        </p:nvSpPr>
        <p:spPr>
          <a:xfrm>
            <a:off x="9863784" y="2454174"/>
            <a:ext cx="4804719" cy="378565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1600" dirty="0">
                <a:latin typeface="Unbounded SemiBold" pitchFamily="2" charset="-52"/>
              </a:rPr>
              <a:t>Разработка НП в РФ: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600" dirty="0">
                <a:latin typeface="HelveticaNeueCyr" panose="020B0604020202020204" charset="-52"/>
              </a:rPr>
              <a:t>В июне 2024 года российские ученые</a:t>
            </a:r>
            <a:br>
              <a:rPr lang="ru-RU" sz="1600" dirty="0">
                <a:latin typeface="HelveticaNeueCyr" panose="020B0604020202020204" charset="-52"/>
              </a:rPr>
            </a:br>
            <a:r>
              <a:rPr lang="ru-RU" sz="1600" dirty="0">
                <a:latin typeface="HelveticaNeueCyr" panose="020B0604020202020204" charset="-52"/>
              </a:rPr>
              <a:t>из МФТИ начали разрабатывать первый отечественный нейристор (искусственный нейрон, способный имитировать работу человеческого мозга), который станет основой для создания </a:t>
            </a:r>
            <a:r>
              <a:rPr lang="ru-RU" sz="1600" dirty="0" err="1">
                <a:latin typeface="HelveticaNeueCyr" panose="020B0604020202020204" charset="-52"/>
              </a:rPr>
              <a:t>нейроморфного</a:t>
            </a:r>
            <a:r>
              <a:rPr lang="ru-RU" sz="1600" dirty="0">
                <a:latin typeface="HelveticaNeueCyr" panose="020B0604020202020204" charset="-52"/>
              </a:rPr>
              <a:t> компьютера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600" dirty="0">
                <a:latin typeface="HelveticaNeueCyr" panose="020B0604020202020204" charset="-52"/>
              </a:rPr>
              <a:t>Компания «Мотив </a:t>
            </a:r>
            <a:r>
              <a:rPr lang="ru-RU" sz="1600" dirty="0" err="1">
                <a:latin typeface="HelveticaNeueCyr" panose="020B0604020202020204" charset="-52"/>
              </a:rPr>
              <a:t>нейроморфные</a:t>
            </a:r>
            <a:r>
              <a:rPr lang="ru-RU" sz="1600" dirty="0">
                <a:latin typeface="HelveticaNeueCyr" panose="020B0604020202020204" charset="-52"/>
              </a:rPr>
              <a:t> технологии» («Мотив НТ») представила в 2019 году прототип </a:t>
            </a:r>
            <a:r>
              <a:rPr lang="ru-RU" sz="1600" dirty="0" err="1">
                <a:latin typeface="HelveticaNeueCyr" panose="020B0604020202020204" charset="-52"/>
              </a:rPr>
              <a:t>нейроморфного</a:t>
            </a:r>
            <a:r>
              <a:rPr lang="ru-RU" sz="1600" dirty="0">
                <a:latin typeface="HelveticaNeueCyr" panose="020B0604020202020204" charset="-52"/>
              </a:rPr>
              <a:t> процессора «Алтай», а в 2023 году процессор «Алтай 2.0». К 2025 году планируется реализация процессора «Алтай 3.0», ключевой особенностью которого будет обучение ИИ</a:t>
            </a:r>
          </a:p>
        </p:txBody>
      </p:sp>
      <p:sp>
        <p:nvSpPr>
          <p:cNvPr id="24" name="Прямоугольник: скругленные углы 23">
            <a:extLst>
              <a:ext uri="{FF2B5EF4-FFF2-40B4-BE49-F238E27FC236}">
                <a16:creationId xmlns:a16="http://schemas.microsoft.com/office/drawing/2014/main" id="{B5D3DF23-1090-4EC5-BFD1-87B912C53AA8}"/>
              </a:ext>
            </a:extLst>
          </p:cNvPr>
          <p:cNvSpPr/>
          <p:nvPr/>
        </p:nvSpPr>
        <p:spPr>
          <a:xfrm>
            <a:off x="6208710" y="2454174"/>
            <a:ext cx="3028833" cy="558704"/>
          </a:xfrm>
          <a:prstGeom prst="roundRect">
            <a:avLst>
              <a:gd name="adj" fmla="val 9260"/>
            </a:avLst>
          </a:prstGeom>
          <a:solidFill>
            <a:srgbClr val="0F24E7">
              <a:alpha val="4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ru-RU" sz="1600" b="1" dirty="0">
                <a:solidFill>
                  <a:srgbClr val="222222"/>
                </a:solidFill>
                <a:latin typeface="Unbounded SemiBold" pitchFamily="2" charset="-52"/>
              </a:rPr>
              <a:t>Виды нейронных процессоров</a:t>
            </a:r>
            <a:endParaRPr lang="ru-RU" sz="1600" dirty="0">
              <a:latin typeface="Unbounded SemiBold" pitchFamily="2" charset="-52"/>
            </a:endParaRPr>
          </a:p>
        </p:txBody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B0617177-BA0D-4F1E-A173-72B63347F0A5}"/>
              </a:ext>
            </a:extLst>
          </p:cNvPr>
          <p:cNvSpPr/>
          <p:nvPr/>
        </p:nvSpPr>
        <p:spPr>
          <a:xfrm>
            <a:off x="6208709" y="3042729"/>
            <a:ext cx="3028834" cy="10772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600" dirty="0" err="1">
                <a:latin typeface="HelveticaNeueCyr" panose="020B0604020202020204" charset="-52"/>
              </a:rPr>
              <a:t>Нейроморфные</a:t>
            </a:r>
            <a:endParaRPr lang="ru-RU" sz="1600" dirty="0">
              <a:latin typeface="HelveticaNeueCyr" panose="020B0604020202020204" charset="-52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600" dirty="0">
                <a:latin typeface="HelveticaNeueCyr" panose="020B0604020202020204" charset="-52"/>
              </a:rPr>
              <a:t>Тензорные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600" dirty="0">
                <a:latin typeface="HelveticaNeueCyr" panose="020B0604020202020204" charset="-52"/>
              </a:rPr>
              <a:t>Процессоры машинного зрения </a:t>
            </a:r>
            <a:endParaRPr lang="ru-RU" sz="1600" dirty="0"/>
          </a:p>
        </p:txBody>
      </p:sp>
      <p:sp>
        <p:nvSpPr>
          <p:cNvPr id="27" name="Прямоугольник 26">
            <a:extLst>
              <a:ext uri="{FF2B5EF4-FFF2-40B4-BE49-F238E27FC236}">
                <a16:creationId xmlns:a16="http://schemas.microsoft.com/office/drawing/2014/main" id="{6BFE98E2-C057-47E2-95ED-36FC5ABD3B8E}"/>
              </a:ext>
            </a:extLst>
          </p:cNvPr>
          <p:cNvSpPr/>
          <p:nvPr/>
        </p:nvSpPr>
        <p:spPr>
          <a:xfrm>
            <a:off x="6208709" y="7412425"/>
            <a:ext cx="3028834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1600" dirty="0">
                <a:solidFill>
                  <a:schemeClr val="tx1"/>
                </a:solidFill>
                <a:latin typeface="HelveticaNeueCyr" panose="020B0604020202020204" charset="-52"/>
              </a:rPr>
              <a:t>ТП закупаются для нужд искусственного интеллекта, рендеринга видео</a:t>
            </a:r>
          </a:p>
        </p:txBody>
      </p:sp>
      <p:pic>
        <p:nvPicPr>
          <p:cNvPr id="11" name="Рисунок 26">
            <a:extLst>
              <a:ext uri="{FF2B5EF4-FFF2-40B4-BE49-F238E27FC236}">
                <a16:creationId xmlns:a16="http://schemas.microsoft.com/office/drawing/2014/main" id="{3E4390E6-700F-4947-AA72-CA6E309DE3A3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72255" y="8293296"/>
            <a:ext cx="1557609" cy="571488"/>
          </a:xfrm>
          <a:prstGeom prst="rect">
            <a:avLst/>
          </a:prstGeom>
        </p:spPr>
      </p:pic>
      <p:pic>
        <p:nvPicPr>
          <p:cNvPr id="28" name="Рисунок 27">
            <a:extLst>
              <a:ext uri="{FF2B5EF4-FFF2-40B4-BE49-F238E27FC236}">
                <a16:creationId xmlns:a16="http://schemas.microsoft.com/office/drawing/2014/main" id="{DFD55002-D4CE-4341-8CFB-7E0D0217C6BA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480478" y="9433783"/>
            <a:ext cx="1058751" cy="716651"/>
          </a:xfrm>
          <a:prstGeom prst="rect">
            <a:avLst/>
          </a:prstGeom>
        </p:spPr>
      </p:pic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8A9EAFC4-1EBA-4EBB-BD07-F15387EC6710}"/>
              </a:ext>
            </a:extLst>
          </p:cNvPr>
          <p:cNvSpPr/>
          <p:nvPr/>
        </p:nvSpPr>
        <p:spPr>
          <a:xfrm>
            <a:off x="447671" y="10146001"/>
            <a:ext cx="5180256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900" dirty="0">
                <a:latin typeface="HelveticaNeueCyr" panose="02000503040000020004" pitchFamily="2" charset="-52"/>
              </a:rPr>
              <a:t>*IVA TPU</a:t>
            </a:r>
            <a:r>
              <a:rPr lang="ru-RU" sz="900" dirty="0">
                <a:latin typeface="HelveticaNeueCyr" panose="02000503040000020004" pitchFamily="2" charset="-52"/>
              </a:rPr>
              <a:t> – проект российской компании, презентация проведена в сентябре 2018 года </a:t>
            </a:r>
            <a:br>
              <a:rPr lang="ru-RU" sz="900" dirty="0">
                <a:latin typeface="HelveticaNeueCyr" panose="02000503040000020004" pitchFamily="2" charset="-52"/>
              </a:rPr>
            </a:br>
            <a:r>
              <a:rPr lang="ru-RU" sz="900" dirty="0">
                <a:latin typeface="HelveticaNeueCyr" panose="02000503040000020004" pitchFamily="2" charset="-52"/>
              </a:rPr>
              <a:t>На данный момент на сайте компании не представлена, с 2020 года нет публичных новостей</a:t>
            </a:r>
          </a:p>
        </p:txBody>
      </p:sp>
      <p:sp>
        <p:nvSpPr>
          <p:cNvPr id="10" name="Прямоугольник 9">
            <a:extLst>
              <a:ext uri="{FF2B5EF4-FFF2-40B4-BE49-F238E27FC236}">
                <a16:creationId xmlns:a16="http://schemas.microsoft.com/office/drawing/2014/main" id="{26202E0F-26ED-4456-9B2D-04E70F46E905}"/>
              </a:ext>
            </a:extLst>
          </p:cNvPr>
          <p:cNvSpPr/>
          <p:nvPr/>
        </p:nvSpPr>
        <p:spPr>
          <a:xfrm>
            <a:off x="5359905" y="9452637"/>
            <a:ext cx="268022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600" b="1" dirty="0">
                <a:latin typeface="HelveticaNeueCyr" panose="02000503040000020004" pitchFamily="2" charset="-52"/>
              </a:rPr>
              <a:t>*</a:t>
            </a:r>
            <a:endParaRPr lang="ru-RU" b="1" dirty="0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83C36D03-14FA-456A-BED1-EA877AA63AA2}"/>
              </a:ext>
            </a:extLst>
          </p:cNvPr>
          <p:cNvSpPr txBox="1"/>
          <p:nvPr/>
        </p:nvSpPr>
        <p:spPr>
          <a:xfrm>
            <a:off x="9863784" y="6274843"/>
            <a:ext cx="4742681" cy="40318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600" dirty="0">
                <a:latin typeface="Unbounded SemiBold" pitchFamily="2" charset="-52"/>
              </a:rPr>
              <a:t>Разработка НП и ТП в мире: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600" dirty="0">
                <a:latin typeface="HelveticaNeueCyr" panose="02000503040000020004" pitchFamily="2" charset="-52"/>
              </a:rPr>
              <a:t>В настоящее время </a:t>
            </a:r>
            <a:r>
              <a:rPr lang="ru-RU" sz="1600" b="1" dirty="0">
                <a:solidFill>
                  <a:srgbClr val="0F24E7"/>
                </a:solidFill>
                <a:latin typeface="HelveticaNeueCyr" panose="02000503040000020004" pitchFamily="2" charset="-52"/>
              </a:rPr>
              <a:t>ТП производится и используется только компанией </a:t>
            </a:r>
            <a:r>
              <a:rPr lang="en-US" sz="1600" b="1" dirty="0">
                <a:solidFill>
                  <a:srgbClr val="0F24E7"/>
                </a:solidFill>
                <a:latin typeface="HelveticaNeueCyr" panose="02000503040000020004" pitchFamily="2" charset="-52"/>
              </a:rPr>
              <a:t>Google</a:t>
            </a:r>
            <a:r>
              <a:rPr lang="en-US" sz="1600" dirty="0">
                <a:latin typeface="HelveticaNeueCyr" panose="02000503040000020004" pitchFamily="2" charset="-52"/>
              </a:rPr>
              <a:t>. </a:t>
            </a:r>
            <a:r>
              <a:rPr lang="ru-RU" sz="1600" dirty="0">
                <a:latin typeface="HelveticaNeueCyr" panose="02000503040000020004" pitchFamily="2" charset="-52"/>
              </a:rPr>
              <a:t>Процессоры не продаются в формате физического вычислительного устройства. Использовать </a:t>
            </a:r>
            <a:r>
              <a:rPr lang="en-US" sz="1600" dirty="0">
                <a:latin typeface="HelveticaNeueCyr" panose="02000503040000020004" pitchFamily="2" charset="-52"/>
              </a:rPr>
              <a:t>Google Cloud TPU </a:t>
            </a:r>
            <a:r>
              <a:rPr lang="ru-RU" sz="1600" dirty="0">
                <a:latin typeface="HelveticaNeueCyr" panose="02000503040000020004" pitchFamily="2" charset="-52"/>
              </a:rPr>
              <a:t>возможно через аренду облачных вычислительных мощностей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600" dirty="0">
                <a:latin typeface="HelveticaNeueCyr" panose="02000503040000020004" pitchFamily="2" charset="-52"/>
              </a:rPr>
              <a:t>В декабре 2023 года австралийские ученые анонсировали проект </a:t>
            </a:r>
            <a:r>
              <a:rPr lang="ru-RU" sz="1600" dirty="0" err="1">
                <a:latin typeface="HelveticaNeueCyr" panose="02000503040000020004" pitchFamily="2" charset="-52"/>
              </a:rPr>
              <a:t>нейроморфного</a:t>
            </a:r>
            <a:r>
              <a:rPr lang="ru-RU" sz="1600" dirty="0">
                <a:latin typeface="HelveticaNeueCyr" panose="02000503040000020004" pitchFamily="2" charset="-52"/>
              </a:rPr>
              <a:t> суперкомпьютера нового типа </a:t>
            </a:r>
            <a:r>
              <a:rPr lang="ru-RU" sz="1600" b="1" dirty="0" err="1">
                <a:solidFill>
                  <a:srgbClr val="0F24E7"/>
                </a:solidFill>
                <a:latin typeface="HelveticaNeueCyr" panose="02000503040000020004" pitchFamily="2" charset="-52"/>
              </a:rPr>
              <a:t>DeepSouth</a:t>
            </a:r>
            <a:r>
              <a:rPr lang="ru-RU" sz="1600" dirty="0">
                <a:latin typeface="HelveticaNeueCyr" panose="02000503040000020004" pitchFamily="2" charset="-52"/>
              </a:rPr>
              <a:t>, который способен моделировать нейронные сети масштаба человеческого мозга и будет обрабатывать огромные объемы данных</a:t>
            </a:r>
            <a:br>
              <a:rPr lang="ru-RU" sz="1600" dirty="0">
                <a:latin typeface="HelveticaNeueCyr" panose="02000503040000020004" pitchFamily="2" charset="-52"/>
              </a:rPr>
            </a:br>
            <a:r>
              <a:rPr lang="ru-RU" sz="1600" dirty="0">
                <a:latin typeface="HelveticaNeueCyr" panose="02000503040000020004" pitchFamily="2" charset="-52"/>
              </a:rPr>
              <a:t>с высокой скоростью, потребляя меньше энергии, чем обычные суперкомпьютеры</a:t>
            </a:r>
            <a:endParaRPr lang="ru-RU" sz="1600" b="1" dirty="0">
              <a:solidFill>
                <a:srgbClr val="0F24E7"/>
              </a:solidFill>
              <a:highlight>
                <a:srgbClr val="FFFF00"/>
              </a:highlight>
              <a:latin typeface="HelveticaNeueCyr" panose="02000503040000020004" pitchFamily="2" charset="-52"/>
            </a:endParaRPr>
          </a:p>
        </p:txBody>
      </p:sp>
      <p:sp>
        <p:nvSpPr>
          <p:cNvPr id="32" name="Прямоугольник 31">
            <a:extLst>
              <a:ext uri="{FF2B5EF4-FFF2-40B4-BE49-F238E27FC236}">
                <a16:creationId xmlns:a16="http://schemas.microsoft.com/office/drawing/2014/main" id="{8324FD6E-5FF3-4AF5-BADE-B4D40EF887B8}"/>
              </a:ext>
            </a:extLst>
          </p:cNvPr>
          <p:cNvSpPr/>
          <p:nvPr/>
        </p:nvSpPr>
        <p:spPr>
          <a:xfrm>
            <a:off x="6184588" y="8342936"/>
            <a:ext cx="3130291" cy="196977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1600" dirty="0">
                <a:solidFill>
                  <a:srgbClr val="002060"/>
                </a:solidFill>
                <a:latin typeface="Unbounded SemiBold" pitchFamily="2" charset="-52"/>
              </a:rPr>
              <a:t>4 видеокарты </a:t>
            </a:r>
            <a:r>
              <a:rPr lang="ru-RU" sz="1600" dirty="0">
                <a:solidFill>
                  <a:schemeClr val="tx1"/>
                </a:solidFill>
                <a:latin typeface="HelveticaNeueCyr" panose="020B0604020202020204" charset="-52"/>
              </a:rPr>
              <a:t>ГП с тензорными сопроцессорами используется для тестов </a:t>
            </a:r>
          </a:p>
          <a:p>
            <a:endParaRPr lang="ru-RU" sz="1000" dirty="0">
              <a:solidFill>
                <a:schemeClr val="tx1"/>
              </a:solidFill>
              <a:latin typeface="HelveticaNeueCyr" panose="020B0604020202020204" charset="-52"/>
            </a:endParaRPr>
          </a:p>
          <a:p>
            <a:r>
              <a:rPr lang="ru-RU" sz="1600" dirty="0">
                <a:solidFill>
                  <a:srgbClr val="002060"/>
                </a:solidFill>
                <a:latin typeface="Unbounded SemiBold" pitchFamily="2" charset="-52"/>
              </a:rPr>
              <a:t>2025 год </a:t>
            </a:r>
            <a:r>
              <a:rPr lang="ru-RU" sz="1600" dirty="0">
                <a:solidFill>
                  <a:schemeClr val="tx1"/>
                </a:solidFill>
                <a:latin typeface="HelveticaNeueCyr" panose="020B0604020202020204" charset="-52"/>
              </a:rPr>
              <a:t>ожидаемый срок основной поставки мощностей в рамках создания кластера ИИ</a:t>
            </a:r>
          </a:p>
        </p:txBody>
      </p:sp>
      <p:sp>
        <p:nvSpPr>
          <p:cNvPr id="33" name="Прямоугольник: скругленные углы 32">
            <a:extLst>
              <a:ext uri="{FF2B5EF4-FFF2-40B4-BE49-F238E27FC236}">
                <a16:creationId xmlns:a16="http://schemas.microsoft.com/office/drawing/2014/main" id="{24D5FA7A-D73C-456D-81E1-CA8E98E87677}"/>
              </a:ext>
            </a:extLst>
          </p:cNvPr>
          <p:cNvSpPr/>
          <p:nvPr/>
        </p:nvSpPr>
        <p:spPr>
          <a:xfrm>
            <a:off x="6195924" y="6675031"/>
            <a:ext cx="3028834" cy="3693138"/>
          </a:xfrm>
          <a:prstGeom prst="roundRect">
            <a:avLst>
              <a:gd name="adj" fmla="val 2436"/>
            </a:avLst>
          </a:prstGeom>
          <a:noFill/>
          <a:ln>
            <a:solidFill>
              <a:srgbClr val="818CF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4" name="Прямоугольник 33">
            <a:extLst>
              <a:ext uri="{FF2B5EF4-FFF2-40B4-BE49-F238E27FC236}">
                <a16:creationId xmlns:a16="http://schemas.microsoft.com/office/drawing/2014/main" id="{FEA672C0-1775-4B9C-9967-7A53A14790A4}"/>
              </a:ext>
            </a:extLst>
          </p:cNvPr>
          <p:cNvSpPr/>
          <p:nvPr/>
        </p:nvSpPr>
        <p:spPr>
          <a:xfrm>
            <a:off x="5849956" y="7335877"/>
            <a:ext cx="3742429" cy="1500098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>
                <a:solidFill>
                  <a:schemeClr val="tx1"/>
                </a:solidFill>
              </a:rPr>
              <a:t>Нужно подумать о формате и месте размещения блока с реализацией в ДИТ</a:t>
            </a:r>
            <a:br>
              <a:rPr lang="ru-RU" dirty="0">
                <a:solidFill>
                  <a:schemeClr val="tx1"/>
                </a:solidFill>
              </a:rPr>
            </a:br>
            <a:br>
              <a:rPr lang="ru-RU" dirty="0">
                <a:solidFill>
                  <a:schemeClr val="tx1"/>
                </a:solidFill>
              </a:rPr>
            </a:br>
            <a:r>
              <a:rPr lang="ru-RU" dirty="0">
                <a:solidFill>
                  <a:schemeClr val="tx1"/>
                </a:solidFill>
              </a:rPr>
              <a:t>Пока он расположен в середине, не отслеживается структура</a:t>
            </a:r>
          </a:p>
        </p:txBody>
      </p:sp>
    </p:spTree>
    <p:extLst>
      <p:ext uri="{BB962C8B-B14F-4D97-AF65-F5344CB8AC3E}">
        <p14:creationId xmlns:p14="http://schemas.microsoft.com/office/powerpoint/2010/main" val="308485495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id="{CADC82BF-0C89-400C-98F4-578F57BE9F4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9FD2042-F21C-415A-9EA3-4A549B5658B7}" type="slidenum">
              <a:rPr kumimoji="0" lang="ru-RU" sz="1600" b="0" i="0" u="none" strike="noStrike" kern="1200" cap="none" spc="0" normalizeH="0" baseline="0" noProof="0" smtClean="0">
                <a:ln>
                  <a:noFill/>
                </a:ln>
                <a:solidFill>
                  <a:srgbClr val="FFFFFF">
                    <a:lumMod val="75000"/>
                  </a:srgbClr>
                </a:solidFill>
                <a:effectLst/>
                <a:uLnTx/>
                <a:uFillTx/>
                <a:latin typeface="Unbounded Light" pitchFamily="2" charset="-52"/>
                <a:sym typeface="Arial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12</a:t>
            </a:fld>
            <a:endParaRPr kumimoji="0" lang="ru-RU" sz="1600" b="0" i="0" u="none" strike="noStrike" kern="1200" cap="none" spc="0" normalizeH="0" baseline="0" noProof="0" dirty="0">
              <a:ln>
                <a:noFill/>
              </a:ln>
              <a:solidFill>
                <a:srgbClr val="FFFFFF">
                  <a:lumMod val="75000"/>
                </a:srgbClr>
              </a:solidFill>
              <a:effectLst/>
              <a:uLnTx/>
              <a:uFillTx/>
              <a:latin typeface="Unbounded Light" pitchFamily="2" charset="-52"/>
              <a:sym typeface="Arial"/>
            </a:endParaRPr>
          </a:p>
        </p:txBody>
      </p:sp>
      <p:sp>
        <p:nvSpPr>
          <p:cNvPr id="7" name="Google Shape;1046;p21">
            <a:extLst>
              <a:ext uri="{FF2B5EF4-FFF2-40B4-BE49-F238E27FC236}">
                <a16:creationId xmlns:a16="http://schemas.microsoft.com/office/drawing/2014/main" id="{BF704CA4-FC90-0D7F-95E2-B0F309C793A4}"/>
              </a:ext>
            </a:extLst>
          </p:cNvPr>
          <p:cNvSpPr/>
          <p:nvPr/>
        </p:nvSpPr>
        <p:spPr>
          <a:xfrm>
            <a:off x="212724" y="266700"/>
            <a:ext cx="11991975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2300"/>
              <a:buFont typeface="Arial"/>
              <a:buNone/>
              <a:tabLst/>
              <a:defRPr/>
            </a:pPr>
            <a:r>
              <a:rPr kumimoji="0" lang="ru-RU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Unbounded Medium"/>
                <a:ea typeface="Unbounded Medium"/>
                <a:cs typeface="Unbounded Medium"/>
                <a:sym typeface="Unbounded Medium"/>
              </a:rPr>
              <a:t>Квантовый компьютер</a:t>
            </a:r>
          </a:p>
        </p:txBody>
      </p:sp>
      <p:sp>
        <p:nvSpPr>
          <p:cNvPr id="8" name="Прямоугольник: скругленные углы 7">
            <a:extLst>
              <a:ext uri="{FF2B5EF4-FFF2-40B4-BE49-F238E27FC236}">
                <a16:creationId xmlns:a16="http://schemas.microsoft.com/office/drawing/2014/main" id="{6EFF3E60-4717-43A8-B9E2-5540B95713D0}"/>
              </a:ext>
            </a:extLst>
          </p:cNvPr>
          <p:cNvSpPr/>
          <p:nvPr/>
        </p:nvSpPr>
        <p:spPr>
          <a:xfrm>
            <a:off x="447671" y="899061"/>
            <a:ext cx="14220832" cy="853540"/>
          </a:xfrm>
          <a:prstGeom prst="roundRect">
            <a:avLst>
              <a:gd name="adj" fmla="val 9260"/>
            </a:avLst>
          </a:prstGeom>
          <a:solidFill>
            <a:srgbClr val="D8DFFF">
              <a:alpha val="4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ru-RU" sz="1800" kern="1200">
                <a:solidFill>
                  <a:schemeClr val="tx1"/>
                </a:solidFill>
                <a:latin typeface="HelveticaNeueCyr" panose="020B0604020202020204" charset="-52"/>
                <a:cs typeface="Wix Madefor Display" panose="020B0503020203020203" pitchFamily="34" charset="-52"/>
              </a:rPr>
              <a:t>устройство, которое выполняет вычисления, основываясь на законах квантовой механики</a:t>
            </a:r>
            <a:endParaRPr lang="ru-RU" sz="1800" kern="1200" dirty="0">
              <a:solidFill>
                <a:schemeClr val="tx1"/>
              </a:solidFill>
              <a:latin typeface="HelveticaNeueCyr" panose="020B0604020202020204" charset="-52"/>
              <a:cs typeface="Wix Madefor Display" panose="020B0503020203020203" pitchFamily="34" charset="-52"/>
            </a:endParaRPr>
          </a:p>
        </p:txBody>
      </p:sp>
      <p:sp>
        <p:nvSpPr>
          <p:cNvPr id="19" name="Прямоугольник: скругленные углы 18">
            <a:extLst>
              <a:ext uri="{FF2B5EF4-FFF2-40B4-BE49-F238E27FC236}">
                <a16:creationId xmlns:a16="http://schemas.microsoft.com/office/drawing/2014/main" id="{ECB0B50F-7BA9-4B61-A6FB-F8BF0EF4501E}"/>
              </a:ext>
            </a:extLst>
          </p:cNvPr>
          <p:cNvSpPr/>
          <p:nvPr/>
        </p:nvSpPr>
        <p:spPr>
          <a:xfrm>
            <a:off x="453669" y="7082757"/>
            <a:ext cx="4143788" cy="558704"/>
          </a:xfrm>
          <a:prstGeom prst="roundRect">
            <a:avLst>
              <a:gd name="adj" fmla="val 9260"/>
            </a:avLst>
          </a:prstGeom>
          <a:solidFill>
            <a:srgbClr val="D8DFFF">
              <a:alpha val="4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ru-RU" sz="1600" b="1" dirty="0">
                <a:solidFill>
                  <a:srgbClr val="222222"/>
                </a:solidFill>
                <a:latin typeface="Unbounded SemiBold" pitchFamily="2" charset="-52"/>
              </a:rPr>
              <a:t>Иностранные производители</a:t>
            </a:r>
            <a:endParaRPr lang="ru-RU" sz="1600" dirty="0">
              <a:latin typeface="Unbounded SemiBold" pitchFamily="2" charset="-52"/>
            </a:endParaRPr>
          </a:p>
        </p:txBody>
      </p:sp>
      <p:sp>
        <p:nvSpPr>
          <p:cNvPr id="20" name="Прямоугольник: скругленные углы 19">
            <a:extLst>
              <a:ext uri="{FF2B5EF4-FFF2-40B4-BE49-F238E27FC236}">
                <a16:creationId xmlns:a16="http://schemas.microsoft.com/office/drawing/2014/main" id="{C772AA5D-EDC1-4139-AA1D-EA16E2C51BA5}"/>
              </a:ext>
            </a:extLst>
          </p:cNvPr>
          <p:cNvSpPr/>
          <p:nvPr/>
        </p:nvSpPr>
        <p:spPr>
          <a:xfrm>
            <a:off x="502441" y="8776862"/>
            <a:ext cx="4095015" cy="558704"/>
          </a:xfrm>
          <a:prstGeom prst="roundRect">
            <a:avLst>
              <a:gd name="adj" fmla="val 9260"/>
            </a:avLst>
          </a:prstGeom>
          <a:solidFill>
            <a:srgbClr val="D8DFFF">
              <a:alpha val="4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ru-RU" sz="1600" b="1" dirty="0">
                <a:solidFill>
                  <a:srgbClr val="222222"/>
                </a:solidFill>
                <a:latin typeface="Unbounded SemiBold" pitchFamily="2" charset="-52"/>
              </a:rPr>
              <a:t>Российские производители</a:t>
            </a:r>
            <a:endParaRPr lang="ru-RU" sz="1600" dirty="0">
              <a:latin typeface="Unbounded SemiBold" pitchFamily="2" charset="-52"/>
            </a:endParaRPr>
          </a:p>
        </p:txBody>
      </p:sp>
      <p:pic>
        <p:nvPicPr>
          <p:cNvPr id="22" name="Рисунок 21">
            <a:extLst>
              <a:ext uri="{FF2B5EF4-FFF2-40B4-BE49-F238E27FC236}">
                <a16:creationId xmlns:a16="http://schemas.microsoft.com/office/drawing/2014/main" id="{F7DABFDE-B079-4CA0-982A-179887B442F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6948" y="9016492"/>
            <a:ext cx="1722044" cy="1163543"/>
          </a:xfrm>
          <a:prstGeom prst="rect">
            <a:avLst/>
          </a:prstGeom>
        </p:spPr>
      </p:pic>
      <p:pic>
        <p:nvPicPr>
          <p:cNvPr id="23" name="Рисунок 22">
            <a:extLst>
              <a:ext uri="{FF2B5EF4-FFF2-40B4-BE49-F238E27FC236}">
                <a16:creationId xmlns:a16="http://schemas.microsoft.com/office/drawing/2014/main" id="{FD3CDF88-7EE6-4CED-939E-AC05214A788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00589" y="9289533"/>
            <a:ext cx="1628345" cy="803995"/>
          </a:xfrm>
          <a:prstGeom prst="rect">
            <a:avLst/>
          </a:prstGeom>
        </p:spPr>
      </p:pic>
      <p:pic>
        <p:nvPicPr>
          <p:cNvPr id="24" name="Рисунок 23">
            <a:extLst>
              <a:ext uri="{FF2B5EF4-FFF2-40B4-BE49-F238E27FC236}">
                <a16:creationId xmlns:a16="http://schemas.microsoft.com/office/drawing/2014/main" id="{6E0F0D40-4D4D-486B-B1F1-50CBD4186A3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983652" y="9260809"/>
            <a:ext cx="1163544" cy="1163544"/>
          </a:xfrm>
          <a:prstGeom prst="rect">
            <a:avLst/>
          </a:prstGeom>
        </p:spPr>
      </p:pic>
      <p:pic>
        <p:nvPicPr>
          <p:cNvPr id="25" name="Рисунок 24">
            <a:extLst>
              <a:ext uri="{FF2B5EF4-FFF2-40B4-BE49-F238E27FC236}">
                <a16:creationId xmlns:a16="http://schemas.microsoft.com/office/drawing/2014/main" id="{67414608-543E-4B8C-B654-C1BF5EC1CA8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67379" y="9837314"/>
            <a:ext cx="1521924" cy="674724"/>
          </a:xfrm>
          <a:prstGeom prst="rect">
            <a:avLst/>
          </a:prstGeom>
        </p:spPr>
      </p:pic>
      <p:sp>
        <p:nvSpPr>
          <p:cNvPr id="27" name="Прямоугольник 26">
            <a:extLst>
              <a:ext uri="{FF2B5EF4-FFF2-40B4-BE49-F238E27FC236}">
                <a16:creationId xmlns:a16="http://schemas.microsoft.com/office/drawing/2014/main" id="{65889190-B890-49B4-AA07-AC53E940126F}"/>
              </a:ext>
            </a:extLst>
          </p:cNvPr>
          <p:cNvSpPr/>
          <p:nvPr/>
        </p:nvSpPr>
        <p:spPr>
          <a:xfrm>
            <a:off x="447671" y="1937651"/>
            <a:ext cx="4143788" cy="449353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1600" b="1" dirty="0">
                <a:solidFill>
                  <a:srgbClr val="222222"/>
                </a:solidFill>
                <a:latin typeface="Unbounded SemiBold" pitchFamily="2" charset="-52"/>
              </a:rPr>
              <a:t>Особенности:</a:t>
            </a:r>
            <a:endParaRPr lang="ru-RU" sz="1600" dirty="0">
              <a:solidFill>
                <a:schemeClr val="tx1"/>
              </a:solidFill>
              <a:latin typeface="Unbounded SemiBold" pitchFamily="2" charset="-52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600" dirty="0">
                <a:solidFill>
                  <a:srgbClr val="222222"/>
                </a:solidFill>
                <a:latin typeface="HelveticaNeueCyr" panose="020B0604020202020204" charset="-52"/>
              </a:rPr>
              <a:t>Работа на основе принципов квантовой механики, основной элемент – квантовый бит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600" dirty="0">
                <a:solidFill>
                  <a:srgbClr val="222222"/>
                </a:solidFill>
                <a:latin typeface="HelveticaNeueCyr" panose="020B0604020202020204" charset="-52"/>
              </a:rPr>
              <a:t>Параллельная обработка данных</a:t>
            </a:r>
            <a:br>
              <a:rPr lang="ru-RU" sz="1600" dirty="0">
                <a:solidFill>
                  <a:srgbClr val="222222"/>
                </a:solidFill>
                <a:latin typeface="HelveticaNeueCyr" panose="020B0604020202020204" charset="-52"/>
              </a:rPr>
            </a:br>
            <a:r>
              <a:rPr lang="ru-RU" sz="1600" dirty="0">
                <a:solidFill>
                  <a:srgbClr val="222222"/>
                </a:solidFill>
                <a:latin typeface="HelveticaNeueCyr" panose="020B0604020202020204" charset="-52"/>
              </a:rPr>
              <a:t>с возможностью одновременного перебора всех вариантов ответов</a:t>
            </a:r>
          </a:p>
          <a:p>
            <a:endParaRPr lang="ru-RU" sz="700" dirty="0">
              <a:solidFill>
                <a:srgbClr val="222222"/>
              </a:solidFill>
              <a:latin typeface="HelveticaNeueCyr" panose="020B0604020202020204" charset="-52"/>
            </a:endParaRPr>
          </a:p>
          <a:p>
            <a:r>
              <a:rPr lang="ru-RU" sz="1600" b="1" dirty="0">
                <a:solidFill>
                  <a:srgbClr val="222222"/>
                </a:solidFill>
                <a:latin typeface="Unbounded SemiBold" pitchFamily="2" charset="-52"/>
              </a:rPr>
              <a:t>Сценарии применения: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600" dirty="0">
                <a:latin typeface="HelveticaNeueCyr" panose="020B0604020202020204" charset="-52"/>
              </a:rPr>
              <a:t>Решение узкоспециализированных задач: молекулярное моделирование, разработка новых алгоритмов для криптографии</a:t>
            </a:r>
            <a:br>
              <a:rPr lang="ru-RU" sz="1600" dirty="0">
                <a:latin typeface="HelveticaNeueCyr" panose="020B0604020202020204" charset="-52"/>
              </a:rPr>
            </a:br>
            <a:r>
              <a:rPr lang="ru-RU" sz="1600" dirty="0">
                <a:latin typeface="HelveticaNeueCyr" panose="020B0604020202020204" charset="-52"/>
              </a:rPr>
              <a:t>и безопасности, биоинформатика и др.</a:t>
            </a:r>
          </a:p>
          <a:p>
            <a:endParaRPr lang="ru-RU" sz="700" b="1" dirty="0">
              <a:solidFill>
                <a:srgbClr val="222222"/>
              </a:solidFill>
              <a:latin typeface="Unbounded SemiBold" pitchFamily="2" charset="-52"/>
            </a:endParaRPr>
          </a:p>
          <a:p>
            <a:r>
              <a:rPr lang="ru-RU" sz="1600" b="1" dirty="0">
                <a:solidFill>
                  <a:srgbClr val="222222"/>
                </a:solidFill>
                <a:latin typeface="Unbounded SemiBold" pitchFamily="2" charset="-52"/>
              </a:rPr>
              <a:t>Применение в ИИ: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600" dirty="0">
                <a:latin typeface="HelveticaNeueCyr" panose="020B0604020202020204" charset="-52"/>
              </a:rPr>
              <a:t>Обработка больших объемов данных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600" dirty="0">
                <a:latin typeface="HelveticaNeueCyr" panose="020B0604020202020204" charset="-52"/>
              </a:rPr>
              <a:t>Обучение моделей для классификации и кластеризации</a:t>
            </a:r>
          </a:p>
        </p:txBody>
      </p:sp>
      <p:pic>
        <p:nvPicPr>
          <p:cNvPr id="28" name="Рисунок 27">
            <a:extLst>
              <a:ext uri="{FF2B5EF4-FFF2-40B4-BE49-F238E27FC236}">
                <a16:creationId xmlns:a16="http://schemas.microsoft.com/office/drawing/2014/main" id="{24AFE4E2-8CB5-42FA-9DB8-35C441797301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1019" y="8241972"/>
            <a:ext cx="1434957" cy="508971"/>
          </a:xfrm>
          <a:prstGeom prst="rect">
            <a:avLst/>
          </a:prstGeom>
        </p:spPr>
      </p:pic>
      <p:pic>
        <p:nvPicPr>
          <p:cNvPr id="29" name="Рисунок 28">
            <a:extLst>
              <a:ext uri="{FF2B5EF4-FFF2-40B4-BE49-F238E27FC236}">
                <a16:creationId xmlns:a16="http://schemas.microsoft.com/office/drawing/2014/main" id="{98FC9B0D-8D05-43B6-898D-13DC3F6F5E2C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14400" y="7785864"/>
            <a:ext cx="998703" cy="354389"/>
          </a:xfrm>
          <a:prstGeom prst="rect">
            <a:avLst/>
          </a:prstGeom>
        </p:spPr>
      </p:pic>
      <p:pic>
        <p:nvPicPr>
          <p:cNvPr id="30" name="Рисунок 29">
            <a:extLst>
              <a:ext uri="{FF2B5EF4-FFF2-40B4-BE49-F238E27FC236}">
                <a16:creationId xmlns:a16="http://schemas.microsoft.com/office/drawing/2014/main" id="{A41F4DD5-408A-4300-9101-74717325A31F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601850" y="7800587"/>
            <a:ext cx="995606" cy="353290"/>
          </a:xfrm>
          <a:prstGeom prst="rect">
            <a:avLst/>
          </a:prstGeom>
        </p:spPr>
      </p:pic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A7FC44E0-40EB-49CF-A55C-F390F9C0C934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321183" y="7871144"/>
            <a:ext cx="992109" cy="719279"/>
          </a:xfrm>
          <a:prstGeom prst="rect">
            <a:avLst/>
          </a:prstGeom>
        </p:spPr>
      </p:pic>
      <p:sp>
        <p:nvSpPr>
          <p:cNvPr id="32" name="Прямоугольник: скругленные углы 31">
            <a:extLst>
              <a:ext uri="{FF2B5EF4-FFF2-40B4-BE49-F238E27FC236}">
                <a16:creationId xmlns:a16="http://schemas.microsoft.com/office/drawing/2014/main" id="{9A48DB04-7AD2-4548-A8A7-22F45306F562}"/>
              </a:ext>
            </a:extLst>
          </p:cNvPr>
          <p:cNvSpPr/>
          <p:nvPr/>
        </p:nvSpPr>
        <p:spPr>
          <a:xfrm>
            <a:off x="5030198" y="8302215"/>
            <a:ext cx="4519430" cy="558704"/>
          </a:xfrm>
          <a:prstGeom prst="roundRect">
            <a:avLst>
              <a:gd name="adj" fmla="val 9260"/>
            </a:avLst>
          </a:prstGeom>
          <a:solidFill>
            <a:srgbClr val="0F24E7">
              <a:alpha val="4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ru-RU" sz="1600" b="1" dirty="0">
                <a:solidFill>
                  <a:srgbClr val="222222"/>
                </a:solidFill>
                <a:latin typeface="Unbounded SemiBold" pitchFamily="2" charset="-52"/>
              </a:rPr>
              <a:t>Реализация в ДИТ</a:t>
            </a:r>
            <a:endParaRPr lang="ru-RU" sz="1600" dirty="0">
              <a:latin typeface="Unbounded SemiBold" pitchFamily="2" charset="-52"/>
            </a:endParaRPr>
          </a:p>
        </p:txBody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336FD43F-AB97-4828-839F-C1985DE99A55}"/>
              </a:ext>
            </a:extLst>
          </p:cNvPr>
          <p:cNvSpPr/>
          <p:nvPr/>
        </p:nvSpPr>
        <p:spPr>
          <a:xfrm>
            <a:off x="9896054" y="1970351"/>
            <a:ext cx="4717680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1600" dirty="0">
                <a:latin typeface="Unbounded SemiBold" pitchFamily="2" charset="-52"/>
              </a:rPr>
              <a:t>Развитие мирового рынка квантовых вычислений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600" dirty="0" err="1">
                <a:latin typeface="HelveticaNeueCyr" panose="020B0604020202020204" charset="-52"/>
              </a:rPr>
              <a:t>Google</a:t>
            </a:r>
            <a:r>
              <a:rPr lang="ru-RU" sz="1600" dirty="0">
                <a:latin typeface="HelveticaNeueCyr" panose="020B0604020202020204" charset="-52"/>
              </a:rPr>
              <a:t> намерена показать устройство</a:t>
            </a:r>
            <a:br>
              <a:rPr lang="ru-RU" sz="1600" dirty="0">
                <a:latin typeface="HelveticaNeueCyr" panose="020B0604020202020204" charset="-52"/>
              </a:rPr>
            </a:br>
            <a:r>
              <a:rPr lang="ru-RU" sz="1600" dirty="0">
                <a:latin typeface="HelveticaNeueCyr" panose="020B0604020202020204" charset="-52"/>
              </a:rPr>
              <a:t>на 1 000 </a:t>
            </a:r>
            <a:r>
              <a:rPr lang="ru-RU" sz="1600" dirty="0" err="1">
                <a:latin typeface="HelveticaNeueCyr" panose="020B0604020202020204" charset="-52"/>
              </a:rPr>
              <a:t>кубитов</a:t>
            </a:r>
            <a:r>
              <a:rPr lang="ru-RU" sz="1600" dirty="0">
                <a:latin typeface="HelveticaNeueCyr" panose="020B0604020202020204" charset="-52"/>
              </a:rPr>
              <a:t> после 2025 года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600" dirty="0">
                <a:latin typeface="HelveticaNeueCyr" panose="020B0604020202020204" charset="-52"/>
              </a:rPr>
              <a:t>IBM в октябре 2024 года открыла свой первый квантовый центр обработки данных</a:t>
            </a:r>
            <a:br>
              <a:rPr lang="ru-RU" sz="1600" dirty="0">
                <a:latin typeface="HelveticaNeueCyr" panose="020B0604020202020204" charset="-52"/>
              </a:rPr>
            </a:br>
            <a:r>
              <a:rPr lang="ru-RU" sz="1600" dirty="0">
                <a:latin typeface="HelveticaNeueCyr" panose="020B0604020202020204" charset="-52"/>
              </a:rPr>
              <a:t>в Европе, а также объявила о создании модульной системы, способной поддерживать до 16 632 </a:t>
            </a:r>
            <a:r>
              <a:rPr lang="ru-RU" sz="1600" dirty="0" err="1">
                <a:latin typeface="HelveticaNeueCyr" panose="020B0604020202020204" charset="-52"/>
              </a:rPr>
              <a:t>кубитов</a:t>
            </a:r>
            <a:endParaRPr lang="ru-RU" sz="1600" dirty="0">
              <a:latin typeface="HelveticaNeueCyr" panose="020B0604020202020204" charset="-52"/>
            </a:endParaRPr>
          </a:p>
        </p:txBody>
      </p:sp>
      <p:sp>
        <p:nvSpPr>
          <p:cNvPr id="9" name="Прямоугольник 8">
            <a:extLst>
              <a:ext uri="{FF2B5EF4-FFF2-40B4-BE49-F238E27FC236}">
                <a16:creationId xmlns:a16="http://schemas.microsoft.com/office/drawing/2014/main" id="{C39181CE-AACA-4F2A-B3E6-697E8508EAA3}"/>
              </a:ext>
            </a:extLst>
          </p:cNvPr>
          <p:cNvSpPr/>
          <p:nvPr/>
        </p:nvSpPr>
        <p:spPr>
          <a:xfrm>
            <a:off x="9936883" y="7347924"/>
            <a:ext cx="4615196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b="1" dirty="0">
                <a:solidFill>
                  <a:srgbClr val="0F24E7"/>
                </a:solidFill>
                <a:latin typeface="HelveticaNeueCyr" panose="020B0604020202020204" charset="-52"/>
              </a:rPr>
              <a:t>Сумма инвестиций в квантовые разработки</a:t>
            </a:r>
            <a:br>
              <a:rPr lang="ru-RU" b="1" dirty="0">
                <a:solidFill>
                  <a:srgbClr val="0F24E7"/>
                </a:solidFill>
                <a:latin typeface="HelveticaNeueCyr" panose="020B0604020202020204" charset="-52"/>
              </a:rPr>
            </a:br>
            <a:r>
              <a:rPr lang="ru-RU" b="1" dirty="0">
                <a:solidFill>
                  <a:srgbClr val="0F24E7"/>
                </a:solidFill>
                <a:latin typeface="HelveticaNeueCyr" panose="020B0604020202020204" charset="-52"/>
              </a:rPr>
              <a:t>в мире, млн </a:t>
            </a:r>
            <a:r>
              <a:rPr lang="en-US" b="1" dirty="0">
                <a:solidFill>
                  <a:srgbClr val="0F24E7"/>
                </a:solidFill>
                <a:latin typeface="HelveticaNeueCyr" panose="020B0604020202020204" charset="-52"/>
              </a:rPr>
              <a:t>$</a:t>
            </a:r>
            <a:r>
              <a:rPr lang="ru-RU" b="1" dirty="0">
                <a:solidFill>
                  <a:srgbClr val="0F24E7"/>
                </a:solidFill>
                <a:latin typeface="HelveticaNeueCyr" panose="020B0604020202020204" charset="-52"/>
              </a:rPr>
              <a:t> </a:t>
            </a:r>
            <a:endParaRPr lang="ru-RU" b="1" dirty="0">
              <a:solidFill>
                <a:srgbClr val="0F24E7"/>
              </a:solidFill>
            </a:endParaRPr>
          </a:p>
        </p:txBody>
      </p:sp>
      <p:graphicFrame>
        <p:nvGraphicFramePr>
          <p:cNvPr id="35" name="Диаграмма 34">
            <a:extLst>
              <a:ext uri="{FF2B5EF4-FFF2-40B4-BE49-F238E27FC236}">
                <a16:creationId xmlns:a16="http://schemas.microsoft.com/office/drawing/2014/main" id="{5C5E5E02-B05C-4ACF-8A5E-2B85D0816B89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967731015"/>
              </p:ext>
            </p:extLst>
          </p:nvPr>
        </p:nvGraphicFramePr>
        <p:xfrm>
          <a:off x="9936883" y="7903784"/>
          <a:ext cx="4676851" cy="210529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1"/>
          </a:graphicData>
        </a:graphic>
      </p:graphicFrame>
      <p:sp>
        <p:nvSpPr>
          <p:cNvPr id="36" name="Прямоугольник: скругленные углы 35">
            <a:extLst>
              <a:ext uri="{FF2B5EF4-FFF2-40B4-BE49-F238E27FC236}">
                <a16:creationId xmlns:a16="http://schemas.microsoft.com/office/drawing/2014/main" id="{7D8270D8-3F1C-48C5-AE80-B2A3812F8924}"/>
              </a:ext>
            </a:extLst>
          </p:cNvPr>
          <p:cNvSpPr/>
          <p:nvPr/>
        </p:nvSpPr>
        <p:spPr>
          <a:xfrm>
            <a:off x="9896054" y="6687302"/>
            <a:ext cx="4717680" cy="558704"/>
          </a:xfrm>
          <a:prstGeom prst="roundRect">
            <a:avLst>
              <a:gd name="adj" fmla="val 9260"/>
            </a:avLst>
          </a:prstGeom>
          <a:solidFill>
            <a:srgbClr val="EFF2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ru-RU" sz="1600" b="1" dirty="0">
                <a:solidFill>
                  <a:srgbClr val="222222"/>
                </a:solidFill>
                <a:latin typeface="Unbounded SemiBold" pitchFamily="2" charset="-52"/>
              </a:rPr>
              <a:t>Объем частных инвестиций в КТ</a:t>
            </a:r>
          </a:p>
        </p:txBody>
      </p:sp>
      <p:sp>
        <p:nvSpPr>
          <p:cNvPr id="38" name="Прямоугольник 37">
            <a:extLst>
              <a:ext uri="{FF2B5EF4-FFF2-40B4-BE49-F238E27FC236}">
                <a16:creationId xmlns:a16="http://schemas.microsoft.com/office/drawing/2014/main" id="{F58168E8-EDC1-43D2-9B76-22A10BACFD96}"/>
              </a:ext>
            </a:extLst>
          </p:cNvPr>
          <p:cNvSpPr/>
          <p:nvPr/>
        </p:nvSpPr>
        <p:spPr>
          <a:xfrm>
            <a:off x="5003800" y="2751028"/>
            <a:ext cx="4540056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600" dirty="0">
                <a:solidFill>
                  <a:srgbClr val="222222"/>
                </a:solidFill>
                <a:latin typeface="HelveticaNeueCyr" panose="020B0604020202020204" charset="-52"/>
              </a:rPr>
              <a:t>Фокус на рост количества </a:t>
            </a:r>
            <a:r>
              <a:rPr lang="ru-RU" sz="1600" dirty="0" err="1">
                <a:solidFill>
                  <a:srgbClr val="222222"/>
                </a:solidFill>
                <a:latin typeface="HelveticaNeueCyr" panose="020B0604020202020204" charset="-52"/>
              </a:rPr>
              <a:t>кубитов</a:t>
            </a:r>
            <a:endParaRPr lang="ru-RU" sz="1600" dirty="0">
              <a:solidFill>
                <a:srgbClr val="222222"/>
              </a:solidFill>
              <a:latin typeface="HelveticaNeueCyr" panose="020B0604020202020204" charset="-52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600" dirty="0">
                <a:solidFill>
                  <a:srgbClr val="222222"/>
                </a:solidFill>
                <a:latin typeface="HelveticaNeueCyr" panose="020B0604020202020204" charset="-52"/>
              </a:rPr>
              <a:t>Повышение точности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600" dirty="0">
                <a:solidFill>
                  <a:srgbClr val="222222"/>
                </a:solidFill>
                <a:latin typeface="HelveticaNeueCyr" panose="020B0604020202020204" charset="-52"/>
              </a:rPr>
              <a:t>Квантовая коррекция ошибки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600" dirty="0">
                <a:latin typeface="HelveticaNeueCyr" panose="020B0604020202020204" charset="-52"/>
              </a:rPr>
              <a:t>Потенциальное расширение фокуса</a:t>
            </a:r>
            <a:br>
              <a:rPr lang="ru-RU" sz="1600" dirty="0">
                <a:latin typeface="HelveticaNeueCyr" panose="020B0604020202020204" charset="-52"/>
              </a:rPr>
            </a:br>
            <a:r>
              <a:rPr lang="ru-RU" sz="1600" dirty="0">
                <a:latin typeface="HelveticaNeueCyr" panose="020B0604020202020204" charset="-52"/>
              </a:rPr>
              <a:t>с роста количества </a:t>
            </a:r>
            <a:r>
              <a:rPr lang="ru-RU" sz="1600" dirty="0" err="1">
                <a:latin typeface="HelveticaNeueCyr" panose="020B0604020202020204" charset="-52"/>
              </a:rPr>
              <a:t>кубитов</a:t>
            </a:r>
            <a:r>
              <a:rPr lang="ru-RU" sz="1600" dirty="0">
                <a:latin typeface="HelveticaNeueCyr" panose="020B0604020202020204" charset="-52"/>
              </a:rPr>
              <a:t> на другие направления: снижение шума с целью повышения точности, обеспечение возможности загрузки данных в квантовый компьютер и др.</a:t>
            </a:r>
            <a:endParaRPr lang="ru-RU" sz="1600" dirty="0">
              <a:highlight>
                <a:srgbClr val="FFFF00"/>
              </a:highlight>
              <a:latin typeface="HelveticaNeueCyr" panose="020B0604020202020204" charset="-52"/>
            </a:endParaRPr>
          </a:p>
        </p:txBody>
      </p:sp>
      <p:sp>
        <p:nvSpPr>
          <p:cNvPr id="39" name="Прямоугольник: скругленные углы 38">
            <a:extLst>
              <a:ext uri="{FF2B5EF4-FFF2-40B4-BE49-F238E27FC236}">
                <a16:creationId xmlns:a16="http://schemas.microsoft.com/office/drawing/2014/main" id="{C1C72FCA-C328-4F9B-806B-B2C0325B2E0B}"/>
              </a:ext>
            </a:extLst>
          </p:cNvPr>
          <p:cNvSpPr/>
          <p:nvPr/>
        </p:nvSpPr>
        <p:spPr>
          <a:xfrm>
            <a:off x="5035969" y="1937624"/>
            <a:ext cx="4513659" cy="748886"/>
          </a:xfrm>
          <a:prstGeom prst="roundRect">
            <a:avLst>
              <a:gd name="adj" fmla="val 9260"/>
            </a:avLst>
          </a:prstGeom>
          <a:solidFill>
            <a:srgbClr val="0F24E7">
              <a:alpha val="4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ru-RU" sz="1600" dirty="0">
                <a:solidFill>
                  <a:srgbClr val="222222"/>
                </a:solidFill>
                <a:latin typeface="Unbounded SemiBold" pitchFamily="2" charset="-52"/>
              </a:rPr>
              <a:t>Основные тренды на рынке квантовых вычислений</a:t>
            </a:r>
          </a:p>
        </p:txBody>
      </p:sp>
      <p:sp>
        <p:nvSpPr>
          <p:cNvPr id="40" name="Прямоугольник: скругленные углы 39">
            <a:extLst>
              <a:ext uri="{FF2B5EF4-FFF2-40B4-BE49-F238E27FC236}">
                <a16:creationId xmlns:a16="http://schemas.microsoft.com/office/drawing/2014/main" id="{68771CCD-4157-4609-9275-FB03F9B30277}"/>
              </a:ext>
            </a:extLst>
          </p:cNvPr>
          <p:cNvSpPr/>
          <p:nvPr/>
        </p:nvSpPr>
        <p:spPr>
          <a:xfrm>
            <a:off x="5035970" y="5174459"/>
            <a:ext cx="4502116" cy="558704"/>
          </a:xfrm>
          <a:prstGeom prst="roundRect">
            <a:avLst>
              <a:gd name="adj" fmla="val 9260"/>
            </a:avLst>
          </a:prstGeom>
          <a:solidFill>
            <a:srgbClr val="EFF2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ru-RU" sz="1600" b="1" dirty="0">
                <a:solidFill>
                  <a:srgbClr val="222222"/>
                </a:solidFill>
                <a:latin typeface="Unbounded SemiBold" pitchFamily="2" charset="-52"/>
              </a:rPr>
              <a:t>Государственные инвестиции</a:t>
            </a:r>
          </a:p>
        </p:txBody>
      </p:sp>
      <p:sp>
        <p:nvSpPr>
          <p:cNvPr id="12" name="Прямоугольник 11">
            <a:extLst>
              <a:ext uri="{FF2B5EF4-FFF2-40B4-BE49-F238E27FC236}">
                <a16:creationId xmlns:a16="http://schemas.microsoft.com/office/drawing/2014/main" id="{08F3AFBD-4655-4BDE-B39A-74FEDAED818D}"/>
              </a:ext>
            </a:extLst>
          </p:cNvPr>
          <p:cNvSpPr/>
          <p:nvPr/>
        </p:nvSpPr>
        <p:spPr>
          <a:xfrm>
            <a:off x="5048669" y="5737649"/>
            <a:ext cx="4118242" cy="132343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1600" b="1" dirty="0">
                <a:solidFill>
                  <a:srgbClr val="0F24E7"/>
                </a:solidFill>
                <a:latin typeface="HelveticaNeueCyr" panose="020B0604020202020204" charset="-52"/>
              </a:rPr>
              <a:t>Китай</a:t>
            </a:r>
            <a:r>
              <a:rPr lang="ru-RU" sz="1600" dirty="0">
                <a:solidFill>
                  <a:srgbClr val="222222"/>
                </a:solidFill>
                <a:latin typeface="HelveticaNeueCyr" panose="020B0604020202020204" charset="-52"/>
              </a:rPr>
              <a:t> является лидером</a:t>
            </a:r>
            <a:br>
              <a:rPr lang="ru-RU" sz="1600" dirty="0">
                <a:solidFill>
                  <a:srgbClr val="222222"/>
                </a:solidFill>
                <a:latin typeface="HelveticaNeueCyr" panose="020B0604020202020204" charset="-52"/>
              </a:rPr>
            </a:br>
            <a:r>
              <a:rPr lang="ru-RU" sz="1600" dirty="0">
                <a:solidFill>
                  <a:srgbClr val="222222"/>
                </a:solidFill>
                <a:latin typeface="HelveticaNeueCyr" panose="020B0604020202020204" charset="-52"/>
              </a:rPr>
              <a:t>по госфинансированию квантовых</a:t>
            </a:r>
            <a:r>
              <a:rPr lang="en-US" sz="1600" dirty="0">
                <a:solidFill>
                  <a:srgbClr val="222222"/>
                </a:solidFill>
                <a:latin typeface="HelveticaNeueCyr" panose="020B0604020202020204" charset="-52"/>
              </a:rPr>
              <a:t> </a:t>
            </a:r>
            <a:r>
              <a:rPr lang="ru-RU" sz="1600" dirty="0">
                <a:solidFill>
                  <a:srgbClr val="222222"/>
                </a:solidFill>
                <a:latin typeface="HelveticaNeueCyr" panose="020B0604020202020204" charset="-52"/>
              </a:rPr>
              <a:t>технологий (КТ) с объемом </a:t>
            </a:r>
            <a:r>
              <a:rPr lang="ru-RU" sz="1600" b="1" dirty="0">
                <a:solidFill>
                  <a:srgbClr val="0F24E7"/>
                </a:solidFill>
                <a:latin typeface="HelveticaNeueCyr" panose="020B0604020202020204" charset="-52"/>
              </a:rPr>
              <a:t>15,3 млрд $</a:t>
            </a:r>
            <a:r>
              <a:rPr lang="ru-RU" sz="1600" dirty="0">
                <a:solidFill>
                  <a:schemeClr val="tx1"/>
                </a:solidFill>
                <a:latin typeface="HelveticaNeueCyr" panose="020B0604020202020204" charset="-52"/>
              </a:rPr>
              <a:t>, </a:t>
            </a:r>
            <a:br>
              <a:rPr lang="ru-RU" sz="1600" dirty="0">
                <a:solidFill>
                  <a:schemeClr val="tx1"/>
                </a:solidFill>
                <a:latin typeface="HelveticaNeueCyr" panose="020B0604020202020204" charset="-52"/>
              </a:rPr>
            </a:br>
            <a:r>
              <a:rPr lang="ru-RU" sz="1600" dirty="0" err="1">
                <a:solidFill>
                  <a:schemeClr val="tx1"/>
                </a:solidFill>
                <a:latin typeface="HelveticaNeueCyr" panose="020B0604020202020204" charset="-52"/>
              </a:rPr>
              <a:t>обогоняя</a:t>
            </a:r>
            <a:r>
              <a:rPr lang="ru-RU" sz="1600" dirty="0">
                <a:solidFill>
                  <a:schemeClr val="tx1"/>
                </a:solidFill>
                <a:latin typeface="HelveticaNeueCyr" panose="020B0604020202020204" charset="-52"/>
              </a:rPr>
              <a:t> Евросоюз с </a:t>
            </a:r>
            <a:r>
              <a:rPr lang="ru-RU" sz="1600" b="1" dirty="0">
                <a:solidFill>
                  <a:srgbClr val="0F24E7"/>
                </a:solidFill>
                <a:latin typeface="HelveticaNeueCyr" panose="020B0604020202020204" charset="-52"/>
              </a:rPr>
              <a:t>8,4 млрд $</a:t>
            </a:r>
            <a:br>
              <a:rPr lang="ru-RU" sz="1600" b="1" dirty="0">
                <a:solidFill>
                  <a:srgbClr val="0F24E7"/>
                </a:solidFill>
                <a:latin typeface="HelveticaNeueCyr" panose="020B0604020202020204" charset="-52"/>
              </a:rPr>
            </a:br>
            <a:r>
              <a:rPr lang="ru-RU" sz="1600" dirty="0">
                <a:solidFill>
                  <a:schemeClr val="tx1"/>
                </a:solidFill>
                <a:latin typeface="HelveticaNeueCyr" panose="020B0604020202020204" charset="-52"/>
              </a:rPr>
              <a:t>и США с </a:t>
            </a:r>
            <a:r>
              <a:rPr lang="ru-RU" sz="1600" b="1" dirty="0">
                <a:solidFill>
                  <a:srgbClr val="0F24E7"/>
                </a:solidFill>
                <a:latin typeface="HelveticaNeueCyr" panose="020B0604020202020204" charset="-52"/>
              </a:rPr>
              <a:t>3,7 млрд $</a:t>
            </a:r>
            <a:endParaRPr lang="ru-RU" sz="1600" b="1" dirty="0">
              <a:solidFill>
                <a:srgbClr val="0F24E7"/>
              </a:solidFill>
              <a:highlight>
                <a:srgbClr val="FFFF00"/>
              </a:highlight>
              <a:latin typeface="HelveticaNeueCyr" panose="020B0604020202020204" charset="-52"/>
            </a:endParaRPr>
          </a:p>
        </p:txBody>
      </p:sp>
      <p:sp>
        <p:nvSpPr>
          <p:cNvPr id="42" name="Прямоугольник 41">
            <a:extLst>
              <a:ext uri="{FF2B5EF4-FFF2-40B4-BE49-F238E27FC236}">
                <a16:creationId xmlns:a16="http://schemas.microsoft.com/office/drawing/2014/main" id="{43D2D37B-5C3B-4D35-A99E-84B1244C1BAA}"/>
              </a:ext>
            </a:extLst>
          </p:cNvPr>
          <p:cNvSpPr/>
          <p:nvPr/>
        </p:nvSpPr>
        <p:spPr>
          <a:xfrm>
            <a:off x="9936883" y="4344414"/>
            <a:ext cx="4821786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1600" dirty="0">
                <a:latin typeface="Unbounded SemiBold" pitchFamily="2" charset="-52"/>
              </a:rPr>
              <a:t>Проблемы рынка квантовых компьютеров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600" dirty="0">
                <a:latin typeface="HelveticaNeueCyr" panose="020B0604020202020204" charset="-52"/>
              </a:rPr>
              <a:t>Высокая стоимость и техническая сложность создания и обслуживания компьютеров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600" dirty="0">
                <a:latin typeface="HelveticaNeueCyr" panose="020B0604020202020204" charset="-52"/>
              </a:rPr>
              <a:t>Мало вариантов использования в реальных задачах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600" dirty="0">
                <a:latin typeface="HelveticaNeueCyr" panose="020B0604020202020204" charset="-52"/>
              </a:rPr>
              <a:t>Сложность создания и поддержки </a:t>
            </a:r>
            <a:r>
              <a:rPr lang="ru-RU" sz="1600" dirty="0" err="1">
                <a:latin typeface="HelveticaNeueCyr" panose="020B0604020202020204" charset="-52"/>
              </a:rPr>
              <a:t>кубитов</a:t>
            </a:r>
            <a:br>
              <a:rPr lang="ru-RU" sz="1600" dirty="0">
                <a:latin typeface="HelveticaNeueCyr" panose="020B0604020202020204" charset="-52"/>
              </a:rPr>
            </a:br>
            <a:r>
              <a:rPr lang="ru-RU" sz="1600" dirty="0">
                <a:latin typeface="HelveticaNeueCyr" panose="020B0604020202020204" charset="-52"/>
              </a:rPr>
              <a:t>в стабильном состоянии (температура помещения, вибрации)</a:t>
            </a:r>
          </a:p>
        </p:txBody>
      </p:sp>
      <p:sp>
        <p:nvSpPr>
          <p:cNvPr id="43" name="Прямоугольник: скругленные углы 42">
            <a:extLst>
              <a:ext uri="{FF2B5EF4-FFF2-40B4-BE49-F238E27FC236}">
                <a16:creationId xmlns:a16="http://schemas.microsoft.com/office/drawing/2014/main" id="{89993C67-FC84-4404-B01D-886D81EBAD87}"/>
              </a:ext>
            </a:extLst>
          </p:cNvPr>
          <p:cNvSpPr/>
          <p:nvPr/>
        </p:nvSpPr>
        <p:spPr>
          <a:xfrm>
            <a:off x="5016918" y="7198058"/>
            <a:ext cx="4507887" cy="870326"/>
          </a:xfrm>
          <a:prstGeom prst="roundRect">
            <a:avLst>
              <a:gd name="adj" fmla="val 9260"/>
            </a:avLst>
          </a:prstGeom>
          <a:solidFill>
            <a:srgbClr val="EFF2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ru-RU" sz="1600" b="1" dirty="0">
                <a:solidFill>
                  <a:srgbClr val="0F24E7"/>
                </a:solidFill>
                <a:latin typeface="HelveticaNeueCyr" panose="020B0604020202020204" charset="-52"/>
              </a:rPr>
              <a:t>IBM </a:t>
            </a:r>
            <a:r>
              <a:rPr lang="ru-RU" sz="1600" b="1" dirty="0" err="1">
                <a:solidFill>
                  <a:srgbClr val="0F24E7"/>
                </a:solidFill>
                <a:latin typeface="HelveticaNeueCyr" panose="020B0604020202020204" charset="-52"/>
              </a:rPr>
              <a:t>Quantum</a:t>
            </a:r>
            <a:r>
              <a:rPr lang="ru-RU" sz="1600" b="1" dirty="0">
                <a:solidFill>
                  <a:srgbClr val="0F24E7"/>
                </a:solidFill>
                <a:latin typeface="HelveticaNeueCyr" panose="020B0604020202020204" charset="-52"/>
              </a:rPr>
              <a:t> </a:t>
            </a:r>
            <a:r>
              <a:rPr lang="ru-RU" sz="1600" b="1" dirty="0" err="1">
                <a:solidFill>
                  <a:srgbClr val="0F24E7"/>
                </a:solidFill>
                <a:latin typeface="HelveticaNeueCyr" panose="020B0604020202020204" charset="-52"/>
              </a:rPr>
              <a:t>Condor</a:t>
            </a:r>
            <a:r>
              <a:rPr lang="ru-RU" sz="1600" b="1" dirty="0">
                <a:solidFill>
                  <a:srgbClr val="0F24E7"/>
                </a:solidFill>
                <a:latin typeface="HelveticaNeueCyr" panose="020B0604020202020204" charset="-52"/>
              </a:rPr>
              <a:t> </a:t>
            </a:r>
            <a:r>
              <a:rPr lang="ru-RU" sz="1600" dirty="0">
                <a:solidFill>
                  <a:schemeClr val="tx1"/>
                </a:solidFill>
                <a:latin typeface="HelveticaNeueCyr" panose="020B0604020202020204" charset="-52"/>
              </a:rPr>
              <a:t>– самый мощный квантовый компьютер на сегодняшний день, имеющий </a:t>
            </a:r>
            <a:r>
              <a:rPr lang="ru-RU" sz="1600" b="1" dirty="0">
                <a:solidFill>
                  <a:schemeClr val="tx1"/>
                </a:solidFill>
                <a:latin typeface="HelveticaNeueCyr" panose="020B0604020202020204" charset="-52"/>
              </a:rPr>
              <a:t>433 </a:t>
            </a:r>
            <a:r>
              <a:rPr lang="ru-RU" sz="1600" b="1" dirty="0" err="1">
                <a:solidFill>
                  <a:schemeClr val="tx1"/>
                </a:solidFill>
                <a:latin typeface="HelveticaNeueCyr" panose="020B0604020202020204" charset="-52"/>
              </a:rPr>
              <a:t>кубита</a:t>
            </a:r>
            <a:endParaRPr lang="ru-RU" sz="1600" b="1" dirty="0">
              <a:solidFill>
                <a:schemeClr val="tx1"/>
              </a:solidFill>
              <a:latin typeface="HelveticaNeueCyr" panose="020B0604020202020204" charset="-52"/>
            </a:endParaRPr>
          </a:p>
        </p:txBody>
      </p:sp>
      <p:sp>
        <p:nvSpPr>
          <p:cNvPr id="45" name="Прямоугольник 44">
            <a:extLst>
              <a:ext uri="{FF2B5EF4-FFF2-40B4-BE49-F238E27FC236}">
                <a16:creationId xmlns:a16="http://schemas.microsoft.com/office/drawing/2014/main" id="{76331F69-AB47-40D9-BB4D-7F22CD43E781}"/>
              </a:ext>
            </a:extLst>
          </p:cNvPr>
          <p:cNvSpPr/>
          <p:nvPr/>
        </p:nvSpPr>
        <p:spPr>
          <a:xfrm>
            <a:off x="5108861" y="8956431"/>
            <a:ext cx="4259728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1600" dirty="0">
                <a:solidFill>
                  <a:srgbClr val="002060"/>
                </a:solidFill>
                <a:latin typeface="Unbounded SemiBold" pitchFamily="2" charset="-52"/>
              </a:rPr>
              <a:t>2 </a:t>
            </a:r>
            <a:r>
              <a:rPr lang="ru-RU" sz="1600" dirty="0" err="1">
                <a:solidFill>
                  <a:srgbClr val="002060"/>
                </a:solidFill>
                <a:latin typeface="Unbounded SemiBold" pitchFamily="2" charset="-52"/>
              </a:rPr>
              <a:t>двухкубитовых</a:t>
            </a:r>
            <a:r>
              <a:rPr lang="ru-RU" sz="1600" dirty="0">
                <a:solidFill>
                  <a:srgbClr val="002060"/>
                </a:solidFill>
                <a:latin typeface="Unbounded SemiBold" pitchFamily="2" charset="-52"/>
              </a:rPr>
              <a:t> компьютера </a:t>
            </a:r>
            <a:r>
              <a:rPr lang="ru-RU" sz="1600" dirty="0">
                <a:solidFill>
                  <a:schemeClr val="tx1"/>
                </a:solidFill>
                <a:latin typeface="HelveticaNeueCyr" panose="020B0604020202020204" charset="-52"/>
              </a:rPr>
              <a:t>на текущий момент тестируются в ДИТ</a:t>
            </a:r>
          </a:p>
        </p:txBody>
      </p:sp>
      <p:sp>
        <p:nvSpPr>
          <p:cNvPr id="46" name="Прямоугольник: скругленные углы 45">
            <a:extLst>
              <a:ext uri="{FF2B5EF4-FFF2-40B4-BE49-F238E27FC236}">
                <a16:creationId xmlns:a16="http://schemas.microsoft.com/office/drawing/2014/main" id="{D42A0922-31C4-498F-8010-517ED65FE52A}"/>
              </a:ext>
            </a:extLst>
          </p:cNvPr>
          <p:cNvSpPr/>
          <p:nvPr/>
        </p:nvSpPr>
        <p:spPr>
          <a:xfrm>
            <a:off x="5041011" y="8302215"/>
            <a:ext cx="4483793" cy="1706863"/>
          </a:xfrm>
          <a:prstGeom prst="roundRect">
            <a:avLst>
              <a:gd name="adj" fmla="val 2436"/>
            </a:avLst>
          </a:prstGeom>
          <a:noFill/>
          <a:ln>
            <a:solidFill>
              <a:srgbClr val="818CF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3" name="Прямоугольник 32">
            <a:extLst>
              <a:ext uri="{FF2B5EF4-FFF2-40B4-BE49-F238E27FC236}">
                <a16:creationId xmlns:a16="http://schemas.microsoft.com/office/drawing/2014/main" id="{257D1D4D-243C-4C65-8A8B-03FDD3CD69F6}"/>
              </a:ext>
            </a:extLst>
          </p:cNvPr>
          <p:cNvSpPr/>
          <p:nvPr/>
        </p:nvSpPr>
        <p:spPr>
          <a:xfrm>
            <a:off x="5236575" y="8888808"/>
            <a:ext cx="3742429" cy="1500098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>
                <a:solidFill>
                  <a:schemeClr val="tx1"/>
                </a:solidFill>
              </a:rPr>
              <a:t>Нужно подумать о формате и месте размещения блока с реализацией в ДИТ</a:t>
            </a:r>
            <a:br>
              <a:rPr lang="ru-RU" dirty="0">
                <a:solidFill>
                  <a:schemeClr val="tx1"/>
                </a:solidFill>
              </a:rPr>
            </a:br>
            <a:br>
              <a:rPr lang="ru-RU" dirty="0">
                <a:solidFill>
                  <a:schemeClr val="tx1"/>
                </a:solidFill>
              </a:rPr>
            </a:br>
            <a:r>
              <a:rPr lang="ru-RU" dirty="0">
                <a:solidFill>
                  <a:schemeClr val="tx1"/>
                </a:solidFill>
              </a:rPr>
              <a:t>Пока он расположен в середине, не отслеживается структура</a:t>
            </a:r>
          </a:p>
        </p:txBody>
      </p:sp>
    </p:spTree>
    <p:extLst>
      <p:ext uri="{BB962C8B-B14F-4D97-AF65-F5344CB8AC3E}">
        <p14:creationId xmlns:p14="http://schemas.microsoft.com/office/powerpoint/2010/main" val="380603074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7092</TotalTime>
  <Words>3470</Words>
  <Application>Microsoft Office PowerPoint</Application>
  <PresentationFormat>Произвольный</PresentationFormat>
  <Paragraphs>460</Paragraphs>
  <Slides>12</Slides>
  <Notes>12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10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12</vt:i4>
      </vt:variant>
    </vt:vector>
  </HeadingPairs>
  <TitlesOfParts>
    <vt:vector size="23" baseType="lpstr">
      <vt:lpstr>Wix Madefor Display SemiBold</vt:lpstr>
      <vt:lpstr>Unbounded Light</vt:lpstr>
      <vt:lpstr>Wix Madefor Display ExtraBold</vt:lpstr>
      <vt:lpstr>HelveticaNeueCyr</vt:lpstr>
      <vt:lpstr>Wix Madefor Display</vt:lpstr>
      <vt:lpstr>Unbounded Medium</vt:lpstr>
      <vt:lpstr>Arial</vt:lpstr>
      <vt:lpstr>Unbounded SemiBold</vt:lpstr>
      <vt:lpstr>Calibri</vt:lpstr>
      <vt:lpstr>Unbounded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PptxGenJS</dc:creator>
  <cp:lastModifiedBy>Корчажинская Софья Александровна</cp:lastModifiedBy>
  <cp:revision>571</cp:revision>
  <cp:lastPrinted>2024-11-08T10:52:42Z</cp:lastPrinted>
  <dcterms:created xsi:type="dcterms:W3CDTF">2024-02-24T12:25:12Z</dcterms:created>
  <dcterms:modified xsi:type="dcterms:W3CDTF">2024-11-26T14:57:24Z</dcterms:modified>
</cp:coreProperties>
</file>