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511617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8.54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2.32</c:v>
                </c:pt>
                <c:pt idx="3">
                  <c:v>3.09</c:v>
                </c:pt>
                <c:pt idx="4">
                  <c:v>3.63</c:v>
                </c:pt>
                <c:pt idx="5">
                  <c:v>4.23</c:v>
                </c:pt>
                <c:pt idx="6">
                  <c:v>4.85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41.0</c:v>
                </c:pt>
                <c:pt idx="1">
                  <c:v>64.2</c:v>
                </c:pt>
                <c:pt idx="2">
                  <c:v>79.0</c:v>
                </c:pt>
                <c:pt idx="3">
                  <c:v>97.0</c:v>
                </c:pt>
                <c:pt idx="4">
                  <c:v>120.0</c:v>
                </c:pt>
                <c:pt idx="5">
                  <c:v>147.0</c:v>
                </c:pt>
                <c:pt idx="6">
                  <c:v>181.0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79076.0</c:v>
                </c:pt>
                <c:pt idx="1">
                  <c:v>97697.0</c:v>
                </c:pt>
                <c:pt idx="2">
                  <c:v>114186.0</c:v>
                </c:pt>
                <c:pt idx="3">
                  <c:v>149216.0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235.0</c:v>
                </c:pt>
                <c:pt idx="1">
                  <c:v>291.0</c:v>
                </c:pt>
                <c:pt idx="2">
                  <c:v>339.0</c:v>
                </c:pt>
                <c:pt idx="3">
                  <c:v>559.0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RAM, ГБ</c:v>
                </c:pt>
              </c:strCache>
            </c:strRef>
          </c:tx>
          <c:spPr>
            <a:solidFill>
              <a:srgbClr val="0000FF"/>
            </a:solidFill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640.0</c:v>
                </c:pt>
                <c:pt idx="1">
                  <c:v>2560.0</c:v>
                </c:pt>
                <c:pt idx="2">
                  <c:v>5920.0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solidFill>
              <a:srgbClr val="0000FF"/>
            </a:solidFill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5920.0</c:v>
                </c:pt>
                <c:pt idx="3">
                  <c:v>6000.0</c:v>
                </c:pt>
                <c:pt idx="4">
                  <c:v>7000.0</c:v>
                </c:pt>
                <c:pt idx="5">
                  <c:v>8512.0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Sheet1!$A$2:$A$3</c:f>
              <c:strCache>
                <c:ptCount val="2"/>
                <c:pt idx="0">
                  <c:v>2020</c:v>
                </c:pt>
                <c:pt idx="1">
                  <c:v>2028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Sheet1!$A$2:$A$3</c:f>
              <c:strCache>
                <c:ptCount val="2"/>
                <c:pt idx="0">
                  <c:v>2020</c:v>
                </c:pt>
                <c:pt idx="1">
                  <c:v>2028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00FF"/>
            </a:solidFill>
          </c:spPr>
          <c:cat>
            <c:strRef>
              <c:f>Sheet1!$A$2:$A$13</c:f>
              <c:strCach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60.0</c:v>
                </c:pt>
                <c:pt idx="1">
                  <c:v>20.0</c:v>
                </c:pt>
                <c:pt idx="2">
                  <c:v>100.0</c:v>
                </c:pt>
                <c:pt idx="3">
                  <c:v>180.0</c:v>
                </c:pt>
                <c:pt idx="4">
                  <c:v>200.0</c:v>
                </c:pt>
                <c:pt idx="5">
                  <c:v>480.0</c:v>
                </c:pt>
                <c:pt idx="6">
                  <c:v>400.0</c:v>
                </c:pt>
                <c:pt idx="7">
                  <c:v>800.0</c:v>
                </c:pt>
                <c:pt idx="8">
                  <c:v>700.0</c:v>
                </c:pt>
                <c:pt idx="9">
                  <c:v>2400.0</c:v>
                </c:pt>
                <c:pt idx="10">
                  <c:v>2370.0</c:v>
                </c:pt>
                <c:pt idx="11">
                  <c:v>1200.0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jpg"/><Relationship Id="rId10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image" Target="../media/image20.jpg"/><Relationship Id="rId7" Type="http://schemas.openxmlformats.org/officeDocument/2006/relationships/image" Target="../media/image7.png"/><Relationship Id="rId8" Type="http://schemas.openxmlformats.org/officeDocument/2006/relationships/image" Target="../media/image9.png"/><Relationship Id="rId9" Type="http://schemas.openxmlformats.org/officeDocument/2006/relationships/image" Target="../media/image25.png"/><Relationship Id="rId10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6200" b="0" i="0">
                <a:solidFill>
                  <a:srgbClr val="FFFFFF"/>
                </a:solidFill>
                <a:latin typeface="Unbounded Light"/>
              </a:defRPr>
            </a:pPr>
            <a:r>
              <a:t>Вычислительные мощности  Мировой опыт  и опыт ДИТ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6176" y="7583121"/>
            <a:ext cx="606514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3600" b="0" i="0">
                <a:solidFill>
                  <a:srgbClr val="FFFFFF"/>
                </a:solidFill>
                <a:latin typeface="Wix Madefor Display"/>
              </a:defRPr>
            </a:pPr>
            <a:r>
              <a:t>Департамент информационных технологий</a:t>
            </a:r>
          </a:p>
        </p:txBody>
      </p:sp>
      <p:pic>
        <p:nvPicPr>
          <p:cNvPr id="6" name="Picture 5" descr="slide_1_im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275" y="7719059"/>
            <a:ext cx="813410" cy="1420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58087" y="3611879"/>
            <a:ext cx="7102793" cy="1731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Calibri"/>
              </a:defRPr>
            </a:pPr>
            <a:r>
              <a:t>Оформление в красном стиле  Все графики и</a:t>
            </a:r>
            <a:br/>
            <a:r>
              <a:t>диаграммы нам нужны в редактируемых форматах, не</a:t>
            </a:r>
            <a:br/>
            <a:r>
              <a:t>изображениями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Что такое «вычислительные мощности» и зачем они</a:t>
            </a:r>
            <a:br/>
            <a:r>
              <a:t>нужны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1">
                <a:solidFill>
                  <a:srgbClr val="000000"/>
                </a:solidFill>
                <a:latin typeface="HelveticaNeueCyr"/>
              </a:defRPr>
            </a:pPr>
            <a:r>
              <a:t>«Вычислительные мощности» – оборудование (серверы,</a:t>
            </a:r>
            <a:br/>
            <a:r>
              <a:t>процессоры и др.), которое используется для</a:t>
            </a:r>
            <a:br/>
            <a:r>
              <a:t>обработки, хранения информации, проведения</a:t>
            </a:r>
            <a:br/>
            <a:r>
              <a:t>вычислений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1">
                <a:solidFill>
                  <a:srgbClr val="000000"/>
                </a:solidFill>
                <a:latin typeface="HelveticaNeueCyr"/>
              </a:defRPr>
            </a:pPr>
            <a:r>
              <a:t>Производительность – характеристика скорости</a:t>
            </a:r>
            <a:br/>
            <a:r>
              <a:t>выполнения операций на вычислительном</a:t>
            </a:r>
            <a:br/>
            <a:r>
              <a:t>оборудовании, измеряемая во флопсах (FLOPS -</a:t>
            </a:r>
            <a:br/>
            <a:r>
              <a:t>FLoating-point OPerations per Second)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6432" y="5845026"/>
            <a:ext cx="34551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Центр обработки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Сетевое оборудование маршрутизаторы, коммутаторы,</a:t>
            </a:r>
            <a:br/>
            <a:r>
              <a:t>и др. обеспечивает передачу данных между</a:t>
            </a:r>
            <a:br/>
            <a:r>
              <a:t>устройствами в ЦОДе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Unbounded SemiBold"/>
              </a:defRPr>
            </a:pPr>
            <a:r>
              <a:t>Инженерное оборудование системы электропитания,</a:t>
            </a:r>
            <a:br/>
            <a:r>
              <a:t>охлаждения обеспечивают бесперебойную работу и</a:t>
            </a:r>
            <a:br/>
            <a:r>
              <a:t>поддерживают рабочую температуру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Системы безопасности СКУД, видеонаблюдение,</a:t>
            </a:r>
            <a:br/>
            <a:r>
              <a:t>пожарная сигнализация для защиты данных и</a:t>
            </a:r>
            <a:br/>
            <a:r>
              <a:t>оборудования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Вычислительное оборудование</a:t>
            </a:r>
          </a:p>
        </p:txBody>
      </p:sp>
      <p:pic>
        <p:nvPicPr>
          <p:cNvPr id="13" name="Picture 12" descr="slide_2_im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834" y="4715432"/>
            <a:ext cx="743255" cy="7432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Серверы</a:t>
            </a:r>
          </a:p>
        </p:txBody>
      </p:sp>
      <p:pic>
        <p:nvPicPr>
          <p:cNvPr id="15" name="Picture 14" descr="slide_2_img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02055" y="5825173"/>
            <a:ext cx="24834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Процессоры, видеокарты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2191" y="6919905"/>
            <a:ext cx="24834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Жесткие диски (SSD)</a:t>
            </a:r>
          </a:p>
        </p:txBody>
      </p:sp>
      <p:pic>
        <p:nvPicPr>
          <p:cNvPr id="18" name="Picture 17" descr="slide_2_img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873" y="6730920"/>
            <a:ext cx="743256" cy="7432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Unbounded SemiBold"/>
              </a:defRPr>
            </a:pPr>
            <a:r>
              <a:t>Источники данных и вычислений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7917" y="3454894"/>
            <a:ext cx="33640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Видеонаблюдение &gt;247 тыс. камер &gt;2.1 млрд ч</a:t>
            </a:r>
            <a:br/>
            <a:r>
              <a:t>видео/год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7917" y="5390417"/>
            <a:ext cx="33640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Обращения mos.ru &gt;763 млн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5150" y="4530861"/>
            <a:ext cx="33640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Пользователи mos.ru &gt;15.9 млн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74416" y="6365140"/>
            <a:ext cx="33640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Пользователи ИС в контуре Правительства ~500 тыс.</a:t>
            </a:r>
            <a:br/>
            <a:r>
              <a:t>чел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98478" y="7603502"/>
            <a:ext cx="33640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Количество устройств (ПК и др.) ~500 тыс.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72115" y="8629285"/>
            <a:ext cx="336401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Количество электронных запросов в рамках</a:t>
            </a:r>
            <a:br/>
            <a:r>
              <a:t>межведомственного взаимодействия &gt;200 млн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Как растут данные в мире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9867" y="992300"/>
            <a:ext cx="4460918" cy="48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Количество подключённых устройств во всем мире,</a:t>
            </a:r>
            <a:br/>
            <a:r>
              <a:t>млрд шт.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000" b="0" i="0">
                <a:solidFill>
                  <a:srgbClr val="000000"/>
                </a:solidFill>
                <a:latin typeface="HelveticaNeueCyr"/>
              </a:defRPr>
            </a:pPr>
            <a:r>
              <a:t>*Прогноз Подключенные устройства, Ericsson</a:t>
            </a:r>
            <a:br/>
            <a:r>
              <a:t>Mobility Visualizer, 2024 https://www.statista.com</a:t>
            </a:r>
            <a:br/>
            <a:r>
              <a:t>/statistics/871513/worldwide-data-created/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0621" y="6133510"/>
            <a:ext cx="4886983" cy="730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Объем данных, созданных, скопированных и</a:t>
            </a:r>
            <a:br/>
            <a:r>
              <a:t>потребленных в мире, зеттабайты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6993" y="6328121"/>
            <a:ext cx="645732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2060"/>
                </a:solidFill>
                <a:latin typeface="Unbounded SemiBold"/>
              </a:defRPr>
            </a:pPr>
            <a:r>
              <a:t>1 зеттабайт (ЗБ)=  1 000 000 000 000 гигабайт (Гб)</a:t>
            </a:r>
            <a:br/>
            <a:r>
              <a:t>с одного жесткого диска объемом 1 ЗБ можно 63</a:t>
            </a:r>
            <a:br/>
            <a:r>
              <a:t>миллиона лет смотреть видео с разрешением 4К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До 2030 года прогнозируется экспоненциальный рост</a:t>
            </a:r>
            <a:br/>
            <a:r>
              <a:t>количества подключенных устройств, а</a:t>
            </a:r>
            <a:br/>
            <a:r>
              <a:t>следовательно: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HelveticaNeueCyr"/>
              </a:defRPr>
            </a:pPr>
            <a:r>
              <a:t>Рост количества данных, которые необходимо</a:t>
            </a:r>
            <a:br/>
            <a:r>
              <a:t>правильно собирать, обрабатывать и хранить  Рост</a:t>
            </a:r>
            <a:br/>
            <a:r>
              <a:t>потребности в центрах обработки данных. ЦОДы</a:t>
            </a:r>
            <a:br/>
            <a:r>
              <a:t>становятся вычислительной основой новой цифровой</a:t>
            </a:r>
            <a:br/>
            <a:r>
              <a:t>инфраструктуры  Рост популярности и</a:t>
            </a:r>
            <a:br/>
            <a:r>
              <a:t>востребованности искусственного интеллекта.</a:t>
            </a:r>
            <a:br/>
            <a:r>
              <a:t>Обработка больших данных, их переиспользование и</a:t>
            </a:r>
            <a:br/>
            <a:r>
              <a:t>получение качественно новой информации, становится</a:t>
            </a:r>
            <a:br/>
            <a:r>
              <a:t>проблемой, если не использовать искусственный</a:t>
            </a:r>
            <a:br/>
            <a:r>
              <a:t>интеллект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Как растут данные в России и Москве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6563" y="5861859"/>
          <a:ext cx="4722665" cy="38509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31907" y="5861859"/>
          <a:ext cx="4722664" cy="38509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Unbounded SemiBold"/>
              </a:defRPr>
            </a:pPr>
            <a:r>
              <a:t>Объем оперативной памяти*, Тбайт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4" y="5861858"/>
            <a:ext cx="3598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Unbounded SemiBold"/>
              </a:defRPr>
            </a:pPr>
            <a:r>
              <a:t>Количество виртуальных процессоров ЦОД*, шт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000" b="0" i="0">
                <a:solidFill>
                  <a:srgbClr val="000000"/>
                </a:solidFill>
                <a:latin typeface="HelveticaNeueCyr"/>
              </a:defRPr>
            </a:pPr>
            <a:r>
              <a:t>https://cloudscene.com/region/datacenters-in-</a:t>
            </a:r>
            <a:br/>
            <a:r>
              <a:t>europe#russia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725" y="898940"/>
            <a:ext cx="4673545" cy="2086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В 2024 году в РФ насчитывается 251 центр обработки</a:t>
            </a:r>
            <a:br/>
            <a:r>
              <a:t>данных   Среди 160 ЦОДов, расположение которых</a:t>
            </a:r>
            <a:br/>
            <a:r>
              <a:t>известно, 30% находятся в Москве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315" y="898940"/>
            <a:ext cx="4673545" cy="2086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130,4 млн пользователей интернета было в РФ на</a:t>
            </a:r>
            <a:br/>
            <a:r>
              <a:t>начало 2024 года   В Москве показатель</a:t>
            </a:r>
            <a:br/>
            <a:r>
              <a:t>использования интернета составляет 97% (выше</a:t>
            </a:r>
            <a:br/>
            <a:r>
              <a:t>среднего по стране на 7 п.п.)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000" b="0" i="0">
                <a:solidFill>
                  <a:srgbClr val="000000"/>
                </a:solidFill>
                <a:latin typeface="HelveticaNeueCyr"/>
              </a:defRPr>
            </a:pPr>
            <a:r>
              <a:t>https://datareportal.com/reports/digital-2024-</a:t>
            </a:r>
            <a:br/>
            <a:r>
              <a:t>russian-federation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9905" y="979150"/>
            <a:ext cx="4673545" cy="2086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HelveticaNeueCyr"/>
              </a:defRPr>
            </a:pPr>
            <a:r>
              <a:t>Более 15,9 млн пользователей зарегистрировано на</a:t>
            </a:r>
            <a:br/>
            <a:r>
              <a:t>портале mos.ru (9 мес. 2024 года)  420 сервисов и</a:t>
            </a:r>
            <a:br/>
            <a:r>
              <a:t>услуг доступны москвичам в электронном виде  Более</a:t>
            </a:r>
            <a:br/>
            <a:r>
              <a:t>763 млн обращений граждан через mos.ru в год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724" y="3520830"/>
            <a:ext cx="14220830" cy="72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Москва является лидером в сфере цифровизации</a:t>
            </a:r>
            <a:br/>
            <a:r>
              <a:t>государственных услуг как в России, так и в мире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222222"/>
                </a:solidFill>
                <a:latin typeface="HelveticaNeueCyr"/>
              </a:defRPr>
            </a:pPr>
            <a:r>
              <a:t>Вызовы в Москве:  Необходимо собирать,</a:t>
            </a:r>
            <a:br/>
            <a:r>
              <a:t>обрабатывать и хранить данные Внедрять решения ИИ</a:t>
            </a:r>
            <a:br/>
            <a:r>
              <a:t>для повышения качества и скорости работы с данными</a:t>
            </a:r>
            <a:br/>
            <a:r>
              <a:t>и для повышения качества городских электронных</a:t>
            </a:r>
            <a:br/>
            <a:r>
              <a:t>услуг Наращивать вычислительные мощности для</a:t>
            </a:r>
            <a:br/>
            <a:r>
              <a:t>развития цифровых сервисов и услуг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000" b="0" i="0">
                <a:solidFill>
                  <a:srgbClr val="000000"/>
                </a:solidFill>
                <a:latin typeface="HelveticaNeueCyr"/>
              </a:defRPr>
            </a:pPr>
            <a:r>
              <a:t>* Приведены данные о состоянии ЦОД СОЦСФЕРА. ЦОД</a:t>
            </a:r>
            <a:br/>
            <a:r>
              <a:t>СОЦСФЕРА  представляет из себя три физические</a:t>
            </a:r>
            <a:br/>
            <a:r>
              <a:t>площадки, логически объединенные посредством</a:t>
            </a:r>
            <a:br/>
            <a:r>
              <a:t>высокоскоростных магистральных каналов связи в</a:t>
            </a:r>
            <a:br/>
            <a:r>
              <a:t>один виртуальный ЦОД В ЦОД СОЦСФЕРЫ размещена</a:t>
            </a:r>
            <a:br/>
            <a:r>
              <a:t>Общегородская платформа ИИ. Основными</a:t>
            </a:r>
            <a:br/>
            <a:r>
              <a:t>потребителями высокопроизводительных мощностей</a:t>
            </a:r>
            <a:br/>
            <a:r>
              <a:t>(GPU) являются: МосGPT, Голосовой помощник,</a:t>
            </a:r>
            <a:br/>
            <a:r>
              <a:t>Цифровой Двойник и др.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Искусственный интеллект и потребности в</a:t>
            </a:r>
            <a:br/>
            <a:r>
              <a:t>вычислительных мощностях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5831" y="1212553"/>
            <a:ext cx="4886983" cy="243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Объем рынка ИИ в мире, млрд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HelveticaNeueCyr"/>
              </a:defRPr>
            </a:pPr>
            <a:r>
              <a:t>По прогнозам мировой спрос на мощности ЦОДов может</a:t>
            </a:r>
            <a:br/>
            <a:r>
              <a:t>возрасти в 3 и более раз к 2030 году: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222222"/>
                </a:solidFill>
                <a:latin typeface="HelveticaNeueCyr"/>
              </a:defRPr>
            </a:pPr>
            <a:r>
              <a:t>Качественные данные Алгоритмы и модели</a:t>
            </a:r>
            <a:br/>
            <a:r>
              <a:t>Вычислительные мощности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Google BERT-base 109 млн параметров Затраченные</a:t>
            </a:r>
            <a:br/>
            <a:r>
              <a:t>компьютерные мощности: 1,89 ПетаFLOPS-дней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Open AI GPT-3 175 млрд параметров Затраченные</a:t>
            </a:r>
            <a:br/>
            <a:r>
              <a:t>компьютерные мощности: 3 640 ПетаFLOPS-дней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2060"/>
                </a:solidFill>
                <a:latin typeface="Unbounded SemiBold"/>
              </a:defRPr>
            </a:pPr>
            <a:r>
              <a:t>Визуализация роста затрат мощностей на обучение ИИ</a:t>
            </a:r>
            <a:br/>
            <a:r>
              <a:t>на примере конкретных популярных моделей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Huawei PANGU-α 200 млрд параметров Затраченные</a:t>
            </a:r>
            <a:br/>
            <a:r>
              <a:t>компьютерные мощности: 25 000 ПетаFLOPS-дней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000" b="0" i="0">
                <a:solidFill>
                  <a:srgbClr val="222222"/>
                </a:solidFill>
                <a:latin typeface="HelveticaNeueCyr"/>
              </a:defRPr>
            </a:pPr>
            <a:r>
              <a:t>Brown T. B. Language models are few-shot learners</a:t>
            </a:r>
            <a:br/>
            <a:r>
              <a:t>//arXiv preprint arXiv:2005.14165. – 2020.</a:t>
            </a:r>
            <a:br/>
            <a:r>
              <a:t>Интеллектуальный мир, Huawei, https://www-file.hua</a:t>
            </a:r>
            <a:br/>
            <a:r>
              <a:t>wei.com/-</a:t>
            </a:r>
            <a:br/>
            <a:r>
              <a:t>/media/corp2020/pdf/giv/intelligent_world_2030_en.</a:t>
            </a:r>
            <a:br/>
            <a:r>
              <a:t>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Meta** Llama 3.1 – 405B 405 млрд параметров</a:t>
            </a:r>
            <a:br/>
            <a:r>
              <a:t>Затраченные компьютерные мощности: 38 550</a:t>
            </a:r>
            <a:br/>
            <a:r>
              <a:t>ПетаFLOPS-дней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Прогнозируемые компьютерные мощности для ИИ: 105</a:t>
            </a:r>
            <a:br/>
            <a:r>
              <a:t>*10^6 ПетаFLOPS в 500 раз больше, чем в 2020 году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1">
                <a:solidFill>
                  <a:srgbClr val="000000"/>
                </a:solidFill>
                <a:latin typeface="HelveticaNeueCyr"/>
              </a:defRPr>
            </a:pPr>
            <a:r>
              <a:t>Порядок расположения моделей не связан с</a:t>
            </a:r>
            <a:br/>
            <a:r>
              <a:t>техническими характеристиками, отражена хронология</a:t>
            </a:r>
            <a:br/>
            <a:r>
              <a:t>по году релиза моделей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HelveticaNeueCyr"/>
              </a:defRPr>
            </a:pPr>
            <a:r>
              <a:t>Развитие решений с искусственным интеллектом (ИИ)</a:t>
            </a:r>
            <a:br/>
            <a:r>
              <a:t>определяется тремя факторами: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5025" y="3577504"/>
            <a:ext cx="616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0">
                <a:solidFill>
                  <a:srgbClr val="000000"/>
                </a:solidFill>
                <a:latin typeface="HelveticaNeueCyr"/>
              </a:defRPr>
            </a:pPr>
            <a: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8444" y="4348968"/>
            <a:ext cx="616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0">
                <a:solidFill>
                  <a:srgbClr val="000000"/>
                </a:solidFill>
                <a:latin typeface="HelveticaNeueCyr"/>
              </a:defRPr>
            </a:pPr>
            <a:r>
              <a:t>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0">
                <a:solidFill>
                  <a:srgbClr val="000000"/>
                </a:solidFill>
                <a:latin typeface="HelveticaNeueCyr"/>
              </a:defRPr>
            </a:pPr>
            <a: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0">
                <a:solidFill>
                  <a:srgbClr val="000000"/>
                </a:solidFill>
                <a:latin typeface="HelveticaNeueCyr"/>
              </a:defRPr>
            </a:pPr>
            <a:r>
              <a:t>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0">
                <a:solidFill>
                  <a:srgbClr val="000000"/>
                </a:solidFill>
                <a:latin typeface="HelveticaNeueCyr"/>
              </a:defRPr>
            </a:pPr>
            <a:r>
              <a:t>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0">
                <a:solidFill>
                  <a:srgbClr val="000000"/>
                </a:solidFill>
                <a:latin typeface="HelveticaNeueCyr"/>
              </a:defRPr>
            </a:pPr>
            <a:r>
              <a:t>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5085" y="3583320"/>
            <a:ext cx="616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171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4963" y="3281970"/>
            <a:ext cx="616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219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298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4732" y="5464419"/>
            <a:ext cx="8033602" cy="4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1">
                <a:solidFill>
                  <a:srgbClr val="000000"/>
                </a:solidFill>
                <a:latin typeface="HelveticaNeueCyr"/>
              </a:defRPr>
            </a:pPr>
            <a:r>
              <a:t>Спрос на мощности ЦОД, ГВт, прогноз McKinsey.</a:t>
            </a:r>
            <a:br/>
            <a:r>
              <a:t>Сценарии учитывают тенденции внедрения ИИ,</a:t>
            </a:r>
            <a:br/>
            <a:r>
              <a:t>поставки различных типов чипов и связанного</a:t>
            </a:r>
            <a:br/>
            <a:r>
              <a:t>потребления электроэнергии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1">
                <a:solidFill>
                  <a:srgbClr val="000000"/>
                </a:solidFill>
                <a:latin typeface="HelveticaNeueCyr"/>
              </a:defRPr>
            </a:pPr>
            <a:r>
              <a:t>Верхний диапазон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1">
                <a:solidFill>
                  <a:srgbClr val="000000"/>
                </a:solidFill>
                <a:latin typeface="HelveticaNeueCyr"/>
              </a:defRPr>
            </a:pPr>
            <a:r>
              <a:t>Средний диапазон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4312" y="5181916"/>
            <a:ext cx="2311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 i="1">
                <a:solidFill>
                  <a:srgbClr val="000000"/>
                </a:solidFill>
                <a:latin typeface="HelveticaNeueCyr"/>
              </a:defRPr>
            </a:pPr>
            <a:r>
              <a:t>Нижний диапазон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CAGR +19%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CAGR +22%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CAGR +27%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000" b="0" i="0">
                <a:solidFill>
                  <a:srgbClr val="222222"/>
                </a:solidFill>
                <a:latin typeface="HelveticaNeueCyr"/>
              </a:defRPr>
            </a:pPr>
            <a:r>
              <a:t>* Прогнозные значения,</a:t>
            </a:r>
            <a:br/>
            <a:r>
              <a:t>https://www.statista.com/forecasts/1474143/global-</a:t>
            </a:r>
            <a:br/>
            <a:r>
              <a:t>ai-market-size  **Деятельность организации</a:t>
            </a:r>
            <a:br/>
            <a:r>
              <a:t>запрещена на территории РФ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Искусственный интеллект в контуре правительства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HelveticaNeueCyr"/>
              </a:defRPr>
            </a:pPr>
            <a:r>
              <a:t>Обеспечение создания эко-системы ИИ  Внедрение ИИ-</a:t>
            </a:r>
            <a:br/>
            <a:r>
              <a:t>технологий в деятельность все ОИВ Москвы</a:t>
            </a:r>
            <a:br/>
            <a:r>
              <a:t>Масштабирование опыта Москвы на субъекты РФ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Unbounded SemiBold"/>
              </a:defRPr>
            </a:pPr>
            <a:r>
              <a:t>Объем GPU (RAM), ГБ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 b="0" i="0">
                <a:solidFill>
                  <a:srgbClr val="000000"/>
                </a:solidFill>
                <a:latin typeface="HelveticaNeueCyr"/>
              </a:defRPr>
            </a:pPr>
            <a:r>
              <a:t>01.07.2024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2060"/>
                </a:solidFill>
                <a:latin typeface="Unbounded SemiBold"/>
              </a:defRPr>
            </a:pPr>
            <a:r>
              <a:t>На текущий момент кластер GPU серверов включает в</a:t>
            </a:r>
            <a:br/>
            <a:r>
              <a:t>себя: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3200" b="0" i="0">
                <a:solidFill>
                  <a:srgbClr val="002060"/>
                </a:solidFill>
                <a:latin typeface="Unbounded SemiBold"/>
              </a:defRPr>
            </a:pPr>
            <a:r>
              <a:t>3 200 ГБ  генеративный 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3200" b="0" i="0">
                <a:solidFill>
                  <a:srgbClr val="002060"/>
                </a:solidFill>
                <a:latin typeface="Unbounded SemiBold"/>
              </a:defRPr>
            </a:pPr>
            <a:r>
              <a:t>4 032 ГБ рендеринг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6851" y="7936774"/>
            <a:ext cx="715600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2060"/>
                </a:solidFill>
                <a:latin typeface="Unbounded SemiBold"/>
              </a:defRPr>
            </a:pPr>
            <a:r>
              <a:t>Показатель утилизации кластера GPU серверов, на</a:t>
            </a:r>
            <a:br/>
            <a:r>
              <a:t>данный момент составляет до 100%. Утилизация –</a:t>
            </a:r>
            <a:br/>
            <a:r>
              <a:t>доля ресурсов системы, которые используются  для</a:t>
            </a:r>
            <a:br/>
            <a:r>
              <a:t>выполнения работ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Рынок графических процессоров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Рынок полупроводниковой электроники, почему в</a:t>
            </a:r>
            <a:br/>
            <a:r>
              <a:t>России и мире компании ищут альтернативные способы</a:t>
            </a:r>
            <a:br/>
            <a:r>
              <a:t>реализации вычислений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222222"/>
                </a:solidFill>
                <a:latin typeface="HelveticaNeueCyr"/>
              </a:defRPr>
            </a:pPr>
            <a:r>
              <a:t>Количество транзисторов на площади кремниевой</a:t>
            </a:r>
            <a:br/>
            <a:r>
              <a:t>пластины увеличивается в 2 раза каждые 2 года</a:t>
            </a:r>
            <a:br/>
            <a:r>
              <a:t>(Закон Мура) При уменьшении размеров транзистора и</a:t>
            </a:r>
            <a:br/>
            <a:r>
              <a:t>повышении тактовой частоты процессора, можно</a:t>
            </a:r>
            <a:br/>
            <a:r>
              <a:t>кратно повышать производительность (Эмпирический</a:t>
            </a:r>
            <a:br/>
            <a:r>
              <a:t>закон Деннарда)  Закон Мура определил текущие</a:t>
            </a:r>
            <a:br/>
            <a:r>
              <a:t>размеры микропроцессоров, а закон Деннарда</a:t>
            </a:r>
            <a:br/>
            <a:r>
              <a:t>расширил его и объяснял в каком именно направлении</a:t>
            </a:r>
            <a:br/>
            <a:r>
              <a:t>нужно двигаться, чтобы развивать полупроводниковую</a:t>
            </a:r>
            <a:br/>
            <a:r>
              <a:t>индустрию При этом с 2006 года тактовая частота</a:t>
            </a:r>
            <a:br/>
            <a:r>
              <a:t>массовых микропроцессоров не растет выше 4 ГГц,</a:t>
            </a:r>
            <a:br/>
            <a:r>
              <a:t>что показывает некоторое нарушение закона</a:t>
            </a:r>
            <a:br/>
            <a:r>
              <a:t>Деннарда, производители перешли на многоядерные</a:t>
            </a:r>
            <a:br/>
            <a:r>
              <a:t>процессоры, чтобы увеличить производительность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HelveticaNeueCyr"/>
              </a:defRPr>
            </a:pPr>
            <a:r>
              <a:t>2020-2023 гг. на рынке наблюдался дефицит</a:t>
            </a:r>
            <a:br/>
            <a:r>
              <a:t>полупроводниковых чипов на фоне последствий</a:t>
            </a:r>
            <a:br/>
            <a:r>
              <a:t>пандемии COVID-19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HelveticaNeueCyr"/>
              </a:defRPr>
            </a:pPr>
            <a:r>
              <a:t>Факторы, которые влияют на рынок:  Международная</a:t>
            </a:r>
            <a:br/>
            <a:r>
              <a:t>напряженность, которая может нарушать мировые</a:t>
            </a:r>
            <a:br/>
            <a:r>
              <a:t>цепочки поставок (более 50% рынка сосредоточено в</a:t>
            </a:r>
            <a:br/>
            <a:r>
              <a:t>странах Азии)  Рост спроса на чипы, который</a:t>
            </a:r>
            <a:br/>
            <a:r>
              <a:t>определяется не только ростом спроса на</a:t>
            </a:r>
            <a:br/>
            <a:r>
              <a:t>высокопроизводительные вычислительные устройства,</a:t>
            </a:r>
            <a:br/>
            <a:r>
              <a:t>но и ростом спроса на потребительскую электронику</a:t>
            </a:r>
            <a:br/>
            <a:r>
              <a:t>(смартфоны, ПК и др.)  Высокая стоимость развития</a:t>
            </a:r>
            <a:br/>
            <a:r>
              <a:t>локального производства (выражается не только в</a:t>
            </a:r>
            <a:br/>
            <a:r>
              <a:t>капитальных затратах на строительство, закупку</a:t>
            </a:r>
            <a:br/>
            <a:r>
              <a:t>оборудования и технологии, но и в качестве</a:t>
            </a:r>
            <a:br/>
            <a:r>
              <a:t>подготовки кадров, задействованных в производстве)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HelveticaNeueCyr"/>
              </a:defRPr>
            </a:pPr>
            <a:r>
              <a:t>Ретроспективно, развитие электроники определялось</a:t>
            </a:r>
            <a:br/>
            <a:r>
              <a:t>двумя наблюдениями: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377" y="6376132"/>
            <a:ext cx="66984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HelveticaNeueCyr"/>
              </a:defRPr>
            </a:pPr>
            <a:r>
              <a:t>Фундаментально существуют ограничения на</a:t>
            </a:r>
            <a:br/>
            <a:r>
              <a:t>минимально возможные линейные размеры канала</a:t>
            </a:r>
            <a:br/>
            <a:r>
              <a:t>транзистора порядка 1.5 нм (при меньших размерах</a:t>
            </a:r>
            <a:br/>
            <a:r>
              <a:t>проявляются квантовомеханические эффекты,</a:t>
            </a:r>
            <a:br/>
            <a:r>
              <a:t>устройства становятся неработоспособными)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125" y="9470219"/>
            <a:ext cx="142492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HelveticaNeueCyr"/>
              </a:defRPr>
            </a:pPr>
            <a:r>
              <a:t>Поиск новых технологий (например квантовые</a:t>
            </a:r>
            <a:br/>
            <a:r>
              <a:t>вычисления, оптические интегральные схемы,</a:t>
            </a:r>
            <a:br/>
            <a:r>
              <a:t>спинтроника и др.), и новых программно-</a:t>
            </a:r>
            <a:br/>
            <a:r>
              <a:t>определяемых решений для вычислений (виртуализация</a:t>
            </a:r>
            <a:br/>
            <a:r>
              <a:t>вычислительных мощностей, вычисления на конечных</a:t>
            </a:r>
            <a:br/>
            <a:r>
              <a:t>устройствах пользователей, дезагрегация памяти)</a:t>
            </a:r>
          </a:p>
        </p:txBody>
      </p:sp>
      <p:pic>
        <p:nvPicPr>
          <p:cNvPr id="12" name="Picture 11" descr="slide_8_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222222"/>
                </a:solidFill>
                <a:latin typeface="Unbounded SemiBold"/>
              </a:defRPr>
            </a:pPr>
            <a:r>
              <a:t>Сроки поставок чипов 2017-2022 гг., недели</a:t>
            </a:r>
          </a:p>
        </p:txBody>
      </p:sp>
      <p:pic>
        <p:nvPicPr>
          <p:cNvPr id="14" name="Picture 13" descr="slide_8_img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887" y="2898589"/>
            <a:ext cx="5837399" cy="17230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125" y="1351932"/>
            <a:ext cx="5719836" cy="4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2060"/>
                </a:solidFill>
                <a:latin typeface="Unbounded SemiBold"/>
              </a:defRPr>
            </a:pPr>
            <a:r>
              <a:t>1. Технические ограничения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9930" y="1372553"/>
            <a:ext cx="5354351" cy="4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2060"/>
                </a:solidFill>
                <a:latin typeface="Unbounded SemiBold"/>
              </a:defRPr>
            </a:pPr>
            <a:r>
              <a:t>2. Рыночные ограничения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125" y="9067819"/>
            <a:ext cx="2853666" cy="4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2060"/>
                </a:solidFill>
                <a:latin typeface="Unbounded SemiBold"/>
              </a:defRPr>
            </a:pPr>
            <a:r>
              <a:t>3. Следствие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Calibri"/>
              </a:defRPr>
            </a:pPr>
            <a:r>
              <a:t>График нужно перерисовать, оригинал на полях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Центральный процессор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1" y="899061"/>
            <a:ext cx="14220832" cy="85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HelveticaNeueCyr"/>
              </a:defRPr>
            </a:pPr>
            <a:r>
              <a:t>электронный блок или интегральная схема,</a:t>
            </a:r>
            <a:br/>
            <a:r>
              <a:t>исполняющая машинные инструкции (код программ),</a:t>
            </a:r>
            <a:br/>
            <a:r>
              <a:t>главная часть аппаратного обеспечения компьютера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796" y="1890934"/>
            <a:ext cx="483552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Особенности: Универсальность  Последовательная</a:t>
            </a:r>
            <a:br/>
            <a:r>
              <a:t>обработка данных  Сценарии применения:</a:t>
            </a:r>
            <a:br/>
            <a:r>
              <a:t>Повседневные вычислительные задачи Разработка и</a:t>
            </a:r>
            <a:br/>
            <a:r>
              <a:t>компиляция ПО Обработка графики и использование</a:t>
            </a:r>
            <a:br/>
            <a:r>
              <a:t>для игр  Применение в ИИ: Небольшие модели могут</a:t>
            </a:r>
            <a:br/>
            <a:r>
              <a:t>быть напрямую обучены или точно настроены на ЦП</a:t>
            </a:r>
            <a:br/>
            <a:r>
              <a:t>(CPU)  ЦП (CPU) необходим в более крупных моделях</a:t>
            </a:r>
            <a:br/>
            <a:r>
              <a:t>как средство координации обучения на ГП (GPU) или</a:t>
            </a:r>
            <a:br/>
            <a:r>
              <a:t>ТП (TPU)  Иногда используются для генерации или</a:t>
            </a:r>
            <a:br/>
            <a:r>
              <a:t>обработки данных обучения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68" y="6449197"/>
            <a:ext cx="4825657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Иностранные производители</a:t>
            </a:r>
          </a:p>
        </p:txBody>
      </p:sp>
      <p:pic>
        <p:nvPicPr>
          <p:cNvPr id="9" name="Picture 8" descr="slide_9_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0" name="Picture 9" descr="slide_9_img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67" y="7963275"/>
            <a:ext cx="1573839" cy="450618"/>
          </a:xfrm>
          <a:prstGeom prst="rect">
            <a:avLst/>
          </a:prstGeom>
        </p:spPr>
      </p:pic>
      <p:pic>
        <p:nvPicPr>
          <p:cNvPr id="11" name="Picture 10" descr="slide_9_img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2" name="Picture 11" descr="slide_9_img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933" y="7427887"/>
            <a:ext cx="655254" cy="761078"/>
          </a:xfrm>
          <a:prstGeom prst="rect">
            <a:avLst/>
          </a:prstGeom>
        </p:spPr>
      </p:pic>
      <p:pic>
        <p:nvPicPr>
          <p:cNvPr id="13" name="Picture 12" descr="slide_9_img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14" name="Picture 13" descr="slide_9_img_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3796" y="8743546"/>
            <a:ext cx="4835529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Российские производители</a:t>
            </a:r>
          </a:p>
        </p:txBody>
      </p:sp>
      <p:pic>
        <p:nvPicPr>
          <p:cNvPr id="16" name="Picture 15" descr="slide_9_img_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3863" y="9456220"/>
            <a:ext cx="1915461" cy="6075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HelveticaNeueCyr"/>
              </a:defRPr>
            </a:pPr>
            <a:r>
              <a:t>Основной процессор для всех информационных систем</a:t>
            </a:r>
            <a:br/>
            <a:r>
              <a:t>и сервисов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1924" y="6903630"/>
            <a:ext cx="3028834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Реализация в ДИТ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000000"/>
                </a:solidFill>
                <a:latin typeface="HelveticaNeueCyr"/>
              </a:defRPr>
            </a:pPr>
            <a:r>
              <a:t>Традиционно рынок вычислений и обработки данных</a:t>
            </a:r>
            <a:br/>
            <a:r>
              <a:t>ориентирован на использование ЦП (CPU), этот</a:t>
            </a:r>
            <a:br/>
            <a:r>
              <a:t>компонент был самым дорогим в серверах общего</a:t>
            </a:r>
            <a:br/>
            <a:r>
              <a:t>назначения Спрос на ЦП по прогнозам будет</a:t>
            </a:r>
            <a:br/>
            <a:r>
              <a:t>снижаться из-за конкуренции традиционных ЦП с</a:t>
            </a:r>
            <a:br/>
            <a:r>
              <a:t>альтернативными вычислительными устройствами (ГП</a:t>
            </a:r>
            <a:br/>
            <a:r>
              <a:t>(GPU), специализированными ускорителями и др.)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97" b="0" i="0">
                <a:solidFill>
                  <a:srgbClr val="000000"/>
                </a:solidFill>
                <a:latin typeface="HelveticaNeueCyr"/>
              </a:defRPr>
            </a:pPr>
            <a:r>
              <a:t>*Сопроцессоры – графические процессоры (GPU),</a:t>
            </a:r>
            <a:br/>
            <a:r>
              <a:t>тензорные процессоры (TPU) и другие</a:t>
            </a:r>
            <a:br/>
            <a:r>
              <a:t>специализированные интегральные схемы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Unbounded SemiBold"/>
              </a:defRPr>
            </a:pPr>
            <a:r>
              <a:t>Оценка доли серверов с сопроцессорами, прогноз</a:t>
            </a:r>
            <a:br/>
            <a:r>
              <a:t>роста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7899" y="6859935"/>
            <a:ext cx="4825657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Дефицит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HelveticaNeueCyr"/>
              </a:defRPr>
            </a:pPr>
            <a:r>
              <a:t>Добавление сопроцессоров позволяет избавиться от</a:t>
            </a:r>
            <a:br/>
            <a:r>
              <a:t>необходимости увеличивать количество ЦП (CPU),</a:t>
            </a:r>
            <a:br/>
            <a:r>
              <a:t>следовательно снижается вероятность возникновения</a:t>
            </a:r>
            <a:br/>
            <a:r>
              <a:t>дефицита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0588" y="8736636"/>
            <a:ext cx="33728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2060"/>
                </a:solidFill>
                <a:latin typeface="Unbounded SemiBold"/>
              </a:defRPr>
            </a:pPr>
            <a:r>
              <a:t>37 304 шт. – количество физических ЦП  До 100%</a:t>
            </a:r>
            <a:br/>
            <a:r>
              <a:t>нагрузки, так как используется виртуализация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Calibri"/>
              </a:defRPr>
            </a:pPr>
            <a:r>
              <a:t>Нужно подумать о формате и месте размещения блока</a:t>
            </a:r>
            <a:br/>
            <a:r>
              <a:t>с реализацией в ДИТ  Пока он расположен в</a:t>
            </a:r>
            <a:br/>
            <a:r>
              <a:t>середине, не отслеживается структура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Графический процессор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1" y="899061"/>
            <a:ext cx="14220832" cy="85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HelveticaNeueCyr"/>
              </a:defRPr>
            </a:pPr>
            <a:r>
              <a:t>специализированная электронная схема, которая</a:t>
            </a:r>
            <a:br/>
            <a:r>
              <a:t>может выполнять математические вычисления с</a:t>
            </a:r>
            <a:br/>
            <a:r>
              <a:t>высокой скоростью. Используется для таких задач</a:t>
            </a:r>
            <a:br/>
            <a:r>
              <a:t>как рендеринг графики, машинное обучение,</a:t>
            </a:r>
            <a:br/>
            <a:r>
              <a:t>редактирование видео и пр.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Особенности: Параллельная обработка данных Высокая</a:t>
            </a:r>
            <a:br/>
            <a:r>
              <a:t>пропускная способность Использование для</a:t>
            </a:r>
            <a:br/>
            <a:r>
              <a:t>графического рендеринга  Сценарии применения:</a:t>
            </a:r>
            <a:br/>
            <a:r>
              <a:t>Приложения с интенсивной графикой  Глубокое</a:t>
            </a:r>
            <a:br/>
            <a:r>
              <a:t>обучение, а также тренировка нейронных сетей</a:t>
            </a:r>
            <a:br/>
            <a:r>
              <a:t>Анализ данных и научные вычисления  Применение в</a:t>
            </a:r>
            <a:br/>
            <a:r>
              <a:t>ИИ: Выполнение определенных математических</a:t>
            </a:r>
            <a:br/>
            <a:r>
              <a:t>операций, которые также распространены в машинном</a:t>
            </a:r>
            <a:br/>
            <a:r>
              <a:t>обучении  Наиболее распространенный вариант</a:t>
            </a:r>
            <a:br/>
            <a:r>
              <a:t>ускорителя для обучения моделей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68" y="6449197"/>
            <a:ext cx="4825657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Иностранные производители</a:t>
            </a:r>
          </a:p>
        </p:txBody>
      </p:sp>
      <p:pic>
        <p:nvPicPr>
          <p:cNvPr id="9" name="Picture 8" descr="slide_9_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0" name="Picture 9" descr="slide_9_img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1" name="Picture 10" descr="slide_9_img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3796" y="8743546"/>
            <a:ext cx="4835529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Российские производители</a:t>
            </a:r>
          </a:p>
        </p:txBody>
      </p:sp>
      <p:pic>
        <p:nvPicPr>
          <p:cNvPr id="13" name="Picture 12" descr="slide_10_img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4" name="Picture 13" descr="slide_10_img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485" y="7764278"/>
            <a:ext cx="1573839" cy="8576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3668" y="9606179"/>
            <a:ext cx="2778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00000"/>
                </a:solidFill>
                <a:latin typeface="HelveticaNeueCyr"/>
              </a:defRPr>
            </a:pPr>
            <a:r>
              <a:t>Не производится в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8604" y="6446431"/>
            <a:ext cx="3028834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Реализация в ДИТ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HelveticaNeueCyr"/>
              </a:defRPr>
            </a:pPr>
            <a:r>
              <a:t>Закупается для нужд искусственного интеллекта,</a:t>
            </a:r>
            <a:br/>
            <a:r>
              <a:t>рендеринга видео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Unbounded SemiBold"/>
              </a:defRPr>
            </a:pPr>
            <a:r>
              <a:t>Причины: Проблемы с глобальными цепочками поставок</a:t>
            </a:r>
            <a:br/>
            <a:r>
              <a:t>Влияние криптовалюты, требующей ГП для майнинга</a:t>
            </a:r>
            <a:br/>
            <a:r>
              <a:t>Рост спроса из-за развития и распространения</a:t>
            </a:r>
            <a:br/>
            <a:r>
              <a:t>генеративного ИИ, в частности, больших языковых</a:t>
            </a:r>
            <a:br/>
            <a:r>
              <a:t>моделей (LLM)  Инициативы в мире по снижению</a:t>
            </a:r>
            <a:br/>
            <a:r>
              <a:t>дефицитности: Выпуск чипов специально</a:t>
            </a:r>
            <a:br/>
            <a:r>
              <a:t>предназначенных для приложений ИИ (например,</a:t>
            </a:r>
            <a:br/>
            <a:r>
              <a:t>NVIDIA) Регулирование майнинга криптовалют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36851" y="6446431"/>
            <a:ext cx="4825657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Дефицит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Unbounded Medium"/>
              </a:defRPr>
            </a:pPr>
            <a:r>
              <a:t>Прогнозируемый процентный рост спроса на ГП (GPU)</a:t>
            </a:r>
            <a:br/>
            <a:r>
              <a:t>к 2026 году в ЦОД, при сценариях быстрого</a:t>
            </a:r>
            <a:br/>
            <a:r>
              <a:t>внедрения 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000000"/>
                </a:solidFill>
                <a:latin typeface="HelveticaNeueCyr"/>
              </a:defRPr>
            </a:pPr>
            <a:r>
              <a:t>В мире:  Основной производитель интегральных</a:t>
            </a:r>
            <a:br/>
            <a:r>
              <a:t>микросхем TSMC (осуществляет производство Nvidia</a:t>
            </a:r>
            <a:br/>
            <a:r>
              <a:t>A100 и H100) заявляет, что не может удовлетворить</a:t>
            </a:r>
            <a:br/>
            <a:r>
              <a:t>растущие потребности из-за ограниченных мощностей</a:t>
            </a:r>
            <a:br/>
            <a:r>
              <a:t>компании в части производства по технологии CoWoS</a:t>
            </a:r>
            <a:br/>
            <a:r>
              <a:t>(Chip-on-Wafer-on-Substrate), которая позволяет</a:t>
            </a:r>
            <a:br/>
            <a:r>
              <a:t>создавать высокопроизводительные вычислительные</a:t>
            </a:r>
            <a:br/>
            <a:r>
              <a:t>устройства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000000"/>
                </a:solidFill>
                <a:latin typeface="HelveticaNeueCyr"/>
              </a:defRPr>
            </a:pPr>
            <a:r>
              <a:t>В РФ:  Поставки высокопроизводительных графических</a:t>
            </a:r>
            <a:br/>
            <a:r>
              <a:t>процессоров Nvidia A100 и H100, AMD Instinct MI250</a:t>
            </a:r>
            <a:br/>
            <a:r>
              <a:t>под санкциями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2060"/>
                </a:solidFill>
                <a:latin typeface="Unbounded SemiBold"/>
              </a:defRPr>
            </a:pPr>
            <a:r>
              <a:t>4 032 ГБ ГП используется для рендеринга  3 200 ГБ</a:t>
            </a:r>
            <a:br/>
            <a:r>
              <a:t>ГП используется для рендеринга  До 100% нагрузки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Calibri"/>
              </a:defRPr>
            </a:pPr>
            <a:r>
              <a:t>Нужно подумать о формате и месте размещения блока</a:t>
            </a:r>
            <a:br/>
            <a:r>
              <a:t>с реализацией в ДИТ  Пока он расположен в</a:t>
            </a:r>
            <a:br/>
            <a:r>
              <a:t>середине, не отслеживается структура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29779" y="10222964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Нейронный и тензорный процессор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2" y="908392"/>
            <a:ext cx="14158794" cy="139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HelveticaNeueCyr"/>
              </a:defRPr>
            </a:pPr>
            <a:r>
              <a:t>Нейронные процессоры (НП) – специализированный</a:t>
            </a:r>
            <a:br/>
            <a:r>
              <a:t>класс микропроцессоров и сопроцессоров,</a:t>
            </a:r>
            <a:br/>
            <a:r>
              <a:t>используемый для аппаратного ускорения работы</a:t>
            </a:r>
            <a:br/>
            <a:r>
              <a:t>алгоритмов искусственных нейронных сетей,</a:t>
            </a:r>
            <a:br/>
            <a:r>
              <a:t>компьютерного зрения, распознавания по голосу,</a:t>
            </a:r>
            <a:br/>
            <a:r>
              <a:t>машинного обучения и других методов ИИ. Одним из</a:t>
            </a:r>
            <a:br/>
            <a:r>
              <a:t>видов НП является тензорный процессор (ТП),</a:t>
            </a:r>
            <a:br/>
            <a:r>
              <a:t>предназначенный для выполнения</a:t>
            </a:r>
            <a:br/>
            <a:r>
              <a:t>высокопроизводительных вычислений с пониженной</a:t>
            </a:r>
            <a:br/>
            <a:r>
              <a:t>точностью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Особенности: Параллельная обработка данных Высокая</a:t>
            </a:r>
            <a:br/>
            <a:r>
              <a:t>пропускная способность и эффективность Низкая</a:t>
            </a:r>
            <a:br/>
            <a:r>
              <a:t>точность для снижения энергопотребления Для</a:t>
            </a:r>
            <a:br/>
            <a:r>
              <a:t>использования необходимы специализированные навыки</a:t>
            </a:r>
            <a:br/>
            <a:r>
              <a:t>Сценарии применения: Применяются в различных</a:t>
            </a:r>
            <a:br/>
            <a:r>
              <a:t>сферах: интернет вещей, распознавание образов и</a:t>
            </a:r>
            <a:br/>
            <a:r>
              <a:t>др. Глубокое обучение, тренировка нейронных сетей</a:t>
            </a:r>
            <a:br/>
            <a:r>
              <a:t>Анализ данных и научные вычисления  Применение в</a:t>
            </a:r>
            <a:br/>
            <a:r>
              <a:t>ИИ: Разработан специально для применения в задачах</a:t>
            </a:r>
            <a:br/>
            <a:r>
              <a:t>машинного обучения и других задачах ИИ Обучение и</a:t>
            </a:r>
            <a:br/>
            <a:r>
              <a:t>поддержка работоспособности  моделей нейронных</a:t>
            </a:r>
            <a:br/>
            <a:r>
              <a:t>сетей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661" y="7126405"/>
            <a:ext cx="5235128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Иностранные производители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90" y="8893933"/>
            <a:ext cx="5235128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Российские производители</a:t>
            </a:r>
          </a:p>
        </p:txBody>
      </p:sp>
      <p:pic>
        <p:nvPicPr>
          <p:cNvPr id="10" name="Picture 9" descr="slide_11_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11" name="Picture 10" descr="slide_9_img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12" name="Picture 11" descr="slide_9_img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13" name="Picture 12" descr="slide_9_img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14" name="Picture 13" descr="slide_11_img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15" name="Picture 14" descr="slide_11_img_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6" name="Picture 15" descr="slide_11_img_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6009" y="6688416"/>
            <a:ext cx="3028834" cy="63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Реализация в ДИТ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63784" y="2454174"/>
            <a:ext cx="4804719" cy="3785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Unbounded SemiBold"/>
              </a:defRPr>
            </a:pPr>
            <a:r>
              <a:t>Разработка НП в РФ: В июне 2024 года российские</a:t>
            </a:r>
            <a:br/>
            <a:r>
              <a:t>ученые из МФТИ начали разрабатывать первый</a:t>
            </a:r>
            <a:br/>
            <a:r>
              <a:t>отечественный нейристор (искусственный нейрон,</a:t>
            </a:r>
            <a:br/>
            <a:r>
              <a:t>способный имитировать работу человеческого мозга),</a:t>
            </a:r>
            <a:br/>
            <a:r>
              <a:t>который станет основой для создания нейроморфного</a:t>
            </a:r>
            <a:br/>
            <a:r>
              <a:t>компьютера Компания «Мотив нейроморфные</a:t>
            </a:r>
            <a:br/>
            <a:r>
              <a:t>технологии» («Мотив НТ») представила в 2019 году</a:t>
            </a:r>
            <a:br/>
            <a:r>
              <a:t>прототип нейроморфного процессора «Алтай», а в</a:t>
            </a:r>
            <a:br/>
            <a:r>
              <a:t>2023 году процессор «Алтай 2.0». К 2025 году</a:t>
            </a:r>
            <a:br/>
            <a:r>
              <a:t>планируется реализация процессора «Алтай 3.0»,</a:t>
            </a:r>
            <a:br/>
            <a:r>
              <a:t>ключевой особенностью которого будет обучение 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10" y="2454174"/>
            <a:ext cx="3028833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Виды нейронных процессоров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HelveticaNeueCyr"/>
              </a:defRPr>
            </a:pPr>
            <a:r>
              <a:t>Нейроморфные Тензорные Процессоры машинного зрения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HelveticaNeueCyr"/>
              </a:defRPr>
            </a:pPr>
            <a:r>
              <a:t>ТП закупаются для нужд искусственного интеллекта,</a:t>
            </a:r>
            <a:br/>
            <a:r>
              <a:t>рендеринга видео</a:t>
            </a:r>
          </a:p>
        </p:txBody>
      </p:sp>
      <p:pic>
        <p:nvPicPr>
          <p:cNvPr id="22" name="Picture 21" descr="slide_11_img_1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3" name="Picture 22" descr="slide_11_img_2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900" b="0" i="0">
                <a:solidFill>
                  <a:srgbClr val="000000"/>
                </a:solidFill>
                <a:latin typeface="HelveticaNeueCyr"/>
              </a:defRPr>
            </a:pPr>
            <a:r>
              <a:t>*IVA TPU – проект российской компании, презентация</a:t>
            </a:r>
            <a:br/>
            <a:r>
              <a:t>проведена в сентябре 2018 года  На данный момент</a:t>
            </a:r>
            <a:br/>
            <a:r>
              <a:t>на сайте компании не представлена, с 2020 года нет</a:t>
            </a:r>
            <a:br/>
            <a:r>
              <a:t>публичных новостей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9905" y="9452637"/>
            <a:ext cx="2680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000000"/>
                </a:solidFill>
                <a:latin typeface="HelveticaNeueCyr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Unbounded SemiBold"/>
              </a:defRPr>
            </a:pPr>
            <a:r>
              <a:t>Разработка НП и ТП в мире: В настоящее время ТП</a:t>
            </a:r>
            <a:br/>
            <a:r>
              <a:t>производится и используется только компанией</a:t>
            </a:r>
            <a:br/>
            <a:r>
              <a:t>Google. Процессоры не продаются в формате</a:t>
            </a:r>
            <a:br/>
            <a:r>
              <a:t>физического вычислительного устройства.</a:t>
            </a:r>
            <a:br/>
            <a:r>
              <a:t>Использовать Google Cloud TPU возможно через</a:t>
            </a:r>
            <a:br/>
            <a:r>
              <a:t>аренду облачных вычислительных мощностей В декабре</a:t>
            </a:r>
            <a:br/>
            <a:r>
              <a:t>2023 года австралийские ученые анонсировали проект</a:t>
            </a:r>
            <a:br/>
            <a:r>
              <a:t>нейроморфного суперкомпьютера нового типа</a:t>
            </a:r>
            <a:br/>
            <a:r>
              <a:t>DeepSouth, который способен моделировать нейронные</a:t>
            </a:r>
            <a:br/>
            <a:r>
              <a:t>сети масштаба человеческого мозга и будет</a:t>
            </a:r>
            <a:br/>
            <a:r>
              <a:t>обрабатывать огромные объемы данных с высокой</a:t>
            </a:r>
            <a:br/>
            <a:r>
              <a:t>скоростью, потребляя меньше энергии, чем обычные</a:t>
            </a:r>
            <a:br/>
            <a:r>
              <a:t>суперкомпьютеры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2060"/>
                </a:solidFill>
                <a:latin typeface="Unbounded SemiBold"/>
              </a:defRPr>
            </a:pPr>
            <a:r>
              <a:t>4 видеокарты ГП с тензорными сопроцессорами</a:t>
            </a:r>
            <a:br/>
            <a:r>
              <a:t>используется для тестов   2025 год ожидаемый срок</a:t>
            </a:r>
            <a:br/>
            <a:r>
              <a:t>основной поставки мощностей в рамках создания</a:t>
            </a:r>
            <a:br/>
            <a:r>
              <a:t>кластера 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Calibri"/>
              </a:defRPr>
            </a:pPr>
            <a:r>
              <a:t>Нужно подумать о формате и месте размещения блока</a:t>
            </a:r>
            <a:br/>
            <a:r>
              <a:t>с реализацией в ДИТ  Пока он расположен в</a:t>
            </a:r>
            <a:br/>
            <a:r>
              <a:t>середине, не отслеживается структура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77905" y="10226562"/>
            <a:ext cx="755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893F4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 i="0">
                <a:solidFill>
                  <a:srgbClr val="000000"/>
                </a:solidFill>
                <a:latin typeface="Unbounded Medium"/>
              </a:defRPr>
            </a:pPr>
            <a:r>
              <a:t>Квантовый компьютер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1" y="899061"/>
            <a:ext cx="14220832" cy="85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HelveticaNeueCyr"/>
              </a:defRPr>
            </a:pPr>
            <a:r>
              <a:t>устройство, которое выполняет вычисления,</a:t>
            </a:r>
            <a:br/>
            <a:r>
              <a:t>основываясь на законах квантовой механики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669" y="7082757"/>
            <a:ext cx="4143787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Иностранные производители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441" y="8776862"/>
            <a:ext cx="4095015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Российские производители</a:t>
            </a:r>
          </a:p>
        </p:txBody>
      </p:sp>
      <p:pic>
        <p:nvPicPr>
          <p:cNvPr id="9" name="Picture 8" descr="slide_11_im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10" name="Picture 9" descr="slide_12_img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11" name="Picture 10" descr="slide_12_img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12" name="Picture 11" descr="slide_12_img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671" y="1937651"/>
            <a:ext cx="414378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Особенности: Работа на основе принципов квантовой</a:t>
            </a:r>
            <a:br/>
            <a:r>
              <a:t>механики, основной элемент – квантовый бит</a:t>
            </a:r>
            <a:br/>
            <a:r>
              <a:t>Параллельная обработка данных с возможностью</a:t>
            </a:r>
            <a:br/>
            <a:r>
              <a:t>одновременного перебора всех вариантов ответов</a:t>
            </a:r>
            <a:br/>
            <a:r>
              <a:t>Сценарии применения: Решение</a:t>
            </a:r>
            <a:br/>
            <a:r>
              <a:t>узкоспециализированных задач: молекулярное</a:t>
            </a:r>
            <a:br/>
            <a:r>
              <a:t>моделирование, разработка новых алгоритмов для</a:t>
            </a:r>
            <a:br/>
            <a:r>
              <a:t>криптографии и безопасности, биоинформатика и др.</a:t>
            </a:r>
            <a:br/>
            <a:r>
              <a:t>Применение в ИИ: Обработка больших объемов данных</a:t>
            </a:r>
            <a:br/>
            <a:r>
              <a:t>Обучение моделей для классификации и кластеризации</a:t>
            </a:r>
          </a:p>
        </p:txBody>
      </p:sp>
      <p:pic>
        <p:nvPicPr>
          <p:cNvPr id="14" name="Picture 13" descr="slide_11_img_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15" name="Picture 14" descr="slide_9_img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16" name="Picture 15" descr="slide_9_img_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1849" y="7800587"/>
            <a:ext cx="995606" cy="353290"/>
          </a:xfrm>
          <a:prstGeom prst="rect">
            <a:avLst/>
          </a:prstGeom>
        </p:spPr>
      </p:pic>
      <p:pic>
        <p:nvPicPr>
          <p:cNvPr id="17" name="Picture 16" descr="slide_12_img_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30198" y="8302215"/>
            <a:ext cx="4519430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Реализация в ДИТ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Unbounded SemiBold"/>
              </a:defRPr>
            </a:pPr>
            <a:r>
              <a:t>Развитие мирового рынка квантовых вычислений</a:t>
            </a:r>
            <a:br/>
            <a:r>
              <a:t>Google намерена показать устройство на 1 000</a:t>
            </a:r>
            <a:br/>
            <a:r>
              <a:t>кубитов после 2025 года IBM в октябре 2024 года</a:t>
            </a:r>
            <a:br/>
            <a:r>
              <a:t>открыла свой первый квантовый центр обработки</a:t>
            </a:r>
            <a:br/>
            <a:r>
              <a:t>данных в Европе, а также объявила о создании</a:t>
            </a:r>
            <a:br/>
            <a:r>
              <a:t>модульной системы, способной поддерживать до 16</a:t>
            </a:r>
            <a:br/>
            <a:r>
              <a:t>632 кубитов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 i="0">
                <a:solidFill>
                  <a:srgbClr val="0F24E7"/>
                </a:solidFill>
                <a:latin typeface="HelveticaNeueCyr"/>
              </a:defRPr>
            </a:pPr>
            <a:r>
              <a:t>Сумма инвестиций в квантовые разработки в мире,</a:t>
            </a:r>
            <a:br/>
            <a:r>
              <a:t>млн $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896054" y="6687302"/>
            <a:ext cx="4717680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Объем частных инвестиций в 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222222"/>
                </a:solidFill>
                <a:latin typeface="HelveticaNeueCyr"/>
              </a:defRPr>
            </a:pPr>
            <a:r>
              <a:t>Фокус на рост количества кубитов Повышение</a:t>
            </a:r>
            <a:br/>
            <a:r>
              <a:t>точности  Квантовая коррекция ошибки</a:t>
            </a:r>
            <a:br/>
            <a:r>
              <a:t>Потенциальное расширение фокуса с роста количества</a:t>
            </a:r>
            <a:br/>
            <a:r>
              <a:t>кубитов на другие направления: снижение шума с</a:t>
            </a:r>
            <a:br/>
            <a:r>
              <a:t>целью повышения точности, обеспечение возможности</a:t>
            </a:r>
            <a:br/>
            <a:r>
              <a:t>загрузки данных в квантовый компьютер и др.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5969" y="1937623"/>
            <a:ext cx="4513659" cy="74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222222"/>
                </a:solidFill>
                <a:latin typeface="Unbounded SemiBold"/>
              </a:defRPr>
            </a:pPr>
            <a:r>
              <a:t>Основные тренды на рынке квантовых вычислений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5970" y="5174459"/>
            <a:ext cx="4502116" cy="5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222222"/>
                </a:solidFill>
                <a:latin typeface="Unbounded SemiBold"/>
              </a:defRPr>
            </a:pPr>
            <a:r>
              <a:t>Государственные инвестиции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0F24E7"/>
                </a:solidFill>
                <a:latin typeface="HelveticaNeueCyr"/>
              </a:defRPr>
            </a:pPr>
            <a:r>
              <a:t>Китай является лидером по госфинансированию</a:t>
            </a:r>
            <a:br/>
            <a:r>
              <a:t>квантовых технологий (КТ) с объемом 15,3 млрд $,</a:t>
            </a:r>
            <a:br/>
            <a:r>
              <a:t>обогоняя Евросоюз с 8,4 млрд $ и США с 3,7 млрд $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0000"/>
                </a:solidFill>
                <a:latin typeface="Unbounded SemiBold"/>
              </a:defRPr>
            </a:pPr>
            <a:r>
              <a:t>Проблемы рынка квантовых компьютеров Высокая</a:t>
            </a:r>
            <a:br/>
            <a:r>
              <a:t>стоимость и техническая сложность создания и</a:t>
            </a:r>
            <a:br/>
            <a:r>
              <a:t>обслуживания компьютеров Мало вариантов</a:t>
            </a:r>
            <a:br/>
            <a:r>
              <a:t>использования в реальных задачах Сложность</a:t>
            </a:r>
            <a:br/>
            <a:r>
              <a:t>создания и поддержки кубитов в стабильном</a:t>
            </a:r>
            <a:br/>
            <a:r>
              <a:t>состоянии (температура помещения, вибрации)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6918" y="7198058"/>
            <a:ext cx="4507887" cy="870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 i="0">
                <a:solidFill>
                  <a:srgbClr val="0F24E7"/>
                </a:solidFill>
                <a:latin typeface="HelveticaNeueCyr"/>
              </a:defRPr>
            </a:pPr>
            <a:r>
              <a:t>IBM Quantum Condor – самый мощный квантовый</a:t>
            </a:r>
            <a:br/>
            <a:r>
              <a:t>компьютер на сегодняшний день, имеющий 433 кубита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 i="0">
                <a:solidFill>
                  <a:srgbClr val="002060"/>
                </a:solidFill>
                <a:latin typeface="Unbounded SemiBold"/>
              </a:defRPr>
            </a:pPr>
            <a:r>
              <a:t>2 двухкубитовых компьютера на текущий момент</a:t>
            </a:r>
            <a:br/>
            <a:r>
              <a:t>тестируются в ДИТ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solidFill>
                  <a:srgbClr val="000000"/>
                </a:solidFill>
                <a:latin typeface="Calibri"/>
              </a:defRPr>
            </a:pPr>
            <a:r>
              <a:t>Нужно подумать о формате и месте размещения блока</a:t>
            </a:r>
            <a:br/>
            <a:r>
              <a:t>с реализацией в ДИТ  Пока он расположен в</a:t>
            </a:r>
            <a:br/>
            <a:r>
              <a:t>середине, не отслеживается структура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