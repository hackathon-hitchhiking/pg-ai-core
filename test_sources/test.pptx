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media/image13.wmf" ContentType="image/x-wmf"/>
  <Override PartName="/ppt/media/image5.png" ContentType="image/png"/>
  <Override PartName="/ppt/media/image9.png" ContentType="image/png"/>
  <Override PartName="/ppt/media/image17.wmf" ContentType="image/x-wmf"/>
  <Override PartName="/ppt/media/image1.png" ContentType="image/png"/>
  <Override PartName="/ppt/media/image3.png" ContentType="image/png"/>
  <Override PartName="/ppt/media/image4.png" ContentType="image/png"/>
  <Override PartName="/ppt/media/image14.wmf" ContentType="image/x-wmf"/>
  <Override PartName="/ppt/media/image6.png" ContentType="image/png"/>
  <Override PartName="/ppt/media/image11.png" ContentType="image/png"/>
  <Override PartName="/ppt/media/image10.wmf" ContentType="image/x-wmf"/>
  <Override PartName="/ppt/media/image2.png" ContentType="image/png"/>
  <Override PartName="/ppt/media/image15.wmf" ContentType="image/x-wmf"/>
  <Override PartName="/ppt/media/image7.png" ContentType="image/png"/>
  <Override PartName="/ppt/media/image12.png" ContentType="image/png"/>
  <Override PartName="/ppt/media/image16.wmf" ContentType="image/x-wmf"/>
  <Override PartName="/ppt/media/image8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496906056628539"/>
          <c:y val="0.079675519502167"/>
          <c:w val="0.771423213950872"/>
          <c:h val="0.86587398599844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Столбец 1</c:v>
                </c:pt>
              </c:strCache>
            </c:strRef>
          </c:tx>
          <c:spPr>
            <a:solidFill>
              <a:srgbClr val="004586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Строка 1</c:v>
                </c:pt>
                <c:pt idx="1">
                  <c:v>Строка 2</c:v>
                </c:pt>
                <c:pt idx="2">
                  <c:v>Строка 3</c:v>
                </c:pt>
                <c:pt idx="3">
                  <c:v>Строка 4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9.1</c:v>
                </c:pt>
                <c:pt idx="1">
                  <c:v>2.4</c:v>
                </c:pt>
                <c:pt idx="2">
                  <c:v>3.1</c:v>
                </c:pt>
                <c:pt idx="3">
                  <c:v>4.3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Столбец 2</c:v>
                </c:pt>
              </c:strCache>
            </c:strRef>
          </c:tx>
          <c:spPr>
            <a:solidFill>
              <a:srgbClr val="ff420e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Строка 1</c:v>
                </c:pt>
                <c:pt idx="1">
                  <c:v>Строка 2</c:v>
                </c:pt>
                <c:pt idx="2">
                  <c:v>Строка 3</c:v>
                </c:pt>
                <c:pt idx="3">
                  <c:v>Строка 4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4"/>
                <c:pt idx="0">
                  <c:v>3.2</c:v>
                </c:pt>
                <c:pt idx="1">
                  <c:v>8.8</c:v>
                </c:pt>
                <c:pt idx="2">
                  <c:v>1.5</c:v>
                </c:pt>
                <c:pt idx="3">
                  <c:v>9.02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Столбец 3</c:v>
                </c:pt>
              </c:strCache>
            </c:strRef>
          </c:tx>
          <c:spPr>
            <a:solidFill>
              <a:srgbClr val="ffd320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Строка 1</c:v>
                </c:pt>
                <c:pt idx="1">
                  <c:v>Строка 2</c:v>
                </c:pt>
                <c:pt idx="2">
                  <c:v>Строка 3</c:v>
                </c:pt>
                <c:pt idx="3">
                  <c:v>Строка 4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4"/>
                <c:pt idx="0">
                  <c:v>4.54</c:v>
                </c:pt>
                <c:pt idx="1">
                  <c:v>9.65</c:v>
                </c:pt>
                <c:pt idx="2">
                  <c:v>3.7</c:v>
                </c:pt>
                <c:pt idx="3">
                  <c:v>6.2</c:v>
                </c:pt>
              </c:numCache>
            </c:numRef>
          </c:val>
        </c:ser>
        <c:gapWidth val="100"/>
        <c:overlap val="0"/>
        <c:axId val="3703363"/>
        <c:axId val="81220828"/>
      </c:barChart>
      <c:catAx>
        <c:axId val="3703363"/>
        <c:scaling>
          <c:orientation val="minMax"/>
        </c:scaling>
        <c:delete val="0"/>
        <c:axPos val="b"/>
        <c:numFmt formatCode="[$-419]dd/mm/yyyy" sourceLinked="1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pc="-1" strike="noStrike">
                <a:latin typeface="Arial"/>
              </a:defRPr>
            </a:pPr>
          </a:p>
        </c:txPr>
        <c:crossAx val="81220828"/>
        <c:crosses val="autoZero"/>
        <c:auto val="1"/>
        <c:lblAlgn val="ctr"/>
        <c:lblOffset val="100"/>
        <c:noMultiLvlLbl val="0"/>
      </c:catAx>
      <c:valAx>
        <c:axId val="81220828"/>
        <c:scaling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pc="-1" strike="noStrike">
                <a:latin typeface="Arial"/>
              </a:defRPr>
            </a:pPr>
          </a:p>
        </c:txPr>
        <c:crossAx val="3703363"/>
        <c:crosses val="autoZero"/>
        <c:crossBetween val="between"/>
      </c:valAx>
      <c:spPr>
        <a:noFill/>
        <a:ln w="0">
          <a:solidFill>
            <a:srgbClr val="b3b3b3"/>
          </a:solidFill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b="0" sz="1000" spc="-1" strike="noStrike">
              <a:latin typeface="Arial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496875"/>
          <c:y val="0.0796666666666667"/>
          <c:w val="0.771375"/>
          <c:h val="0.86577777777777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Столбец 1</c:v>
                </c:pt>
              </c:strCache>
            </c:strRef>
          </c:tx>
          <c:spPr>
            <a:solidFill>
              <a:srgbClr val="004586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Строка 1</c:v>
                </c:pt>
                <c:pt idx="1">
                  <c:v>Строка 2</c:v>
                </c:pt>
                <c:pt idx="2">
                  <c:v>Строка 3</c:v>
                </c:pt>
                <c:pt idx="3">
                  <c:v>Строка 4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9.1</c:v>
                </c:pt>
                <c:pt idx="1">
                  <c:v>2.4</c:v>
                </c:pt>
                <c:pt idx="2">
                  <c:v>3.1</c:v>
                </c:pt>
                <c:pt idx="3">
                  <c:v>4.3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Столбец 2</c:v>
                </c:pt>
              </c:strCache>
            </c:strRef>
          </c:tx>
          <c:spPr>
            <a:solidFill>
              <a:srgbClr val="ff420e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Строка 1</c:v>
                </c:pt>
                <c:pt idx="1">
                  <c:v>Строка 2</c:v>
                </c:pt>
                <c:pt idx="2">
                  <c:v>Строка 3</c:v>
                </c:pt>
                <c:pt idx="3">
                  <c:v>Строка 4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4"/>
                <c:pt idx="0">
                  <c:v>3.2</c:v>
                </c:pt>
                <c:pt idx="1">
                  <c:v>8.8</c:v>
                </c:pt>
                <c:pt idx="2">
                  <c:v>1.5</c:v>
                </c:pt>
                <c:pt idx="3">
                  <c:v>9.02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Столбец 3</c:v>
                </c:pt>
              </c:strCache>
            </c:strRef>
          </c:tx>
          <c:spPr>
            <a:solidFill>
              <a:srgbClr val="ffd320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Строка 1</c:v>
                </c:pt>
                <c:pt idx="1">
                  <c:v>Строка 2</c:v>
                </c:pt>
                <c:pt idx="2">
                  <c:v>Строка 3</c:v>
                </c:pt>
                <c:pt idx="3">
                  <c:v>Строка 4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4"/>
                <c:pt idx="0">
                  <c:v>4.54</c:v>
                </c:pt>
                <c:pt idx="1">
                  <c:v>9.65</c:v>
                </c:pt>
                <c:pt idx="2">
                  <c:v>3.7</c:v>
                </c:pt>
                <c:pt idx="3">
                  <c:v>6.2</c:v>
                </c:pt>
              </c:numCache>
            </c:numRef>
          </c:val>
        </c:ser>
        <c:gapWidth val="100"/>
        <c:overlap val="0"/>
        <c:axId val="55061947"/>
        <c:axId val="19589014"/>
      </c:barChart>
      <c:catAx>
        <c:axId val="55061947"/>
        <c:scaling>
          <c:orientation val="minMax"/>
        </c:scaling>
        <c:delete val="0"/>
        <c:axPos val="b"/>
        <c:numFmt formatCode="[$-419]dd/mm/yyyy" sourceLinked="1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pc="-1" strike="noStrike">
                <a:latin typeface="Arial"/>
              </a:defRPr>
            </a:pPr>
          </a:p>
        </c:txPr>
        <c:crossAx val="19589014"/>
        <c:crosses val="autoZero"/>
        <c:auto val="1"/>
        <c:lblAlgn val="ctr"/>
        <c:lblOffset val="100"/>
        <c:noMultiLvlLbl val="0"/>
      </c:catAx>
      <c:valAx>
        <c:axId val="19589014"/>
        <c:scaling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pc="-1" strike="noStrike">
                <a:latin typeface="Arial"/>
              </a:defRPr>
            </a:pPr>
          </a:p>
        </c:txPr>
        <c:crossAx val="55061947"/>
        <c:crosses val="autoZero"/>
        <c:crossBetween val="between"/>
      </c:valAx>
      <c:spPr>
        <a:noFill/>
        <a:ln w="0">
          <a:solidFill>
            <a:srgbClr val="b3b3b3"/>
          </a:solidFill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b="0" sz="1000" spc="-1" strike="noStrike">
              <a:latin typeface="Arial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496875"/>
          <c:y val="0.0796666666666667"/>
          <c:w val="0.771375"/>
          <c:h val="0.86577777777777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Столбец 1</c:v>
                </c:pt>
              </c:strCache>
            </c:strRef>
          </c:tx>
          <c:spPr>
            <a:solidFill>
              <a:srgbClr val="004586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Строка 1</c:v>
                </c:pt>
                <c:pt idx="1">
                  <c:v>Строка 2</c:v>
                </c:pt>
                <c:pt idx="2">
                  <c:v>Строка 3</c:v>
                </c:pt>
                <c:pt idx="3">
                  <c:v>Строка 4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9.1</c:v>
                </c:pt>
                <c:pt idx="1">
                  <c:v>2.4</c:v>
                </c:pt>
                <c:pt idx="2">
                  <c:v>3.1</c:v>
                </c:pt>
                <c:pt idx="3">
                  <c:v>4.3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Столбец 2</c:v>
                </c:pt>
              </c:strCache>
            </c:strRef>
          </c:tx>
          <c:spPr>
            <a:solidFill>
              <a:srgbClr val="ff420e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Строка 1</c:v>
                </c:pt>
                <c:pt idx="1">
                  <c:v>Строка 2</c:v>
                </c:pt>
                <c:pt idx="2">
                  <c:v>Строка 3</c:v>
                </c:pt>
                <c:pt idx="3">
                  <c:v>Строка 4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4"/>
                <c:pt idx="0">
                  <c:v>3.2</c:v>
                </c:pt>
                <c:pt idx="1">
                  <c:v>8.8</c:v>
                </c:pt>
                <c:pt idx="2">
                  <c:v>1.5</c:v>
                </c:pt>
                <c:pt idx="3">
                  <c:v>9.02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Столбец 3</c:v>
                </c:pt>
              </c:strCache>
            </c:strRef>
          </c:tx>
          <c:spPr>
            <a:solidFill>
              <a:srgbClr val="ffd320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Строка 1</c:v>
                </c:pt>
                <c:pt idx="1">
                  <c:v>Строка 2</c:v>
                </c:pt>
                <c:pt idx="2">
                  <c:v>Строка 3</c:v>
                </c:pt>
                <c:pt idx="3">
                  <c:v>Строка 4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4"/>
                <c:pt idx="0">
                  <c:v>4.54</c:v>
                </c:pt>
                <c:pt idx="1">
                  <c:v>9.65</c:v>
                </c:pt>
                <c:pt idx="2">
                  <c:v>3.7</c:v>
                </c:pt>
                <c:pt idx="3">
                  <c:v>6.2</c:v>
                </c:pt>
              </c:numCache>
            </c:numRef>
          </c:val>
        </c:ser>
        <c:gapWidth val="100"/>
        <c:overlap val="0"/>
        <c:axId val="935953"/>
        <c:axId val="1075781"/>
      </c:barChart>
      <c:catAx>
        <c:axId val="935953"/>
        <c:scaling>
          <c:orientation val="minMax"/>
        </c:scaling>
        <c:delete val="0"/>
        <c:axPos val="b"/>
        <c:numFmt formatCode="[$-419]dd/mm/yyyy" sourceLinked="1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pc="-1" strike="noStrike">
                <a:latin typeface="Arial"/>
              </a:defRPr>
            </a:pPr>
          </a:p>
        </c:txPr>
        <c:crossAx val="1075781"/>
        <c:crosses val="autoZero"/>
        <c:auto val="1"/>
        <c:lblAlgn val="ctr"/>
        <c:lblOffset val="100"/>
        <c:noMultiLvlLbl val="0"/>
      </c:catAx>
      <c:valAx>
        <c:axId val="1075781"/>
        <c:scaling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pc="-1" strike="noStrike">
                <a:latin typeface="Arial"/>
              </a:defRPr>
            </a:pPr>
          </a:p>
        </c:txPr>
        <c:crossAx val="935953"/>
        <c:crosses val="autoZero"/>
        <c:crossBetween val="between"/>
      </c:valAx>
      <c:spPr>
        <a:noFill/>
        <a:ln w="0">
          <a:solidFill>
            <a:srgbClr val="b3b3b3"/>
          </a:solidFill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b="0" sz="1000" spc="-1" strike="noStrike">
              <a:latin typeface="Arial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496875"/>
          <c:y val="0.0796666666666667"/>
          <c:w val="0.771375"/>
          <c:h val="0.86577777777777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Столбец 1</c:v>
                </c:pt>
              </c:strCache>
            </c:strRef>
          </c:tx>
          <c:spPr>
            <a:solidFill>
              <a:srgbClr val="004586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Строка 1</c:v>
                </c:pt>
                <c:pt idx="1">
                  <c:v>Строка 2</c:v>
                </c:pt>
                <c:pt idx="2">
                  <c:v>Строка 3</c:v>
                </c:pt>
                <c:pt idx="3">
                  <c:v>Строка 4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9.1</c:v>
                </c:pt>
                <c:pt idx="1">
                  <c:v>2.4</c:v>
                </c:pt>
                <c:pt idx="2">
                  <c:v>3.1</c:v>
                </c:pt>
                <c:pt idx="3">
                  <c:v>4.3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Столбец 2</c:v>
                </c:pt>
              </c:strCache>
            </c:strRef>
          </c:tx>
          <c:spPr>
            <a:solidFill>
              <a:srgbClr val="ff420e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Строка 1</c:v>
                </c:pt>
                <c:pt idx="1">
                  <c:v>Строка 2</c:v>
                </c:pt>
                <c:pt idx="2">
                  <c:v>Строка 3</c:v>
                </c:pt>
                <c:pt idx="3">
                  <c:v>Строка 4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4"/>
                <c:pt idx="0">
                  <c:v>3.2</c:v>
                </c:pt>
                <c:pt idx="1">
                  <c:v>8.8</c:v>
                </c:pt>
                <c:pt idx="2">
                  <c:v>1.5</c:v>
                </c:pt>
                <c:pt idx="3">
                  <c:v>9.02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Столбец 3</c:v>
                </c:pt>
              </c:strCache>
            </c:strRef>
          </c:tx>
          <c:spPr>
            <a:solidFill>
              <a:srgbClr val="ffd320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Строка 1</c:v>
                </c:pt>
                <c:pt idx="1">
                  <c:v>Строка 2</c:v>
                </c:pt>
                <c:pt idx="2">
                  <c:v>Строка 3</c:v>
                </c:pt>
                <c:pt idx="3">
                  <c:v>Строка 4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4"/>
                <c:pt idx="0">
                  <c:v>4.54</c:v>
                </c:pt>
                <c:pt idx="1">
                  <c:v>9.65</c:v>
                </c:pt>
                <c:pt idx="2">
                  <c:v>3.7</c:v>
                </c:pt>
                <c:pt idx="3">
                  <c:v>6.2</c:v>
                </c:pt>
              </c:numCache>
            </c:numRef>
          </c:val>
        </c:ser>
        <c:gapWidth val="100"/>
        <c:overlap val="0"/>
        <c:axId val="41974007"/>
        <c:axId val="68400675"/>
      </c:barChart>
      <c:catAx>
        <c:axId val="41974007"/>
        <c:scaling>
          <c:orientation val="minMax"/>
        </c:scaling>
        <c:delete val="0"/>
        <c:axPos val="b"/>
        <c:numFmt formatCode="[$-419]dd/mm/yyyy" sourceLinked="1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pc="-1" strike="noStrike">
                <a:latin typeface="Arial"/>
              </a:defRPr>
            </a:pPr>
          </a:p>
        </c:txPr>
        <c:crossAx val="68400675"/>
        <c:crosses val="autoZero"/>
        <c:auto val="1"/>
        <c:lblAlgn val="ctr"/>
        <c:lblOffset val="100"/>
        <c:noMultiLvlLbl val="0"/>
      </c:catAx>
      <c:valAx>
        <c:axId val="68400675"/>
        <c:scaling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pc="-1" strike="noStrike">
                <a:latin typeface="Arial"/>
              </a:defRPr>
            </a:pPr>
          </a:p>
        </c:txPr>
        <c:crossAx val="41974007"/>
        <c:crosses val="autoZero"/>
        <c:crossBetween val="between"/>
      </c:valAx>
      <c:spPr>
        <a:noFill/>
        <a:ln w="0">
          <a:solidFill>
            <a:srgbClr val="b3b3b3"/>
          </a:solidFill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b="0" sz="1000" spc="-1" strike="noStrike">
              <a:latin typeface="Arial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496875"/>
          <c:y val="0.0796666666666667"/>
          <c:w val="0.771375"/>
          <c:h val="0.86577777777777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Столбец 1</c:v>
                </c:pt>
              </c:strCache>
            </c:strRef>
          </c:tx>
          <c:spPr>
            <a:solidFill>
              <a:srgbClr val="004586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Строка 1</c:v>
                </c:pt>
                <c:pt idx="1">
                  <c:v>Строка 2</c:v>
                </c:pt>
                <c:pt idx="2">
                  <c:v>Строка 3</c:v>
                </c:pt>
                <c:pt idx="3">
                  <c:v>Строка 4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9.1</c:v>
                </c:pt>
                <c:pt idx="1">
                  <c:v>2.4</c:v>
                </c:pt>
                <c:pt idx="2">
                  <c:v>3.1</c:v>
                </c:pt>
                <c:pt idx="3">
                  <c:v>4.3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Столбец 2</c:v>
                </c:pt>
              </c:strCache>
            </c:strRef>
          </c:tx>
          <c:spPr>
            <a:solidFill>
              <a:srgbClr val="ff420e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Строка 1</c:v>
                </c:pt>
                <c:pt idx="1">
                  <c:v>Строка 2</c:v>
                </c:pt>
                <c:pt idx="2">
                  <c:v>Строка 3</c:v>
                </c:pt>
                <c:pt idx="3">
                  <c:v>Строка 4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4"/>
                <c:pt idx="0">
                  <c:v>3.2</c:v>
                </c:pt>
                <c:pt idx="1">
                  <c:v>8.8</c:v>
                </c:pt>
                <c:pt idx="2">
                  <c:v>1.5</c:v>
                </c:pt>
                <c:pt idx="3">
                  <c:v>9.02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Столбец 3</c:v>
                </c:pt>
              </c:strCache>
            </c:strRef>
          </c:tx>
          <c:spPr>
            <a:solidFill>
              <a:srgbClr val="ffd320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Строка 1</c:v>
                </c:pt>
                <c:pt idx="1">
                  <c:v>Строка 2</c:v>
                </c:pt>
                <c:pt idx="2">
                  <c:v>Строка 3</c:v>
                </c:pt>
                <c:pt idx="3">
                  <c:v>Строка 4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4"/>
                <c:pt idx="0">
                  <c:v>4.54</c:v>
                </c:pt>
                <c:pt idx="1">
                  <c:v>9.65</c:v>
                </c:pt>
                <c:pt idx="2">
                  <c:v>3.7</c:v>
                </c:pt>
                <c:pt idx="3">
                  <c:v>6.2</c:v>
                </c:pt>
              </c:numCache>
            </c:numRef>
          </c:val>
        </c:ser>
        <c:gapWidth val="100"/>
        <c:overlap val="0"/>
        <c:axId val="30582744"/>
        <c:axId val="40391368"/>
      </c:barChart>
      <c:catAx>
        <c:axId val="30582744"/>
        <c:scaling>
          <c:orientation val="minMax"/>
        </c:scaling>
        <c:delete val="0"/>
        <c:axPos val="b"/>
        <c:numFmt formatCode="[$-419]dd/mm/yyyy" sourceLinked="1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pc="-1" strike="noStrike">
                <a:latin typeface="Arial"/>
              </a:defRPr>
            </a:pPr>
          </a:p>
        </c:txPr>
        <c:crossAx val="40391368"/>
        <c:crosses val="autoZero"/>
        <c:auto val="1"/>
        <c:lblAlgn val="ctr"/>
        <c:lblOffset val="100"/>
        <c:noMultiLvlLbl val="0"/>
      </c:catAx>
      <c:valAx>
        <c:axId val="40391368"/>
        <c:scaling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pc="-1" strike="noStrike">
                <a:latin typeface="Arial"/>
              </a:defRPr>
            </a:pPr>
          </a:p>
        </c:txPr>
        <c:crossAx val="30582744"/>
        <c:crosses val="autoZero"/>
        <c:crossBetween val="between"/>
      </c:valAx>
      <c:spPr>
        <a:noFill/>
        <a:ln w="0">
          <a:solidFill>
            <a:srgbClr val="b3b3b3"/>
          </a:solidFill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b="0" sz="1000" spc="-1" strike="noStrike">
              <a:latin typeface="Arial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496875"/>
          <c:y val="0.0796666666666667"/>
          <c:w val="0.771375"/>
          <c:h val="0.86577777777777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Столбец 1</c:v>
                </c:pt>
              </c:strCache>
            </c:strRef>
          </c:tx>
          <c:spPr>
            <a:solidFill>
              <a:srgbClr val="004586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Строка 1</c:v>
                </c:pt>
                <c:pt idx="1">
                  <c:v>Строка 2</c:v>
                </c:pt>
                <c:pt idx="2">
                  <c:v>Строка 3</c:v>
                </c:pt>
                <c:pt idx="3">
                  <c:v>Строка 4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9.1</c:v>
                </c:pt>
                <c:pt idx="1">
                  <c:v>2.4</c:v>
                </c:pt>
                <c:pt idx="2">
                  <c:v>3.1</c:v>
                </c:pt>
                <c:pt idx="3">
                  <c:v>4.3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Столбец 2</c:v>
                </c:pt>
              </c:strCache>
            </c:strRef>
          </c:tx>
          <c:spPr>
            <a:solidFill>
              <a:srgbClr val="ff420e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Строка 1</c:v>
                </c:pt>
                <c:pt idx="1">
                  <c:v>Строка 2</c:v>
                </c:pt>
                <c:pt idx="2">
                  <c:v>Строка 3</c:v>
                </c:pt>
                <c:pt idx="3">
                  <c:v>Строка 4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4"/>
                <c:pt idx="0">
                  <c:v>3.2</c:v>
                </c:pt>
                <c:pt idx="1">
                  <c:v>8.8</c:v>
                </c:pt>
                <c:pt idx="2">
                  <c:v>1.5</c:v>
                </c:pt>
                <c:pt idx="3">
                  <c:v>9.02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Столбец 3</c:v>
                </c:pt>
              </c:strCache>
            </c:strRef>
          </c:tx>
          <c:spPr>
            <a:solidFill>
              <a:srgbClr val="ffd320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Строка 1</c:v>
                </c:pt>
                <c:pt idx="1">
                  <c:v>Строка 2</c:v>
                </c:pt>
                <c:pt idx="2">
                  <c:v>Строка 3</c:v>
                </c:pt>
                <c:pt idx="3">
                  <c:v>Строка 4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4"/>
                <c:pt idx="0">
                  <c:v>4.54</c:v>
                </c:pt>
                <c:pt idx="1">
                  <c:v>9.65</c:v>
                </c:pt>
                <c:pt idx="2">
                  <c:v>3.7</c:v>
                </c:pt>
                <c:pt idx="3">
                  <c:v>6.2</c:v>
                </c:pt>
              </c:numCache>
            </c:numRef>
          </c:val>
        </c:ser>
        <c:gapWidth val="100"/>
        <c:overlap val="0"/>
        <c:axId val="29052942"/>
        <c:axId val="76944888"/>
      </c:barChart>
      <c:catAx>
        <c:axId val="29052942"/>
        <c:scaling>
          <c:orientation val="minMax"/>
        </c:scaling>
        <c:delete val="0"/>
        <c:axPos val="b"/>
        <c:numFmt formatCode="[$-419]dd/mm/yyyy" sourceLinked="1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pc="-1" strike="noStrike">
                <a:latin typeface="Arial"/>
              </a:defRPr>
            </a:pPr>
          </a:p>
        </c:txPr>
        <c:crossAx val="76944888"/>
        <c:crosses val="autoZero"/>
        <c:auto val="1"/>
        <c:lblAlgn val="ctr"/>
        <c:lblOffset val="100"/>
        <c:noMultiLvlLbl val="0"/>
      </c:catAx>
      <c:valAx>
        <c:axId val="76944888"/>
        <c:scaling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pc="-1" strike="noStrike">
                <a:latin typeface="Arial"/>
              </a:defRPr>
            </a:pPr>
          </a:p>
        </c:txPr>
        <c:crossAx val="29052942"/>
        <c:crosses val="autoZero"/>
        <c:crossBetween val="between"/>
      </c:valAx>
      <c:spPr>
        <a:noFill/>
        <a:ln w="0">
          <a:solidFill>
            <a:srgbClr val="b3b3b3"/>
          </a:solidFill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b="0" sz="1000" spc="-1" strike="noStrike">
              <a:latin typeface="Arial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496875"/>
          <c:y val="0.0796666666666667"/>
          <c:w val="0.771375"/>
          <c:h val="0.86577777777777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Столбец 1</c:v>
                </c:pt>
              </c:strCache>
            </c:strRef>
          </c:tx>
          <c:spPr>
            <a:solidFill>
              <a:srgbClr val="004586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Строка 1</c:v>
                </c:pt>
                <c:pt idx="1">
                  <c:v>Строка 2</c:v>
                </c:pt>
                <c:pt idx="2">
                  <c:v>Строка 3</c:v>
                </c:pt>
                <c:pt idx="3">
                  <c:v>Строка 4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9.1</c:v>
                </c:pt>
                <c:pt idx="1">
                  <c:v>2.4</c:v>
                </c:pt>
                <c:pt idx="2">
                  <c:v>3.1</c:v>
                </c:pt>
                <c:pt idx="3">
                  <c:v>4.3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Столбец 2</c:v>
                </c:pt>
              </c:strCache>
            </c:strRef>
          </c:tx>
          <c:spPr>
            <a:solidFill>
              <a:srgbClr val="ff420e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Строка 1</c:v>
                </c:pt>
                <c:pt idx="1">
                  <c:v>Строка 2</c:v>
                </c:pt>
                <c:pt idx="2">
                  <c:v>Строка 3</c:v>
                </c:pt>
                <c:pt idx="3">
                  <c:v>Строка 4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4"/>
                <c:pt idx="0">
                  <c:v>3.2</c:v>
                </c:pt>
                <c:pt idx="1">
                  <c:v>8.8</c:v>
                </c:pt>
                <c:pt idx="2">
                  <c:v>1.5</c:v>
                </c:pt>
                <c:pt idx="3">
                  <c:v>9.02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Столбец 3</c:v>
                </c:pt>
              </c:strCache>
            </c:strRef>
          </c:tx>
          <c:spPr>
            <a:solidFill>
              <a:srgbClr val="ffd320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Строка 1</c:v>
                </c:pt>
                <c:pt idx="1">
                  <c:v>Строка 2</c:v>
                </c:pt>
                <c:pt idx="2">
                  <c:v>Строка 3</c:v>
                </c:pt>
                <c:pt idx="3">
                  <c:v>Строка 4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4"/>
                <c:pt idx="0">
                  <c:v>4.54</c:v>
                </c:pt>
                <c:pt idx="1">
                  <c:v>9.65</c:v>
                </c:pt>
                <c:pt idx="2">
                  <c:v>3.7</c:v>
                </c:pt>
                <c:pt idx="3">
                  <c:v>6.2</c:v>
                </c:pt>
              </c:numCache>
            </c:numRef>
          </c:val>
        </c:ser>
        <c:gapWidth val="100"/>
        <c:overlap val="0"/>
        <c:axId val="21176449"/>
        <c:axId val="17467395"/>
      </c:barChart>
      <c:catAx>
        <c:axId val="21176449"/>
        <c:scaling>
          <c:orientation val="minMax"/>
        </c:scaling>
        <c:delete val="0"/>
        <c:axPos val="b"/>
        <c:numFmt formatCode="[$-419]dd/mm/yyyy" sourceLinked="1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pc="-1" strike="noStrike">
                <a:latin typeface="Arial"/>
              </a:defRPr>
            </a:pPr>
          </a:p>
        </c:txPr>
        <c:crossAx val="17467395"/>
        <c:crosses val="autoZero"/>
        <c:auto val="1"/>
        <c:lblAlgn val="ctr"/>
        <c:lblOffset val="100"/>
        <c:noMultiLvlLbl val="0"/>
      </c:catAx>
      <c:valAx>
        <c:axId val="17467395"/>
        <c:scaling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pc="-1" strike="noStrike">
                <a:latin typeface="Arial"/>
              </a:defRPr>
            </a:pPr>
          </a:p>
        </c:txPr>
        <c:crossAx val="21176449"/>
        <c:crosses val="autoZero"/>
        <c:crossBetween val="between"/>
      </c:valAx>
      <c:spPr>
        <a:noFill/>
        <a:ln w="0">
          <a:solidFill>
            <a:srgbClr val="b3b3b3"/>
          </a:solidFill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b="0" sz="1000" spc="-1" strike="noStrike">
              <a:latin typeface="Arial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496875"/>
          <c:y val="0.0796666666666667"/>
          <c:w val="0.771375"/>
          <c:h val="0.86577777777777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Столбец 1</c:v>
                </c:pt>
              </c:strCache>
            </c:strRef>
          </c:tx>
          <c:spPr>
            <a:solidFill>
              <a:srgbClr val="004586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Строка 1</c:v>
                </c:pt>
                <c:pt idx="1">
                  <c:v>Строка 2</c:v>
                </c:pt>
                <c:pt idx="2">
                  <c:v>Строка 3</c:v>
                </c:pt>
                <c:pt idx="3">
                  <c:v>Строка 4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9.1</c:v>
                </c:pt>
                <c:pt idx="1">
                  <c:v>2.4</c:v>
                </c:pt>
                <c:pt idx="2">
                  <c:v>3.1</c:v>
                </c:pt>
                <c:pt idx="3">
                  <c:v>4.3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Столбец 2</c:v>
                </c:pt>
              </c:strCache>
            </c:strRef>
          </c:tx>
          <c:spPr>
            <a:solidFill>
              <a:srgbClr val="ff420e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Строка 1</c:v>
                </c:pt>
                <c:pt idx="1">
                  <c:v>Строка 2</c:v>
                </c:pt>
                <c:pt idx="2">
                  <c:v>Строка 3</c:v>
                </c:pt>
                <c:pt idx="3">
                  <c:v>Строка 4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4"/>
                <c:pt idx="0">
                  <c:v>3.2</c:v>
                </c:pt>
                <c:pt idx="1">
                  <c:v>8.8</c:v>
                </c:pt>
                <c:pt idx="2">
                  <c:v>1.5</c:v>
                </c:pt>
                <c:pt idx="3">
                  <c:v>9.02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Столбец 3</c:v>
                </c:pt>
              </c:strCache>
            </c:strRef>
          </c:tx>
          <c:spPr>
            <a:solidFill>
              <a:srgbClr val="ffd320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Строка 1</c:v>
                </c:pt>
                <c:pt idx="1">
                  <c:v>Строка 2</c:v>
                </c:pt>
                <c:pt idx="2">
                  <c:v>Строка 3</c:v>
                </c:pt>
                <c:pt idx="3">
                  <c:v>Строка 4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4"/>
                <c:pt idx="0">
                  <c:v>4.54</c:v>
                </c:pt>
                <c:pt idx="1">
                  <c:v>9.65</c:v>
                </c:pt>
                <c:pt idx="2">
                  <c:v>3.7</c:v>
                </c:pt>
                <c:pt idx="3">
                  <c:v>6.2</c:v>
                </c:pt>
              </c:numCache>
            </c:numRef>
          </c:val>
        </c:ser>
        <c:gapWidth val="100"/>
        <c:overlap val="0"/>
        <c:axId val="26998900"/>
        <c:axId val="10706295"/>
      </c:barChart>
      <c:catAx>
        <c:axId val="26998900"/>
        <c:scaling>
          <c:orientation val="minMax"/>
        </c:scaling>
        <c:delete val="0"/>
        <c:axPos val="b"/>
        <c:numFmt formatCode="[$-419]dd/mm/yyyy" sourceLinked="1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pc="-1" strike="noStrike">
                <a:latin typeface="Arial"/>
              </a:defRPr>
            </a:pPr>
          </a:p>
        </c:txPr>
        <c:crossAx val="10706295"/>
        <c:crosses val="autoZero"/>
        <c:auto val="1"/>
        <c:lblAlgn val="ctr"/>
        <c:lblOffset val="100"/>
        <c:noMultiLvlLbl val="0"/>
      </c:catAx>
      <c:valAx>
        <c:axId val="10706295"/>
        <c:scaling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pc="-1" strike="noStrike">
                <a:latin typeface="Arial"/>
              </a:defRPr>
            </a:pPr>
          </a:p>
        </c:txPr>
        <c:crossAx val="26998900"/>
        <c:crosses val="autoZero"/>
        <c:crossBetween val="between"/>
      </c:valAx>
      <c:spPr>
        <a:noFill/>
        <a:ln w="0">
          <a:solidFill>
            <a:srgbClr val="b3b3b3"/>
          </a:solidFill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b="0" sz="1000" spc="-1" strike="noStrike">
              <a:latin typeface="Arial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496875"/>
          <c:y val="0.0796666666666667"/>
          <c:w val="0.771375"/>
          <c:h val="0.86577777777777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Столбец 1</c:v>
                </c:pt>
              </c:strCache>
            </c:strRef>
          </c:tx>
          <c:spPr>
            <a:solidFill>
              <a:srgbClr val="004586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Строка 1</c:v>
                </c:pt>
                <c:pt idx="1">
                  <c:v>Строка 2</c:v>
                </c:pt>
                <c:pt idx="2">
                  <c:v>Строка 3</c:v>
                </c:pt>
                <c:pt idx="3">
                  <c:v>Строка 4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9.1</c:v>
                </c:pt>
                <c:pt idx="1">
                  <c:v>2.4</c:v>
                </c:pt>
                <c:pt idx="2">
                  <c:v>3.1</c:v>
                </c:pt>
                <c:pt idx="3">
                  <c:v>4.3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Столбец 2</c:v>
                </c:pt>
              </c:strCache>
            </c:strRef>
          </c:tx>
          <c:spPr>
            <a:solidFill>
              <a:srgbClr val="ff420e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Строка 1</c:v>
                </c:pt>
                <c:pt idx="1">
                  <c:v>Строка 2</c:v>
                </c:pt>
                <c:pt idx="2">
                  <c:v>Строка 3</c:v>
                </c:pt>
                <c:pt idx="3">
                  <c:v>Строка 4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4"/>
                <c:pt idx="0">
                  <c:v>3.2</c:v>
                </c:pt>
                <c:pt idx="1">
                  <c:v>8.8</c:v>
                </c:pt>
                <c:pt idx="2">
                  <c:v>1.5</c:v>
                </c:pt>
                <c:pt idx="3">
                  <c:v>9.02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Столбец 3</c:v>
                </c:pt>
              </c:strCache>
            </c:strRef>
          </c:tx>
          <c:spPr>
            <a:solidFill>
              <a:srgbClr val="ffd320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Строка 1</c:v>
                </c:pt>
                <c:pt idx="1">
                  <c:v>Строка 2</c:v>
                </c:pt>
                <c:pt idx="2">
                  <c:v>Строка 3</c:v>
                </c:pt>
                <c:pt idx="3">
                  <c:v>Строка 4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4"/>
                <c:pt idx="0">
                  <c:v>4.54</c:v>
                </c:pt>
                <c:pt idx="1">
                  <c:v>9.65</c:v>
                </c:pt>
                <c:pt idx="2">
                  <c:v>3.7</c:v>
                </c:pt>
                <c:pt idx="3">
                  <c:v>6.2</c:v>
                </c:pt>
              </c:numCache>
            </c:numRef>
          </c:val>
        </c:ser>
        <c:gapWidth val="100"/>
        <c:overlap val="0"/>
        <c:axId val="18260052"/>
        <c:axId val="22446239"/>
      </c:barChart>
      <c:catAx>
        <c:axId val="18260052"/>
        <c:scaling>
          <c:orientation val="minMax"/>
        </c:scaling>
        <c:delete val="0"/>
        <c:axPos val="b"/>
        <c:numFmt formatCode="[$-419]dd/mm/yyyy" sourceLinked="1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pc="-1" strike="noStrike">
                <a:latin typeface="Arial"/>
              </a:defRPr>
            </a:pPr>
          </a:p>
        </c:txPr>
        <c:crossAx val="22446239"/>
        <c:crosses val="autoZero"/>
        <c:auto val="1"/>
        <c:lblAlgn val="ctr"/>
        <c:lblOffset val="100"/>
        <c:noMultiLvlLbl val="0"/>
      </c:catAx>
      <c:valAx>
        <c:axId val="22446239"/>
        <c:scaling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pc="-1" strike="noStrike">
                <a:latin typeface="Arial"/>
              </a:defRPr>
            </a:pPr>
          </a:p>
        </c:txPr>
        <c:crossAx val="18260052"/>
        <c:crosses val="autoZero"/>
        <c:crossBetween val="between"/>
      </c:valAx>
      <c:spPr>
        <a:noFill/>
        <a:ln w="0">
          <a:solidFill>
            <a:srgbClr val="b3b3b3"/>
          </a:solidFill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b="0" sz="1000" spc="-1" strike="noStrike">
              <a:latin typeface="Arial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496875"/>
          <c:y val="0.0796666666666667"/>
          <c:w val="0.771375"/>
          <c:h val="0.86577777777777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Столбец 1</c:v>
                </c:pt>
              </c:strCache>
            </c:strRef>
          </c:tx>
          <c:spPr>
            <a:solidFill>
              <a:srgbClr val="004586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Строка 1</c:v>
                </c:pt>
                <c:pt idx="1">
                  <c:v>Строка 2</c:v>
                </c:pt>
                <c:pt idx="2">
                  <c:v>Строка 3</c:v>
                </c:pt>
                <c:pt idx="3">
                  <c:v>Строка 4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9.1</c:v>
                </c:pt>
                <c:pt idx="1">
                  <c:v>2.4</c:v>
                </c:pt>
                <c:pt idx="2">
                  <c:v>3.1</c:v>
                </c:pt>
                <c:pt idx="3">
                  <c:v>4.3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Столбец 2</c:v>
                </c:pt>
              </c:strCache>
            </c:strRef>
          </c:tx>
          <c:spPr>
            <a:solidFill>
              <a:srgbClr val="ff420e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Строка 1</c:v>
                </c:pt>
                <c:pt idx="1">
                  <c:v>Строка 2</c:v>
                </c:pt>
                <c:pt idx="2">
                  <c:v>Строка 3</c:v>
                </c:pt>
                <c:pt idx="3">
                  <c:v>Строка 4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4"/>
                <c:pt idx="0">
                  <c:v>3.2</c:v>
                </c:pt>
                <c:pt idx="1">
                  <c:v>8.8</c:v>
                </c:pt>
                <c:pt idx="2">
                  <c:v>1.5</c:v>
                </c:pt>
                <c:pt idx="3">
                  <c:v>9.02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Столбец 3</c:v>
                </c:pt>
              </c:strCache>
            </c:strRef>
          </c:tx>
          <c:spPr>
            <a:solidFill>
              <a:srgbClr val="ffd320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Строка 1</c:v>
                </c:pt>
                <c:pt idx="1">
                  <c:v>Строка 2</c:v>
                </c:pt>
                <c:pt idx="2">
                  <c:v>Строка 3</c:v>
                </c:pt>
                <c:pt idx="3">
                  <c:v>Строка 4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4"/>
                <c:pt idx="0">
                  <c:v>4.54</c:v>
                </c:pt>
                <c:pt idx="1">
                  <c:v>9.65</c:v>
                </c:pt>
                <c:pt idx="2">
                  <c:v>3.7</c:v>
                </c:pt>
                <c:pt idx="3">
                  <c:v>6.2</c:v>
                </c:pt>
              </c:numCache>
            </c:numRef>
          </c:val>
        </c:ser>
        <c:gapWidth val="100"/>
        <c:overlap val="0"/>
        <c:axId val="5141475"/>
        <c:axId val="27224689"/>
      </c:barChart>
      <c:catAx>
        <c:axId val="5141475"/>
        <c:scaling>
          <c:orientation val="minMax"/>
        </c:scaling>
        <c:delete val="0"/>
        <c:axPos val="b"/>
        <c:numFmt formatCode="[$-419]dd/mm/yyyy" sourceLinked="1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pc="-1" strike="noStrike">
                <a:latin typeface="Arial"/>
              </a:defRPr>
            </a:pPr>
          </a:p>
        </c:txPr>
        <c:crossAx val="27224689"/>
        <c:crosses val="autoZero"/>
        <c:auto val="1"/>
        <c:lblAlgn val="ctr"/>
        <c:lblOffset val="100"/>
        <c:noMultiLvlLbl val="0"/>
      </c:catAx>
      <c:valAx>
        <c:axId val="27224689"/>
        <c:scaling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pc="-1" strike="noStrike">
                <a:latin typeface="Arial"/>
              </a:defRPr>
            </a:pPr>
          </a:p>
        </c:txPr>
        <c:crossAx val="5141475"/>
        <c:crosses val="autoZero"/>
        <c:crossBetween val="between"/>
      </c:valAx>
      <c:spPr>
        <a:noFill/>
        <a:ln w="0">
          <a:solidFill>
            <a:srgbClr val="b3b3b3"/>
          </a:solidFill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b="0" sz="1000" spc="-1" strike="noStrike">
              <a:latin typeface="Arial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496875"/>
          <c:y val="0.0796666666666667"/>
          <c:w val="0.771375"/>
          <c:h val="0.86577777777777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Столбец 1</c:v>
                </c:pt>
              </c:strCache>
            </c:strRef>
          </c:tx>
          <c:spPr>
            <a:solidFill>
              <a:srgbClr val="004586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Строка 1</c:v>
                </c:pt>
                <c:pt idx="1">
                  <c:v>Строка 2</c:v>
                </c:pt>
                <c:pt idx="2">
                  <c:v>Строка 3</c:v>
                </c:pt>
                <c:pt idx="3">
                  <c:v>Строка 4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9.1</c:v>
                </c:pt>
                <c:pt idx="1">
                  <c:v>2.4</c:v>
                </c:pt>
                <c:pt idx="2">
                  <c:v>3.1</c:v>
                </c:pt>
                <c:pt idx="3">
                  <c:v>4.3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Столбец 2</c:v>
                </c:pt>
              </c:strCache>
            </c:strRef>
          </c:tx>
          <c:spPr>
            <a:solidFill>
              <a:srgbClr val="ff420e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Строка 1</c:v>
                </c:pt>
                <c:pt idx="1">
                  <c:v>Строка 2</c:v>
                </c:pt>
                <c:pt idx="2">
                  <c:v>Строка 3</c:v>
                </c:pt>
                <c:pt idx="3">
                  <c:v>Строка 4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4"/>
                <c:pt idx="0">
                  <c:v>3.2</c:v>
                </c:pt>
                <c:pt idx="1">
                  <c:v>8.8</c:v>
                </c:pt>
                <c:pt idx="2">
                  <c:v>1.5</c:v>
                </c:pt>
                <c:pt idx="3">
                  <c:v>9.02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Столбец 3</c:v>
                </c:pt>
              </c:strCache>
            </c:strRef>
          </c:tx>
          <c:spPr>
            <a:solidFill>
              <a:srgbClr val="ffd320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Строка 1</c:v>
                </c:pt>
                <c:pt idx="1">
                  <c:v>Строка 2</c:v>
                </c:pt>
                <c:pt idx="2">
                  <c:v>Строка 3</c:v>
                </c:pt>
                <c:pt idx="3">
                  <c:v>Строка 4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4"/>
                <c:pt idx="0">
                  <c:v>4.54</c:v>
                </c:pt>
                <c:pt idx="1">
                  <c:v>9.65</c:v>
                </c:pt>
                <c:pt idx="2">
                  <c:v>3.7</c:v>
                </c:pt>
                <c:pt idx="3">
                  <c:v>6.2</c:v>
                </c:pt>
              </c:numCache>
            </c:numRef>
          </c:val>
        </c:ser>
        <c:gapWidth val="100"/>
        <c:overlap val="0"/>
        <c:axId val="31278354"/>
        <c:axId val="26249289"/>
      </c:barChart>
      <c:catAx>
        <c:axId val="31278354"/>
        <c:scaling>
          <c:orientation val="minMax"/>
        </c:scaling>
        <c:delete val="0"/>
        <c:axPos val="b"/>
        <c:numFmt formatCode="[$-419]dd/mm/yyyy" sourceLinked="1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pc="-1" strike="noStrike">
                <a:latin typeface="Arial"/>
              </a:defRPr>
            </a:pPr>
          </a:p>
        </c:txPr>
        <c:crossAx val="26249289"/>
        <c:crosses val="autoZero"/>
        <c:auto val="1"/>
        <c:lblAlgn val="ctr"/>
        <c:lblOffset val="100"/>
        <c:noMultiLvlLbl val="0"/>
      </c:catAx>
      <c:valAx>
        <c:axId val="26249289"/>
        <c:scaling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pc="-1" strike="noStrike">
                <a:latin typeface="Arial"/>
              </a:defRPr>
            </a:pPr>
          </a:p>
        </c:txPr>
        <c:crossAx val="31278354"/>
        <c:crosses val="autoZero"/>
        <c:crossBetween val="between"/>
      </c:valAx>
      <c:spPr>
        <a:noFill/>
        <a:ln w="0">
          <a:solidFill>
            <a:srgbClr val="b3b3b3"/>
          </a:solidFill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b="0" sz="1000" spc="-1" strike="noStrike">
              <a:latin typeface="Arial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0496875"/>
          <c:y val="0.0796666666666667"/>
          <c:w val="0.771375"/>
          <c:h val="0.86577777777777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Столбец 1</c:v>
                </c:pt>
              </c:strCache>
            </c:strRef>
          </c:tx>
          <c:spPr>
            <a:solidFill>
              <a:srgbClr val="004586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Строка 1</c:v>
                </c:pt>
                <c:pt idx="1">
                  <c:v>Строка 2</c:v>
                </c:pt>
                <c:pt idx="2">
                  <c:v>Строка 3</c:v>
                </c:pt>
                <c:pt idx="3">
                  <c:v>Строка 4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4"/>
                <c:pt idx="0">
                  <c:v>9.1</c:v>
                </c:pt>
                <c:pt idx="1">
                  <c:v>2.4</c:v>
                </c:pt>
                <c:pt idx="2">
                  <c:v>3.1</c:v>
                </c:pt>
                <c:pt idx="3">
                  <c:v>4.3</c:v>
                </c:pt>
              </c:numCache>
            </c:numRef>
          </c:val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Столбец 2</c:v>
                </c:pt>
              </c:strCache>
            </c:strRef>
          </c:tx>
          <c:spPr>
            <a:solidFill>
              <a:srgbClr val="ff420e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Строка 1</c:v>
                </c:pt>
                <c:pt idx="1">
                  <c:v>Строка 2</c:v>
                </c:pt>
                <c:pt idx="2">
                  <c:v>Строка 3</c:v>
                </c:pt>
                <c:pt idx="3">
                  <c:v>Строка 4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4"/>
                <c:pt idx="0">
                  <c:v>3.2</c:v>
                </c:pt>
                <c:pt idx="1">
                  <c:v>8.8</c:v>
                </c:pt>
                <c:pt idx="2">
                  <c:v>1.5</c:v>
                </c:pt>
                <c:pt idx="3">
                  <c:v>9.02</c:v>
                </c:pt>
              </c:numCache>
            </c:numRef>
          </c:val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Столбец 3</c:v>
                </c:pt>
              </c:strCache>
            </c:strRef>
          </c:tx>
          <c:spPr>
            <a:solidFill>
              <a:srgbClr val="ffd320"/>
            </a:solidFill>
            <a:ln w="0">
              <a:noFill/>
            </a:ln>
          </c:spPr>
          <c:invertIfNegative val="0"/>
          <c:dLbls>
            <c:txPr>
              <a:bodyPr wrap="none"/>
              <a:lstStyle/>
              <a:p>
                <a:pPr>
                  <a:defRPr b="0" sz="1000" spc="-1" strike="noStrike"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4"/>
                <c:pt idx="0">
                  <c:v>Строка 1</c:v>
                </c:pt>
                <c:pt idx="1">
                  <c:v>Строка 2</c:v>
                </c:pt>
                <c:pt idx="2">
                  <c:v>Строка 3</c:v>
                </c:pt>
                <c:pt idx="3">
                  <c:v>Строка 4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4"/>
                <c:pt idx="0">
                  <c:v>4.54</c:v>
                </c:pt>
                <c:pt idx="1">
                  <c:v>9.65</c:v>
                </c:pt>
                <c:pt idx="2">
                  <c:v>3.7</c:v>
                </c:pt>
                <c:pt idx="3">
                  <c:v>6.2</c:v>
                </c:pt>
              </c:numCache>
            </c:numRef>
          </c:val>
        </c:ser>
        <c:gapWidth val="100"/>
        <c:overlap val="0"/>
        <c:axId val="45995216"/>
        <c:axId val="2408188"/>
      </c:barChart>
      <c:catAx>
        <c:axId val="45995216"/>
        <c:scaling>
          <c:orientation val="minMax"/>
        </c:scaling>
        <c:delete val="0"/>
        <c:axPos val="b"/>
        <c:numFmt formatCode="[$-419]dd/mm/yyyy" sourceLinked="1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pc="-1" strike="noStrike">
                <a:latin typeface="Arial"/>
              </a:defRPr>
            </a:pPr>
          </a:p>
        </c:txPr>
        <c:crossAx val="2408188"/>
        <c:crosses val="autoZero"/>
        <c:auto val="1"/>
        <c:lblAlgn val="ctr"/>
        <c:lblOffset val="100"/>
        <c:noMultiLvlLbl val="0"/>
      </c:catAx>
      <c:valAx>
        <c:axId val="2408188"/>
        <c:scaling>
          <c:orientation val="minMax"/>
        </c:scaling>
        <c:delete val="0"/>
        <c:axPos val="l"/>
        <c:majorGridlines>
          <c:spPr>
            <a:ln w="0">
              <a:solidFill>
                <a:srgbClr val="b3b3b3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 w="0">
            <a:solidFill>
              <a:srgbClr val="b3b3b3"/>
            </a:solidFill>
          </a:ln>
        </c:spPr>
        <c:txPr>
          <a:bodyPr/>
          <a:lstStyle/>
          <a:p>
            <a:pPr>
              <a:defRPr b="0" sz="1000" spc="-1" strike="noStrike">
                <a:latin typeface="Arial"/>
              </a:defRPr>
            </a:pPr>
          </a:p>
        </c:txPr>
        <c:crossAx val="45995216"/>
        <c:crosses val="autoZero"/>
        <c:crossBetween val="between"/>
      </c:valAx>
      <c:spPr>
        <a:noFill/>
        <a:ln w="0">
          <a:solidFill>
            <a:srgbClr val="b3b3b3"/>
          </a:solidFill>
        </a:ln>
      </c:spPr>
    </c:plotArea>
    <c:legend>
      <c:legendPos val="r"/>
      <c:overlay val="0"/>
      <c:spPr>
        <a:noFill/>
        <a:ln w="0">
          <a:noFill/>
        </a:ln>
      </c:spPr>
      <c:txPr>
        <a:bodyPr/>
        <a:lstStyle/>
        <a:p>
          <a:pPr>
            <a:defRPr b="0" sz="1000" spc="-1" strike="noStrike">
              <a:latin typeface="Arial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B3A5E10-9469-456F-8B5C-5F7A6EB8EE9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E50944F-2D2E-4036-BB45-0F98BF9D494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E5EF35E-E2BE-4A7D-B7C0-5A04BC2EACE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8A30A23-B69A-4E10-83C0-EC652A7FB60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98346BF-238B-4502-9665-45695CA8B7C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1523880" y="1122480"/>
            <a:ext cx="9143640" cy="11066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ru-RU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FD6495E-6049-485F-8308-0E40D2E8A2E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45F0887-9A2A-4ECC-B13D-B80EF2C0E6A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D08DA1D-A073-42EC-9C46-53E37B594AC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41E310D-CF5C-494C-86CF-4DB3CA1882C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D92428F-94B6-429B-A488-2E81A9B5654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63933BF-E3D3-4D29-A8B0-C811E4A8D69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8229D8A-449C-422C-96EA-2A3E36FB839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p>
            <a:pPr algn="ctr">
              <a:lnSpc>
                <a:spcPct val="90000"/>
              </a:lnSpc>
              <a:buNone/>
            </a:pPr>
            <a:r>
              <a:rPr b="0" lang="ru-RU" sz="6000" spc="-1" strike="noStrike">
                <a:solidFill>
                  <a:srgbClr val="000000"/>
                </a:solidFill>
                <a:latin typeface="Calibri Light"/>
              </a:rPr>
              <a:t>Образец заголовка</a:t>
            </a:r>
            <a:endParaRPr b="0" lang="ru-RU" sz="6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ru-RU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ru-RU" sz="1200" spc="-1" strike="noStrike">
                <a:solidFill>
                  <a:srgbClr val="8b8b8b"/>
                </a:solidFill>
                <a:latin typeface="Calibri"/>
              </a:rPr>
              <a:t>&lt;дата/время&gt;</a:t>
            </a:r>
            <a:endParaRPr b="0" lang="ru-RU" sz="12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b="0" lang="ru-RU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ru-RU" sz="1400" spc="-1" strike="noStrike">
                <a:latin typeface="Times New Roman"/>
              </a:rPr>
              <a:t>&lt;нижний колонтитул&gt;</a:t>
            </a:r>
            <a:endParaRPr b="0" lang="ru-RU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ru-RU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DC44206-47B3-4BA6-A0D4-98326BDAE99E}" type="slidenum">
              <a:rPr b="0" lang="ru-RU" sz="1200" spc="-1" strike="noStrike">
                <a:solidFill>
                  <a:srgbClr val="8b8b8b"/>
                </a:solidFill>
                <a:latin typeface="Calibri"/>
              </a:rPr>
              <a:t>&lt;номер&gt;</a:t>
            </a:fld>
            <a:endParaRPr b="0" lang="ru-RU" sz="12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800" spc="-1" strike="noStrike">
                <a:solidFill>
                  <a:srgbClr val="000000"/>
                </a:solidFill>
                <a:latin typeface="Calibri"/>
              </a:rPr>
              <a:t>Для правки структуры щёлкните мышью</a:t>
            </a:r>
            <a:endParaRPr b="0" lang="ru-RU" sz="28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Второй уровень структуры</a:t>
            </a:r>
            <a:endParaRPr b="0" lang="ru-RU" sz="20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Calibri"/>
              </a:rPr>
              <a:t>Третий уровень структуры</a:t>
            </a: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Calibri"/>
              </a:rPr>
              <a:t>Четвёртый уровень структуры</a:t>
            </a:r>
            <a:endParaRPr b="0" lang="ru-RU" sz="18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Пятый уровень структуры</a:t>
            </a:r>
            <a:endParaRPr b="0" lang="ru-RU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Шестой уровень структуры</a:t>
            </a:r>
            <a:endParaRPr b="0" lang="ru-RU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Calibri"/>
              </a:rPr>
              <a:t>Седьмой уровень структуры</a:t>
            </a:r>
            <a:endParaRPr b="0" lang="ru-RU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chart" Target="../charts/chart3.xml"/><Relationship Id="rId5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chart" Target="../charts/chart4.xml"/><Relationship Id="rId4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chart" Target="../charts/chart5.xml"/><Relationship Id="rId3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chart" Target="../charts/chart6.xml"/><Relationship Id="rId5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0.wmf"/><Relationship Id="rId2" Type="http://schemas.openxmlformats.org/officeDocument/2006/relationships/chart" Target="../charts/chart7.xml"/><Relationship Id="rId3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13.wmf"/><Relationship Id="rId4" Type="http://schemas.openxmlformats.org/officeDocument/2006/relationships/chart" Target="../charts/chart8.xml"/><Relationship Id="rId5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chart" Target="../charts/chart9.xml"/><Relationship Id="rId2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chart" Target="../charts/chart10.xml"/><Relationship Id="rId2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4.wmf"/><Relationship Id="rId2" Type="http://schemas.openxmlformats.org/officeDocument/2006/relationships/image" Target="../media/image15.wmf"/><Relationship Id="rId3" Type="http://schemas.openxmlformats.org/officeDocument/2006/relationships/image" Target="../media/image16.wmf"/><Relationship Id="rId4" Type="http://schemas.openxmlformats.org/officeDocument/2006/relationships/image" Target="../media/image17.wmf"/><Relationship Id="rId5" Type="http://schemas.openxmlformats.org/officeDocument/2006/relationships/chart" Target="../charts/chart11.xml"/><Relationship Id="rId6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chart" Target="../charts/chart12.xml"/><Relationship Id="rId2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21560" y="2720520"/>
            <a:ext cx="11348280" cy="14169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rmAutofit/>
          </a:bodyPr>
          <a:p>
            <a:pPr algn="ctr">
              <a:lnSpc>
                <a:spcPct val="90000"/>
              </a:lnSpc>
              <a:buNone/>
            </a:pPr>
            <a:r>
              <a:rPr b="0" lang="ru-RU" sz="4800" spc="-1" strike="noStrike">
                <a:solidFill>
                  <a:srgbClr val="a9d18e"/>
                </a:solidFill>
                <a:latin typeface="Roboto Black"/>
                <a:ea typeface="Roboto Black"/>
              </a:rPr>
              <a:t>СИСТ</a:t>
            </a:r>
            <a:r>
              <a:rPr b="0" lang="ru-RU" sz="4800" spc="-1" strike="noStrike">
                <a:solidFill>
                  <a:srgbClr val="a9d18e"/>
                </a:solidFill>
                <a:latin typeface="Roboto Black"/>
                <a:ea typeface="Roboto Black"/>
              </a:rPr>
              <a:t>ЕМА </a:t>
            </a:r>
            <a:r>
              <a:rPr b="0" lang="ru-RU" sz="4800" spc="-1" strike="noStrike">
                <a:solidFill>
                  <a:srgbClr val="a9d18e"/>
                </a:solidFill>
                <a:latin typeface="Roboto Black"/>
                <a:ea typeface="Roboto Black"/>
              </a:rPr>
              <a:t>ЗАЩ</a:t>
            </a:r>
            <a:r>
              <a:rPr b="0" lang="ru-RU" sz="4800" spc="-1" strike="noStrike">
                <a:solidFill>
                  <a:srgbClr val="a9d18e"/>
                </a:solidFill>
                <a:latin typeface="Roboto Black"/>
                <a:ea typeface="Roboto Black"/>
              </a:rPr>
              <a:t>ИТЫ </a:t>
            </a:r>
            <a:r>
              <a:rPr b="0" lang="ru-RU" sz="4800" spc="-1" strike="noStrike">
                <a:solidFill>
                  <a:srgbClr val="a9d18e"/>
                </a:solidFill>
                <a:latin typeface="Roboto Black"/>
                <a:ea typeface="Roboto Black"/>
              </a:rPr>
              <a:t>ФАЙ</a:t>
            </a:r>
            <a:r>
              <a:rPr b="0" lang="ru-RU" sz="4800" spc="-1" strike="noStrike">
                <a:solidFill>
                  <a:srgbClr val="a9d18e"/>
                </a:solidFill>
                <a:latin typeface="Roboto Black"/>
                <a:ea typeface="Roboto Black"/>
              </a:rPr>
              <a:t>ЛОВ </a:t>
            </a:r>
            <a:r>
              <a:rPr b="0" lang="ru-RU" sz="4800" spc="-1" strike="noStrike">
                <a:solidFill>
                  <a:srgbClr val="a9d18e"/>
                </a:solidFill>
                <a:latin typeface="Roboto Black"/>
                <a:ea typeface="Roboto Black"/>
              </a:rPr>
              <a:t>С </a:t>
            </a:r>
            <a:r>
              <a:rPr b="0" lang="ru-RU" sz="4800" spc="-1" strike="noStrike">
                <a:solidFill>
                  <a:srgbClr val="a9d18e"/>
                </a:solidFill>
                <a:latin typeface="Roboto Black"/>
                <a:ea typeface="Roboto Black"/>
              </a:rPr>
              <a:t>ПОМ</a:t>
            </a:r>
            <a:r>
              <a:rPr b="0" lang="ru-RU" sz="4800" spc="-1" strike="noStrike">
                <a:solidFill>
                  <a:srgbClr val="a9d18e"/>
                </a:solidFill>
                <a:latin typeface="Roboto Black"/>
                <a:ea typeface="Roboto Black"/>
              </a:rPr>
              <a:t>ОЩЬ</a:t>
            </a:r>
            <a:r>
              <a:rPr b="0" lang="ru-RU" sz="4800" spc="-1" strike="noStrike">
                <a:solidFill>
                  <a:srgbClr val="a9d18e"/>
                </a:solidFill>
                <a:latin typeface="Roboto Black"/>
                <a:ea typeface="Roboto Black"/>
              </a:rPr>
              <a:t>Ю </a:t>
            </a:r>
            <a:r>
              <a:rPr b="0" lang="ru-RU" sz="4800" spc="-1" strike="noStrike">
                <a:solidFill>
                  <a:srgbClr val="a9d18e"/>
                </a:solidFill>
                <a:latin typeface="Roboto Black"/>
                <a:ea typeface="Roboto Black"/>
              </a:rPr>
              <a:t>ШИФ</a:t>
            </a:r>
            <a:r>
              <a:rPr b="0" lang="ru-RU" sz="4800" spc="-1" strike="noStrike">
                <a:solidFill>
                  <a:srgbClr val="a9d18e"/>
                </a:solidFill>
                <a:latin typeface="Roboto Black"/>
                <a:ea typeface="Roboto Black"/>
              </a:rPr>
              <a:t>РОВА</a:t>
            </a:r>
            <a:r>
              <a:rPr b="0" lang="ru-RU" sz="4800" spc="-1" strike="noStrike">
                <a:solidFill>
                  <a:srgbClr val="a9d18e"/>
                </a:solidFill>
                <a:latin typeface="Roboto Black"/>
                <a:ea typeface="Roboto Black"/>
              </a:rPr>
              <a:t>НИЯ</a:t>
            </a:r>
            <a:endParaRPr b="0" lang="ru-RU" sz="4800" spc="-1" strike="noStrike">
              <a:solidFill>
                <a:srgbClr val="000000"/>
              </a:solidFill>
              <a:latin typeface="Calibri"/>
            </a:endParaRPr>
          </a:p>
        </p:txBody>
      </p:sp>
      <p:graphicFrame>
        <p:nvGraphicFramePr>
          <p:cNvPr id="42" name=""/>
          <p:cNvGraphicFramePr/>
          <p:nvPr/>
        </p:nvGraphicFramePr>
        <p:xfrm>
          <a:off x="1620000" y="180000"/>
          <a:ext cx="5759640" cy="3239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Прямоугольник: скругленные углы 18"/>
          <p:cNvSpPr/>
          <p:nvPr/>
        </p:nvSpPr>
        <p:spPr>
          <a:xfrm>
            <a:off x="3175560" y="1544400"/>
            <a:ext cx="2740320" cy="4998240"/>
          </a:xfrm>
          <a:prstGeom prst="roundRect">
            <a:avLst>
              <a:gd name="adj" fmla="val 16667"/>
            </a:avLst>
          </a:prstGeom>
          <a:solidFill>
            <a:srgbClr val="a9d1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4" name="Прямоугольник: скругленные углы 17"/>
          <p:cNvSpPr/>
          <p:nvPr/>
        </p:nvSpPr>
        <p:spPr>
          <a:xfrm>
            <a:off x="6195240" y="1544400"/>
            <a:ext cx="2740320" cy="4998240"/>
          </a:xfrm>
          <a:prstGeom prst="roundRect">
            <a:avLst>
              <a:gd name="adj" fmla="val 16667"/>
            </a:avLst>
          </a:prstGeom>
          <a:solidFill>
            <a:srgbClr val="a9d1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5" name="Прямоугольник: скругленные углы 23"/>
          <p:cNvSpPr/>
          <p:nvPr/>
        </p:nvSpPr>
        <p:spPr>
          <a:xfrm>
            <a:off x="3175560" y="1544400"/>
            <a:ext cx="2740320" cy="4998240"/>
          </a:xfrm>
          <a:prstGeom prst="roundRect">
            <a:avLst>
              <a:gd name="adj" fmla="val 16667"/>
            </a:avLst>
          </a:prstGeom>
          <a:solidFill>
            <a:srgbClr val="a9d1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6" name="Прямоугольник: скругленные углы 26"/>
          <p:cNvSpPr/>
          <p:nvPr/>
        </p:nvSpPr>
        <p:spPr>
          <a:xfrm>
            <a:off x="6195240" y="1544400"/>
            <a:ext cx="2740320" cy="4998240"/>
          </a:xfrm>
          <a:prstGeom prst="roundRect">
            <a:avLst>
              <a:gd name="adj" fmla="val 16667"/>
            </a:avLst>
          </a:prstGeom>
          <a:solidFill>
            <a:srgbClr val="a9d1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7" name="Прямоугольник: скругленные углы 30"/>
          <p:cNvSpPr/>
          <p:nvPr/>
        </p:nvSpPr>
        <p:spPr>
          <a:xfrm>
            <a:off x="9217800" y="1544400"/>
            <a:ext cx="2740320" cy="4998240"/>
          </a:xfrm>
          <a:prstGeom prst="roundRect">
            <a:avLst>
              <a:gd name="adj" fmla="val 16667"/>
            </a:avLst>
          </a:prstGeom>
          <a:solidFill>
            <a:srgbClr val="a9d1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48" name="Заголовок 4"/>
          <p:cNvSpPr/>
          <p:nvPr/>
        </p:nvSpPr>
        <p:spPr>
          <a:xfrm>
            <a:off x="3210840" y="4155480"/>
            <a:ext cx="1926720" cy="105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rmAutofit/>
          </a:bodyPr>
          <a:p>
            <a:pPr>
              <a:lnSpc>
                <a:spcPct val="90000"/>
              </a:lnSpc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Мильбрат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Владислав</a:t>
            </a:r>
            <a:endParaRPr b="0" lang="ru-RU" sz="2000" spc="-1" strike="noStrike">
              <a:latin typeface="Arial"/>
            </a:endParaRPr>
          </a:p>
        </p:txBody>
      </p:sp>
      <p:sp>
        <p:nvSpPr>
          <p:cNvPr id="49" name="Заголовок 4"/>
          <p:cNvSpPr/>
          <p:nvPr/>
        </p:nvSpPr>
        <p:spPr>
          <a:xfrm>
            <a:off x="3230280" y="5455800"/>
            <a:ext cx="1907280" cy="38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rmAutofit/>
          </a:bodyPr>
          <a:p>
            <a:pPr>
              <a:lnSpc>
                <a:spcPct val="90000"/>
              </a:lnSpc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Roboto Light"/>
                <a:ea typeface="Roboto Light"/>
              </a:rPr>
              <a:t>Разработчик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50" name="Заголовок 4"/>
          <p:cNvSpPr/>
          <p:nvPr/>
        </p:nvSpPr>
        <p:spPr>
          <a:xfrm>
            <a:off x="6230880" y="4155480"/>
            <a:ext cx="1926720" cy="105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rmAutofit/>
          </a:bodyPr>
          <a:p>
            <a:pPr>
              <a:lnSpc>
                <a:spcPct val="90000"/>
              </a:lnSpc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Красноперов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Илья</a:t>
            </a:r>
            <a:endParaRPr b="0" lang="ru-RU" sz="2000" spc="-1" strike="noStrike">
              <a:latin typeface="Arial"/>
            </a:endParaRPr>
          </a:p>
        </p:txBody>
      </p:sp>
      <p:sp>
        <p:nvSpPr>
          <p:cNvPr id="51" name="Заголовок 4"/>
          <p:cNvSpPr/>
          <p:nvPr/>
        </p:nvSpPr>
        <p:spPr>
          <a:xfrm>
            <a:off x="6249960" y="5455800"/>
            <a:ext cx="1907280" cy="38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rmAutofit/>
          </a:bodyPr>
          <a:p>
            <a:pPr>
              <a:lnSpc>
                <a:spcPct val="90000"/>
              </a:lnSpc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Roboto Light"/>
                <a:ea typeface="Roboto Light"/>
              </a:rPr>
              <a:t>Тестировщик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52" name="Заголовок 4"/>
          <p:cNvSpPr/>
          <p:nvPr/>
        </p:nvSpPr>
        <p:spPr>
          <a:xfrm>
            <a:off x="9253080" y="4155480"/>
            <a:ext cx="1926720" cy="105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rmAutofit/>
          </a:bodyPr>
          <a:p>
            <a:pPr>
              <a:lnSpc>
                <a:spcPct val="90000"/>
              </a:lnSpc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Рощупкина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София</a:t>
            </a:r>
            <a:endParaRPr b="0" lang="ru-RU" sz="2000" spc="-1" strike="noStrike">
              <a:latin typeface="Arial"/>
            </a:endParaRPr>
          </a:p>
        </p:txBody>
      </p:sp>
      <p:sp>
        <p:nvSpPr>
          <p:cNvPr id="53" name="Заголовок 4"/>
          <p:cNvSpPr/>
          <p:nvPr/>
        </p:nvSpPr>
        <p:spPr>
          <a:xfrm>
            <a:off x="9272160" y="5120640"/>
            <a:ext cx="1907280" cy="72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rmAutofit/>
          </a:bodyPr>
          <a:p>
            <a:pPr>
              <a:lnSpc>
                <a:spcPct val="90000"/>
              </a:lnSpc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Roboto Light"/>
                <a:ea typeface="Roboto Light"/>
              </a:rPr>
              <a:t>Менеджер </a:t>
            </a:r>
            <a:endParaRPr b="0" lang="ru-RU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Roboto Light"/>
                <a:ea typeface="Roboto Light"/>
              </a:rPr>
              <a:t>продукта</a:t>
            </a:r>
            <a:endParaRPr b="0" lang="ru-RU" sz="1800" spc="-1" strike="noStrike">
              <a:latin typeface="Arial"/>
            </a:endParaRPr>
          </a:p>
        </p:txBody>
      </p:sp>
      <p:sp>
        <p:nvSpPr>
          <p:cNvPr id="54" name="Прямоугольник: скругленные углы 19"/>
          <p:cNvSpPr/>
          <p:nvPr/>
        </p:nvSpPr>
        <p:spPr>
          <a:xfrm>
            <a:off x="195840" y="1544400"/>
            <a:ext cx="2740320" cy="4998240"/>
          </a:xfrm>
          <a:prstGeom prst="roundRect">
            <a:avLst>
              <a:gd name="adj" fmla="val 16667"/>
            </a:avLst>
          </a:prstGeom>
          <a:solidFill>
            <a:srgbClr val="a9d1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37040" y="162720"/>
            <a:ext cx="4602240" cy="81252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rmAutofit/>
          </a:bodyPr>
          <a:p>
            <a:pPr>
              <a:lnSpc>
                <a:spcPct val="90000"/>
              </a:lnSpc>
              <a:buNone/>
            </a:pPr>
            <a:r>
              <a:rPr b="0" lang="ru-RU" sz="4000" spc="-1" strike="noStrike">
                <a:solidFill>
                  <a:srgbClr val="a9d18e"/>
                </a:solidFill>
                <a:latin typeface="Roboto Black"/>
                <a:ea typeface="Roboto Black"/>
              </a:rPr>
              <a:t>КОМА</a:t>
            </a:r>
            <a:r>
              <a:rPr b="0" lang="ru-RU" sz="4000" spc="-1" strike="noStrike">
                <a:solidFill>
                  <a:srgbClr val="a9d18e"/>
                </a:solidFill>
                <a:latin typeface="Roboto Black"/>
                <a:ea typeface="Roboto Black"/>
              </a:rPr>
              <a:t>НДА</a:t>
            </a:r>
            <a:endParaRPr b="0" lang="ru-RU" sz="4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6" name="Прямая соединительная линия 2"/>
          <p:cNvSpPr/>
          <p:nvPr/>
        </p:nvSpPr>
        <p:spPr>
          <a:xfrm>
            <a:off x="231120" y="1198800"/>
            <a:ext cx="11724480" cy="360"/>
          </a:xfrm>
          <a:prstGeom prst="line">
            <a:avLst/>
          </a:prstGeom>
          <a:ln w="38100">
            <a:solidFill>
              <a:srgbClr val="a9d1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57" name="Заголовок 4"/>
          <p:cNvSpPr/>
          <p:nvPr/>
        </p:nvSpPr>
        <p:spPr>
          <a:xfrm>
            <a:off x="231120" y="4155480"/>
            <a:ext cx="1926720" cy="105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rmAutofit/>
          </a:bodyPr>
          <a:p>
            <a:pPr>
              <a:lnSpc>
                <a:spcPct val="90000"/>
              </a:lnSpc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Пискленов</a:t>
            </a:r>
            <a:endParaRPr b="0" lang="ru-RU" sz="20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0" lang="ru-RU" sz="2000" spc="-1" strike="noStrike">
                <a:solidFill>
                  <a:srgbClr val="000000"/>
                </a:solidFill>
                <a:latin typeface="Roboto Medium"/>
                <a:ea typeface="Roboto Medium"/>
              </a:rPr>
              <a:t>Тимофей</a:t>
            </a:r>
            <a:endParaRPr b="0" lang="ru-RU" sz="2000" spc="-1" strike="noStrike">
              <a:latin typeface="Arial"/>
            </a:endParaRPr>
          </a:p>
        </p:txBody>
      </p:sp>
      <p:sp>
        <p:nvSpPr>
          <p:cNvPr id="58" name="Заголовок 4"/>
          <p:cNvSpPr/>
          <p:nvPr/>
        </p:nvSpPr>
        <p:spPr>
          <a:xfrm>
            <a:off x="250200" y="5120640"/>
            <a:ext cx="1907280" cy="72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rmAutofit/>
          </a:bodyPr>
          <a:p>
            <a:pPr>
              <a:lnSpc>
                <a:spcPct val="90000"/>
              </a:lnSpc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Roboto Light"/>
                <a:ea typeface="Roboto Light"/>
              </a:rPr>
              <a:t>Главный </a:t>
            </a:r>
            <a:endParaRPr b="0" lang="ru-RU" sz="1800" spc="-1" strike="noStrike">
              <a:latin typeface="Arial"/>
            </a:endParaRPr>
          </a:p>
          <a:p>
            <a:pPr>
              <a:lnSpc>
                <a:spcPct val="90000"/>
              </a:lnSpc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Roboto Light"/>
                <a:ea typeface="Roboto Light"/>
              </a:rPr>
              <a:t>разработчик</a:t>
            </a:r>
            <a:endParaRPr b="0" lang="ru-RU" sz="1800" spc="-1" strike="noStrike">
              <a:latin typeface="Arial"/>
            </a:endParaRPr>
          </a:p>
        </p:txBody>
      </p:sp>
      <p:graphicFrame>
        <p:nvGraphicFramePr>
          <p:cNvPr id="59" name=""/>
          <p:cNvGraphicFramePr/>
          <p:nvPr/>
        </p:nvGraphicFramePr>
        <p:xfrm>
          <a:off x="1620360" y="180360"/>
          <a:ext cx="5759640" cy="3239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37040" y="162720"/>
            <a:ext cx="4602240" cy="81252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rmAutofit/>
          </a:bodyPr>
          <a:p>
            <a:pPr>
              <a:lnSpc>
                <a:spcPct val="90000"/>
              </a:lnSpc>
              <a:buNone/>
            </a:pPr>
            <a:r>
              <a:rPr b="0" lang="ru-RU" sz="4000" spc="-1" strike="noStrike">
                <a:solidFill>
                  <a:srgbClr val="a9d18e"/>
                </a:solidFill>
                <a:latin typeface="Roboto Black"/>
                <a:ea typeface="Roboto Black"/>
              </a:rPr>
              <a:t>ПРОБЛЕМАТИКА</a:t>
            </a:r>
            <a:endParaRPr b="0" lang="ru-RU" sz="4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1" name="Прямая соединительная линия 2"/>
          <p:cNvSpPr/>
          <p:nvPr/>
        </p:nvSpPr>
        <p:spPr>
          <a:xfrm>
            <a:off x="231120" y="1198800"/>
            <a:ext cx="11724480" cy="360"/>
          </a:xfrm>
          <a:prstGeom prst="line">
            <a:avLst/>
          </a:prstGeom>
          <a:ln w="38100">
            <a:solidFill>
              <a:srgbClr val="a9d1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2" name="Прямоугольник: скругленные углы 8"/>
          <p:cNvSpPr/>
          <p:nvPr/>
        </p:nvSpPr>
        <p:spPr>
          <a:xfrm>
            <a:off x="223560" y="1544400"/>
            <a:ext cx="3738600" cy="4998240"/>
          </a:xfrm>
          <a:prstGeom prst="roundRect">
            <a:avLst>
              <a:gd name="adj" fmla="val 16667"/>
            </a:avLst>
          </a:prstGeom>
          <a:solidFill>
            <a:srgbClr val="a9d1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3" name="Заголовок 4"/>
          <p:cNvSpPr/>
          <p:nvPr/>
        </p:nvSpPr>
        <p:spPr>
          <a:xfrm>
            <a:off x="45720" y="5039280"/>
            <a:ext cx="4154040" cy="105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rmAutofit fontScale="79000"/>
          </a:bodyPr>
          <a:p>
            <a:pPr algn="ctr">
              <a:lnSpc>
                <a:spcPct val="90000"/>
              </a:lnSpc>
              <a:buNone/>
            </a:pPr>
            <a:r>
              <a:rPr b="0" lang="ru-RU" sz="2400" spc="-1" strike="noStrike">
                <a:solidFill>
                  <a:srgbClr val="000000"/>
                </a:solidFill>
                <a:latin typeface="Roboto Light"/>
                <a:ea typeface="Roboto Light"/>
              </a:rPr>
              <a:t>Уязвимость данных</a:t>
            </a:r>
            <a:r>
              <a:rPr b="0" lang="en-US" sz="2400" spc="-1" strike="noStrike">
                <a:solidFill>
                  <a:srgbClr val="000000"/>
                </a:solidFill>
                <a:latin typeface="Roboto Light"/>
                <a:ea typeface="Roboto Light"/>
              </a:rPr>
              <a:t>, </a:t>
            </a:r>
            <a:r>
              <a:rPr b="0" lang="ru-RU" sz="2400" spc="-1" strike="noStrike">
                <a:solidFill>
                  <a:srgbClr val="000000"/>
                </a:solidFill>
                <a:latin typeface="Roboto Light"/>
                <a:ea typeface="Roboto Light"/>
              </a:rPr>
              <a:t>связанная с несанкционированным доступом</a:t>
            </a:r>
            <a:endParaRPr b="0" lang="ru-RU" sz="2400" spc="-1" strike="noStrike">
              <a:latin typeface="Arial"/>
            </a:endParaRPr>
          </a:p>
        </p:txBody>
      </p:sp>
      <p:sp>
        <p:nvSpPr>
          <p:cNvPr id="64" name="Прямоугольник: скругленные углы 13"/>
          <p:cNvSpPr/>
          <p:nvPr/>
        </p:nvSpPr>
        <p:spPr>
          <a:xfrm>
            <a:off x="4241520" y="1544400"/>
            <a:ext cx="3738600" cy="4998240"/>
          </a:xfrm>
          <a:prstGeom prst="roundRect">
            <a:avLst>
              <a:gd name="adj" fmla="val 16667"/>
            </a:avLst>
          </a:prstGeom>
          <a:solidFill>
            <a:srgbClr val="a9d1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5" name="Заголовок 4"/>
          <p:cNvSpPr/>
          <p:nvPr/>
        </p:nvSpPr>
        <p:spPr>
          <a:xfrm>
            <a:off x="4134960" y="5009040"/>
            <a:ext cx="3916440" cy="105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rmAutofit fontScale="97000"/>
          </a:bodyPr>
          <a:p>
            <a:pPr algn="ctr">
              <a:lnSpc>
                <a:spcPct val="90000"/>
              </a:lnSpc>
              <a:buNone/>
            </a:pPr>
            <a:r>
              <a:rPr b="0" lang="ru-RU" sz="2400" spc="-1" strike="noStrike">
                <a:solidFill>
                  <a:srgbClr val="000000"/>
                </a:solidFill>
                <a:latin typeface="Roboto Light"/>
                <a:ea typeface="Roboto Light"/>
              </a:rPr>
              <a:t>Низкая производительность шифрования</a:t>
            </a:r>
            <a:endParaRPr b="0" lang="ru-RU" sz="2400" spc="-1" strike="noStrike">
              <a:latin typeface="Arial"/>
            </a:endParaRPr>
          </a:p>
        </p:txBody>
      </p:sp>
      <p:sp>
        <p:nvSpPr>
          <p:cNvPr id="66" name="Прямоугольник: скругленные углы 31"/>
          <p:cNvSpPr/>
          <p:nvPr/>
        </p:nvSpPr>
        <p:spPr>
          <a:xfrm>
            <a:off x="8228880" y="1523880"/>
            <a:ext cx="3738600" cy="4998240"/>
          </a:xfrm>
          <a:prstGeom prst="roundRect">
            <a:avLst>
              <a:gd name="adj" fmla="val 16667"/>
            </a:avLst>
          </a:prstGeom>
          <a:solidFill>
            <a:srgbClr val="a9d1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67" name="Заголовок 4"/>
          <p:cNvSpPr/>
          <p:nvPr/>
        </p:nvSpPr>
        <p:spPr>
          <a:xfrm>
            <a:off x="8300520" y="5314680"/>
            <a:ext cx="3708360" cy="44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rmAutofit/>
          </a:bodyPr>
          <a:p>
            <a:pPr algn="ctr">
              <a:lnSpc>
                <a:spcPct val="90000"/>
              </a:lnSpc>
              <a:buNone/>
            </a:pPr>
            <a:r>
              <a:rPr b="0" lang="ru-RU" sz="2400" spc="-1" strike="noStrike">
                <a:solidFill>
                  <a:srgbClr val="000000"/>
                </a:solidFill>
                <a:latin typeface="Roboto Light"/>
                <a:ea typeface="Roboto Light"/>
              </a:rPr>
              <a:t>Утечка данных</a:t>
            </a:r>
            <a:endParaRPr b="0" lang="ru-RU" sz="2400" spc="-1" strike="noStrike">
              <a:latin typeface="Arial"/>
            </a:endParaRPr>
          </a:p>
        </p:txBody>
      </p:sp>
      <p:pic>
        <p:nvPicPr>
          <p:cNvPr id="68" name="Рисунок 9" descr=""/>
          <p:cNvPicPr/>
          <p:nvPr/>
        </p:nvPicPr>
        <p:blipFill>
          <a:blip r:embed="rId1"/>
          <a:stretch/>
        </p:blipFill>
        <p:spPr>
          <a:xfrm>
            <a:off x="830160" y="2174400"/>
            <a:ext cx="2534400" cy="2534400"/>
          </a:xfrm>
          <a:prstGeom prst="rect">
            <a:avLst/>
          </a:prstGeom>
          <a:ln w="0">
            <a:noFill/>
          </a:ln>
        </p:spPr>
      </p:pic>
      <p:pic>
        <p:nvPicPr>
          <p:cNvPr id="69" name="Рисунок 17" descr=""/>
          <p:cNvPicPr/>
          <p:nvPr/>
        </p:nvPicPr>
        <p:blipFill>
          <a:blip r:embed="rId2"/>
          <a:stretch/>
        </p:blipFill>
        <p:spPr>
          <a:xfrm>
            <a:off x="9101520" y="2312280"/>
            <a:ext cx="2437920" cy="2437920"/>
          </a:xfrm>
          <a:prstGeom prst="rect">
            <a:avLst/>
          </a:prstGeom>
          <a:ln w="0">
            <a:noFill/>
          </a:ln>
        </p:spPr>
      </p:pic>
      <p:pic>
        <p:nvPicPr>
          <p:cNvPr id="70" name="Рисунок 19" descr=""/>
          <p:cNvPicPr/>
          <p:nvPr/>
        </p:nvPicPr>
        <p:blipFill>
          <a:blip r:embed="rId3"/>
          <a:stretch/>
        </p:blipFill>
        <p:spPr>
          <a:xfrm>
            <a:off x="4835160" y="2220120"/>
            <a:ext cx="2521800" cy="2521800"/>
          </a:xfrm>
          <a:prstGeom prst="rect">
            <a:avLst/>
          </a:prstGeom>
          <a:ln w="0">
            <a:noFill/>
          </a:ln>
        </p:spPr>
      </p:pic>
      <p:graphicFrame>
        <p:nvGraphicFramePr>
          <p:cNvPr id="71" name=""/>
          <p:cNvGraphicFramePr/>
          <p:nvPr/>
        </p:nvGraphicFramePr>
        <p:xfrm>
          <a:off x="1620360" y="180360"/>
          <a:ext cx="5759640" cy="3239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437040" y="162720"/>
            <a:ext cx="11409480" cy="81252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rmAutofit/>
          </a:bodyPr>
          <a:p>
            <a:pPr>
              <a:lnSpc>
                <a:spcPct val="90000"/>
              </a:lnSpc>
              <a:buNone/>
            </a:pPr>
            <a:r>
              <a:rPr b="0" lang="ru-RU" sz="4000" spc="-1" strike="noStrike">
                <a:solidFill>
                  <a:srgbClr val="a9d18e"/>
                </a:solidFill>
                <a:latin typeface="Roboto Black"/>
                <a:ea typeface="Roboto Black"/>
              </a:rPr>
              <a:t>СТАТИСТИКА ПО УТЕЧКАМ ДАННЫХ</a:t>
            </a:r>
            <a:endParaRPr b="0" lang="ru-RU" sz="4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3" name="Прямая соединительная линия 2"/>
          <p:cNvSpPr/>
          <p:nvPr/>
        </p:nvSpPr>
        <p:spPr>
          <a:xfrm>
            <a:off x="231120" y="1198800"/>
            <a:ext cx="11724480" cy="360"/>
          </a:xfrm>
          <a:prstGeom prst="line">
            <a:avLst/>
          </a:prstGeom>
          <a:ln w="38100">
            <a:solidFill>
              <a:srgbClr val="a9d1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4" name="Рисунок 3"/>
          <p:cNvSpPr/>
          <p:nvPr/>
        </p:nvSpPr>
        <p:spPr>
          <a:xfrm>
            <a:off x="231120" y="1684080"/>
            <a:ext cx="5785920" cy="4686840"/>
          </a:xfrm>
          <a:prstGeom prst="roundRect">
            <a:avLst>
              <a:gd name="adj" fmla="val 16667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5" name="Рисунок 6"/>
          <p:cNvSpPr/>
          <p:nvPr/>
        </p:nvSpPr>
        <p:spPr>
          <a:xfrm>
            <a:off x="6141600" y="1684080"/>
            <a:ext cx="5814360" cy="4686840"/>
          </a:xfrm>
          <a:prstGeom prst="roundRect">
            <a:avLst>
              <a:gd name="adj" fmla="val 16667"/>
            </a:avLst>
          </a:prstGeom>
          <a:blipFill rotWithShape="0">
            <a:blip r:embed="rId2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graphicFrame>
        <p:nvGraphicFramePr>
          <p:cNvPr id="76" name=""/>
          <p:cNvGraphicFramePr/>
          <p:nvPr/>
        </p:nvGraphicFramePr>
        <p:xfrm>
          <a:off x="1620360" y="180360"/>
          <a:ext cx="5759640" cy="3239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437040" y="162720"/>
            <a:ext cx="4602240" cy="81252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rmAutofit/>
          </a:bodyPr>
          <a:p>
            <a:pPr>
              <a:lnSpc>
                <a:spcPct val="90000"/>
              </a:lnSpc>
              <a:buNone/>
            </a:pPr>
            <a:r>
              <a:rPr b="0" lang="ru-RU" sz="4000" spc="-1" strike="noStrike">
                <a:solidFill>
                  <a:srgbClr val="a9d18e"/>
                </a:solidFill>
                <a:latin typeface="Roboto Black"/>
                <a:ea typeface="Roboto Black"/>
              </a:rPr>
              <a:t>РЕШЕНИЕ</a:t>
            </a:r>
            <a:endParaRPr b="0" lang="ru-RU" sz="4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8" name="Прямая соединительная линия 2"/>
          <p:cNvSpPr/>
          <p:nvPr/>
        </p:nvSpPr>
        <p:spPr>
          <a:xfrm>
            <a:off x="231120" y="1198800"/>
            <a:ext cx="11724480" cy="360"/>
          </a:xfrm>
          <a:prstGeom prst="line">
            <a:avLst/>
          </a:prstGeom>
          <a:ln w="38100">
            <a:solidFill>
              <a:srgbClr val="a9d1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79" name="Прямоугольник: скругленные углы 8"/>
          <p:cNvSpPr/>
          <p:nvPr/>
        </p:nvSpPr>
        <p:spPr>
          <a:xfrm>
            <a:off x="231120" y="1498680"/>
            <a:ext cx="11724120" cy="4998240"/>
          </a:xfrm>
          <a:prstGeom prst="roundRect">
            <a:avLst>
              <a:gd name="adj" fmla="val 16667"/>
            </a:avLst>
          </a:prstGeom>
          <a:solidFill>
            <a:srgbClr val="a9d1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0" name="TextBox 1"/>
          <p:cNvSpPr/>
          <p:nvPr/>
        </p:nvSpPr>
        <p:spPr>
          <a:xfrm>
            <a:off x="938520" y="2023560"/>
            <a:ext cx="5577480" cy="264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ru-RU" sz="2400" spc="-1" strike="noStrike">
                <a:solidFill>
                  <a:srgbClr val="000000"/>
                </a:solidFill>
                <a:latin typeface="Roboto Light"/>
                <a:ea typeface="Roboto Light"/>
              </a:rPr>
              <a:t>Мы создаем универсальную систему защиты файлов при помощи шифрования, которую можно интегрировать в ПО компаний, которые хотят защитить корпоративную информацию. </a:t>
            </a:r>
            <a:endParaRPr b="0" lang="ru-RU" sz="2400" spc="-1" strike="noStrike">
              <a:latin typeface="Arial"/>
            </a:endParaRPr>
          </a:p>
        </p:txBody>
      </p:sp>
      <p:sp>
        <p:nvSpPr>
          <p:cNvPr id="81" name="TextBox 5"/>
          <p:cNvSpPr/>
          <p:nvPr/>
        </p:nvSpPr>
        <p:spPr>
          <a:xfrm>
            <a:off x="863640" y="4631400"/>
            <a:ext cx="557748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ru-RU" sz="2400" spc="-1" strike="noStrike">
                <a:solidFill>
                  <a:srgbClr val="000000"/>
                </a:solidFill>
                <a:latin typeface="Roboto Light"/>
                <a:ea typeface="Roboto Light"/>
              </a:rPr>
              <a:t>В решении используется шифрование </a:t>
            </a:r>
            <a:r>
              <a:rPr b="0" lang="en-US" sz="2400" spc="-1" strike="noStrike">
                <a:solidFill>
                  <a:srgbClr val="000000"/>
                </a:solidFill>
                <a:latin typeface="Roboto Light"/>
                <a:ea typeface="Roboto Light"/>
              </a:rPr>
              <a:t>AES-256, </a:t>
            </a:r>
            <a:r>
              <a:rPr b="0" lang="ru-RU" sz="2400" spc="-1" strike="noStrike">
                <a:solidFill>
                  <a:srgbClr val="000000"/>
                </a:solidFill>
                <a:latin typeface="Roboto Light"/>
                <a:ea typeface="Roboto Light"/>
              </a:rPr>
              <a:t>которое основывается на симметричном ключе шифрования.</a:t>
            </a:r>
            <a:endParaRPr b="0" lang="ru-RU" sz="2400" spc="-1" strike="noStrike">
              <a:latin typeface="Arial"/>
            </a:endParaRPr>
          </a:p>
        </p:txBody>
      </p:sp>
      <p:pic>
        <p:nvPicPr>
          <p:cNvPr id="82" name="Picture 8" descr="Picture background"/>
          <p:cNvPicPr/>
          <p:nvPr/>
        </p:nvPicPr>
        <p:blipFill>
          <a:blip r:embed="rId1"/>
          <a:stretch/>
        </p:blipFill>
        <p:spPr>
          <a:xfrm>
            <a:off x="7223760" y="2026800"/>
            <a:ext cx="3880800" cy="3880800"/>
          </a:xfrm>
          <a:prstGeom prst="rect">
            <a:avLst/>
          </a:prstGeom>
          <a:ln w="0">
            <a:noFill/>
          </a:ln>
        </p:spPr>
      </p:pic>
      <p:graphicFrame>
        <p:nvGraphicFramePr>
          <p:cNvPr id="83" name=""/>
          <p:cNvGraphicFramePr/>
          <p:nvPr/>
        </p:nvGraphicFramePr>
        <p:xfrm>
          <a:off x="1620360" y="180360"/>
          <a:ext cx="5759640" cy="3239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Прямая соединительная линия 2"/>
          <p:cNvSpPr/>
          <p:nvPr/>
        </p:nvSpPr>
        <p:spPr>
          <a:xfrm>
            <a:off x="231120" y="1198800"/>
            <a:ext cx="11724480" cy="360"/>
          </a:xfrm>
          <a:prstGeom prst="line">
            <a:avLst/>
          </a:prstGeom>
          <a:ln w="38100">
            <a:solidFill>
              <a:srgbClr val="a9d1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5" name="Прямоугольник: скругленные углы 8"/>
          <p:cNvSpPr/>
          <p:nvPr/>
        </p:nvSpPr>
        <p:spPr>
          <a:xfrm>
            <a:off x="4262040" y="1523880"/>
            <a:ext cx="3738600" cy="4998240"/>
          </a:xfrm>
          <a:prstGeom prst="roundRect">
            <a:avLst>
              <a:gd name="adj" fmla="val 16667"/>
            </a:avLst>
          </a:prstGeom>
          <a:solidFill>
            <a:srgbClr val="a9d1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6" name="Заголовок 4"/>
          <p:cNvSpPr/>
          <p:nvPr/>
        </p:nvSpPr>
        <p:spPr>
          <a:xfrm>
            <a:off x="4211640" y="1656000"/>
            <a:ext cx="391644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rmAutofit/>
          </a:bodyPr>
          <a:p>
            <a:pPr algn="ctr">
              <a:lnSpc>
                <a:spcPct val="90000"/>
              </a:lnSpc>
              <a:buNone/>
            </a:pPr>
            <a:r>
              <a:rPr b="0" lang="ru-RU" sz="2400" spc="-1" strike="noStrike">
                <a:solidFill>
                  <a:srgbClr val="000000"/>
                </a:solidFill>
                <a:latin typeface="Roboto Light"/>
                <a:ea typeface="Roboto Light"/>
              </a:rPr>
              <a:t>Снижение экономического </a:t>
            </a:r>
            <a:endParaRPr b="0" lang="ru-RU" sz="2400" spc="-1" strike="noStrike">
              <a:latin typeface="Arial"/>
            </a:endParaRPr>
          </a:p>
          <a:p>
            <a:pPr algn="ctr">
              <a:lnSpc>
                <a:spcPct val="90000"/>
              </a:lnSpc>
              <a:buNone/>
            </a:pPr>
            <a:r>
              <a:rPr b="0" lang="ru-RU" sz="2400" spc="-1" strike="noStrike">
                <a:solidFill>
                  <a:srgbClr val="000000"/>
                </a:solidFill>
                <a:latin typeface="Roboto Light"/>
                <a:ea typeface="Roboto Light"/>
              </a:rPr>
              <a:t>ущерба</a:t>
            </a:r>
            <a:endParaRPr b="0" lang="ru-RU" sz="2400" spc="-1" strike="noStrike">
              <a:latin typeface="Arial"/>
            </a:endParaRPr>
          </a:p>
        </p:txBody>
      </p:sp>
      <p:sp>
        <p:nvSpPr>
          <p:cNvPr id="87" name="Прямоугольник: скругленные углы 13"/>
          <p:cNvSpPr/>
          <p:nvPr/>
        </p:nvSpPr>
        <p:spPr>
          <a:xfrm>
            <a:off x="295200" y="1523880"/>
            <a:ext cx="3738600" cy="4998240"/>
          </a:xfrm>
          <a:prstGeom prst="roundRect">
            <a:avLst>
              <a:gd name="adj" fmla="val 16667"/>
            </a:avLst>
          </a:prstGeom>
          <a:solidFill>
            <a:srgbClr val="a9d1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8" name="Прямоугольник: скругленные углы 31"/>
          <p:cNvSpPr/>
          <p:nvPr/>
        </p:nvSpPr>
        <p:spPr>
          <a:xfrm>
            <a:off x="8228880" y="1523880"/>
            <a:ext cx="3738600" cy="4998240"/>
          </a:xfrm>
          <a:prstGeom prst="roundRect">
            <a:avLst>
              <a:gd name="adj" fmla="val 16667"/>
            </a:avLst>
          </a:prstGeom>
          <a:solidFill>
            <a:srgbClr val="a9d1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37040" y="162720"/>
            <a:ext cx="11518560" cy="81252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rmAutofit fontScale="81000"/>
          </a:bodyPr>
          <a:p>
            <a:pPr>
              <a:lnSpc>
                <a:spcPct val="90000"/>
              </a:lnSpc>
              <a:buNone/>
            </a:pPr>
            <a:r>
              <a:rPr b="0" lang="ru-RU" sz="4000" spc="-1" strike="noStrike">
                <a:solidFill>
                  <a:srgbClr val="a9d18e"/>
                </a:solidFill>
                <a:latin typeface="Roboto Black"/>
                <a:ea typeface="Roboto Black"/>
              </a:rPr>
              <a:t>РЕЗУЛЬТАТ ОТ ИСПОЛЬЗОВАНИЯ СИСТЕМЫ</a:t>
            </a:r>
            <a:endParaRPr b="0" lang="ru-RU" sz="4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0" name="Заголовок 4"/>
          <p:cNvSpPr/>
          <p:nvPr/>
        </p:nvSpPr>
        <p:spPr>
          <a:xfrm>
            <a:off x="188280" y="1747440"/>
            <a:ext cx="3916440" cy="105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rmAutofit fontScale="97000"/>
          </a:bodyPr>
          <a:p>
            <a:pPr algn="ctr">
              <a:lnSpc>
                <a:spcPct val="90000"/>
              </a:lnSpc>
              <a:buNone/>
            </a:pPr>
            <a:r>
              <a:rPr b="0" lang="ru-RU" sz="2400" spc="-1" strike="noStrike">
                <a:solidFill>
                  <a:srgbClr val="000000"/>
                </a:solidFill>
                <a:latin typeface="Roboto Light"/>
                <a:ea typeface="Roboto Light"/>
              </a:rPr>
              <a:t>Защита файлов от несанкционированного доступа</a:t>
            </a:r>
            <a:endParaRPr b="0" lang="ru-RU" sz="2400" spc="-1" strike="noStrike">
              <a:latin typeface="Arial"/>
            </a:endParaRPr>
          </a:p>
        </p:txBody>
      </p:sp>
      <p:sp>
        <p:nvSpPr>
          <p:cNvPr id="91" name="Заголовок 4"/>
          <p:cNvSpPr/>
          <p:nvPr/>
        </p:nvSpPr>
        <p:spPr>
          <a:xfrm>
            <a:off x="8128440" y="1859400"/>
            <a:ext cx="3916440" cy="78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rmAutofit/>
          </a:bodyPr>
          <a:p>
            <a:pPr algn="ctr">
              <a:lnSpc>
                <a:spcPct val="90000"/>
              </a:lnSpc>
              <a:buNone/>
            </a:pPr>
            <a:r>
              <a:rPr b="0" lang="ru-RU" sz="2400" spc="-1" strike="noStrike">
                <a:solidFill>
                  <a:srgbClr val="000000"/>
                </a:solidFill>
                <a:latin typeface="Roboto Light"/>
                <a:ea typeface="Roboto Light"/>
              </a:rPr>
              <a:t>Ограниченный доступ к ключам</a:t>
            </a:r>
            <a:endParaRPr b="0" lang="ru-RU" sz="2400" spc="-1" strike="noStrike">
              <a:latin typeface="Arial"/>
            </a:endParaRPr>
          </a:p>
        </p:txBody>
      </p:sp>
      <p:pic>
        <p:nvPicPr>
          <p:cNvPr id="92" name="Рисунок 9" descr=""/>
          <p:cNvPicPr/>
          <p:nvPr/>
        </p:nvPicPr>
        <p:blipFill>
          <a:blip r:embed="rId1"/>
          <a:stretch/>
        </p:blipFill>
        <p:spPr>
          <a:xfrm>
            <a:off x="4739400" y="3027600"/>
            <a:ext cx="2824200" cy="2824200"/>
          </a:xfrm>
          <a:prstGeom prst="rect">
            <a:avLst/>
          </a:prstGeom>
          <a:ln w="0">
            <a:noFill/>
          </a:ln>
        </p:spPr>
      </p:pic>
      <p:pic>
        <p:nvPicPr>
          <p:cNvPr id="93" name="Picture 8" descr="Picture background"/>
          <p:cNvPicPr/>
          <p:nvPr/>
        </p:nvPicPr>
        <p:blipFill>
          <a:blip r:embed="rId2"/>
          <a:stretch/>
        </p:blipFill>
        <p:spPr>
          <a:xfrm>
            <a:off x="721440" y="3027600"/>
            <a:ext cx="3103560" cy="3103560"/>
          </a:xfrm>
          <a:prstGeom prst="rect">
            <a:avLst/>
          </a:prstGeom>
          <a:ln w="0">
            <a:noFill/>
          </a:ln>
        </p:spPr>
      </p:pic>
      <p:pic>
        <p:nvPicPr>
          <p:cNvPr id="94" name="Рисунок 3" descr=""/>
          <p:cNvPicPr/>
          <p:nvPr/>
        </p:nvPicPr>
        <p:blipFill>
          <a:blip r:embed="rId3"/>
          <a:stretch/>
        </p:blipFill>
        <p:spPr>
          <a:xfrm>
            <a:off x="8835840" y="3078360"/>
            <a:ext cx="2864880" cy="2864880"/>
          </a:xfrm>
          <a:prstGeom prst="rect">
            <a:avLst/>
          </a:prstGeom>
          <a:ln w="0">
            <a:noFill/>
          </a:ln>
        </p:spPr>
      </p:pic>
      <p:graphicFrame>
        <p:nvGraphicFramePr>
          <p:cNvPr id="95" name=""/>
          <p:cNvGraphicFramePr/>
          <p:nvPr/>
        </p:nvGraphicFramePr>
        <p:xfrm>
          <a:off x="1620360" y="180360"/>
          <a:ext cx="5759640" cy="3239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37040" y="162720"/>
            <a:ext cx="6624000" cy="81252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rmAutofit fontScale="81000"/>
          </a:bodyPr>
          <a:p>
            <a:pPr>
              <a:lnSpc>
                <a:spcPct val="90000"/>
              </a:lnSpc>
              <a:buNone/>
            </a:pPr>
            <a:r>
              <a:rPr b="0" lang="ru-RU" sz="4000" spc="-1" strike="noStrike">
                <a:solidFill>
                  <a:srgbClr val="a9d18e"/>
                </a:solidFill>
                <a:latin typeface="Roboto Black"/>
                <a:ea typeface="Roboto Black"/>
              </a:rPr>
              <a:t>ПАЙПЛАЙН ШИФРАТОРА</a:t>
            </a:r>
            <a:endParaRPr b="0" lang="ru-RU" sz="4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7" name="Прямая соединительная линия 2"/>
          <p:cNvSpPr/>
          <p:nvPr/>
        </p:nvSpPr>
        <p:spPr>
          <a:xfrm>
            <a:off x="231120" y="1198800"/>
            <a:ext cx="11724480" cy="360"/>
          </a:xfrm>
          <a:prstGeom prst="line">
            <a:avLst/>
          </a:prstGeom>
          <a:ln w="38100">
            <a:solidFill>
              <a:srgbClr val="a9d1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98" name="Прямоугольник: скругленные углы 8"/>
          <p:cNvSpPr/>
          <p:nvPr/>
        </p:nvSpPr>
        <p:spPr>
          <a:xfrm>
            <a:off x="231120" y="1498680"/>
            <a:ext cx="11724120" cy="4998240"/>
          </a:xfrm>
          <a:prstGeom prst="roundRect">
            <a:avLst>
              <a:gd name="adj" fmla="val 16667"/>
            </a:avLst>
          </a:prstGeom>
          <a:solidFill>
            <a:srgbClr val="a9d1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pic>
        <p:nvPicPr>
          <p:cNvPr id="99" name="Рисунок 11" descr=""/>
          <p:cNvPicPr/>
          <p:nvPr/>
        </p:nvPicPr>
        <p:blipFill>
          <a:blip r:embed="rId1"/>
          <a:stretch/>
        </p:blipFill>
        <p:spPr>
          <a:xfrm>
            <a:off x="548640" y="2449800"/>
            <a:ext cx="11089440" cy="3096000"/>
          </a:xfrm>
          <a:prstGeom prst="rect">
            <a:avLst/>
          </a:prstGeom>
          <a:ln w="0">
            <a:noFill/>
          </a:ln>
        </p:spPr>
      </p:pic>
      <p:graphicFrame>
        <p:nvGraphicFramePr>
          <p:cNvPr id="100" name=""/>
          <p:cNvGraphicFramePr/>
          <p:nvPr/>
        </p:nvGraphicFramePr>
        <p:xfrm>
          <a:off x="1620360" y="180360"/>
          <a:ext cx="5759640" cy="3239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437040" y="162720"/>
            <a:ext cx="6624000" cy="81252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rmAutofit/>
          </a:bodyPr>
          <a:p>
            <a:pPr>
              <a:lnSpc>
                <a:spcPct val="90000"/>
              </a:lnSpc>
              <a:buNone/>
            </a:pPr>
            <a:r>
              <a:rPr b="0" lang="ru-RU" sz="4000" spc="-1" strike="noStrike">
                <a:solidFill>
                  <a:srgbClr val="a9d18e"/>
                </a:solidFill>
                <a:latin typeface="Roboto Black"/>
                <a:ea typeface="Roboto Black"/>
              </a:rPr>
              <a:t>КОНЕЧНЫЕ АВТОМАТЫ</a:t>
            </a:r>
            <a:endParaRPr b="0" lang="ru-RU" sz="4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2" name="Прямая соединительная линия 2"/>
          <p:cNvSpPr/>
          <p:nvPr/>
        </p:nvSpPr>
        <p:spPr>
          <a:xfrm>
            <a:off x="231120" y="1198800"/>
            <a:ext cx="11724480" cy="360"/>
          </a:xfrm>
          <a:prstGeom prst="line">
            <a:avLst/>
          </a:prstGeom>
          <a:ln w="38100">
            <a:solidFill>
              <a:srgbClr val="a9d1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3" name="Прямоугольник: скругленные углы 8"/>
          <p:cNvSpPr/>
          <p:nvPr/>
        </p:nvSpPr>
        <p:spPr>
          <a:xfrm>
            <a:off x="231120" y="1498680"/>
            <a:ext cx="5214240" cy="4998240"/>
          </a:xfrm>
          <a:prstGeom prst="roundRect">
            <a:avLst>
              <a:gd name="adj" fmla="val 16667"/>
            </a:avLst>
          </a:prstGeom>
          <a:solidFill>
            <a:srgbClr val="a9d1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pic>
        <p:nvPicPr>
          <p:cNvPr id="104" name="Рисунок 5" descr=""/>
          <p:cNvPicPr/>
          <p:nvPr/>
        </p:nvPicPr>
        <p:blipFill>
          <a:blip r:embed="rId1"/>
          <a:stretch/>
        </p:blipFill>
        <p:spPr>
          <a:xfrm>
            <a:off x="1072800" y="4536720"/>
            <a:ext cx="3619080" cy="1631520"/>
          </a:xfrm>
          <a:prstGeom prst="rect">
            <a:avLst/>
          </a:prstGeom>
          <a:ln w="0">
            <a:noFill/>
          </a:ln>
        </p:spPr>
      </p:pic>
      <p:pic>
        <p:nvPicPr>
          <p:cNvPr id="105" name="Рисунок 7" descr=""/>
          <p:cNvPicPr/>
          <p:nvPr/>
        </p:nvPicPr>
        <p:blipFill>
          <a:blip r:embed="rId2"/>
          <a:srcRect l="0" t="-1042" r="0" b="-2711"/>
          <a:stretch/>
        </p:blipFill>
        <p:spPr>
          <a:xfrm>
            <a:off x="918360" y="1641600"/>
            <a:ext cx="3928320" cy="2751480"/>
          </a:xfrm>
          <a:prstGeom prst="rect">
            <a:avLst/>
          </a:prstGeom>
          <a:ln w="0">
            <a:noFill/>
          </a:ln>
        </p:spPr>
      </p:pic>
      <p:sp>
        <p:nvSpPr>
          <p:cNvPr id="106" name="Прямоугольник: скругленные углы 9"/>
          <p:cNvSpPr/>
          <p:nvPr/>
        </p:nvSpPr>
        <p:spPr>
          <a:xfrm>
            <a:off x="5688360" y="1422360"/>
            <a:ext cx="6266880" cy="4998240"/>
          </a:xfrm>
          <a:prstGeom prst="roundRect">
            <a:avLst>
              <a:gd name="adj" fmla="val 16667"/>
            </a:avLst>
          </a:prstGeom>
          <a:solidFill>
            <a:srgbClr val="a9d1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07" name="TextBox 10"/>
          <p:cNvSpPr/>
          <p:nvPr/>
        </p:nvSpPr>
        <p:spPr>
          <a:xfrm>
            <a:off x="6093360" y="1498680"/>
            <a:ext cx="55062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ru-RU" sz="2400" spc="-1" strike="noStrike">
                <a:solidFill>
                  <a:srgbClr val="000000"/>
                </a:solidFill>
                <a:latin typeface="Roboto Light"/>
                <a:ea typeface="Roboto Light"/>
              </a:rPr>
              <a:t>Конечные автоматы для </a:t>
            </a:r>
            <a:endParaRPr b="0" lang="ru-RU" sz="24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ru-RU" sz="2400" spc="-1" strike="noStrike">
                <a:solidFill>
                  <a:srgbClr val="000000"/>
                </a:solidFill>
                <a:latin typeface="Roboto Light"/>
                <a:ea typeface="Roboto Light"/>
              </a:rPr>
              <a:t>каналов чтения и записи</a:t>
            </a:r>
            <a:endParaRPr b="0" lang="ru-RU" sz="2400" spc="-1" strike="noStrike">
              <a:latin typeface="Arial"/>
            </a:endParaRPr>
          </a:p>
        </p:txBody>
      </p:sp>
      <p:pic>
        <p:nvPicPr>
          <p:cNvPr id="108" name="Рисунок 13" descr=""/>
          <p:cNvPicPr/>
          <p:nvPr/>
        </p:nvPicPr>
        <p:blipFill>
          <a:blip r:embed="rId3"/>
          <a:stretch/>
        </p:blipFill>
        <p:spPr>
          <a:xfrm>
            <a:off x="5905440" y="2553120"/>
            <a:ext cx="5865120" cy="3105720"/>
          </a:xfrm>
          <a:prstGeom prst="rect">
            <a:avLst/>
          </a:prstGeom>
          <a:ln w="0">
            <a:noFill/>
          </a:ln>
        </p:spPr>
      </p:pic>
      <p:graphicFrame>
        <p:nvGraphicFramePr>
          <p:cNvPr id="109" name=""/>
          <p:cNvGraphicFramePr/>
          <p:nvPr/>
        </p:nvGraphicFramePr>
        <p:xfrm>
          <a:off x="1620360" y="180360"/>
          <a:ext cx="5759640" cy="3239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title"/>
          </p:nvPr>
        </p:nvSpPr>
        <p:spPr>
          <a:xfrm>
            <a:off x="437040" y="162720"/>
            <a:ext cx="6624000" cy="81252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rmAutofit/>
          </a:bodyPr>
          <a:p>
            <a:pPr>
              <a:lnSpc>
                <a:spcPct val="90000"/>
              </a:lnSpc>
              <a:buNone/>
            </a:pPr>
            <a:r>
              <a:rPr b="0" lang="ru-RU" sz="4000" spc="-1" strike="noStrike">
                <a:solidFill>
                  <a:srgbClr val="a9d18e"/>
                </a:solidFill>
                <a:latin typeface="Roboto Black"/>
                <a:ea typeface="Roboto Black"/>
              </a:rPr>
              <a:t>МАСШТАБИРУМОСТЬ</a:t>
            </a:r>
            <a:endParaRPr b="0" lang="ru-RU" sz="4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1" name="Прямая соединительная линия 2"/>
          <p:cNvSpPr/>
          <p:nvPr/>
        </p:nvSpPr>
        <p:spPr>
          <a:xfrm>
            <a:off x="231120" y="1198800"/>
            <a:ext cx="11724480" cy="360"/>
          </a:xfrm>
          <a:prstGeom prst="line">
            <a:avLst/>
          </a:prstGeom>
          <a:ln w="38100">
            <a:solidFill>
              <a:srgbClr val="a9d1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2" name="Прямоугольник: скругленные углы 8"/>
          <p:cNvSpPr/>
          <p:nvPr/>
        </p:nvSpPr>
        <p:spPr>
          <a:xfrm>
            <a:off x="231120" y="1498680"/>
            <a:ext cx="11724120" cy="4998240"/>
          </a:xfrm>
          <a:prstGeom prst="roundRect">
            <a:avLst>
              <a:gd name="adj" fmla="val 16667"/>
            </a:avLst>
          </a:prstGeom>
          <a:solidFill>
            <a:srgbClr val="a9d1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13" name="TextBox 13"/>
          <p:cNvSpPr/>
          <p:nvPr/>
        </p:nvSpPr>
        <p:spPr>
          <a:xfrm>
            <a:off x="612720" y="2120760"/>
            <a:ext cx="93333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ru-RU" sz="2400" spc="-1" strike="noStrike">
                <a:solidFill>
                  <a:srgbClr val="000000"/>
                </a:solidFill>
                <a:latin typeface="Roboto Light"/>
                <a:ea typeface="Roboto Light"/>
              </a:rPr>
              <a:t>1) Использование квантово-безопасного шифрования</a:t>
            </a:r>
            <a:endParaRPr b="0" lang="ru-RU" sz="2400" spc="-1" strike="noStrike">
              <a:latin typeface="Arial"/>
            </a:endParaRPr>
          </a:p>
        </p:txBody>
      </p:sp>
      <p:sp>
        <p:nvSpPr>
          <p:cNvPr id="114" name="TextBox 5"/>
          <p:cNvSpPr/>
          <p:nvPr/>
        </p:nvSpPr>
        <p:spPr>
          <a:xfrm>
            <a:off x="612720" y="2892600"/>
            <a:ext cx="107661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2400" spc="-1" strike="noStrike">
                <a:solidFill>
                  <a:srgbClr val="000000"/>
                </a:solidFill>
                <a:latin typeface="Roboto Light"/>
                <a:ea typeface="Roboto Light"/>
              </a:rPr>
              <a:t>2</a:t>
            </a:r>
            <a:r>
              <a:rPr b="0" lang="ru-RU" sz="2400" spc="-1" strike="noStrike">
                <a:solidFill>
                  <a:srgbClr val="000000"/>
                </a:solidFill>
                <a:latin typeface="Roboto Light"/>
                <a:ea typeface="Roboto Light"/>
              </a:rPr>
              <a:t>) Использование аппаратных ускорителей, таких как графические процессоры (GPU) или специализированных криптографических процессоров (HSM)</a:t>
            </a:r>
            <a:endParaRPr b="0" lang="ru-RU" sz="2400" spc="-1" strike="noStrike">
              <a:latin typeface="Arial"/>
            </a:endParaRPr>
          </a:p>
        </p:txBody>
      </p:sp>
      <p:sp>
        <p:nvSpPr>
          <p:cNvPr id="115" name="TextBox 6"/>
          <p:cNvSpPr/>
          <p:nvPr/>
        </p:nvSpPr>
        <p:spPr>
          <a:xfrm>
            <a:off x="612720" y="4403160"/>
            <a:ext cx="89190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ru-RU" sz="2400" spc="-1" strike="noStrike">
                <a:solidFill>
                  <a:srgbClr val="000000"/>
                </a:solidFill>
                <a:latin typeface="Roboto Light"/>
                <a:ea typeface="Roboto Light"/>
              </a:rPr>
              <a:t>3) Анализ аномалий с помощью нейросетей</a:t>
            </a:r>
            <a:endParaRPr b="0" lang="ru-RU" sz="2400" spc="-1" strike="noStrike">
              <a:latin typeface="Arial"/>
            </a:endParaRPr>
          </a:p>
        </p:txBody>
      </p:sp>
      <p:sp>
        <p:nvSpPr>
          <p:cNvPr id="116" name="TextBox 7"/>
          <p:cNvSpPr/>
          <p:nvPr/>
        </p:nvSpPr>
        <p:spPr>
          <a:xfrm>
            <a:off x="612720" y="5164560"/>
            <a:ext cx="89190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ru-RU" sz="2400" spc="-1" strike="noStrike">
                <a:solidFill>
                  <a:srgbClr val="000000"/>
                </a:solidFill>
                <a:latin typeface="Roboto Light"/>
                <a:ea typeface="Roboto Light"/>
              </a:rPr>
              <a:t>4) Поддержка высоконагруженных систем</a:t>
            </a:r>
            <a:endParaRPr b="0" lang="ru-RU" sz="2400" spc="-1" strike="noStrike">
              <a:latin typeface="Arial"/>
            </a:endParaRPr>
          </a:p>
        </p:txBody>
      </p:sp>
      <p:graphicFrame>
        <p:nvGraphicFramePr>
          <p:cNvPr id="117" name=""/>
          <p:cNvGraphicFramePr/>
          <p:nvPr/>
        </p:nvGraphicFramePr>
        <p:xfrm>
          <a:off x="1620360" y="180360"/>
          <a:ext cx="5759640" cy="3239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421560" y="3000960"/>
            <a:ext cx="11348280" cy="85572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rmAutofit/>
          </a:bodyPr>
          <a:p>
            <a:pPr algn="ctr">
              <a:lnSpc>
                <a:spcPct val="90000"/>
              </a:lnSpc>
              <a:buNone/>
            </a:pPr>
            <a:r>
              <a:rPr b="0" lang="ru-RU" sz="4800" spc="-1" strike="noStrike">
                <a:solidFill>
                  <a:srgbClr val="a9d18e"/>
                </a:solidFill>
                <a:latin typeface="Roboto Black"/>
                <a:ea typeface="Roboto Black"/>
              </a:rPr>
              <a:t>СПАСИБО ЗА ВНИМАНИЕ!</a:t>
            </a:r>
            <a:endParaRPr b="0" lang="ru-RU" sz="4800" spc="-1" strike="noStrike">
              <a:solidFill>
                <a:srgbClr val="000000"/>
              </a:solidFill>
              <a:latin typeface="Calibri"/>
            </a:endParaRPr>
          </a:p>
        </p:txBody>
      </p:sp>
      <p:graphicFrame>
        <p:nvGraphicFramePr>
          <p:cNvPr id="119" name=""/>
          <p:cNvGraphicFramePr/>
          <p:nvPr/>
        </p:nvGraphicFramePr>
        <p:xfrm>
          <a:off x="1620360" y="180360"/>
          <a:ext cx="5759640" cy="3239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437040" y="162720"/>
            <a:ext cx="6624000" cy="81252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rmAutofit/>
          </a:bodyPr>
          <a:p>
            <a:pPr>
              <a:lnSpc>
                <a:spcPct val="90000"/>
              </a:lnSpc>
              <a:buNone/>
            </a:pPr>
            <a:r>
              <a:rPr b="0" lang="ru-RU" sz="4000" spc="-1" strike="noStrike">
                <a:solidFill>
                  <a:srgbClr val="a9d18e"/>
                </a:solidFill>
                <a:latin typeface="Roboto Black"/>
                <a:ea typeface="Roboto Black"/>
              </a:rPr>
              <a:t>Приложение</a:t>
            </a:r>
            <a:endParaRPr b="0" lang="ru-RU" sz="4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1" name="Прямая соединительная линия 2"/>
          <p:cNvSpPr/>
          <p:nvPr/>
        </p:nvSpPr>
        <p:spPr>
          <a:xfrm>
            <a:off x="231120" y="1198800"/>
            <a:ext cx="11724480" cy="360"/>
          </a:xfrm>
          <a:prstGeom prst="line">
            <a:avLst/>
          </a:prstGeom>
          <a:ln w="38100">
            <a:solidFill>
              <a:srgbClr val="a9d1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22" name="Прямоугольник: скругленные углы 8"/>
          <p:cNvSpPr/>
          <p:nvPr/>
        </p:nvSpPr>
        <p:spPr>
          <a:xfrm>
            <a:off x="231120" y="1498680"/>
            <a:ext cx="11724120" cy="4998240"/>
          </a:xfrm>
          <a:prstGeom prst="roundRect">
            <a:avLst>
              <a:gd name="adj" fmla="val 16667"/>
            </a:avLst>
          </a:prstGeom>
          <a:solidFill>
            <a:srgbClr val="a9d1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pic>
        <p:nvPicPr>
          <p:cNvPr id="123" name="Рисунок 3" descr=""/>
          <p:cNvPicPr/>
          <p:nvPr/>
        </p:nvPicPr>
        <p:blipFill>
          <a:blip r:embed="rId1"/>
          <a:stretch/>
        </p:blipFill>
        <p:spPr>
          <a:xfrm>
            <a:off x="870480" y="1790640"/>
            <a:ext cx="3825000" cy="1554480"/>
          </a:xfrm>
          <a:prstGeom prst="rect">
            <a:avLst/>
          </a:prstGeom>
          <a:ln w="0">
            <a:noFill/>
          </a:ln>
        </p:spPr>
      </p:pic>
      <p:pic>
        <p:nvPicPr>
          <p:cNvPr id="124" name="Рисунок 6" descr=""/>
          <p:cNvPicPr/>
          <p:nvPr/>
        </p:nvPicPr>
        <p:blipFill>
          <a:blip r:embed="rId2"/>
          <a:stretch/>
        </p:blipFill>
        <p:spPr>
          <a:xfrm>
            <a:off x="1089720" y="3512160"/>
            <a:ext cx="3386160" cy="1376280"/>
          </a:xfrm>
          <a:prstGeom prst="rect">
            <a:avLst/>
          </a:prstGeom>
          <a:ln w="0">
            <a:noFill/>
          </a:ln>
        </p:spPr>
      </p:pic>
      <p:pic>
        <p:nvPicPr>
          <p:cNvPr id="125" name="Рисунок 9" descr=""/>
          <p:cNvPicPr/>
          <p:nvPr/>
        </p:nvPicPr>
        <p:blipFill>
          <a:blip r:embed="rId3"/>
          <a:stretch/>
        </p:blipFill>
        <p:spPr>
          <a:xfrm>
            <a:off x="1318320" y="5055480"/>
            <a:ext cx="3240000" cy="1316880"/>
          </a:xfrm>
          <a:prstGeom prst="rect">
            <a:avLst/>
          </a:prstGeom>
          <a:ln w="0">
            <a:noFill/>
          </a:ln>
        </p:spPr>
      </p:pic>
      <p:pic>
        <p:nvPicPr>
          <p:cNvPr id="126" name="Рисунок 11" descr=""/>
          <p:cNvPicPr/>
          <p:nvPr/>
        </p:nvPicPr>
        <p:blipFill>
          <a:blip r:embed="rId4"/>
          <a:stretch/>
        </p:blipFill>
        <p:spPr>
          <a:xfrm>
            <a:off x="6546600" y="2228760"/>
            <a:ext cx="3726360" cy="3587760"/>
          </a:xfrm>
          <a:prstGeom prst="rect">
            <a:avLst/>
          </a:prstGeom>
          <a:ln w="0">
            <a:noFill/>
          </a:ln>
        </p:spPr>
      </p:pic>
      <p:graphicFrame>
        <p:nvGraphicFramePr>
          <p:cNvPr id="127" name=""/>
          <p:cNvGraphicFramePr/>
          <p:nvPr/>
        </p:nvGraphicFramePr>
        <p:xfrm>
          <a:off x="1620360" y="180360"/>
          <a:ext cx="5759640" cy="3239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37040" y="162720"/>
            <a:ext cx="6877800" cy="81252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rmAutofit fontScale="81000"/>
          </a:bodyPr>
          <a:p>
            <a:pPr>
              <a:lnSpc>
                <a:spcPct val="90000"/>
              </a:lnSpc>
              <a:buNone/>
            </a:pPr>
            <a:r>
              <a:rPr b="0" lang="ru-RU" sz="4000" spc="-1" strike="noStrike">
                <a:solidFill>
                  <a:srgbClr val="a9d18e"/>
                </a:solidFill>
                <a:latin typeface="Roboto Black"/>
                <a:ea typeface="Roboto Black"/>
              </a:rPr>
              <a:t>Отчет об проделанной работе</a:t>
            </a:r>
            <a:endParaRPr b="0" lang="ru-RU" sz="40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9" name="Прямая соединительная линия 2"/>
          <p:cNvSpPr/>
          <p:nvPr/>
        </p:nvSpPr>
        <p:spPr>
          <a:xfrm>
            <a:off x="231120" y="1198800"/>
            <a:ext cx="11724480" cy="360"/>
          </a:xfrm>
          <a:prstGeom prst="line">
            <a:avLst/>
          </a:prstGeom>
          <a:ln w="38100">
            <a:solidFill>
              <a:srgbClr val="a9d18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0" name="Прямоугольник: скругленные углы 8"/>
          <p:cNvSpPr/>
          <p:nvPr/>
        </p:nvSpPr>
        <p:spPr>
          <a:xfrm>
            <a:off x="231120" y="1498680"/>
            <a:ext cx="11724120" cy="4998240"/>
          </a:xfrm>
          <a:prstGeom prst="roundRect">
            <a:avLst>
              <a:gd name="adj" fmla="val 16667"/>
            </a:avLst>
          </a:prstGeom>
          <a:solidFill>
            <a:srgbClr val="a9d18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1" name="TextBox 13"/>
          <p:cNvSpPr/>
          <p:nvPr/>
        </p:nvSpPr>
        <p:spPr>
          <a:xfrm>
            <a:off x="837720" y="1821960"/>
            <a:ext cx="10380960" cy="374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ru-RU" sz="2400" spc="-1" strike="noStrike">
                <a:solidFill>
                  <a:srgbClr val="000000"/>
                </a:solidFill>
                <a:latin typeface="Roboto Light"/>
                <a:ea typeface="Roboto Light"/>
              </a:rPr>
              <a:t>После выбора темы проекта распределения ролей в команде, были описаны основные функции системы, а именно:</a:t>
            </a:r>
            <a:endParaRPr b="0" lang="ru-RU" sz="24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StarSymbol"/>
              <a:buAutoNum type="arabicParenR"/>
            </a:pPr>
            <a:r>
              <a:rPr b="0" lang="ru-RU" sz="2400" spc="-1" strike="noStrike">
                <a:solidFill>
                  <a:srgbClr val="000000"/>
                </a:solidFill>
                <a:latin typeface="Roboto Light"/>
                <a:ea typeface="Roboto Light"/>
              </a:rPr>
              <a:t>Модуль приема данных</a:t>
            </a:r>
            <a:r>
              <a:rPr b="0" lang="en-US" sz="2400" spc="-1" strike="noStrike">
                <a:solidFill>
                  <a:srgbClr val="000000"/>
                </a:solidFill>
                <a:latin typeface="Roboto Light"/>
                <a:ea typeface="Roboto Light"/>
              </a:rPr>
              <a:t>;</a:t>
            </a:r>
            <a:endParaRPr b="0" lang="ru-RU" sz="24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StarSymbol"/>
              <a:buAutoNum type="arabicParenR"/>
            </a:pPr>
            <a:r>
              <a:rPr b="0" lang="ru-RU" sz="2400" spc="-1" strike="noStrike">
                <a:solidFill>
                  <a:srgbClr val="000000"/>
                </a:solidFill>
                <a:latin typeface="Roboto Light"/>
                <a:ea typeface="Roboto Light"/>
              </a:rPr>
              <a:t>Модуль шифрования</a:t>
            </a:r>
            <a:r>
              <a:rPr b="0" lang="en-US" sz="2400" spc="-1" strike="noStrike">
                <a:solidFill>
                  <a:srgbClr val="000000"/>
                </a:solidFill>
                <a:latin typeface="Roboto Light"/>
                <a:ea typeface="Roboto Light"/>
              </a:rPr>
              <a:t> </a:t>
            </a:r>
            <a:r>
              <a:rPr b="0" lang="ru-RU" sz="2400" spc="-1" strike="noStrike">
                <a:solidFill>
                  <a:srgbClr val="000000"/>
                </a:solidFill>
                <a:latin typeface="Roboto Light"/>
                <a:ea typeface="Roboto Light"/>
              </a:rPr>
              <a:t>и расшифрования файлов (прописан алгоритм работы шифратора и дешифратора)</a:t>
            </a:r>
            <a:r>
              <a:rPr b="0" lang="en-US" sz="2400" spc="-1" strike="noStrike">
                <a:solidFill>
                  <a:srgbClr val="000000"/>
                </a:solidFill>
                <a:latin typeface="Roboto Light"/>
                <a:ea typeface="Roboto Light"/>
              </a:rPr>
              <a:t>;</a:t>
            </a:r>
            <a:endParaRPr b="0" lang="ru-RU" sz="2400" spc="-1" strike="noStrike"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StarSymbol"/>
              <a:buAutoNum type="arabicParenR"/>
            </a:pPr>
            <a:r>
              <a:rPr b="0" lang="ru-RU" sz="2400" spc="-1" strike="noStrike">
                <a:solidFill>
                  <a:srgbClr val="000000"/>
                </a:solidFill>
                <a:latin typeface="Roboto Light"/>
                <a:ea typeface="Roboto Light"/>
              </a:rPr>
              <a:t>Модуль работы с памятью</a:t>
            </a:r>
            <a:r>
              <a:rPr b="0" lang="en-US" sz="2400" spc="-1" strike="noStrike">
                <a:solidFill>
                  <a:srgbClr val="000000"/>
                </a:solidFill>
                <a:latin typeface="Roboto Light"/>
                <a:ea typeface="Roboto Light"/>
              </a:rPr>
              <a:t>.</a:t>
            </a:r>
            <a:endParaRPr b="0" lang="ru-RU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ru-RU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ru-RU" sz="2400" spc="-1" strike="noStrike">
                <a:solidFill>
                  <a:srgbClr val="000000"/>
                </a:solidFill>
                <a:latin typeface="Roboto Light"/>
                <a:ea typeface="Roboto Light"/>
              </a:rPr>
              <a:t>После чего была изучена спецификация </a:t>
            </a:r>
            <a:r>
              <a:rPr b="0" lang="en-US" sz="2400" spc="-1" strike="noStrike">
                <a:solidFill>
                  <a:srgbClr val="000000"/>
                </a:solidFill>
                <a:latin typeface="Roboto Light"/>
                <a:ea typeface="Roboto Light"/>
              </a:rPr>
              <a:t>AXI4-MM</a:t>
            </a:r>
            <a:r>
              <a:rPr b="0" lang="ru-RU" sz="2400" spc="-1" strike="noStrike">
                <a:solidFill>
                  <a:srgbClr val="000000"/>
                </a:solidFill>
                <a:latin typeface="Roboto Light"/>
                <a:ea typeface="Roboto Light"/>
              </a:rPr>
              <a:t>. </a:t>
            </a:r>
            <a:endParaRPr b="0" lang="ru-RU" sz="2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ru-RU" sz="2400" spc="-1" strike="noStrike">
                <a:solidFill>
                  <a:srgbClr val="000000"/>
                </a:solidFill>
                <a:latin typeface="Roboto Light"/>
                <a:ea typeface="Roboto Light"/>
              </a:rPr>
              <a:t>Далее была создана презентация, изучены и проанализированы проблемы, подготовка к защите. </a:t>
            </a:r>
            <a:endParaRPr b="0" lang="ru-RU" sz="2400" spc="-1" strike="noStrike">
              <a:latin typeface="Arial"/>
            </a:endParaRPr>
          </a:p>
        </p:txBody>
      </p:sp>
      <p:graphicFrame>
        <p:nvGraphicFramePr>
          <p:cNvPr id="132" name=""/>
          <p:cNvGraphicFramePr/>
          <p:nvPr/>
        </p:nvGraphicFramePr>
        <p:xfrm>
          <a:off x="1620360" y="180360"/>
          <a:ext cx="5759640" cy="3239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1075</TotalTime>
  <Application>LibreOffice/7.3.7.2$Linux_X86_64 LibreOffice_project/30$Build-2</Application>
  <AppVersion>15.0000</AppVersion>
  <Words>211</Words>
  <Paragraphs>48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2024-10-17T10:19:37Z</dcterms:created>
  <dc:creator>Sofiya</dc:creator>
  <dc:description/>
  <dc:language>ru-RU</dc:language>
  <cp:lastModifiedBy/>
  <dcterms:modified xsi:type="dcterms:W3CDTF">2025-03-27T01:09:01Z</dcterms:modified>
  <cp:revision>58</cp:revision>
  <dc:subject/>
  <dc:title>СИСТЕМА ЗАЩИТЫ ФАЙЛОВ С ПОМОЩЬЮ ШИФРОВАНИЯ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Широкоэкранный</vt:lpwstr>
  </property>
  <property fmtid="{D5CDD505-2E9C-101B-9397-08002B2CF9AE}" pid="3" name="Slides">
    <vt:i4>12</vt:i4>
  </property>
</Properties>
</file>