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8" r:id="rId4"/>
    <p:sldId id="262" r:id="rId5"/>
    <p:sldId id="261" r:id="rId6"/>
    <p:sldId id="265" r:id="rId7"/>
    <p:sldId id="263" r:id="rId8"/>
    <p:sldId id="266" r:id="rId9"/>
    <p:sldId id="269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fiya" initials="S" lastIdx="1" clrIdx="0">
    <p:extLst>
      <p:ext uri="{19B8F6BF-5375-455C-9EA6-DF929625EA0E}">
        <p15:presenceInfo xmlns:p15="http://schemas.microsoft.com/office/powerpoint/2012/main" userId="Sofi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1E0000"/>
    <a:srgbClr val="9DC79F"/>
    <a:srgbClr val="4067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2B146-6D45-4E9A-8B1F-6BFDF5AA1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F0C5B56-75B6-4664-853A-8384A55DD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9DA9BF-6F6B-4A25-9EC2-0BE4B23A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F898-513F-458B-9061-3A3B7E56AA99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ADA3DF-C725-4B37-B789-6D718812F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25745A-B0B0-4BF0-BC00-10A3C02D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8DB3-E211-4D2C-BADE-ABD80023E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75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68AD1-F617-4853-8629-0E118E74D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5E4D38-34FA-45EC-9B94-9BE857F1C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D9434B-BA33-4AF2-B24E-298D80AC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F898-513F-458B-9061-3A3B7E56AA99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2A11B7-2531-4CEF-9B94-43D89D806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BB1A87-E013-454A-A69C-5F5BCEF1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8DB3-E211-4D2C-BADE-ABD80023E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849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CDE059-67B6-4748-877E-42D87FD23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B4E94D-3CEE-403F-A030-B23B0530D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00D65F-E71C-4D5F-8327-69B0CB893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F898-513F-458B-9061-3A3B7E56AA99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DC72CF-9A3A-4F5D-B887-62644BA53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B4D684-69D7-47E1-870A-77AE8782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8DB3-E211-4D2C-BADE-ABD80023E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10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C95A0-87C4-4B02-A00B-CFC00CB3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396F59-C278-4BF5-BCB1-123B34D3C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FF2FF0-AE40-4AA4-9287-A312066B9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7A1693-1C32-448C-BCBF-51C65C3A0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F898-513F-458B-9061-3A3B7E56AA99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16AEF3-9247-485A-9E02-D5780782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C7258-C82E-480E-BD40-9396080C0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8DB3-E211-4D2C-BADE-ABD80023E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49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9B1CB-5514-41AC-9C8B-ED24F220A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7A53AB-213F-478E-8628-3954B065A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C32CB9-B631-4B2C-BA8D-B8557B291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297987F-14C0-436F-A233-C3CE3A663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68334A8-F554-4CF4-BD5E-6B7B494ED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B8FB62A-8744-4966-952B-879D8D39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F898-513F-458B-9061-3A3B7E56AA99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E22DB14-ED37-42A3-B15F-9ABC5DB50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15DD39-75BF-40F0-BA6D-FB7D1C863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8DB3-E211-4D2C-BADE-ABD80023E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5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350E3-BF55-43BB-B1D1-E6954830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E0741C-5DD0-48FC-AB64-411D53ADE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F898-513F-458B-9061-3A3B7E56AA99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14C9A5C-F1E1-42B9-9EAE-FD5E0F22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F4E2B9-1220-4DF4-A145-BFF7E1C1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8DB3-E211-4D2C-BADE-ABD80023E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594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3F83D39-43C9-4237-85A2-83FEB721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F898-513F-458B-9061-3A3B7E56AA99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557037-B31E-432F-8506-ED9B22A09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824D6A-778E-465D-B2F5-10B5DED1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8DB3-E211-4D2C-BADE-ABD80023E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503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D853E-4EED-497F-BC61-ADFE094D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9FD87C-63BD-443E-9913-96E09564D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A03996C-EA2F-4B41-97D1-3C7DB90E7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223469-38FC-47A2-9E69-69AFF60E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F898-513F-458B-9061-3A3B7E56AA99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495478-2A5C-4173-A1C7-5DB15456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7D0F4D-0FF1-4EE6-AE02-E265F7FA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8DB3-E211-4D2C-BADE-ABD80023E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05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6D309-CD23-4DBE-B1D7-DC588EB27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F0B3835-E7F5-4586-86BE-D3E73AA9D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B4E567-DBC6-4793-93C7-4DA9615A0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F2A039-17F4-4A24-8902-CD1B5B467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F898-513F-458B-9061-3A3B7E56AA99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0C9AB0-1E36-4251-9DDA-9DEB4C2A2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E5BEF7-2CDC-4950-90E4-3F24D14A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8DB3-E211-4D2C-BADE-ABD80023E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60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81DB4-B1C5-46B7-96C8-6F61F0C5C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17D069-5628-4E6B-BBA0-D27F70744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E793B6-29C5-4C19-9F04-C81453F9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F898-513F-458B-9061-3A3B7E56AA99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B88A5F-EAFF-43C0-A728-6EB8CE72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3F0C3F-3C3D-4B92-A553-D142B0BC4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8DB3-E211-4D2C-BADE-ABD80023E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9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504BEC-334B-4F70-9CA1-344698C9C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6D7F53-9951-4A9D-A8FD-8A56BC658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19CD70-8F8D-4517-A646-CC0FA6BCB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F898-513F-458B-9061-3A3B7E56AA99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512AA2-9F47-45AD-8596-6B9A099B3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5E4ADD-907C-46E4-A4D7-9604E52E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8DB3-E211-4D2C-BADE-ABD80023E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826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0632F-2FDF-4576-92B9-55825D30E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33389C-2C43-43E8-923C-8B4C39477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A60AE1-BFE1-4616-AF25-E3358DFE2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7F898-513F-458B-9061-3A3B7E56AA99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4D9F84-A2AC-4B81-BF3B-A8DA950E6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5BE713-465E-4518-ADE7-5F146696D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A8DB3-E211-4D2C-BADE-ABD80023E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875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6A7A36-0B7F-41E1-85C8-BD02C22E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640" y="2720340"/>
            <a:ext cx="11348720" cy="1417320"/>
          </a:xfrm>
        </p:spPr>
        <p:txBody>
          <a:bodyPr>
            <a:normAutofit/>
          </a:bodyPr>
          <a:lstStyle/>
          <a:p>
            <a:r>
              <a:rPr lang="ru-RU" sz="48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СИСТЕМА ЗАЩИТЫ ФАЙЛОВ С ПОМОЩЬЮ ШИФРОВАНИЯ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11324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A00606EF-6BF2-4811-80AF-16F2F4DC1489}"/>
              </a:ext>
            </a:extLst>
          </p:cNvPr>
          <p:cNvSpPr/>
          <p:nvPr/>
        </p:nvSpPr>
        <p:spPr>
          <a:xfrm>
            <a:off x="3175670" y="1544324"/>
            <a:ext cx="2740662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688A478-68C5-4A18-9445-578929B79233}"/>
              </a:ext>
            </a:extLst>
          </p:cNvPr>
          <p:cNvSpPr/>
          <p:nvPr/>
        </p:nvSpPr>
        <p:spPr>
          <a:xfrm>
            <a:off x="6195395" y="1544324"/>
            <a:ext cx="2740662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A557FDD-0051-408B-92B6-EB0A5CA464C4}"/>
              </a:ext>
            </a:extLst>
          </p:cNvPr>
          <p:cNvSpPr/>
          <p:nvPr/>
        </p:nvSpPr>
        <p:spPr>
          <a:xfrm>
            <a:off x="3175670" y="1544324"/>
            <a:ext cx="2740662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8F184F24-EE4A-4A71-B839-F3CCB860AE5B}"/>
              </a:ext>
            </a:extLst>
          </p:cNvPr>
          <p:cNvSpPr/>
          <p:nvPr/>
        </p:nvSpPr>
        <p:spPr>
          <a:xfrm>
            <a:off x="6195395" y="1544322"/>
            <a:ext cx="2740662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827AC12-B4AC-4684-A093-05315F6AC6AD}"/>
              </a:ext>
            </a:extLst>
          </p:cNvPr>
          <p:cNvSpPr/>
          <p:nvPr/>
        </p:nvSpPr>
        <p:spPr>
          <a:xfrm>
            <a:off x="9217650" y="1544322"/>
            <a:ext cx="2740662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Заголовок 4">
            <a:extLst>
              <a:ext uri="{FF2B5EF4-FFF2-40B4-BE49-F238E27FC236}">
                <a16:creationId xmlns:a16="http://schemas.microsoft.com/office/drawing/2014/main" id="{AB013BB7-CBE0-47B9-9CC3-5526649F65B7}"/>
              </a:ext>
            </a:extLst>
          </p:cNvPr>
          <p:cNvSpPr txBox="1">
            <a:spLocks/>
          </p:cNvSpPr>
          <p:nvPr/>
        </p:nvSpPr>
        <p:spPr>
          <a:xfrm>
            <a:off x="3211000" y="4155441"/>
            <a:ext cx="1926981" cy="10566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 err="1">
                <a:latin typeface="Roboto Medium" panose="02000000000000000000" pitchFamily="2" charset="0"/>
                <a:ea typeface="Roboto Medium" panose="02000000000000000000" pitchFamily="2" charset="0"/>
              </a:rPr>
              <a:t>Мильбрат</a:t>
            </a:r>
            <a:endParaRPr lang="ru-RU" sz="2000" dirty="0"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algn="l"/>
            <a:r>
              <a:rPr lang="ru-RU" sz="2000" dirty="0">
                <a:latin typeface="Roboto Medium" panose="02000000000000000000" pitchFamily="2" charset="0"/>
                <a:ea typeface="Roboto Medium" panose="02000000000000000000" pitchFamily="2" charset="0"/>
              </a:rPr>
              <a:t>Владислав</a:t>
            </a:r>
          </a:p>
        </p:txBody>
      </p:sp>
      <p:sp>
        <p:nvSpPr>
          <p:cNvPr id="26" name="Заголовок 4">
            <a:extLst>
              <a:ext uri="{FF2B5EF4-FFF2-40B4-BE49-F238E27FC236}">
                <a16:creationId xmlns:a16="http://schemas.microsoft.com/office/drawing/2014/main" id="{AB651F54-E659-4849-896A-57308E2AD49D}"/>
              </a:ext>
            </a:extLst>
          </p:cNvPr>
          <p:cNvSpPr txBox="1">
            <a:spLocks/>
          </p:cNvSpPr>
          <p:nvPr/>
        </p:nvSpPr>
        <p:spPr>
          <a:xfrm>
            <a:off x="3230213" y="5455920"/>
            <a:ext cx="1907768" cy="3860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dirty="0">
                <a:latin typeface="Roboto Light" panose="02000000000000000000" pitchFamily="2" charset="0"/>
                <a:ea typeface="Roboto Light" panose="02000000000000000000" pitchFamily="2" charset="0"/>
              </a:rPr>
              <a:t>Разработчик</a:t>
            </a:r>
          </a:p>
        </p:txBody>
      </p:sp>
      <p:sp>
        <p:nvSpPr>
          <p:cNvPr id="28" name="Заголовок 4">
            <a:extLst>
              <a:ext uri="{FF2B5EF4-FFF2-40B4-BE49-F238E27FC236}">
                <a16:creationId xmlns:a16="http://schemas.microsoft.com/office/drawing/2014/main" id="{4A3A3597-F1E5-4888-88B7-141CD27DD572}"/>
              </a:ext>
            </a:extLst>
          </p:cNvPr>
          <p:cNvSpPr txBox="1">
            <a:spLocks/>
          </p:cNvSpPr>
          <p:nvPr/>
        </p:nvSpPr>
        <p:spPr>
          <a:xfrm>
            <a:off x="6230725" y="4155439"/>
            <a:ext cx="1926981" cy="10566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>
                <a:latin typeface="Roboto Medium" panose="02000000000000000000" pitchFamily="2" charset="0"/>
                <a:ea typeface="Roboto Medium" panose="02000000000000000000" pitchFamily="2" charset="0"/>
              </a:rPr>
              <a:t>Красноперов</a:t>
            </a:r>
          </a:p>
          <a:p>
            <a:pPr algn="l"/>
            <a:r>
              <a:rPr lang="ru-RU" sz="2000" dirty="0">
                <a:latin typeface="Roboto Medium" panose="02000000000000000000" pitchFamily="2" charset="0"/>
                <a:ea typeface="Roboto Medium" panose="02000000000000000000" pitchFamily="2" charset="0"/>
              </a:rPr>
              <a:t>Илья</a:t>
            </a:r>
          </a:p>
        </p:txBody>
      </p:sp>
      <p:sp>
        <p:nvSpPr>
          <p:cNvPr id="30" name="Заголовок 4">
            <a:extLst>
              <a:ext uri="{FF2B5EF4-FFF2-40B4-BE49-F238E27FC236}">
                <a16:creationId xmlns:a16="http://schemas.microsoft.com/office/drawing/2014/main" id="{42587313-DC34-4E9B-BBCD-FD3001013929}"/>
              </a:ext>
            </a:extLst>
          </p:cNvPr>
          <p:cNvSpPr txBox="1">
            <a:spLocks/>
          </p:cNvSpPr>
          <p:nvPr/>
        </p:nvSpPr>
        <p:spPr>
          <a:xfrm>
            <a:off x="6249938" y="5455920"/>
            <a:ext cx="1907768" cy="386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dirty="0">
                <a:latin typeface="Roboto Light" panose="02000000000000000000" pitchFamily="2" charset="0"/>
                <a:ea typeface="Roboto Light" panose="02000000000000000000" pitchFamily="2" charset="0"/>
              </a:rPr>
              <a:t>Тестировщик</a:t>
            </a:r>
          </a:p>
        </p:txBody>
      </p:sp>
      <p:sp>
        <p:nvSpPr>
          <p:cNvPr id="34" name="Заголовок 4">
            <a:extLst>
              <a:ext uri="{FF2B5EF4-FFF2-40B4-BE49-F238E27FC236}">
                <a16:creationId xmlns:a16="http://schemas.microsoft.com/office/drawing/2014/main" id="{72795572-C434-414E-80CB-4B507817DF42}"/>
              </a:ext>
            </a:extLst>
          </p:cNvPr>
          <p:cNvSpPr txBox="1">
            <a:spLocks/>
          </p:cNvSpPr>
          <p:nvPr/>
        </p:nvSpPr>
        <p:spPr>
          <a:xfrm>
            <a:off x="9252980" y="4155439"/>
            <a:ext cx="1926981" cy="10566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>
                <a:latin typeface="Roboto Medium" panose="02000000000000000000" pitchFamily="2" charset="0"/>
                <a:ea typeface="Roboto Medium" panose="02000000000000000000" pitchFamily="2" charset="0"/>
              </a:rPr>
              <a:t>Рощупкина</a:t>
            </a:r>
          </a:p>
          <a:p>
            <a:pPr algn="l"/>
            <a:r>
              <a:rPr lang="ru-RU" sz="2000" dirty="0">
                <a:latin typeface="Roboto Medium" panose="02000000000000000000" pitchFamily="2" charset="0"/>
                <a:ea typeface="Roboto Medium" panose="02000000000000000000" pitchFamily="2" charset="0"/>
              </a:rPr>
              <a:t>София</a:t>
            </a:r>
          </a:p>
        </p:txBody>
      </p:sp>
      <p:sp>
        <p:nvSpPr>
          <p:cNvPr id="35" name="Заголовок 4">
            <a:extLst>
              <a:ext uri="{FF2B5EF4-FFF2-40B4-BE49-F238E27FC236}">
                <a16:creationId xmlns:a16="http://schemas.microsoft.com/office/drawing/2014/main" id="{71A0424D-56A3-4D40-94D8-6FA901FFADA1}"/>
              </a:ext>
            </a:extLst>
          </p:cNvPr>
          <p:cNvSpPr txBox="1">
            <a:spLocks/>
          </p:cNvSpPr>
          <p:nvPr/>
        </p:nvSpPr>
        <p:spPr>
          <a:xfrm>
            <a:off x="9272193" y="5120638"/>
            <a:ext cx="1907768" cy="7213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dirty="0">
                <a:latin typeface="Roboto Light" panose="02000000000000000000" pitchFamily="2" charset="0"/>
                <a:ea typeface="Roboto Light" panose="02000000000000000000" pitchFamily="2" charset="0"/>
              </a:rPr>
              <a:t>Менеджер </a:t>
            </a:r>
          </a:p>
          <a:p>
            <a:pPr algn="l"/>
            <a:r>
              <a:rPr lang="ru-RU" sz="1800" dirty="0">
                <a:latin typeface="Roboto Light" panose="02000000000000000000" pitchFamily="2" charset="0"/>
                <a:ea typeface="Roboto Light" panose="02000000000000000000" pitchFamily="2" charset="0"/>
              </a:rPr>
              <a:t>продукта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7F93B5AA-CDCF-45C5-95F9-027B9499FEA7}"/>
              </a:ext>
            </a:extLst>
          </p:cNvPr>
          <p:cNvSpPr/>
          <p:nvPr/>
        </p:nvSpPr>
        <p:spPr>
          <a:xfrm>
            <a:off x="195812" y="1544324"/>
            <a:ext cx="2740662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6A7A36-0B7F-41E1-85C8-BD02C22E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62563"/>
            <a:ext cx="4602480" cy="812800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КОМАНДА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709BD0D-2752-4352-91AF-46FC1220AADA}"/>
              </a:ext>
            </a:extLst>
          </p:cNvPr>
          <p:cNvCxnSpPr>
            <a:cxnSpLocks/>
          </p:cNvCxnSpPr>
          <p:nvPr/>
        </p:nvCxnSpPr>
        <p:spPr>
          <a:xfrm>
            <a:off x="231142" y="1198880"/>
            <a:ext cx="11724640" cy="0"/>
          </a:xfrm>
          <a:prstGeom prst="line">
            <a:avLst/>
          </a:prstGeom>
          <a:ln w="38100" cmpd="sng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4">
            <a:extLst>
              <a:ext uri="{FF2B5EF4-FFF2-40B4-BE49-F238E27FC236}">
                <a16:creationId xmlns:a16="http://schemas.microsoft.com/office/drawing/2014/main" id="{63EF2BCC-6FEE-4D8B-A0E2-F63A03F331D7}"/>
              </a:ext>
            </a:extLst>
          </p:cNvPr>
          <p:cNvSpPr txBox="1">
            <a:spLocks/>
          </p:cNvSpPr>
          <p:nvPr/>
        </p:nvSpPr>
        <p:spPr>
          <a:xfrm>
            <a:off x="231142" y="4155441"/>
            <a:ext cx="1926981" cy="10566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 err="1">
                <a:latin typeface="Roboto Medium" panose="02000000000000000000" pitchFamily="2" charset="0"/>
                <a:ea typeface="Roboto Medium" panose="02000000000000000000" pitchFamily="2" charset="0"/>
              </a:rPr>
              <a:t>Пискленов</a:t>
            </a:r>
            <a:endParaRPr lang="ru-RU" sz="2000" dirty="0"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algn="l"/>
            <a:r>
              <a:rPr lang="ru-RU" sz="2000" dirty="0">
                <a:latin typeface="Roboto Medium" panose="02000000000000000000" pitchFamily="2" charset="0"/>
                <a:ea typeface="Roboto Medium" panose="02000000000000000000" pitchFamily="2" charset="0"/>
              </a:rPr>
              <a:t>Тимофей</a:t>
            </a:r>
          </a:p>
        </p:txBody>
      </p:sp>
      <p:sp>
        <p:nvSpPr>
          <p:cNvPr id="21" name="Заголовок 4">
            <a:extLst>
              <a:ext uri="{FF2B5EF4-FFF2-40B4-BE49-F238E27FC236}">
                <a16:creationId xmlns:a16="http://schemas.microsoft.com/office/drawing/2014/main" id="{77303997-F4AA-447D-B14F-7FCA37E371CA}"/>
              </a:ext>
            </a:extLst>
          </p:cNvPr>
          <p:cNvSpPr txBox="1">
            <a:spLocks/>
          </p:cNvSpPr>
          <p:nvPr/>
        </p:nvSpPr>
        <p:spPr>
          <a:xfrm>
            <a:off x="250355" y="5120640"/>
            <a:ext cx="1907768" cy="7213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dirty="0">
                <a:latin typeface="Roboto Light" panose="02000000000000000000" pitchFamily="2" charset="0"/>
                <a:ea typeface="Roboto Light" panose="02000000000000000000" pitchFamily="2" charset="0"/>
              </a:rPr>
              <a:t>Главный </a:t>
            </a:r>
          </a:p>
          <a:p>
            <a:pPr algn="l"/>
            <a:r>
              <a:rPr lang="ru-RU" sz="1800" dirty="0">
                <a:latin typeface="Roboto Light" panose="02000000000000000000" pitchFamily="2" charset="0"/>
                <a:ea typeface="Roboto Light" panose="02000000000000000000" pitchFamily="2" charset="0"/>
              </a:rPr>
              <a:t>разработчик</a:t>
            </a:r>
          </a:p>
        </p:txBody>
      </p:sp>
    </p:spTree>
    <p:extLst>
      <p:ext uri="{BB962C8B-B14F-4D97-AF65-F5344CB8AC3E}">
        <p14:creationId xmlns:p14="http://schemas.microsoft.com/office/powerpoint/2010/main" val="3856162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6A7A36-0B7F-41E1-85C8-BD02C22E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62563"/>
            <a:ext cx="4602480" cy="812800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ПРОБЛЕМАТИКА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709BD0D-2752-4352-91AF-46FC1220AADA}"/>
              </a:ext>
            </a:extLst>
          </p:cNvPr>
          <p:cNvCxnSpPr>
            <a:cxnSpLocks/>
          </p:cNvCxnSpPr>
          <p:nvPr/>
        </p:nvCxnSpPr>
        <p:spPr>
          <a:xfrm>
            <a:off x="231142" y="1198880"/>
            <a:ext cx="11724640" cy="0"/>
          </a:xfrm>
          <a:prstGeom prst="line">
            <a:avLst/>
          </a:prstGeom>
          <a:ln w="38100" cmpd="sng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93E45A0-8A06-4B3D-98C2-D74133E0EBC8}"/>
              </a:ext>
            </a:extLst>
          </p:cNvPr>
          <p:cNvSpPr/>
          <p:nvPr/>
        </p:nvSpPr>
        <p:spPr>
          <a:xfrm>
            <a:off x="223520" y="1544324"/>
            <a:ext cx="3738880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аголовок 4">
            <a:extLst>
              <a:ext uri="{FF2B5EF4-FFF2-40B4-BE49-F238E27FC236}">
                <a16:creationId xmlns:a16="http://schemas.microsoft.com/office/drawing/2014/main" id="{63EF2BCC-6FEE-4D8B-A0E2-F63A03F331D7}"/>
              </a:ext>
            </a:extLst>
          </p:cNvPr>
          <p:cNvSpPr txBox="1">
            <a:spLocks/>
          </p:cNvSpPr>
          <p:nvPr/>
        </p:nvSpPr>
        <p:spPr>
          <a:xfrm>
            <a:off x="45718" y="5039363"/>
            <a:ext cx="4154333" cy="10566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Уязвимость данных</a:t>
            </a:r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связанная с несанкционированным доступом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22BE25B-F057-4781-82BE-4AE3BE4AD889}"/>
              </a:ext>
            </a:extLst>
          </p:cNvPr>
          <p:cNvSpPr/>
          <p:nvPr/>
        </p:nvSpPr>
        <p:spPr>
          <a:xfrm>
            <a:off x="4241358" y="1544324"/>
            <a:ext cx="3738880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52A013FE-9A49-477A-9FFD-C22B31DBD9C2}"/>
              </a:ext>
            </a:extLst>
          </p:cNvPr>
          <p:cNvSpPr txBox="1">
            <a:spLocks/>
          </p:cNvSpPr>
          <p:nvPr/>
        </p:nvSpPr>
        <p:spPr>
          <a:xfrm>
            <a:off x="4135121" y="5008883"/>
            <a:ext cx="3916682" cy="105663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Низкая производительность шифрования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1A5E54EB-3B48-475E-94EB-EC8DA213B344}"/>
              </a:ext>
            </a:extLst>
          </p:cNvPr>
          <p:cNvSpPr/>
          <p:nvPr/>
        </p:nvSpPr>
        <p:spPr>
          <a:xfrm>
            <a:off x="8228938" y="1524006"/>
            <a:ext cx="3738880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Заголовок 4">
            <a:extLst>
              <a:ext uri="{FF2B5EF4-FFF2-40B4-BE49-F238E27FC236}">
                <a16:creationId xmlns:a16="http://schemas.microsoft.com/office/drawing/2014/main" id="{48928F4B-A4AE-4A06-BC61-9C2CECF12BB5}"/>
              </a:ext>
            </a:extLst>
          </p:cNvPr>
          <p:cNvSpPr txBox="1">
            <a:spLocks/>
          </p:cNvSpPr>
          <p:nvPr/>
        </p:nvSpPr>
        <p:spPr>
          <a:xfrm>
            <a:off x="8300503" y="5314525"/>
            <a:ext cx="3708622" cy="4453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Утечка данных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40747F-2754-4AD6-9108-22A1CB81C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25" y="2174243"/>
            <a:ext cx="2534916" cy="253491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A88A1D2-E94F-4AFA-BD2C-5324A3CE0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1649" y="2312448"/>
            <a:ext cx="2438400" cy="24384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9F05616-D5FA-4839-A6B7-9F917A4C6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110" y="2219962"/>
            <a:ext cx="2522083" cy="252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976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6A7A36-0B7F-41E1-85C8-BD02C22E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62563"/>
            <a:ext cx="11409680" cy="812800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solidFill>
                  <a:srgbClr val="A9D18E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СТАТИСТИКА ПО УТЕЧКАМ ДАННЫХ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709BD0D-2752-4352-91AF-46FC1220AADA}"/>
              </a:ext>
            </a:extLst>
          </p:cNvPr>
          <p:cNvCxnSpPr>
            <a:cxnSpLocks/>
          </p:cNvCxnSpPr>
          <p:nvPr/>
        </p:nvCxnSpPr>
        <p:spPr>
          <a:xfrm>
            <a:off x="231142" y="1198880"/>
            <a:ext cx="11724640" cy="0"/>
          </a:xfrm>
          <a:prstGeom prst="line">
            <a:avLst/>
          </a:prstGeom>
          <a:ln w="38100" cmpd="sng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71B17F-C361-4BB7-8D9E-1BBF97C824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0"/>
          <a:stretch/>
        </p:blipFill>
        <p:spPr>
          <a:xfrm>
            <a:off x="231142" y="1684209"/>
            <a:ext cx="5786349" cy="4687318"/>
          </a:xfrm>
          <a:prstGeom prst="round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5DC982-C7A2-4376-9550-156992C67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720" y="1684209"/>
            <a:ext cx="5814648" cy="468731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1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6A7A36-0B7F-41E1-85C8-BD02C22E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62563"/>
            <a:ext cx="4602480" cy="812800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РЕШЕНИЕ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709BD0D-2752-4352-91AF-46FC1220AADA}"/>
              </a:ext>
            </a:extLst>
          </p:cNvPr>
          <p:cNvCxnSpPr>
            <a:cxnSpLocks/>
          </p:cNvCxnSpPr>
          <p:nvPr/>
        </p:nvCxnSpPr>
        <p:spPr>
          <a:xfrm>
            <a:off x="231142" y="1198880"/>
            <a:ext cx="11724640" cy="0"/>
          </a:xfrm>
          <a:prstGeom prst="line">
            <a:avLst/>
          </a:prstGeom>
          <a:ln w="38100" cmpd="sng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93E45A0-8A06-4B3D-98C2-D74133E0EBC8}"/>
              </a:ext>
            </a:extLst>
          </p:cNvPr>
          <p:cNvSpPr/>
          <p:nvPr/>
        </p:nvSpPr>
        <p:spPr>
          <a:xfrm>
            <a:off x="231142" y="1498603"/>
            <a:ext cx="11724640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745E5-4310-477B-8D83-A57C06D8D8C4}"/>
              </a:ext>
            </a:extLst>
          </p:cNvPr>
          <p:cNvSpPr txBox="1"/>
          <p:nvPr/>
        </p:nvSpPr>
        <p:spPr>
          <a:xfrm>
            <a:off x="938531" y="2023465"/>
            <a:ext cx="55778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Мы создаем универсальную систему защиты файлов при помощи шифрования, которую можно интегрировать в ПО компаний, которые хотят защитить корпоративную информацию.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99364B-AF45-421D-839C-A8FDE8E6D603}"/>
              </a:ext>
            </a:extLst>
          </p:cNvPr>
          <p:cNvSpPr txBox="1"/>
          <p:nvPr/>
        </p:nvSpPr>
        <p:spPr>
          <a:xfrm>
            <a:off x="863600" y="4631511"/>
            <a:ext cx="5577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В решении используется шифрование </a:t>
            </a:r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AES-256, </a:t>
            </a:r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которое основывается на симметричном ключе шифрования.</a:t>
            </a:r>
          </a:p>
        </p:txBody>
      </p:sp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46EB7470-4454-4DDB-B6BC-666E3BF31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760" y="2026920"/>
            <a:ext cx="3881120" cy="388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08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709BD0D-2752-4352-91AF-46FC1220AADA}"/>
              </a:ext>
            </a:extLst>
          </p:cNvPr>
          <p:cNvCxnSpPr>
            <a:cxnSpLocks/>
          </p:cNvCxnSpPr>
          <p:nvPr/>
        </p:nvCxnSpPr>
        <p:spPr>
          <a:xfrm>
            <a:off x="231142" y="1198880"/>
            <a:ext cx="11724640" cy="0"/>
          </a:xfrm>
          <a:prstGeom prst="line">
            <a:avLst/>
          </a:prstGeom>
          <a:ln w="38100" cmpd="sng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93E45A0-8A06-4B3D-98C2-D74133E0EBC8}"/>
              </a:ext>
            </a:extLst>
          </p:cNvPr>
          <p:cNvSpPr/>
          <p:nvPr/>
        </p:nvSpPr>
        <p:spPr>
          <a:xfrm>
            <a:off x="4262009" y="1524006"/>
            <a:ext cx="3738880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аголовок 4">
            <a:extLst>
              <a:ext uri="{FF2B5EF4-FFF2-40B4-BE49-F238E27FC236}">
                <a16:creationId xmlns:a16="http://schemas.microsoft.com/office/drawing/2014/main" id="{63EF2BCC-6FEE-4D8B-A0E2-F63A03F331D7}"/>
              </a:ext>
            </a:extLst>
          </p:cNvPr>
          <p:cNvSpPr txBox="1">
            <a:spLocks/>
          </p:cNvSpPr>
          <p:nvPr/>
        </p:nvSpPr>
        <p:spPr>
          <a:xfrm>
            <a:off x="4211763" y="1656078"/>
            <a:ext cx="3916683" cy="11887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Снижение экономического </a:t>
            </a:r>
          </a:p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ущерба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22BE25B-F057-4781-82BE-4AE3BE4AD889}"/>
              </a:ext>
            </a:extLst>
          </p:cNvPr>
          <p:cNvSpPr/>
          <p:nvPr/>
        </p:nvSpPr>
        <p:spPr>
          <a:xfrm>
            <a:off x="295081" y="1524006"/>
            <a:ext cx="3738880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1A5E54EB-3B48-475E-94EB-EC8DA213B344}"/>
              </a:ext>
            </a:extLst>
          </p:cNvPr>
          <p:cNvSpPr/>
          <p:nvPr/>
        </p:nvSpPr>
        <p:spPr>
          <a:xfrm>
            <a:off x="8228938" y="1524006"/>
            <a:ext cx="3738880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Заголовок 4">
            <a:extLst>
              <a:ext uri="{FF2B5EF4-FFF2-40B4-BE49-F238E27FC236}">
                <a16:creationId xmlns:a16="http://schemas.microsoft.com/office/drawing/2014/main" id="{61904B9C-2980-4AB1-86E6-9F9F174E6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62563"/>
            <a:ext cx="11518902" cy="812800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РЕЗУЛЬТАТ ОТ ИСПОЛЬЗОВАНИЯ СИСТЕМЫ</a:t>
            </a:r>
          </a:p>
        </p:txBody>
      </p:sp>
      <p:sp>
        <p:nvSpPr>
          <p:cNvPr id="18" name="Заголовок 4">
            <a:extLst>
              <a:ext uri="{FF2B5EF4-FFF2-40B4-BE49-F238E27FC236}">
                <a16:creationId xmlns:a16="http://schemas.microsoft.com/office/drawing/2014/main" id="{3C183400-45C4-4120-B74E-E581D300B59B}"/>
              </a:ext>
            </a:extLst>
          </p:cNvPr>
          <p:cNvSpPr txBox="1">
            <a:spLocks/>
          </p:cNvSpPr>
          <p:nvPr/>
        </p:nvSpPr>
        <p:spPr>
          <a:xfrm>
            <a:off x="188177" y="1747522"/>
            <a:ext cx="3916682" cy="105663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Защита файлов от несанкционированного доступа</a:t>
            </a:r>
          </a:p>
        </p:txBody>
      </p: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52A013FE-9A49-477A-9FFD-C22B31DBD9C2}"/>
              </a:ext>
            </a:extLst>
          </p:cNvPr>
          <p:cNvSpPr txBox="1">
            <a:spLocks/>
          </p:cNvSpPr>
          <p:nvPr/>
        </p:nvSpPr>
        <p:spPr>
          <a:xfrm>
            <a:off x="8128446" y="1859275"/>
            <a:ext cx="3916682" cy="782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Ограниченный доступ к ключам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6DFCFC-B5E0-4C6E-AED8-F684DCDE5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533" y="3027674"/>
            <a:ext cx="2824475" cy="2824475"/>
          </a:xfrm>
          <a:prstGeom prst="rect">
            <a:avLst/>
          </a:prstGeom>
        </p:spPr>
      </p:pic>
      <p:pic>
        <p:nvPicPr>
          <p:cNvPr id="4104" name="Picture 8" descr="Picture background">
            <a:extLst>
              <a:ext uri="{FF2B5EF4-FFF2-40B4-BE49-F238E27FC236}">
                <a16:creationId xmlns:a16="http://schemas.microsoft.com/office/drawing/2014/main" id="{FD481AA7-85C7-4AF6-9815-D977DC4A3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78" y="3027674"/>
            <a:ext cx="3103880" cy="310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21E68C-11F2-4E1F-A480-5C7F40D1D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998" y="3078487"/>
            <a:ext cx="2865119" cy="286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50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6A7A36-0B7F-41E1-85C8-BD02C22E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62563"/>
            <a:ext cx="6624320" cy="812800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ПАЙПЛАЙН ШИФРАТОРА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709BD0D-2752-4352-91AF-46FC1220AADA}"/>
              </a:ext>
            </a:extLst>
          </p:cNvPr>
          <p:cNvCxnSpPr>
            <a:cxnSpLocks/>
          </p:cNvCxnSpPr>
          <p:nvPr/>
        </p:nvCxnSpPr>
        <p:spPr>
          <a:xfrm>
            <a:off x="231142" y="1198880"/>
            <a:ext cx="11724640" cy="0"/>
          </a:xfrm>
          <a:prstGeom prst="line">
            <a:avLst/>
          </a:prstGeom>
          <a:ln w="38100" cmpd="sng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93E45A0-8A06-4B3D-98C2-D74133E0EBC8}"/>
              </a:ext>
            </a:extLst>
          </p:cNvPr>
          <p:cNvSpPr/>
          <p:nvPr/>
        </p:nvSpPr>
        <p:spPr>
          <a:xfrm>
            <a:off x="231142" y="1498603"/>
            <a:ext cx="11724640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EB5E7CE-20D0-4E10-9400-502D3D5C9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31" y="2449831"/>
            <a:ext cx="11089862" cy="309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13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6A7A36-0B7F-41E1-85C8-BD02C22E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62563"/>
            <a:ext cx="6624320" cy="812800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КОНЕЧНЫЕ АВТОМАТЫ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709BD0D-2752-4352-91AF-46FC1220AADA}"/>
              </a:ext>
            </a:extLst>
          </p:cNvPr>
          <p:cNvCxnSpPr>
            <a:cxnSpLocks/>
          </p:cNvCxnSpPr>
          <p:nvPr/>
        </p:nvCxnSpPr>
        <p:spPr>
          <a:xfrm>
            <a:off x="231142" y="1198880"/>
            <a:ext cx="11724640" cy="0"/>
          </a:xfrm>
          <a:prstGeom prst="line">
            <a:avLst/>
          </a:prstGeom>
          <a:ln w="38100" cmpd="sng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93E45A0-8A06-4B3D-98C2-D74133E0EBC8}"/>
              </a:ext>
            </a:extLst>
          </p:cNvPr>
          <p:cNvSpPr/>
          <p:nvPr/>
        </p:nvSpPr>
        <p:spPr>
          <a:xfrm>
            <a:off x="231142" y="1498603"/>
            <a:ext cx="5214618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F522E4-7683-44D9-8DBA-7DAE8A96B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752" y="4536722"/>
            <a:ext cx="3619498" cy="163184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31EB8C2-E253-4DE0-84AB-FC48449779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046" b="-2709"/>
          <a:stretch/>
        </p:blipFill>
        <p:spPr>
          <a:xfrm>
            <a:off x="918200" y="1641710"/>
            <a:ext cx="3928602" cy="2751905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FA2C4B9-E8AA-41D9-8C44-100AFF4C5201}"/>
              </a:ext>
            </a:extLst>
          </p:cNvPr>
          <p:cNvSpPr/>
          <p:nvPr/>
        </p:nvSpPr>
        <p:spPr>
          <a:xfrm>
            <a:off x="5688412" y="1422398"/>
            <a:ext cx="6267370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AF1839-056D-4A4F-9267-D650039BDFC4}"/>
              </a:ext>
            </a:extLst>
          </p:cNvPr>
          <p:cNvSpPr txBox="1"/>
          <p:nvPr/>
        </p:nvSpPr>
        <p:spPr>
          <a:xfrm>
            <a:off x="6093462" y="1498603"/>
            <a:ext cx="5506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Конечные автоматы для </a:t>
            </a:r>
            <a:endParaRPr lang="en-US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/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каналов чтения и записи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B49768A-1AB2-429D-8809-9FB3E1E27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435" y="2553117"/>
            <a:ext cx="5865612" cy="310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87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6A7A36-0B7F-41E1-85C8-BD02C22E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62563"/>
            <a:ext cx="6624320" cy="812800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МАСШТАБИРУМОСТЬ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709BD0D-2752-4352-91AF-46FC1220AADA}"/>
              </a:ext>
            </a:extLst>
          </p:cNvPr>
          <p:cNvCxnSpPr>
            <a:cxnSpLocks/>
          </p:cNvCxnSpPr>
          <p:nvPr/>
        </p:nvCxnSpPr>
        <p:spPr>
          <a:xfrm>
            <a:off x="231142" y="1198880"/>
            <a:ext cx="11724640" cy="0"/>
          </a:xfrm>
          <a:prstGeom prst="line">
            <a:avLst/>
          </a:prstGeom>
          <a:ln w="38100" cmpd="sng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93E45A0-8A06-4B3D-98C2-D74133E0EBC8}"/>
              </a:ext>
            </a:extLst>
          </p:cNvPr>
          <p:cNvSpPr/>
          <p:nvPr/>
        </p:nvSpPr>
        <p:spPr>
          <a:xfrm>
            <a:off x="231142" y="1498603"/>
            <a:ext cx="11724640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479B94-1079-44B2-9B0A-AD1669D4412C}"/>
              </a:ext>
            </a:extLst>
          </p:cNvPr>
          <p:cNvSpPr txBox="1"/>
          <p:nvPr/>
        </p:nvSpPr>
        <p:spPr>
          <a:xfrm>
            <a:off x="612775" y="2120720"/>
            <a:ext cx="9333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1) </a:t>
            </a:r>
            <a:r>
              <a:rPr lang="ru-RU" sz="2400" i="0" dirty="0"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Использова</a:t>
            </a:r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ние</a:t>
            </a:r>
            <a:r>
              <a:rPr lang="ru-RU" sz="2400" i="0" dirty="0"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 квантово-безопасного шифрования</a:t>
            </a:r>
            <a:endParaRPr lang="ru-RU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3C548-CCE1-47D6-8675-13923948413F}"/>
              </a:ext>
            </a:extLst>
          </p:cNvPr>
          <p:cNvSpPr txBox="1"/>
          <p:nvPr/>
        </p:nvSpPr>
        <p:spPr>
          <a:xfrm>
            <a:off x="612776" y="2892558"/>
            <a:ext cx="10766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2</a:t>
            </a:r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) Использование аппаратных ускорителей, таких как графические процессоры (GPU) или специализированных криптографических процессоров (HSM)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2A4C5F-C132-4913-A942-639CF60CEB10}"/>
              </a:ext>
            </a:extLst>
          </p:cNvPr>
          <p:cNvSpPr txBox="1"/>
          <p:nvPr/>
        </p:nvSpPr>
        <p:spPr>
          <a:xfrm>
            <a:off x="612776" y="4403060"/>
            <a:ext cx="891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3) Анализ аномалий с помощью нейросетей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4A6DEB-8746-4F4C-A288-A23DEF8821B2}"/>
              </a:ext>
            </a:extLst>
          </p:cNvPr>
          <p:cNvSpPr txBox="1"/>
          <p:nvPr/>
        </p:nvSpPr>
        <p:spPr>
          <a:xfrm>
            <a:off x="612775" y="5164447"/>
            <a:ext cx="891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4) Поддержка высоконагруженных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557536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6A7A36-0B7F-41E1-85C8-BD02C22E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640" y="3001010"/>
            <a:ext cx="11348720" cy="855980"/>
          </a:xfrm>
        </p:spPr>
        <p:txBody>
          <a:bodyPr>
            <a:normAutofit/>
          </a:bodyPr>
          <a:lstStyle/>
          <a:p>
            <a:r>
              <a:rPr lang="ru-RU" sz="48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39262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6A7A36-0B7F-41E1-85C8-BD02C22E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62563"/>
            <a:ext cx="6624320" cy="812800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Приложение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709BD0D-2752-4352-91AF-46FC1220AADA}"/>
              </a:ext>
            </a:extLst>
          </p:cNvPr>
          <p:cNvCxnSpPr>
            <a:cxnSpLocks/>
          </p:cNvCxnSpPr>
          <p:nvPr/>
        </p:nvCxnSpPr>
        <p:spPr>
          <a:xfrm>
            <a:off x="231142" y="1198880"/>
            <a:ext cx="11724640" cy="0"/>
          </a:xfrm>
          <a:prstGeom prst="line">
            <a:avLst/>
          </a:prstGeom>
          <a:ln w="38100" cmpd="sng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93E45A0-8A06-4B3D-98C2-D74133E0EBC8}"/>
              </a:ext>
            </a:extLst>
          </p:cNvPr>
          <p:cNvSpPr/>
          <p:nvPr/>
        </p:nvSpPr>
        <p:spPr>
          <a:xfrm>
            <a:off x="231142" y="1498603"/>
            <a:ext cx="11724640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1A12A2-3A3A-4685-99A5-CEDF25330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85" y="1790700"/>
            <a:ext cx="3825240" cy="15549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791F490-E8EB-47E9-9134-4DA8E3AB1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90" y="3512325"/>
            <a:ext cx="3386630" cy="137667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DE0643-E355-4F35-854A-09599CB17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260" y="5055653"/>
            <a:ext cx="3240324" cy="131720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CBB6703-0A09-4FAD-81A6-5FF846128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6640" y="2228850"/>
            <a:ext cx="3726780" cy="358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68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6A7A36-0B7F-41E1-85C8-BD02C22E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62563"/>
            <a:ext cx="6878320" cy="812800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Отчет об проделанной работе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709BD0D-2752-4352-91AF-46FC1220AADA}"/>
              </a:ext>
            </a:extLst>
          </p:cNvPr>
          <p:cNvCxnSpPr>
            <a:cxnSpLocks/>
          </p:cNvCxnSpPr>
          <p:nvPr/>
        </p:nvCxnSpPr>
        <p:spPr>
          <a:xfrm>
            <a:off x="231142" y="1198880"/>
            <a:ext cx="11724640" cy="0"/>
          </a:xfrm>
          <a:prstGeom prst="line">
            <a:avLst/>
          </a:prstGeom>
          <a:ln w="38100" cmpd="sng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93E45A0-8A06-4B3D-98C2-D74133E0EBC8}"/>
              </a:ext>
            </a:extLst>
          </p:cNvPr>
          <p:cNvSpPr/>
          <p:nvPr/>
        </p:nvSpPr>
        <p:spPr>
          <a:xfrm>
            <a:off x="231142" y="1498603"/>
            <a:ext cx="11724640" cy="4998714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479B94-1079-44B2-9B0A-AD1669D4412C}"/>
              </a:ext>
            </a:extLst>
          </p:cNvPr>
          <p:cNvSpPr txBox="1"/>
          <p:nvPr/>
        </p:nvSpPr>
        <p:spPr>
          <a:xfrm>
            <a:off x="837810" y="1821782"/>
            <a:ext cx="103811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После выбора темы проекта распределения ролей в команде, были описаны основные функции системы, а именно:</a:t>
            </a:r>
          </a:p>
          <a:p>
            <a:pPr marL="457200" indent="-457200">
              <a:buAutoNum type="arabicParenR"/>
            </a:pPr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Модуль приема данных</a:t>
            </a:r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</a:p>
          <a:p>
            <a:pPr marL="457200" indent="-457200">
              <a:buAutoNum type="arabicParenR"/>
            </a:pPr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Модуль шифрования</a:t>
            </a:r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и расшифрования файлов (прописан алгоритм работы шифратора и дешифратора)</a:t>
            </a:r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</a:p>
          <a:p>
            <a:pPr marL="457200" indent="-457200">
              <a:buAutoNum type="arabicParenR"/>
            </a:pPr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Модуль работы с памятью</a:t>
            </a:r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endParaRPr lang="ru-RU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ru-RU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После чего была изучена спецификация </a:t>
            </a:r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AXI4-MM</a:t>
            </a:r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  <a:p>
            <a:r>
              <a:rPr lang="ru-RU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Далее была создана презентация, изучены и проанализированы проблемы, подготовка к защите. </a:t>
            </a:r>
          </a:p>
        </p:txBody>
      </p:sp>
    </p:spTree>
    <p:extLst>
      <p:ext uri="{BB962C8B-B14F-4D97-AF65-F5344CB8AC3E}">
        <p14:creationId xmlns:p14="http://schemas.microsoft.com/office/powerpoint/2010/main" val="9982480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211</Words>
  <Application>Microsoft Office PowerPoint</Application>
  <PresentationFormat>Широкоэкранный</PresentationFormat>
  <Paragraphs>48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Roboto Black</vt:lpstr>
      <vt:lpstr>Roboto Light</vt:lpstr>
      <vt:lpstr>Roboto Medium</vt:lpstr>
      <vt:lpstr>Тема Office</vt:lpstr>
      <vt:lpstr>СИСТЕМА ЗАЩИТЫ ФАЙЛОВ С ПОМОЩЬЮ ШИФРОВАНИЯ</vt:lpstr>
      <vt:lpstr>КОМАНДА</vt:lpstr>
      <vt:lpstr>ПРОБЛЕМАТИКА</vt:lpstr>
      <vt:lpstr>СТАТИСТИКА ПО УТЕЧКАМ ДАННЫХ</vt:lpstr>
      <vt:lpstr>РЕШЕНИЕ</vt:lpstr>
      <vt:lpstr>РЕЗУЛЬТАТ ОТ ИСПОЛЬЗОВАНИЯ СИСТЕМЫ</vt:lpstr>
      <vt:lpstr>ПАЙПЛАЙН ШИФРАТОРА</vt:lpstr>
      <vt:lpstr>КОНЕЧНЫЕ АВТОМАТЫ</vt:lpstr>
      <vt:lpstr>МАСШТАБИРУМОСТЬ</vt:lpstr>
      <vt:lpstr>СПАСИБО ЗА ВНИМАНИЕ!</vt:lpstr>
      <vt:lpstr>Приложение</vt:lpstr>
      <vt:lpstr>Отчет об проделанной работе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ЗАЩИТЫ ФАЙЛОВ С ПОМОЩЬЮ ШИФРОВАНИЯ</dc:title>
  <dc:creator>Sofiya</dc:creator>
  <cp:lastModifiedBy>Tim Andreev</cp:lastModifiedBy>
  <cp:revision>57</cp:revision>
  <dcterms:created xsi:type="dcterms:W3CDTF">2024-10-17T10:19:37Z</dcterms:created>
  <dcterms:modified xsi:type="dcterms:W3CDTF">2025-03-12T17:18:12Z</dcterms:modified>
</cp:coreProperties>
</file>